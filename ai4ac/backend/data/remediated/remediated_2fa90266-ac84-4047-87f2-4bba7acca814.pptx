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31"/>
  </p:notesMasterIdLst>
  <p:handoutMasterIdLst>
    <p:handoutMasterId r:id="rId32"/>
  </p:handoutMasterIdLst>
  <p:sldIdLst>
    <p:sldId id="256" r:id="rId2"/>
    <p:sldId id="328" r:id="rId3"/>
    <p:sldId id="257" r:id="rId4"/>
    <p:sldId id="269" r:id="rId5"/>
    <p:sldId id="276" r:id="rId6"/>
    <p:sldId id="286" r:id="rId7"/>
    <p:sldId id="287" r:id="rId8"/>
    <p:sldId id="325" r:id="rId9"/>
    <p:sldId id="288" r:id="rId10"/>
    <p:sldId id="292" r:id="rId11"/>
    <p:sldId id="296" r:id="rId12"/>
    <p:sldId id="297" r:id="rId13"/>
    <p:sldId id="298" r:id="rId14"/>
    <p:sldId id="300" r:id="rId15"/>
    <p:sldId id="301" r:id="rId16"/>
    <p:sldId id="304" r:id="rId17"/>
    <p:sldId id="305" r:id="rId18"/>
    <p:sldId id="306" r:id="rId19"/>
    <p:sldId id="307" r:id="rId20"/>
    <p:sldId id="308" r:id="rId21"/>
    <p:sldId id="309" r:id="rId22"/>
    <p:sldId id="310" r:id="rId23"/>
    <p:sldId id="312" r:id="rId24"/>
    <p:sldId id="314" r:id="rId25"/>
    <p:sldId id="316" r:id="rId26"/>
    <p:sldId id="319" r:id="rId27"/>
    <p:sldId id="268" r:id="rId28"/>
    <p:sldId id="326" r:id="rId29"/>
    <p:sldId id="327" r:id="rId30"/>
  </p:sldIdLst>
  <p:sldSz cx="9144000" cy="5143500" type="screen16x9"/>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pitchFamily="2"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pitchFamily="2"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38"/>
  </p:normalViewPr>
  <p:slideViewPr>
    <p:cSldViewPr>
      <p:cViewPr varScale="1">
        <p:scale>
          <a:sx n="151" d="100"/>
          <a:sy n="151" d="100"/>
        </p:scale>
        <p:origin x="520" y="176"/>
      </p:cViewPr>
      <p:guideLst>
        <p:guide orient="horz" pos="1620"/>
        <p:guide pos="2880"/>
      </p:guideLst>
    </p:cSldViewPr>
  </p:slideViewPr>
  <p:outlineViewPr>
    <p:cViewPr>
      <p:scale>
        <a:sx n="33" d="100"/>
        <a:sy n="33" d="100"/>
      </p:scale>
      <p:origin x="0" y="18536"/>
    </p:cViewPr>
  </p:outlineViewPr>
  <p:notesTextViewPr>
    <p:cViewPr>
      <p:scale>
        <a:sx n="100" d="100"/>
        <a:sy n="100" d="100"/>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13F558A9-DA8C-0A4A-A9D6-28E17870D4B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11267" name="Rectangle 3">
            <a:extLst>
              <a:ext uri="{FF2B5EF4-FFF2-40B4-BE49-F238E27FC236}">
                <a16:creationId xmlns:a16="http://schemas.microsoft.com/office/drawing/2014/main" id="{600705CB-591E-D340-B556-AB4ACC36EBB8}"/>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10" charset="0"/>
                <a:ea typeface="+mn-ea"/>
              </a:defRPr>
            </a:lvl1pPr>
          </a:lstStyle>
          <a:p>
            <a:pPr>
              <a:defRPr/>
            </a:pPr>
            <a:endParaRPr lang="en-US"/>
          </a:p>
        </p:txBody>
      </p:sp>
      <p:sp>
        <p:nvSpPr>
          <p:cNvPr id="11268" name="Rectangle 4">
            <a:extLst>
              <a:ext uri="{FF2B5EF4-FFF2-40B4-BE49-F238E27FC236}">
                <a16:creationId xmlns:a16="http://schemas.microsoft.com/office/drawing/2014/main" id="{AF3A6860-2E4E-5C43-9346-C44984AD63E6}"/>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11269" name="Rectangle 5">
            <a:extLst>
              <a:ext uri="{FF2B5EF4-FFF2-40B4-BE49-F238E27FC236}">
                <a16:creationId xmlns:a16="http://schemas.microsoft.com/office/drawing/2014/main" id="{0CE811E3-AE1A-5A42-B453-E883C13CD3A4}"/>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charset="0"/>
                <a:ea typeface="ＭＳ Ｐゴシック" charset="-128"/>
              </a:defRPr>
            </a:lvl1pPr>
          </a:lstStyle>
          <a:p>
            <a:pPr>
              <a:defRPr/>
            </a:pPr>
            <a:fld id="{E1326EE1-770B-5044-B269-2293F993D78F}"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E3F1E7CE-B704-5B46-9A09-9D8D78B6AE9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43011" name="Rectangle 3">
            <a:extLst>
              <a:ext uri="{FF2B5EF4-FFF2-40B4-BE49-F238E27FC236}">
                <a16:creationId xmlns:a16="http://schemas.microsoft.com/office/drawing/2014/main" id="{08BBAAEB-51AC-5C4C-B0B0-F67056DD0FB6}"/>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pitchFamily="-110" charset="0"/>
                <a:ea typeface="+mn-ea"/>
              </a:defRPr>
            </a:lvl1pPr>
          </a:lstStyle>
          <a:p>
            <a:pPr>
              <a:defRPr/>
            </a:pPr>
            <a:endParaRPr lang="en-US"/>
          </a:p>
        </p:txBody>
      </p:sp>
      <p:sp>
        <p:nvSpPr>
          <p:cNvPr id="13316" name="Rectangle 4">
            <a:extLst>
              <a:ext uri="{FF2B5EF4-FFF2-40B4-BE49-F238E27FC236}">
                <a16:creationId xmlns:a16="http://schemas.microsoft.com/office/drawing/2014/main" id="{239BCA80-B535-0A4F-95BC-1F3B6D974DB8}"/>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a:extLst>
              <a:ext uri="{FF2B5EF4-FFF2-40B4-BE49-F238E27FC236}">
                <a16:creationId xmlns:a16="http://schemas.microsoft.com/office/drawing/2014/main" id="{33C9E59B-4658-BE47-9963-4BB72D8AE619}"/>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3014" name="Rectangle 6">
            <a:extLst>
              <a:ext uri="{FF2B5EF4-FFF2-40B4-BE49-F238E27FC236}">
                <a16:creationId xmlns:a16="http://schemas.microsoft.com/office/drawing/2014/main" id="{11C0D8D2-8A4B-754B-A07D-6617721D8BE3}"/>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pitchFamily="-110" charset="0"/>
                <a:ea typeface="+mn-ea"/>
              </a:defRPr>
            </a:lvl1pPr>
          </a:lstStyle>
          <a:p>
            <a:pPr>
              <a:defRPr/>
            </a:pPr>
            <a:endParaRPr lang="en-US"/>
          </a:p>
        </p:txBody>
      </p:sp>
      <p:sp>
        <p:nvSpPr>
          <p:cNvPr id="43015" name="Rectangle 7">
            <a:extLst>
              <a:ext uri="{FF2B5EF4-FFF2-40B4-BE49-F238E27FC236}">
                <a16:creationId xmlns:a16="http://schemas.microsoft.com/office/drawing/2014/main" id="{1B1B4E08-1B91-BE4E-A3F6-841920412614}"/>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charset="0"/>
                <a:ea typeface="ＭＳ Ｐゴシック" charset="-128"/>
              </a:defRPr>
            </a:lvl1pPr>
          </a:lstStyle>
          <a:p>
            <a:pPr>
              <a:defRPr/>
            </a:pPr>
            <a:fld id="{EBA2F6CF-D245-AE40-B035-DD9CA7F120A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10" charset="0"/>
        <a:ea typeface="ＭＳ Ｐゴシック" charset="-128"/>
        <a:cs typeface="+mn-cs"/>
      </a:defRPr>
    </a:lvl1pPr>
    <a:lvl2pPr marL="4572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2pPr>
    <a:lvl3pPr marL="9144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3pPr>
    <a:lvl4pPr marL="13716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4pPr>
    <a:lvl5pPr marL="1828800" algn="l" rtl="0" eaLnBrk="0" fontAlgn="base" hangingPunct="0">
      <a:spcBef>
        <a:spcPct val="30000"/>
      </a:spcBef>
      <a:spcAft>
        <a:spcPct val="0"/>
      </a:spcAft>
      <a:defRPr sz="1200" kern="1200">
        <a:solidFill>
          <a:schemeClr val="tx1"/>
        </a:solidFill>
        <a:latin typeface="Times" pitchFamily="-110" charset="0"/>
        <a:ea typeface="ＭＳ Ｐゴシック" pitchFamily="-110"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D9BAB331-E797-3E44-BEBB-E17657056E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DCE2B21B-6094-064D-B292-99F66B598B11}" type="slidenum">
              <a:rPr lang="en-US" altLang="en-US" sz="1200" smtClean="0"/>
              <a:pPr/>
              <a:t>1</a:t>
            </a:fld>
            <a:endParaRPr lang="en-US" altLang="en-US" sz="1200"/>
          </a:p>
        </p:txBody>
      </p:sp>
      <p:sp>
        <p:nvSpPr>
          <p:cNvPr id="16386" name="Rectangle 2">
            <a:extLst>
              <a:ext uri="{FF2B5EF4-FFF2-40B4-BE49-F238E27FC236}">
                <a16:creationId xmlns:a16="http://schemas.microsoft.com/office/drawing/2014/main" id="{2CD11686-6F80-A444-AEE4-DCA41A984AFF}"/>
              </a:ext>
            </a:extLst>
          </p:cNvPr>
          <p:cNvSpPr>
            <a:spLocks noGrp="1" noRot="1" noChangeAspect="1" noChangeArrowheads="1" noTextEdit="1"/>
          </p:cNvSpPr>
          <p:nvPr>
            <p:ph type="sldImg"/>
          </p:nvPr>
        </p:nvSpPr>
        <p:spPr>
          <a:xfrm>
            <a:off x="381000" y="685800"/>
            <a:ext cx="6096000" cy="3429000"/>
          </a:xfrm>
          <a:ln/>
        </p:spPr>
      </p:sp>
      <p:sp>
        <p:nvSpPr>
          <p:cNvPr id="16387" name="Rectangle 3">
            <a:extLst>
              <a:ext uri="{FF2B5EF4-FFF2-40B4-BE49-F238E27FC236}">
                <a16:creationId xmlns:a16="http://schemas.microsoft.com/office/drawing/2014/main" id="{117B5C69-F248-B34F-BDE5-CEC38FF56A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279E30D2-E615-954C-B0C9-2124F66A04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FC0F0B0-1D28-3D46-B8C1-8534A751C016}" type="slidenum">
              <a:rPr lang="en-US" altLang="en-US" sz="1200" smtClean="0"/>
              <a:pPr/>
              <a:t>3</a:t>
            </a:fld>
            <a:endParaRPr lang="en-US" altLang="en-US" sz="1200"/>
          </a:p>
        </p:txBody>
      </p:sp>
      <p:sp>
        <p:nvSpPr>
          <p:cNvPr id="18434" name="Rectangle 2">
            <a:extLst>
              <a:ext uri="{FF2B5EF4-FFF2-40B4-BE49-F238E27FC236}">
                <a16:creationId xmlns:a16="http://schemas.microsoft.com/office/drawing/2014/main" id="{FEE0D0F6-533B-2248-AD10-AB98B9AD9D16}"/>
              </a:ext>
            </a:extLst>
          </p:cNvPr>
          <p:cNvSpPr>
            <a:spLocks noGrp="1" noRot="1" noChangeAspect="1" noChangeArrowheads="1" noTextEdit="1"/>
          </p:cNvSpPr>
          <p:nvPr>
            <p:ph type="sldImg"/>
          </p:nvPr>
        </p:nvSpPr>
        <p:spPr>
          <a:xfrm>
            <a:off x="381000" y="685800"/>
            <a:ext cx="6096000" cy="3429000"/>
          </a:xfrm>
          <a:ln/>
        </p:spPr>
      </p:sp>
      <p:sp>
        <p:nvSpPr>
          <p:cNvPr id="18435" name="Rectangle 3">
            <a:extLst>
              <a:ext uri="{FF2B5EF4-FFF2-40B4-BE49-F238E27FC236}">
                <a16:creationId xmlns:a16="http://schemas.microsoft.com/office/drawing/2014/main" id="{D778F79E-8D22-C842-8B85-D3C7E3FA5D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BFB05557-4DD7-9241-9D3A-36B408B032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08289F4B-38A2-F443-BB95-7E2E014086A9}" type="slidenum">
              <a:rPr lang="en-US" altLang="en-US" sz="1200" smtClean="0"/>
              <a:pPr/>
              <a:t>4</a:t>
            </a:fld>
            <a:endParaRPr lang="en-US" altLang="en-US" sz="1200"/>
          </a:p>
        </p:txBody>
      </p:sp>
      <p:sp>
        <p:nvSpPr>
          <p:cNvPr id="20482" name="Rectangle 2">
            <a:extLst>
              <a:ext uri="{FF2B5EF4-FFF2-40B4-BE49-F238E27FC236}">
                <a16:creationId xmlns:a16="http://schemas.microsoft.com/office/drawing/2014/main" id="{03E90D78-ADCB-674B-85A8-C19868155A58}"/>
              </a:ext>
            </a:extLst>
          </p:cNvPr>
          <p:cNvSpPr>
            <a:spLocks noGrp="1" noRot="1" noChangeAspect="1" noChangeArrowheads="1" noTextEdit="1"/>
          </p:cNvSpPr>
          <p:nvPr>
            <p:ph type="sldImg"/>
          </p:nvPr>
        </p:nvSpPr>
        <p:spPr>
          <a:xfrm>
            <a:off x="381000" y="685800"/>
            <a:ext cx="6096000" cy="3429000"/>
          </a:xfrm>
          <a:ln/>
        </p:spPr>
      </p:sp>
      <p:sp>
        <p:nvSpPr>
          <p:cNvPr id="20483" name="Rectangle 3">
            <a:extLst>
              <a:ext uri="{FF2B5EF4-FFF2-40B4-BE49-F238E27FC236}">
                <a16:creationId xmlns:a16="http://schemas.microsoft.com/office/drawing/2014/main" id="{B0F22141-D9B4-044A-9F1B-59F8A077CFA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0F5C0031-C48D-3446-B7AD-3B9171E548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C0A6925-F32A-5649-9A77-A1B5FCC1DF2F}" type="slidenum">
              <a:rPr lang="en-US" altLang="en-US" sz="1200" smtClean="0"/>
              <a:pPr/>
              <a:t>5</a:t>
            </a:fld>
            <a:endParaRPr lang="en-US" altLang="en-US" sz="1200"/>
          </a:p>
        </p:txBody>
      </p:sp>
      <p:sp>
        <p:nvSpPr>
          <p:cNvPr id="22530" name="Rectangle 2">
            <a:extLst>
              <a:ext uri="{FF2B5EF4-FFF2-40B4-BE49-F238E27FC236}">
                <a16:creationId xmlns:a16="http://schemas.microsoft.com/office/drawing/2014/main" id="{4482657A-98B1-9D43-9AF7-52D7102F8DF9}"/>
              </a:ext>
            </a:extLst>
          </p:cNvPr>
          <p:cNvSpPr>
            <a:spLocks noGrp="1" noRot="1" noChangeAspect="1" noChangeArrowheads="1" noTextEdit="1"/>
          </p:cNvSpPr>
          <p:nvPr>
            <p:ph type="sldImg"/>
          </p:nvPr>
        </p:nvSpPr>
        <p:spPr>
          <a:xfrm>
            <a:off x="381000" y="685800"/>
            <a:ext cx="6096000" cy="3429000"/>
          </a:xfrm>
          <a:ln/>
        </p:spPr>
      </p:sp>
      <p:sp>
        <p:nvSpPr>
          <p:cNvPr id="22531" name="Rectangle 3">
            <a:extLst>
              <a:ext uri="{FF2B5EF4-FFF2-40B4-BE49-F238E27FC236}">
                <a16:creationId xmlns:a16="http://schemas.microsoft.com/office/drawing/2014/main" id="{47B59028-2F3E-B049-95D4-304CEB9565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9C872A02-86E7-D349-971C-E4EFD26C50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B2B1064-FB65-C948-BB30-A23CFD71F264}" type="slidenum">
              <a:rPr lang="en-US" altLang="en-US" sz="1200" smtClean="0"/>
              <a:pPr/>
              <a:t>6</a:t>
            </a:fld>
            <a:endParaRPr lang="en-US" altLang="en-US" sz="1200"/>
          </a:p>
        </p:txBody>
      </p:sp>
      <p:sp>
        <p:nvSpPr>
          <p:cNvPr id="24578" name="Rectangle 2">
            <a:extLst>
              <a:ext uri="{FF2B5EF4-FFF2-40B4-BE49-F238E27FC236}">
                <a16:creationId xmlns:a16="http://schemas.microsoft.com/office/drawing/2014/main" id="{0284A813-4981-594F-B220-65DEC1F2733E}"/>
              </a:ext>
            </a:extLst>
          </p:cNvPr>
          <p:cNvSpPr>
            <a:spLocks noGrp="1" noRot="1" noChangeAspect="1" noChangeArrowheads="1" noTextEdit="1"/>
          </p:cNvSpPr>
          <p:nvPr>
            <p:ph type="sldImg"/>
          </p:nvPr>
        </p:nvSpPr>
        <p:spPr>
          <a:xfrm>
            <a:off x="381000" y="685800"/>
            <a:ext cx="6096000" cy="3429000"/>
          </a:xfrm>
          <a:ln/>
        </p:spPr>
      </p:sp>
      <p:sp>
        <p:nvSpPr>
          <p:cNvPr id="24579" name="Rectangle 3">
            <a:extLst>
              <a:ext uri="{FF2B5EF4-FFF2-40B4-BE49-F238E27FC236}">
                <a16:creationId xmlns:a16="http://schemas.microsoft.com/office/drawing/2014/main" id="{12863047-9B60-BD49-99AC-BB6E6F5F34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80459D58-1A5D-3947-B5D8-E34AE6FD2E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3FEB8D92-5D75-4E41-9902-CBAE81064C62}" type="slidenum">
              <a:rPr lang="en-US" altLang="en-US" sz="1200" smtClean="0"/>
              <a:pPr/>
              <a:t>7</a:t>
            </a:fld>
            <a:endParaRPr lang="en-US" altLang="en-US" sz="1200"/>
          </a:p>
        </p:txBody>
      </p:sp>
      <p:sp>
        <p:nvSpPr>
          <p:cNvPr id="26626" name="Rectangle 2">
            <a:extLst>
              <a:ext uri="{FF2B5EF4-FFF2-40B4-BE49-F238E27FC236}">
                <a16:creationId xmlns:a16="http://schemas.microsoft.com/office/drawing/2014/main" id="{6E74BE94-D453-BE46-99BB-8F110FEB698D}"/>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26627" name="Rectangle 3">
            <a:extLst>
              <a:ext uri="{FF2B5EF4-FFF2-40B4-BE49-F238E27FC236}">
                <a16:creationId xmlns:a16="http://schemas.microsoft.com/office/drawing/2014/main" id="{E761AF3C-9833-CC4B-9C02-D9A3FCF90337}"/>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CDB30AC7-22BA-314D-9FB1-28914E5DB5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BD3D8DE-791C-5347-9826-D10E8AFA3F13}" type="slidenum">
              <a:rPr lang="en-US" altLang="en-US" sz="1200" smtClean="0"/>
              <a:pPr/>
              <a:t>8</a:t>
            </a:fld>
            <a:endParaRPr lang="en-US" altLang="en-US" sz="1200"/>
          </a:p>
        </p:txBody>
      </p:sp>
      <p:sp>
        <p:nvSpPr>
          <p:cNvPr id="28674" name="Rectangle 2">
            <a:extLst>
              <a:ext uri="{FF2B5EF4-FFF2-40B4-BE49-F238E27FC236}">
                <a16:creationId xmlns:a16="http://schemas.microsoft.com/office/drawing/2014/main" id="{0CD75608-B2AB-734A-8BB0-789E1B71177D}"/>
              </a:ext>
            </a:extLst>
          </p:cNvPr>
          <p:cNvSpPr>
            <a:spLocks noGrp="1" noRot="1" noChangeAspect="1" noChangeArrowheads="1" noTextEdit="1"/>
          </p:cNvSpPr>
          <p:nvPr>
            <p:ph type="sldImg"/>
          </p:nvPr>
        </p:nvSpPr>
        <p:spPr>
          <a:xfrm>
            <a:off x="381000" y="685800"/>
            <a:ext cx="6096000" cy="3429000"/>
          </a:xfrm>
          <a:ln/>
        </p:spPr>
      </p:sp>
      <p:sp>
        <p:nvSpPr>
          <p:cNvPr id="28675" name="Rectangle 3">
            <a:extLst>
              <a:ext uri="{FF2B5EF4-FFF2-40B4-BE49-F238E27FC236}">
                <a16:creationId xmlns:a16="http://schemas.microsoft.com/office/drawing/2014/main" id="{50CD4570-DC87-7A4D-BA94-F394092EB8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78C42032-8C53-4040-9734-2362D39328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3E034A6-42EB-2E45-B73E-C9DA2FBCBE24}" type="slidenum">
              <a:rPr lang="en-US" altLang="en-US" sz="1200" smtClean="0"/>
              <a:pPr/>
              <a:t>9</a:t>
            </a:fld>
            <a:endParaRPr lang="en-US" altLang="en-US" sz="1200"/>
          </a:p>
        </p:txBody>
      </p:sp>
      <p:sp>
        <p:nvSpPr>
          <p:cNvPr id="30722" name="Rectangle 2">
            <a:extLst>
              <a:ext uri="{FF2B5EF4-FFF2-40B4-BE49-F238E27FC236}">
                <a16:creationId xmlns:a16="http://schemas.microsoft.com/office/drawing/2014/main" id="{A560BA01-F890-5B41-BC3B-0BFDB8FE4EE3}"/>
              </a:ext>
            </a:extLst>
          </p:cNvPr>
          <p:cNvSpPr>
            <a:spLocks noGrp="1" noRot="1" noChangeAspect="1" noChangeArrowheads="1" noTextEdit="1"/>
          </p:cNvSpPr>
          <p:nvPr>
            <p:ph type="sldImg"/>
          </p:nvPr>
        </p:nvSpPr>
        <p:spPr>
          <a:xfrm>
            <a:off x="381000" y="685800"/>
            <a:ext cx="6096000" cy="3429000"/>
          </a:xfrm>
          <a:ln/>
        </p:spPr>
      </p:sp>
      <p:sp>
        <p:nvSpPr>
          <p:cNvPr id="30723" name="Rectangle 3">
            <a:extLst>
              <a:ext uri="{FF2B5EF4-FFF2-40B4-BE49-F238E27FC236}">
                <a16:creationId xmlns:a16="http://schemas.microsoft.com/office/drawing/2014/main" id="{E6E447F0-CDE8-8340-BDB0-82D92EEEF79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0E4B206B-4629-7940-AEDA-088CE17AFA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4600EB2-3F10-7C49-B268-BFE0508D8167}" type="slidenum">
              <a:rPr lang="en-US" altLang="en-US" sz="1200" smtClean="0"/>
              <a:pPr/>
              <a:t>10</a:t>
            </a:fld>
            <a:endParaRPr lang="en-US" altLang="en-US" sz="1200"/>
          </a:p>
        </p:txBody>
      </p:sp>
      <p:sp>
        <p:nvSpPr>
          <p:cNvPr id="32770" name="Rectangle 2">
            <a:extLst>
              <a:ext uri="{FF2B5EF4-FFF2-40B4-BE49-F238E27FC236}">
                <a16:creationId xmlns:a16="http://schemas.microsoft.com/office/drawing/2014/main" id="{6DCD66F7-9241-6E42-88B5-349C60B8F686}"/>
              </a:ext>
            </a:extLst>
          </p:cNvPr>
          <p:cNvSpPr>
            <a:spLocks noGrp="1" noRot="1" noChangeAspect="1" noChangeArrowheads="1" noTextEdit="1"/>
          </p:cNvSpPr>
          <p:nvPr>
            <p:ph type="sldImg"/>
          </p:nvPr>
        </p:nvSpPr>
        <p:spPr>
          <a:xfrm>
            <a:off x="381000" y="685800"/>
            <a:ext cx="6096000" cy="3429000"/>
          </a:xfrm>
          <a:ln/>
        </p:spPr>
      </p:sp>
      <p:sp>
        <p:nvSpPr>
          <p:cNvPr id="32771" name="Rectangle 3">
            <a:extLst>
              <a:ext uri="{FF2B5EF4-FFF2-40B4-BE49-F238E27FC236}">
                <a16:creationId xmlns:a16="http://schemas.microsoft.com/office/drawing/2014/main" id="{E21ED039-0736-A045-ADC2-347AD1394F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680FEE61-3EA3-2C49-A617-EEDD5FCDD51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DC6572F-9CD6-3F4D-B656-ED08FB64CAB1}" type="slidenum">
              <a:rPr lang="en-US" altLang="en-US" sz="1200" smtClean="0"/>
              <a:pPr/>
              <a:t>11</a:t>
            </a:fld>
            <a:endParaRPr lang="en-US" altLang="en-US" sz="1200"/>
          </a:p>
        </p:txBody>
      </p:sp>
      <p:sp>
        <p:nvSpPr>
          <p:cNvPr id="34818" name="Rectangle 2">
            <a:extLst>
              <a:ext uri="{FF2B5EF4-FFF2-40B4-BE49-F238E27FC236}">
                <a16:creationId xmlns:a16="http://schemas.microsoft.com/office/drawing/2014/main" id="{5C01FEA8-76FA-A847-9BDA-5AE6C50923E9}"/>
              </a:ext>
            </a:extLst>
          </p:cNvPr>
          <p:cNvSpPr>
            <a:spLocks noGrp="1" noRot="1" noChangeAspect="1" noChangeArrowheads="1" noTextEdit="1"/>
          </p:cNvSpPr>
          <p:nvPr>
            <p:ph type="sldImg"/>
          </p:nvPr>
        </p:nvSpPr>
        <p:spPr>
          <a:xfrm>
            <a:off x="381000" y="685800"/>
            <a:ext cx="6096000" cy="3429000"/>
          </a:xfrm>
          <a:ln/>
        </p:spPr>
      </p:sp>
      <p:sp>
        <p:nvSpPr>
          <p:cNvPr id="34819" name="Rectangle 3">
            <a:extLst>
              <a:ext uri="{FF2B5EF4-FFF2-40B4-BE49-F238E27FC236}">
                <a16:creationId xmlns:a16="http://schemas.microsoft.com/office/drawing/2014/main" id="{5B219D65-454F-3D4A-9A56-78C2BF1181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5CE4C6E6-56B4-0448-ADA6-FADE7997D9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59C21F5-AC1F-6C44-8225-0BBB2A221D3F}" type="slidenum">
              <a:rPr lang="en-US" altLang="en-US" sz="1200" smtClean="0"/>
              <a:pPr/>
              <a:t>12</a:t>
            </a:fld>
            <a:endParaRPr lang="en-US" altLang="en-US" sz="1200"/>
          </a:p>
        </p:txBody>
      </p:sp>
      <p:sp>
        <p:nvSpPr>
          <p:cNvPr id="36866" name="Rectangle 2">
            <a:extLst>
              <a:ext uri="{FF2B5EF4-FFF2-40B4-BE49-F238E27FC236}">
                <a16:creationId xmlns:a16="http://schemas.microsoft.com/office/drawing/2014/main" id="{1E0FC249-816C-F043-9175-3880D51C82DB}"/>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36867" name="Rectangle 3">
            <a:extLst>
              <a:ext uri="{FF2B5EF4-FFF2-40B4-BE49-F238E27FC236}">
                <a16:creationId xmlns:a16="http://schemas.microsoft.com/office/drawing/2014/main" id="{4F645025-64D3-754B-93E9-D55DF99A47BB}"/>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54A89F74-16D8-5144-BCE6-872091AEF0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C617417-CD43-3D4A-8ADE-1DCA8D9ABAF3}" type="slidenum">
              <a:rPr lang="en-US" altLang="en-US" sz="1200" smtClean="0"/>
              <a:pPr/>
              <a:t>13</a:t>
            </a:fld>
            <a:endParaRPr lang="en-US" altLang="en-US" sz="1200"/>
          </a:p>
        </p:txBody>
      </p:sp>
      <p:sp>
        <p:nvSpPr>
          <p:cNvPr id="38914" name="Rectangle 2">
            <a:extLst>
              <a:ext uri="{FF2B5EF4-FFF2-40B4-BE49-F238E27FC236}">
                <a16:creationId xmlns:a16="http://schemas.microsoft.com/office/drawing/2014/main" id="{12EC4778-71CC-D147-8F88-FB66169D6DFE}"/>
              </a:ext>
            </a:extLst>
          </p:cNvPr>
          <p:cNvSpPr>
            <a:spLocks noGrp="1" noRot="1" noChangeAspect="1" noChangeArrowheads="1" noTextEdit="1"/>
          </p:cNvSpPr>
          <p:nvPr>
            <p:ph type="sldImg"/>
          </p:nvPr>
        </p:nvSpPr>
        <p:spPr>
          <a:xfrm>
            <a:off x="381000" y="685800"/>
            <a:ext cx="6096000" cy="3429000"/>
          </a:xfrm>
          <a:ln/>
        </p:spPr>
      </p:sp>
      <p:sp>
        <p:nvSpPr>
          <p:cNvPr id="38915" name="Rectangle 3">
            <a:extLst>
              <a:ext uri="{FF2B5EF4-FFF2-40B4-BE49-F238E27FC236}">
                <a16:creationId xmlns:a16="http://schemas.microsoft.com/office/drawing/2014/main" id="{547664E5-2A3C-E346-ACAB-020C19D760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F5A8C933-A186-BC43-8512-F36FEB8CFD3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CEDEAEA-D266-7840-8459-D90A0CDD0E1C}" type="slidenum">
              <a:rPr lang="en-US" altLang="en-US" sz="1200" smtClean="0"/>
              <a:pPr/>
              <a:t>14</a:t>
            </a:fld>
            <a:endParaRPr lang="en-US" altLang="en-US" sz="1200"/>
          </a:p>
        </p:txBody>
      </p:sp>
      <p:sp>
        <p:nvSpPr>
          <p:cNvPr id="40962" name="Rectangle 2">
            <a:extLst>
              <a:ext uri="{FF2B5EF4-FFF2-40B4-BE49-F238E27FC236}">
                <a16:creationId xmlns:a16="http://schemas.microsoft.com/office/drawing/2014/main" id="{5995B5E6-6177-5744-B156-E03ACF3A49CE}"/>
              </a:ext>
            </a:extLst>
          </p:cNvPr>
          <p:cNvSpPr>
            <a:spLocks noGrp="1" noRot="1" noChangeAspect="1" noChangeArrowheads="1" noTextEdit="1"/>
          </p:cNvSpPr>
          <p:nvPr>
            <p:ph type="sldImg"/>
          </p:nvPr>
        </p:nvSpPr>
        <p:spPr>
          <a:xfrm>
            <a:off x="381000" y="685800"/>
            <a:ext cx="6096000" cy="3429000"/>
          </a:xfrm>
          <a:ln/>
        </p:spPr>
      </p:sp>
      <p:sp>
        <p:nvSpPr>
          <p:cNvPr id="40963" name="Rectangle 3">
            <a:extLst>
              <a:ext uri="{FF2B5EF4-FFF2-40B4-BE49-F238E27FC236}">
                <a16:creationId xmlns:a16="http://schemas.microsoft.com/office/drawing/2014/main" id="{476EA1FD-8DBB-E04F-B72F-02AA31AD15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C9B67EAC-17D0-484D-BE1C-9942CF7CE9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E41E98D6-6CFA-334E-903B-675863571BCB}" type="slidenum">
              <a:rPr lang="en-US" altLang="en-US" sz="1200" smtClean="0"/>
              <a:pPr/>
              <a:t>15</a:t>
            </a:fld>
            <a:endParaRPr lang="en-US" altLang="en-US" sz="1200"/>
          </a:p>
        </p:txBody>
      </p:sp>
      <p:sp>
        <p:nvSpPr>
          <p:cNvPr id="43010" name="Rectangle 2">
            <a:extLst>
              <a:ext uri="{FF2B5EF4-FFF2-40B4-BE49-F238E27FC236}">
                <a16:creationId xmlns:a16="http://schemas.microsoft.com/office/drawing/2014/main" id="{14CE1EEF-CD36-544F-BFFE-F2C906813B33}"/>
              </a:ext>
            </a:extLst>
          </p:cNvPr>
          <p:cNvSpPr>
            <a:spLocks noGrp="1" noRot="1" noChangeAspect="1" noChangeArrowheads="1" noTextEdit="1"/>
          </p:cNvSpPr>
          <p:nvPr>
            <p:ph type="sldImg"/>
          </p:nvPr>
        </p:nvSpPr>
        <p:spPr>
          <a:xfrm>
            <a:off x="381000" y="685800"/>
            <a:ext cx="6096000" cy="3429000"/>
          </a:xfrm>
          <a:ln/>
        </p:spPr>
      </p:sp>
      <p:sp>
        <p:nvSpPr>
          <p:cNvPr id="43011" name="Rectangle 3">
            <a:extLst>
              <a:ext uri="{FF2B5EF4-FFF2-40B4-BE49-F238E27FC236}">
                <a16:creationId xmlns:a16="http://schemas.microsoft.com/office/drawing/2014/main" id="{18A232AC-38D2-034A-8B2E-C15FD1F0F70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580023FD-EEC4-6449-84F2-26EB6D3683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4AEF171-57C5-154E-A80D-79188824DFCE}" type="slidenum">
              <a:rPr lang="en-US" altLang="en-US" sz="1200" smtClean="0"/>
              <a:pPr/>
              <a:t>16</a:t>
            </a:fld>
            <a:endParaRPr lang="en-US" altLang="en-US" sz="1200"/>
          </a:p>
        </p:txBody>
      </p:sp>
      <p:sp>
        <p:nvSpPr>
          <p:cNvPr id="45058" name="Rectangle 2">
            <a:extLst>
              <a:ext uri="{FF2B5EF4-FFF2-40B4-BE49-F238E27FC236}">
                <a16:creationId xmlns:a16="http://schemas.microsoft.com/office/drawing/2014/main" id="{95B831F9-0F6A-F04B-B831-1B27C94F3054}"/>
              </a:ext>
            </a:extLst>
          </p:cNvPr>
          <p:cNvSpPr>
            <a:spLocks noGrp="1" noRot="1" noChangeAspect="1" noChangeArrowheads="1" noTextEdit="1"/>
          </p:cNvSpPr>
          <p:nvPr>
            <p:ph type="sldImg"/>
          </p:nvPr>
        </p:nvSpPr>
        <p:spPr>
          <a:xfrm>
            <a:off x="381000" y="685800"/>
            <a:ext cx="6096000" cy="3429000"/>
          </a:xfrm>
          <a:ln/>
        </p:spPr>
      </p:sp>
      <p:sp>
        <p:nvSpPr>
          <p:cNvPr id="45059" name="Rectangle 3">
            <a:extLst>
              <a:ext uri="{FF2B5EF4-FFF2-40B4-BE49-F238E27FC236}">
                <a16:creationId xmlns:a16="http://schemas.microsoft.com/office/drawing/2014/main" id="{67FA9997-5E0D-5741-9607-A297E4E389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BC5BA006-616D-354F-AB12-042D5790D0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753E1EF3-3263-DC47-A67D-A736E7ACF3D3}" type="slidenum">
              <a:rPr lang="en-US" altLang="en-US" sz="1200" smtClean="0"/>
              <a:pPr/>
              <a:t>17</a:t>
            </a:fld>
            <a:endParaRPr lang="en-US" altLang="en-US" sz="1200"/>
          </a:p>
        </p:txBody>
      </p:sp>
      <p:sp>
        <p:nvSpPr>
          <p:cNvPr id="47106" name="Rectangle 2">
            <a:extLst>
              <a:ext uri="{FF2B5EF4-FFF2-40B4-BE49-F238E27FC236}">
                <a16:creationId xmlns:a16="http://schemas.microsoft.com/office/drawing/2014/main" id="{6D666652-57C7-5340-9D11-C8E1EC8DF43A}"/>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47107" name="Rectangle 3">
            <a:extLst>
              <a:ext uri="{FF2B5EF4-FFF2-40B4-BE49-F238E27FC236}">
                <a16:creationId xmlns:a16="http://schemas.microsoft.com/office/drawing/2014/main" id="{BBCA6982-6CD2-6944-92FD-A2DA5BB528D2}"/>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353927FD-A8F4-7645-8B49-8D28805845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A39F931C-6838-6641-B9BD-C24F7F44BFD4}" type="slidenum">
              <a:rPr lang="en-US" altLang="en-US" sz="1200" smtClean="0"/>
              <a:pPr/>
              <a:t>18</a:t>
            </a:fld>
            <a:endParaRPr lang="en-US" altLang="en-US" sz="1200"/>
          </a:p>
        </p:txBody>
      </p:sp>
      <p:sp>
        <p:nvSpPr>
          <p:cNvPr id="49154" name="Rectangle 2">
            <a:extLst>
              <a:ext uri="{FF2B5EF4-FFF2-40B4-BE49-F238E27FC236}">
                <a16:creationId xmlns:a16="http://schemas.microsoft.com/office/drawing/2014/main" id="{4034AA3B-CE9B-C34F-A971-15F87039F1D0}"/>
              </a:ext>
            </a:extLst>
          </p:cNvPr>
          <p:cNvSpPr>
            <a:spLocks noGrp="1" noRot="1" noChangeAspect="1" noChangeArrowheads="1" noTextEdit="1"/>
          </p:cNvSpPr>
          <p:nvPr>
            <p:ph type="sldImg"/>
          </p:nvPr>
        </p:nvSpPr>
        <p:spPr>
          <a:xfrm>
            <a:off x="381000" y="685800"/>
            <a:ext cx="6096000" cy="3429000"/>
          </a:xfrm>
          <a:ln/>
        </p:spPr>
      </p:sp>
      <p:sp>
        <p:nvSpPr>
          <p:cNvPr id="49155" name="Rectangle 3">
            <a:extLst>
              <a:ext uri="{FF2B5EF4-FFF2-40B4-BE49-F238E27FC236}">
                <a16:creationId xmlns:a16="http://schemas.microsoft.com/office/drawing/2014/main" id="{15F73C26-3C08-2F4C-808C-004118B593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6A4F6725-D5C7-9F49-AE23-2A21FDE19E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0C47261-F674-104D-805A-82E1427A4F72}" type="slidenum">
              <a:rPr lang="en-US" altLang="en-US" sz="1200" smtClean="0"/>
              <a:pPr/>
              <a:t>19</a:t>
            </a:fld>
            <a:endParaRPr lang="en-US" altLang="en-US" sz="1200"/>
          </a:p>
        </p:txBody>
      </p:sp>
      <p:sp>
        <p:nvSpPr>
          <p:cNvPr id="51202" name="Rectangle 2">
            <a:extLst>
              <a:ext uri="{FF2B5EF4-FFF2-40B4-BE49-F238E27FC236}">
                <a16:creationId xmlns:a16="http://schemas.microsoft.com/office/drawing/2014/main" id="{A72B6142-9053-1A45-80E5-DCF57A70AA35}"/>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1203" name="Rectangle 3">
            <a:extLst>
              <a:ext uri="{FF2B5EF4-FFF2-40B4-BE49-F238E27FC236}">
                <a16:creationId xmlns:a16="http://schemas.microsoft.com/office/drawing/2014/main" id="{C07DA4DF-6E07-1344-81C2-4DB9F55D155D}"/>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3BBF598C-EFE3-CE43-BA72-A3EC38888B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C90CBC27-A2E0-624F-9177-135995E547A6}" type="slidenum">
              <a:rPr lang="en-US" altLang="en-US" sz="1200" smtClean="0"/>
              <a:pPr/>
              <a:t>20</a:t>
            </a:fld>
            <a:endParaRPr lang="en-US" altLang="en-US" sz="1200"/>
          </a:p>
        </p:txBody>
      </p:sp>
      <p:sp>
        <p:nvSpPr>
          <p:cNvPr id="53250" name="Rectangle 2">
            <a:extLst>
              <a:ext uri="{FF2B5EF4-FFF2-40B4-BE49-F238E27FC236}">
                <a16:creationId xmlns:a16="http://schemas.microsoft.com/office/drawing/2014/main" id="{DAE20997-D217-984E-AC19-C5247688C062}"/>
              </a:ext>
            </a:extLst>
          </p:cNvPr>
          <p:cNvSpPr>
            <a:spLocks noGrp="1" noRot="1" noChangeAspect="1" noChangeArrowheads="1" noTextEdit="1"/>
          </p:cNvSpPr>
          <p:nvPr>
            <p:ph type="sldImg"/>
          </p:nvPr>
        </p:nvSpPr>
        <p:spPr>
          <a:xfrm>
            <a:off x="381000" y="685800"/>
            <a:ext cx="6096000" cy="3429000"/>
          </a:xfrm>
          <a:ln/>
        </p:spPr>
      </p:sp>
      <p:sp>
        <p:nvSpPr>
          <p:cNvPr id="53251" name="Rectangle 3">
            <a:extLst>
              <a:ext uri="{FF2B5EF4-FFF2-40B4-BE49-F238E27FC236}">
                <a16:creationId xmlns:a16="http://schemas.microsoft.com/office/drawing/2014/main" id="{6208C768-C685-F745-B371-0411BB13BD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91C21289-99D5-864C-9BA1-40D28DE3A22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7CC6A1A8-D8B5-224E-800E-7E3FA83B9D06}" type="slidenum">
              <a:rPr lang="en-US" altLang="en-US" sz="1200" smtClean="0"/>
              <a:pPr/>
              <a:t>21</a:t>
            </a:fld>
            <a:endParaRPr lang="en-US" altLang="en-US" sz="1200"/>
          </a:p>
        </p:txBody>
      </p:sp>
      <p:sp>
        <p:nvSpPr>
          <p:cNvPr id="55298" name="Rectangle 2">
            <a:extLst>
              <a:ext uri="{FF2B5EF4-FFF2-40B4-BE49-F238E27FC236}">
                <a16:creationId xmlns:a16="http://schemas.microsoft.com/office/drawing/2014/main" id="{3615589A-5D37-E34B-9571-A922BAE4F031}"/>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5299" name="Rectangle 3">
            <a:extLst>
              <a:ext uri="{FF2B5EF4-FFF2-40B4-BE49-F238E27FC236}">
                <a16:creationId xmlns:a16="http://schemas.microsoft.com/office/drawing/2014/main" id="{E91332A6-274D-8740-87CE-D1E83163FDD5}"/>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855B6762-CFC3-9F42-8537-BCBAF93B1D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253050FE-8CA7-AE4B-A70F-D58A37BABE11}" type="slidenum">
              <a:rPr lang="en-US" altLang="en-US" sz="1200" smtClean="0"/>
              <a:pPr/>
              <a:t>22</a:t>
            </a:fld>
            <a:endParaRPr lang="en-US" altLang="en-US" sz="1200"/>
          </a:p>
        </p:txBody>
      </p:sp>
      <p:sp>
        <p:nvSpPr>
          <p:cNvPr id="57346" name="Rectangle 2">
            <a:extLst>
              <a:ext uri="{FF2B5EF4-FFF2-40B4-BE49-F238E27FC236}">
                <a16:creationId xmlns:a16="http://schemas.microsoft.com/office/drawing/2014/main" id="{2AA16590-9606-CF49-B7BA-117676016D43}"/>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57347" name="Rectangle 3">
            <a:extLst>
              <a:ext uri="{FF2B5EF4-FFF2-40B4-BE49-F238E27FC236}">
                <a16:creationId xmlns:a16="http://schemas.microsoft.com/office/drawing/2014/main" id="{D6F7C511-80BA-BE4C-B8B0-CEF0E95B4B13}"/>
              </a:ext>
            </a:extLst>
          </p:cNvPr>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latin typeface="Times" pitchFamily="2" charset="0"/>
                <a:ea typeface="ＭＳ Ｐゴシック" panose="020B0600070205080204" pitchFamily="34" charset="-128"/>
              </a:rPr>
              <a:t>Important to emphasize that the receptive field is on the retina.  Students tend to forget this as you work your way through the explanation of more specifically tuned neurons further into the system.</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63CEBBEC-F901-8B45-8AE6-4E0E759824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3A98F82-EC9A-644A-B244-1CCB3A789304}" type="slidenum">
              <a:rPr lang="en-US" altLang="en-US" sz="1200" smtClean="0"/>
              <a:pPr/>
              <a:t>23</a:t>
            </a:fld>
            <a:endParaRPr lang="en-US" altLang="en-US" sz="1200"/>
          </a:p>
        </p:txBody>
      </p:sp>
      <p:sp>
        <p:nvSpPr>
          <p:cNvPr id="59394" name="Rectangle 2">
            <a:extLst>
              <a:ext uri="{FF2B5EF4-FFF2-40B4-BE49-F238E27FC236}">
                <a16:creationId xmlns:a16="http://schemas.microsoft.com/office/drawing/2014/main" id="{5A6EE83F-2666-AE45-9680-463949BC37FD}"/>
              </a:ext>
            </a:extLst>
          </p:cNvPr>
          <p:cNvSpPr>
            <a:spLocks noGrp="1" noRot="1" noChangeAspect="1" noChangeArrowheads="1" noTextEdit="1"/>
          </p:cNvSpPr>
          <p:nvPr>
            <p:ph type="sldImg"/>
          </p:nvPr>
        </p:nvSpPr>
        <p:spPr>
          <a:xfrm>
            <a:off x="381000" y="685800"/>
            <a:ext cx="6096000" cy="3429000"/>
          </a:xfrm>
          <a:ln/>
        </p:spPr>
      </p:sp>
      <p:sp>
        <p:nvSpPr>
          <p:cNvPr id="59395" name="Rectangle 3">
            <a:extLst>
              <a:ext uri="{FF2B5EF4-FFF2-40B4-BE49-F238E27FC236}">
                <a16:creationId xmlns:a16="http://schemas.microsoft.com/office/drawing/2014/main" id="{AFE381F7-7A23-914C-9D8D-EB61D8AD84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C9ACFEA2-5C9E-CD40-B6DB-128D57BD45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533B43F3-259C-434E-A071-E40D362BAA33}" type="slidenum">
              <a:rPr lang="en-US" altLang="en-US" sz="1200" smtClean="0"/>
              <a:pPr/>
              <a:t>24</a:t>
            </a:fld>
            <a:endParaRPr lang="en-US" altLang="en-US" sz="1200"/>
          </a:p>
        </p:txBody>
      </p:sp>
      <p:sp>
        <p:nvSpPr>
          <p:cNvPr id="61442" name="Rectangle 2">
            <a:extLst>
              <a:ext uri="{FF2B5EF4-FFF2-40B4-BE49-F238E27FC236}">
                <a16:creationId xmlns:a16="http://schemas.microsoft.com/office/drawing/2014/main" id="{94AE4C3E-9FC3-6C41-BBA6-206708FD7E9F}"/>
              </a:ext>
            </a:extLst>
          </p:cNvPr>
          <p:cNvSpPr>
            <a:spLocks noGrp="1" noRot="1" noChangeAspect="1" noChangeArrowheads="1" noTextEdit="1"/>
          </p:cNvSpPr>
          <p:nvPr>
            <p:ph type="sldImg"/>
          </p:nvPr>
        </p:nvSpPr>
        <p:spPr>
          <a:xfrm>
            <a:off x="381000" y="685800"/>
            <a:ext cx="6096000" cy="3429000"/>
          </a:xfrm>
          <a:ln/>
        </p:spPr>
      </p:sp>
      <p:sp>
        <p:nvSpPr>
          <p:cNvPr id="61443" name="Rectangle 3">
            <a:extLst>
              <a:ext uri="{FF2B5EF4-FFF2-40B4-BE49-F238E27FC236}">
                <a16:creationId xmlns:a16="http://schemas.microsoft.com/office/drawing/2014/main" id="{90B90274-6809-6F42-B8C0-E905A66C22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6A90AFE9-E38F-E94B-A4E5-421B68FD31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67DACD68-58F9-5045-84AA-F03D4C9421BB}" type="slidenum">
              <a:rPr lang="en-US" altLang="en-US" sz="1200" smtClean="0"/>
              <a:pPr/>
              <a:t>25</a:t>
            </a:fld>
            <a:endParaRPr lang="en-US" altLang="en-US" sz="1200"/>
          </a:p>
        </p:txBody>
      </p:sp>
      <p:sp>
        <p:nvSpPr>
          <p:cNvPr id="63490" name="Rectangle 2">
            <a:extLst>
              <a:ext uri="{FF2B5EF4-FFF2-40B4-BE49-F238E27FC236}">
                <a16:creationId xmlns:a16="http://schemas.microsoft.com/office/drawing/2014/main" id="{2A9924F6-22BF-3443-A9E3-88296A7AD0F0}"/>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63491" name="Rectangle 3">
            <a:extLst>
              <a:ext uri="{FF2B5EF4-FFF2-40B4-BE49-F238E27FC236}">
                <a16:creationId xmlns:a16="http://schemas.microsoft.com/office/drawing/2014/main" id="{C4DC1D3A-E739-3C49-979D-C97D09EB465B}"/>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55B23B04-DC00-8B4A-980E-8FF422F0C1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D7EAFE8A-11C4-564E-94A5-5141107C5F1E}" type="slidenum">
              <a:rPr lang="en-US" altLang="en-US" sz="1200" smtClean="0"/>
              <a:pPr/>
              <a:t>26</a:t>
            </a:fld>
            <a:endParaRPr lang="en-US" altLang="en-US" sz="1200"/>
          </a:p>
        </p:txBody>
      </p:sp>
      <p:sp>
        <p:nvSpPr>
          <p:cNvPr id="65538" name="Rectangle 2">
            <a:extLst>
              <a:ext uri="{FF2B5EF4-FFF2-40B4-BE49-F238E27FC236}">
                <a16:creationId xmlns:a16="http://schemas.microsoft.com/office/drawing/2014/main" id="{1DAF2432-E704-C341-A8B1-A3A9209D20A0}"/>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65539" name="Rectangle 3">
            <a:extLst>
              <a:ext uri="{FF2B5EF4-FFF2-40B4-BE49-F238E27FC236}">
                <a16:creationId xmlns:a16="http://schemas.microsoft.com/office/drawing/2014/main" id="{D4DA86AD-77CA-3843-82D6-388D5D51E711}"/>
              </a:ext>
            </a:extLst>
          </p:cNvPr>
          <p:cNvSpPr>
            <a:spLocks noGrp="1" noChangeArrowheads="1"/>
          </p:cNvSpPr>
          <p:nvPr>
            <p:ph type="body" idx="1"/>
          </p:nvPr>
        </p:nvSpPr>
        <p:spPr>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A92BE941-87AF-CA4F-97E0-45429FE879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BE97CFD5-89F9-F34C-B2E3-5C18D4E96528}" type="slidenum">
              <a:rPr lang="en-US" altLang="en-US" sz="1200" smtClean="0"/>
              <a:pPr/>
              <a:t>27</a:t>
            </a:fld>
            <a:endParaRPr lang="en-US" altLang="en-US" sz="1200"/>
          </a:p>
        </p:txBody>
      </p:sp>
      <p:sp>
        <p:nvSpPr>
          <p:cNvPr id="67586" name="Rectangle 2">
            <a:extLst>
              <a:ext uri="{FF2B5EF4-FFF2-40B4-BE49-F238E27FC236}">
                <a16:creationId xmlns:a16="http://schemas.microsoft.com/office/drawing/2014/main" id="{54F3312B-0130-B640-A470-D61632AD39E9}"/>
              </a:ext>
            </a:extLst>
          </p:cNvPr>
          <p:cNvSpPr>
            <a:spLocks noGrp="1" noRot="1" noChangeAspect="1" noChangeArrowheads="1" noTextEdit="1"/>
          </p:cNvSpPr>
          <p:nvPr>
            <p:ph type="sldImg"/>
          </p:nvPr>
        </p:nvSpPr>
        <p:spPr>
          <a:xfrm>
            <a:off x="381000" y="685800"/>
            <a:ext cx="6096000" cy="3429000"/>
          </a:xfrm>
          <a:ln/>
        </p:spPr>
      </p:sp>
      <p:sp>
        <p:nvSpPr>
          <p:cNvPr id="67587" name="Rectangle 3">
            <a:extLst>
              <a:ext uri="{FF2B5EF4-FFF2-40B4-BE49-F238E27FC236}">
                <a16:creationId xmlns:a16="http://schemas.microsoft.com/office/drawing/2014/main" id="{A8C9C5BB-09C1-B544-8903-E1487D14A2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a:extLst>
              <a:ext uri="{FF2B5EF4-FFF2-40B4-BE49-F238E27FC236}">
                <a16:creationId xmlns:a16="http://schemas.microsoft.com/office/drawing/2014/main" id="{03FC13F9-EAA9-1345-BEFC-77268DFD6BD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2081C2A7-EF6D-9241-8164-0D99AFCAB934}" type="slidenum">
              <a:rPr lang="en-US" altLang="en-US" sz="1200" smtClean="0"/>
              <a:pPr/>
              <a:t>28</a:t>
            </a:fld>
            <a:endParaRPr lang="en-US" altLang="en-US" sz="1200"/>
          </a:p>
        </p:txBody>
      </p:sp>
      <p:sp>
        <p:nvSpPr>
          <p:cNvPr id="69634" name="Rectangle 2">
            <a:extLst>
              <a:ext uri="{FF2B5EF4-FFF2-40B4-BE49-F238E27FC236}">
                <a16:creationId xmlns:a16="http://schemas.microsoft.com/office/drawing/2014/main" id="{41AC8CE9-6CEC-8845-8C73-6799B8ED8E36}"/>
              </a:ext>
            </a:extLst>
          </p:cNvPr>
          <p:cNvSpPr>
            <a:spLocks noGrp="1" noRot="1" noChangeAspect="1" noChangeArrowheads="1" noTextEdit="1"/>
          </p:cNvSpPr>
          <p:nvPr>
            <p:ph type="sldImg"/>
          </p:nvPr>
        </p:nvSpPr>
        <p:spPr>
          <a:xfrm>
            <a:off x="381000" y="685800"/>
            <a:ext cx="6096000" cy="3429000"/>
          </a:xfrm>
          <a:ln/>
        </p:spPr>
      </p:sp>
      <p:sp>
        <p:nvSpPr>
          <p:cNvPr id="69635" name="Rectangle 3">
            <a:extLst>
              <a:ext uri="{FF2B5EF4-FFF2-40B4-BE49-F238E27FC236}">
                <a16:creationId xmlns:a16="http://schemas.microsoft.com/office/drawing/2014/main" id="{737ABBE3-6A34-5641-97C7-88174E6EE0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a:extLst>
              <a:ext uri="{FF2B5EF4-FFF2-40B4-BE49-F238E27FC236}">
                <a16:creationId xmlns:a16="http://schemas.microsoft.com/office/drawing/2014/main" id="{4A5D49CE-A171-6946-B365-DDADB6907A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37931725" indent="-37474525">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fld id="{9CFDE03A-E109-9B4A-9BA0-4428192B3339}" type="slidenum">
              <a:rPr lang="en-US" altLang="en-US" sz="1200" smtClean="0"/>
              <a:pPr/>
              <a:t>29</a:t>
            </a:fld>
            <a:endParaRPr lang="en-US" altLang="en-US" sz="1200"/>
          </a:p>
        </p:txBody>
      </p:sp>
      <p:sp>
        <p:nvSpPr>
          <p:cNvPr id="71682" name="Rectangle 2">
            <a:extLst>
              <a:ext uri="{FF2B5EF4-FFF2-40B4-BE49-F238E27FC236}">
                <a16:creationId xmlns:a16="http://schemas.microsoft.com/office/drawing/2014/main" id="{AAC72180-D57D-FC43-B13D-84E93E77BCA3}"/>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71683" name="Rectangle 3">
            <a:extLst>
              <a:ext uri="{FF2B5EF4-FFF2-40B4-BE49-F238E27FC236}">
                <a16:creationId xmlns:a16="http://schemas.microsoft.com/office/drawing/2014/main" id="{232F6B42-0A32-EA46-88F2-83867B602A7B}"/>
              </a:ext>
            </a:extLst>
          </p:cNvPr>
          <p:cNvSpPr>
            <a:spLocks noGrp="1" noChangeArrowheads="1"/>
          </p:cNvSpPr>
          <p:nvPr>
            <p:ph type="body" idx="1"/>
          </p:nvPr>
        </p:nvSpPr>
        <p:spPr>
          <a:xfrm>
            <a:off x="685800" y="4343400"/>
            <a:ext cx="5486400" cy="4114800"/>
          </a:xfrm>
          <a:solidFill>
            <a:srgbClr val="FFFFFF"/>
          </a:solidFill>
          <a:ln>
            <a:solidFill>
              <a:srgbClr val="000000"/>
            </a:solidFill>
          </a:ln>
        </p:spPr>
        <p:txBody>
          <a:bodyPr/>
          <a:lstStyle/>
          <a:p>
            <a:pPr eaLnBrk="1" hangingPunct="1"/>
            <a:endParaRPr lang="en-US" altLang="en-US">
              <a:latin typeface="Times" pitchFamily="2"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8">
            <a:extLst>
              <a:ext uri="{FF2B5EF4-FFF2-40B4-BE49-F238E27FC236}">
                <a16:creationId xmlns:a16="http://schemas.microsoft.com/office/drawing/2014/main" id="{2BF0DFA3-6678-FE4F-9B23-A65370E613A3}"/>
              </a:ext>
            </a:extLst>
          </p:cNvPr>
          <p:cNvGrpSpPr>
            <a:grpSpLocks/>
          </p:cNvGrpSpPr>
          <p:nvPr/>
        </p:nvGrpSpPr>
        <p:grpSpPr bwMode="auto">
          <a:xfrm flipH="1">
            <a:off x="1447800" y="1714500"/>
            <a:ext cx="7010400" cy="57150"/>
            <a:chOff x="0" y="905"/>
            <a:chExt cx="5282" cy="103"/>
          </a:xfrm>
        </p:grpSpPr>
        <p:grpSp>
          <p:nvGrpSpPr>
            <p:cNvPr id="5" name="Group 9">
              <a:extLst>
                <a:ext uri="{FF2B5EF4-FFF2-40B4-BE49-F238E27FC236}">
                  <a16:creationId xmlns:a16="http://schemas.microsoft.com/office/drawing/2014/main" id="{4EECC484-F07B-D844-B96E-20DE1C623310}"/>
                </a:ext>
              </a:extLst>
            </p:cNvPr>
            <p:cNvGrpSpPr>
              <a:grpSpLocks/>
            </p:cNvGrpSpPr>
            <p:nvPr/>
          </p:nvGrpSpPr>
          <p:grpSpPr bwMode="auto">
            <a:xfrm>
              <a:off x="5158" y="905"/>
              <a:ext cx="124" cy="103"/>
              <a:chOff x="5158" y="905"/>
              <a:chExt cx="124" cy="103"/>
            </a:xfrm>
          </p:grpSpPr>
          <p:sp>
            <p:nvSpPr>
              <p:cNvPr id="20" name="Rectangle 10">
                <a:extLst>
                  <a:ext uri="{FF2B5EF4-FFF2-40B4-BE49-F238E27FC236}">
                    <a16:creationId xmlns:a16="http://schemas.microsoft.com/office/drawing/2014/main" id="{91626018-4216-C44E-935D-29470EB3D851}"/>
                  </a:ext>
                </a:extLst>
              </p:cNvPr>
              <p:cNvSpPr>
                <a:spLocks noChangeArrowheads="1"/>
              </p:cNvSpPr>
              <p:nvPr/>
            </p:nvSpPr>
            <p:spPr bwMode="auto">
              <a:xfrm>
                <a:off x="5252" y="905"/>
                <a:ext cx="3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21" name="Rectangle 11">
                <a:extLst>
                  <a:ext uri="{FF2B5EF4-FFF2-40B4-BE49-F238E27FC236}">
                    <a16:creationId xmlns:a16="http://schemas.microsoft.com/office/drawing/2014/main" id="{2DD35798-8B32-104F-9D81-EB25BE868D6D}"/>
                  </a:ext>
                </a:extLst>
              </p:cNvPr>
              <p:cNvSpPr>
                <a:spLocks noChangeArrowheads="1"/>
              </p:cNvSpPr>
              <p:nvPr/>
            </p:nvSpPr>
            <p:spPr bwMode="auto">
              <a:xfrm>
                <a:off x="5158" y="905"/>
                <a:ext cx="6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6" name="Group 12">
              <a:extLst>
                <a:ext uri="{FF2B5EF4-FFF2-40B4-BE49-F238E27FC236}">
                  <a16:creationId xmlns:a16="http://schemas.microsoft.com/office/drawing/2014/main" id="{410B0E2B-ED30-F148-9DF9-F82C0399D91F}"/>
                </a:ext>
              </a:extLst>
            </p:cNvPr>
            <p:cNvGrpSpPr>
              <a:grpSpLocks/>
            </p:cNvGrpSpPr>
            <p:nvPr/>
          </p:nvGrpSpPr>
          <p:grpSpPr bwMode="auto">
            <a:xfrm>
              <a:off x="4848" y="905"/>
              <a:ext cx="263" cy="103"/>
              <a:chOff x="4848" y="905"/>
              <a:chExt cx="263" cy="103"/>
            </a:xfrm>
          </p:grpSpPr>
          <p:sp>
            <p:nvSpPr>
              <p:cNvPr id="18" name="Rectangle 13">
                <a:extLst>
                  <a:ext uri="{FF2B5EF4-FFF2-40B4-BE49-F238E27FC236}">
                    <a16:creationId xmlns:a16="http://schemas.microsoft.com/office/drawing/2014/main" id="{0064018A-4062-D541-9C90-9063B79D7378}"/>
                  </a:ext>
                </a:extLst>
              </p:cNvPr>
              <p:cNvSpPr>
                <a:spLocks noChangeArrowheads="1"/>
              </p:cNvSpPr>
              <p:nvPr/>
            </p:nvSpPr>
            <p:spPr bwMode="auto">
              <a:xfrm>
                <a:off x="5018" y="905"/>
                <a:ext cx="93"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9" name="Rectangle 14">
                <a:extLst>
                  <a:ext uri="{FF2B5EF4-FFF2-40B4-BE49-F238E27FC236}">
                    <a16:creationId xmlns:a16="http://schemas.microsoft.com/office/drawing/2014/main" id="{7F9D76DE-956F-734E-B3D8-2AC8390BC9AB}"/>
                  </a:ext>
                </a:extLst>
              </p:cNvPr>
              <p:cNvSpPr>
                <a:spLocks noChangeArrowheads="1"/>
              </p:cNvSpPr>
              <p:nvPr/>
            </p:nvSpPr>
            <p:spPr bwMode="auto">
              <a:xfrm>
                <a:off x="4848" y="905"/>
                <a:ext cx="12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7" name="Group 15">
              <a:extLst>
                <a:ext uri="{FF2B5EF4-FFF2-40B4-BE49-F238E27FC236}">
                  <a16:creationId xmlns:a16="http://schemas.microsoft.com/office/drawing/2014/main" id="{E63D0747-76BA-AD4F-B0D3-B9977085A9A8}"/>
                </a:ext>
              </a:extLst>
            </p:cNvPr>
            <p:cNvGrpSpPr>
              <a:grpSpLocks/>
            </p:cNvGrpSpPr>
            <p:nvPr/>
          </p:nvGrpSpPr>
          <p:grpSpPr bwMode="auto">
            <a:xfrm>
              <a:off x="4418" y="905"/>
              <a:ext cx="386" cy="103"/>
              <a:chOff x="4418" y="905"/>
              <a:chExt cx="386" cy="103"/>
            </a:xfrm>
          </p:grpSpPr>
          <p:sp>
            <p:nvSpPr>
              <p:cNvPr id="16" name="Rectangle 16">
                <a:extLst>
                  <a:ext uri="{FF2B5EF4-FFF2-40B4-BE49-F238E27FC236}">
                    <a16:creationId xmlns:a16="http://schemas.microsoft.com/office/drawing/2014/main" id="{A7BEA727-32DF-5D41-BD04-18AC55BBC120}"/>
                  </a:ext>
                </a:extLst>
              </p:cNvPr>
              <p:cNvSpPr>
                <a:spLocks noChangeArrowheads="1"/>
              </p:cNvSpPr>
              <p:nvPr/>
            </p:nvSpPr>
            <p:spPr bwMode="auto">
              <a:xfrm>
                <a:off x="4650" y="905"/>
                <a:ext cx="152"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7" name="Rectangle 17">
                <a:extLst>
                  <a:ext uri="{FF2B5EF4-FFF2-40B4-BE49-F238E27FC236}">
                    <a16:creationId xmlns:a16="http://schemas.microsoft.com/office/drawing/2014/main" id="{CD0D6B13-774D-6844-B9F6-B98E2595A059}"/>
                  </a:ext>
                </a:extLst>
              </p:cNvPr>
              <p:cNvSpPr>
                <a:spLocks noChangeArrowheads="1"/>
              </p:cNvSpPr>
              <p:nvPr/>
            </p:nvSpPr>
            <p:spPr bwMode="auto">
              <a:xfrm>
                <a:off x="4418" y="905"/>
                <a:ext cx="189"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8" name="Group 18">
              <a:extLst>
                <a:ext uri="{FF2B5EF4-FFF2-40B4-BE49-F238E27FC236}">
                  <a16:creationId xmlns:a16="http://schemas.microsoft.com/office/drawing/2014/main" id="{C59C22A7-8E31-2340-BC3C-DF1F2C5C8B20}"/>
                </a:ext>
              </a:extLst>
            </p:cNvPr>
            <p:cNvGrpSpPr>
              <a:grpSpLocks/>
            </p:cNvGrpSpPr>
            <p:nvPr/>
          </p:nvGrpSpPr>
          <p:grpSpPr bwMode="auto">
            <a:xfrm>
              <a:off x="3183" y="905"/>
              <a:ext cx="1191" cy="103"/>
              <a:chOff x="3183" y="905"/>
              <a:chExt cx="1191" cy="103"/>
            </a:xfrm>
          </p:grpSpPr>
          <p:sp>
            <p:nvSpPr>
              <p:cNvPr id="12" name="Rectangle 19">
                <a:extLst>
                  <a:ext uri="{FF2B5EF4-FFF2-40B4-BE49-F238E27FC236}">
                    <a16:creationId xmlns:a16="http://schemas.microsoft.com/office/drawing/2014/main" id="{F4A82BE1-108E-A340-B04E-65120D3FB645}"/>
                  </a:ext>
                </a:extLst>
              </p:cNvPr>
              <p:cNvSpPr>
                <a:spLocks noChangeArrowheads="1"/>
              </p:cNvSpPr>
              <p:nvPr/>
            </p:nvSpPr>
            <p:spPr bwMode="auto">
              <a:xfrm>
                <a:off x="3558"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3" name="Rectangle 20">
                <a:extLst>
                  <a:ext uri="{FF2B5EF4-FFF2-40B4-BE49-F238E27FC236}">
                    <a16:creationId xmlns:a16="http://schemas.microsoft.com/office/drawing/2014/main" id="{4E496FE5-9BA5-D240-A35F-6A71D6F3E093}"/>
                  </a:ext>
                </a:extLst>
              </p:cNvPr>
              <p:cNvSpPr>
                <a:spLocks noChangeArrowheads="1"/>
              </p:cNvSpPr>
              <p:nvPr/>
            </p:nvSpPr>
            <p:spPr bwMode="auto">
              <a:xfrm>
                <a:off x="4156" y="905"/>
                <a:ext cx="218"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4" name="Rectangle 21">
                <a:extLst>
                  <a:ext uri="{FF2B5EF4-FFF2-40B4-BE49-F238E27FC236}">
                    <a16:creationId xmlns:a16="http://schemas.microsoft.com/office/drawing/2014/main" id="{51E1E95F-AC64-5C49-A40D-9888C30135A7}"/>
                  </a:ext>
                </a:extLst>
              </p:cNvPr>
              <p:cNvSpPr>
                <a:spLocks noChangeArrowheads="1"/>
              </p:cNvSpPr>
              <p:nvPr/>
            </p:nvSpPr>
            <p:spPr bwMode="auto">
              <a:xfrm>
                <a:off x="3865"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5" name="Rectangle 22">
                <a:extLst>
                  <a:ext uri="{FF2B5EF4-FFF2-40B4-BE49-F238E27FC236}">
                    <a16:creationId xmlns:a16="http://schemas.microsoft.com/office/drawing/2014/main" id="{DD5CE1D7-1411-5A48-8C1B-A21B1E12BED5}"/>
                  </a:ext>
                </a:extLst>
              </p:cNvPr>
              <p:cNvSpPr>
                <a:spLocks noChangeArrowheads="1"/>
              </p:cNvSpPr>
              <p:nvPr/>
            </p:nvSpPr>
            <p:spPr bwMode="auto">
              <a:xfrm>
                <a:off x="3183" y="905"/>
                <a:ext cx="31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9" name="Group 23">
              <a:extLst>
                <a:ext uri="{FF2B5EF4-FFF2-40B4-BE49-F238E27FC236}">
                  <a16:creationId xmlns:a16="http://schemas.microsoft.com/office/drawing/2014/main" id="{44BF9323-685D-6D48-86F4-EADFA65249FB}"/>
                </a:ext>
              </a:extLst>
            </p:cNvPr>
            <p:cNvGrpSpPr>
              <a:grpSpLocks/>
            </p:cNvGrpSpPr>
            <p:nvPr/>
          </p:nvGrpSpPr>
          <p:grpSpPr bwMode="auto">
            <a:xfrm>
              <a:off x="0" y="905"/>
              <a:ext cx="3143" cy="103"/>
              <a:chOff x="0" y="905"/>
              <a:chExt cx="3143" cy="103"/>
            </a:xfrm>
          </p:grpSpPr>
          <p:sp>
            <p:nvSpPr>
              <p:cNvPr id="10" name="Rectangle 24">
                <a:extLst>
                  <a:ext uri="{FF2B5EF4-FFF2-40B4-BE49-F238E27FC236}">
                    <a16:creationId xmlns:a16="http://schemas.microsoft.com/office/drawing/2014/main" id="{73CE666A-E2B7-0346-ACEF-77FDCF4292F6}"/>
                  </a:ext>
                </a:extLst>
              </p:cNvPr>
              <p:cNvSpPr>
                <a:spLocks noChangeArrowheads="1"/>
              </p:cNvSpPr>
              <p:nvPr/>
            </p:nvSpPr>
            <p:spPr bwMode="auto">
              <a:xfrm>
                <a:off x="2799" y="905"/>
                <a:ext cx="34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1" name="Rectangle 25">
                <a:extLst>
                  <a:ext uri="{FF2B5EF4-FFF2-40B4-BE49-F238E27FC236}">
                    <a16:creationId xmlns:a16="http://schemas.microsoft.com/office/drawing/2014/main" id="{2D786B34-D524-7040-924C-E406A7911E51}"/>
                  </a:ext>
                </a:extLst>
              </p:cNvPr>
              <p:cNvSpPr>
                <a:spLocks noChangeArrowheads="1"/>
              </p:cNvSpPr>
              <p:nvPr/>
            </p:nvSpPr>
            <p:spPr bwMode="auto">
              <a:xfrm>
                <a:off x="0" y="905"/>
                <a:ext cx="275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pic>
        <p:nvPicPr>
          <p:cNvPr id="22" name="Picture 26">
            <a:extLst>
              <a:ext uri="{FF2B5EF4-FFF2-40B4-BE49-F238E27FC236}">
                <a16:creationId xmlns:a16="http://schemas.microsoft.com/office/drawing/2014/main" id="{F2741114-EEEA-164F-95B1-06D66670F53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0829" t="11624" r="16043" b="11624"/>
          <a:stretch>
            <a:fillRect/>
          </a:stretch>
        </p:blipFill>
        <p:spPr bwMode="auto">
          <a:xfrm>
            <a:off x="0" y="971550"/>
            <a:ext cx="1963738" cy="1600200"/>
          </a:xfrm>
          <a:prstGeom prst="rect">
            <a:avLst/>
          </a:prstGeom>
          <a:noFill/>
          <a:ln>
            <a:noFill/>
          </a:ln>
          <a:extLst>
            <a:ext uri="{909E8E84-426E-40DD-AFC4-6F175D3DCCD1}">
              <a14:hiddenFill xmlns:a14="http://schemas.microsoft.com/office/drawing/2010/main">
                <a:solidFill>
                  <a:srgbClr val="FFFFFF">
                    <a:alpha val="9019"/>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Rectangle 3"/>
          <p:cNvSpPr>
            <a:spLocks noGrp="1" noChangeArrowheads="1"/>
          </p:cNvSpPr>
          <p:nvPr>
            <p:ph type="ctrTitle"/>
          </p:nvPr>
        </p:nvSpPr>
        <p:spPr>
          <a:xfrm>
            <a:off x="1905000" y="914400"/>
            <a:ext cx="6578600" cy="685800"/>
          </a:xfrm>
        </p:spPr>
        <p:txBody>
          <a:bodyPr/>
          <a:lstStyle>
            <a:lvl1pPr>
              <a:defRPr/>
            </a:lvl1pPr>
          </a:lstStyle>
          <a:p>
            <a:r>
              <a:rPr lang="en-US"/>
              <a:t>Click to edit Master title style</a:t>
            </a:r>
          </a:p>
        </p:txBody>
      </p:sp>
      <p:sp>
        <p:nvSpPr>
          <p:cNvPr id="4100" name="Rectangle 4"/>
          <p:cNvSpPr>
            <a:spLocks noGrp="1" noChangeArrowheads="1"/>
          </p:cNvSpPr>
          <p:nvPr>
            <p:ph type="subTitle" idx="1"/>
          </p:nvPr>
        </p:nvSpPr>
        <p:spPr>
          <a:xfrm>
            <a:off x="1981200" y="2914650"/>
            <a:ext cx="5638800" cy="1328738"/>
          </a:xfrm>
        </p:spPr>
        <p:txBody>
          <a:bodyPr/>
          <a:lstStyle>
            <a:lvl1pPr marL="0" indent="0">
              <a:buFont typeface="Wingdings" pitchFamily="-110" charset="2"/>
              <a:buNone/>
              <a:defRPr>
                <a:solidFill>
                  <a:srgbClr val="666666"/>
                </a:solidFill>
              </a:defRPr>
            </a:lvl1pPr>
          </a:lstStyle>
          <a:p>
            <a:r>
              <a:rPr lang="en-US"/>
              <a:t>Click to edit Master subtitle style</a:t>
            </a:r>
          </a:p>
        </p:txBody>
      </p:sp>
      <p:sp>
        <p:nvSpPr>
          <p:cNvPr id="23" name="Rectangle 5">
            <a:extLst>
              <a:ext uri="{FF2B5EF4-FFF2-40B4-BE49-F238E27FC236}">
                <a16:creationId xmlns:a16="http://schemas.microsoft.com/office/drawing/2014/main" id="{55CCE881-A8D4-2040-A268-84EF420CCD66}"/>
              </a:ext>
            </a:extLst>
          </p:cNvPr>
          <p:cNvSpPr>
            <a:spLocks noGrp="1" noChangeArrowheads="1"/>
          </p:cNvSpPr>
          <p:nvPr>
            <p:ph type="dt" sz="half" idx="10"/>
          </p:nvPr>
        </p:nvSpPr>
        <p:spPr>
          <a:xfrm>
            <a:off x="711200" y="4672012"/>
            <a:ext cx="1930400" cy="385763"/>
          </a:xfrm>
        </p:spPr>
        <p:txBody>
          <a:bodyPr/>
          <a:lstStyle>
            <a:lvl1pPr>
              <a:defRPr sz="1050">
                <a:solidFill>
                  <a:srgbClr val="5E574E"/>
                </a:solidFill>
                <a:latin typeface="Comic Sans MS" pitchFamily="-110" charset="0"/>
                <a:ea typeface="+mn-ea"/>
              </a:defRPr>
            </a:lvl1pPr>
          </a:lstStyle>
          <a:p>
            <a:pPr>
              <a:defRPr/>
            </a:pPr>
            <a:fld id="{A73CB773-CEC5-D440-8B91-1E178CEBBA26}" type="datetime4">
              <a:rPr lang="en-US"/>
              <a:pPr>
                <a:defRPr/>
              </a:pPr>
              <a:t>January 24, 2021</a:t>
            </a:fld>
            <a:endParaRPr lang="en-US"/>
          </a:p>
        </p:txBody>
      </p:sp>
      <p:sp>
        <p:nvSpPr>
          <p:cNvPr id="24" name="Rectangle 6">
            <a:extLst>
              <a:ext uri="{FF2B5EF4-FFF2-40B4-BE49-F238E27FC236}">
                <a16:creationId xmlns:a16="http://schemas.microsoft.com/office/drawing/2014/main" id="{117EEFB0-05C2-274F-BBA9-E6882B11D70E}"/>
              </a:ext>
            </a:extLst>
          </p:cNvPr>
          <p:cNvSpPr>
            <a:spLocks noGrp="1" noChangeArrowheads="1"/>
          </p:cNvSpPr>
          <p:nvPr>
            <p:ph type="ftr" sz="quarter" idx="11"/>
          </p:nvPr>
        </p:nvSpPr>
        <p:spPr>
          <a:xfrm>
            <a:off x="3149600" y="4672012"/>
            <a:ext cx="2844800" cy="385763"/>
          </a:xfrm>
        </p:spPr>
        <p:txBody>
          <a:bodyPr/>
          <a:lstStyle>
            <a:lvl1pPr>
              <a:defRPr sz="1050">
                <a:solidFill>
                  <a:srgbClr val="5E574E"/>
                </a:solidFill>
                <a:latin typeface="Comic Sans MS" pitchFamily="-110" charset="0"/>
                <a:ea typeface="+mn-ea"/>
              </a:defRPr>
            </a:lvl1pPr>
          </a:lstStyle>
          <a:p>
            <a:pPr>
              <a:defRPr/>
            </a:pPr>
            <a:r>
              <a:rPr lang="tr-TR"/>
              <a:t>PSYCH 4041 / 6014</a:t>
            </a:r>
            <a:endParaRPr lang="en-US"/>
          </a:p>
        </p:txBody>
      </p:sp>
      <p:sp>
        <p:nvSpPr>
          <p:cNvPr id="25" name="Rectangle 7">
            <a:extLst>
              <a:ext uri="{FF2B5EF4-FFF2-40B4-BE49-F238E27FC236}">
                <a16:creationId xmlns:a16="http://schemas.microsoft.com/office/drawing/2014/main" id="{64845BCB-98EA-844C-94A6-FB365159E848}"/>
              </a:ext>
            </a:extLst>
          </p:cNvPr>
          <p:cNvSpPr>
            <a:spLocks noGrp="1" noChangeArrowheads="1"/>
          </p:cNvSpPr>
          <p:nvPr>
            <p:ph type="sldNum" sz="quarter" idx="12"/>
          </p:nvPr>
        </p:nvSpPr>
        <p:spPr>
          <a:xfrm>
            <a:off x="6604000" y="4672012"/>
            <a:ext cx="1828800" cy="385763"/>
          </a:xfrm>
        </p:spPr>
        <p:txBody>
          <a:bodyPr/>
          <a:lstStyle>
            <a:lvl1pPr>
              <a:defRPr sz="1050">
                <a:solidFill>
                  <a:srgbClr val="5E574E"/>
                </a:solidFill>
                <a:latin typeface="Comic Sans MS" charset="0"/>
              </a:defRPr>
            </a:lvl1pPr>
          </a:lstStyle>
          <a:p>
            <a:pPr>
              <a:defRPr/>
            </a:pPr>
            <a:fld id="{92DC4404-2F15-3F45-8888-95924375BD0C}" type="slidenum">
              <a:rPr lang="en-US" altLang="en-US"/>
              <a:pPr>
                <a:defRPr/>
              </a:pPr>
              <a:t>‹#›</a:t>
            </a:fld>
            <a:endParaRPr lang="en-US" altLang="en-US"/>
          </a:p>
        </p:txBody>
      </p:sp>
    </p:spTree>
    <p:extLst>
      <p:ext uri="{BB962C8B-B14F-4D97-AF65-F5344CB8AC3E}">
        <p14:creationId xmlns:p14="http://schemas.microsoft.com/office/powerpoint/2010/main" val="360534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14707B4C-EF31-F647-A71D-AB9270757B77}"/>
              </a:ext>
            </a:extLst>
          </p:cNvPr>
          <p:cNvSpPr>
            <a:spLocks noGrp="1" noChangeArrowheads="1"/>
          </p:cNvSpPr>
          <p:nvPr>
            <p:ph type="dt" sz="half" idx="10"/>
          </p:nvPr>
        </p:nvSpPr>
        <p:spPr>
          <a:ln/>
        </p:spPr>
        <p:txBody>
          <a:bodyPr/>
          <a:lstStyle>
            <a:lvl1pPr>
              <a:defRPr/>
            </a:lvl1pPr>
          </a:lstStyle>
          <a:p>
            <a:pPr>
              <a:defRPr/>
            </a:pPr>
            <a:fld id="{112A986E-296C-E749-8F65-D992795A84A2}"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AF52C9EA-3740-1242-B25F-606A9B965FA4}"/>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DB0D6FD0-1E2B-B947-8AA4-2626311FAD57}"/>
              </a:ext>
            </a:extLst>
          </p:cNvPr>
          <p:cNvSpPr>
            <a:spLocks noGrp="1" noChangeArrowheads="1"/>
          </p:cNvSpPr>
          <p:nvPr>
            <p:ph type="sldNum" sz="quarter" idx="12"/>
          </p:nvPr>
        </p:nvSpPr>
        <p:spPr>
          <a:ln/>
        </p:spPr>
        <p:txBody>
          <a:bodyPr/>
          <a:lstStyle>
            <a:lvl1pPr>
              <a:defRPr/>
            </a:lvl1pPr>
          </a:lstStyle>
          <a:p>
            <a:pPr>
              <a:defRPr/>
            </a:pPr>
            <a:fld id="{4CA8C557-DD77-1748-8E31-6A889C9DF817}"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297535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4" name="Rectangle 22">
            <a:extLst>
              <a:ext uri="{FF2B5EF4-FFF2-40B4-BE49-F238E27FC236}">
                <a16:creationId xmlns:a16="http://schemas.microsoft.com/office/drawing/2014/main" id="{2AAD0317-70F0-B94C-BB39-0ABC55091889}"/>
              </a:ext>
            </a:extLst>
          </p:cNvPr>
          <p:cNvSpPr>
            <a:spLocks noGrp="1" noChangeArrowheads="1"/>
          </p:cNvSpPr>
          <p:nvPr>
            <p:ph type="dt" sz="half" idx="10"/>
          </p:nvPr>
        </p:nvSpPr>
        <p:spPr>
          <a:ln/>
        </p:spPr>
        <p:txBody>
          <a:bodyPr/>
          <a:lstStyle>
            <a:lvl1pPr>
              <a:defRPr/>
            </a:lvl1pPr>
          </a:lstStyle>
          <a:p>
            <a:pPr>
              <a:defRPr/>
            </a:pPr>
            <a:fld id="{3AEFB91E-E5BD-EE4D-A07A-55C24F14E2A0}"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AF8651DA-9710-F84C-A4F3-F020DF00D2C8}"/>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507A8183-A5F2-6242-BF9B-0B1220BE0006}"/>
              </a:ext>
            </a:extLst>
          </p:cNvPr>
          <p:cNvSpPr>
            <a:spLocks noGrp="1" noChangeArrowheads="1"/>
          </p:cNvSpPr>
          <p:nvPr>
            <p:ph type="sldNum" sz="quarter" idx="12"/>
          </p:nvPr>
        </p:nvSpPr>
        <p:spPr>
          <a:ln/>
        </p:spPr>
        <p:txBody>
          <a:bodyPr/>
          <a:lstStyle>
            <a:lvl1pPr>
              <a:defRPr/>
            </a:lvl1pPr>
          </a:lstStyle>
          <a:p>
            <a:pPr>
              <a:defRPr/>
            </a:pPr>
            <a:fld id="{CBB7A264-F09C-6F45-A315-515D1A577834}"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397080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685800"/>
            <a:ext cx="4229100" cy="41719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685800"/>
            <a:ext cx="4229100" cy="41719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2">
            <a:extLst>
              <a:ext uri="{FF2B5EF4-FFF2-40B4-BE49-F238E27FC236}">
                <a16:creationId xmlns:a16="http://schemas.microsoft.com/office/drawing/2014/main" id="{D983D188-7D1A-E241-87AB-E2B86283B338}"/>
              </a:ext>
            </a:extLst>
          </p:cNvPr>
          <p:cNvSpPr>
            <a:spLocks noGrp="1" noChangeArrowheads="1"/>
          </p:cNvSpPr>
          <p:nvPr>
            <p:ph type="dt" sz="half" idx="10"/>
          </p:nvPr>
        </p:nvSpPr>
        <p:spPr>
          <a:ln/>
        </p:spPr>
        <p:txBody>
          <a:bodyPr/>
          <a:lstStyle>
            <a:lvl1pPr>
              <a:defRPr/>
            </a:lvl1pPr>
          </a:lstStyle>
          <a:p>
            <a:pPr>
              <a:defRPr/>
            </a:pPr>
            <a:fld id="{5E4FAFA1-DCDB-CE44-B4D9-18A612C40F1D}"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4A0E4F64-8C63-0343-95FD-3EEC79C18542}"/>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65E5D3CE-E485-7646-A6AA-90EA12B0027B}"/>
              </a:ext>
            </a:extLst>
          </p:cNvPr>
          <p:cNvSpPr>
            <a:spLocks noGrp="1" noChangeArrowheads="1"/>
          </p:cNvSpPr>
          <p:nvPr>
            <p:ph type="sldNum" sz="quarter" idx="12"/>
          </p:nvPr>
        </p:nvSpPr>
        <p:spPr>
          <a:ln/>
        </p:spPr>
        <p:txBody>
          <a:bodyPr/>
          <a:lstStyle>
            <a:lvl1pPr>
              <a:defRPr/>
            </a:lvl1pPr>
          </a:lstStyle>
          <a:p>
            <a:pPr>
              <a:defRPr/>
            </a:pPr>
            <a:fld id="{7338305D-A1B6-6C4B-91E3-9F068766A850}"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4025012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2">
            <a:extLst>
              <a:ext uri="{FF2B5EF4-FFF2-40B4-BE49-F238E27FC236}">
                <a16:creationId xmlns:a16="http://schemas.microsoft.com/office/drawing/2014/main" id="{5CB8646C-A46B-4E4E-8ADB-C8886DE1E675}"/>
              </a:ext>
            </a:extLst>
          </p:cNvPr>
          <p:cNvSpPr>
            <a:spLocks noGrp="1" noChangeArrowheads="1"/>
          </p:cNvSpPr>
          <p:nvPr>
            <p:ph type="dt" sz="half" idx="10"/>
          </p:nvPr>
        </p:nvSpPr>
        <p:spPr>
          <a:ln/>
        </p:spPr>
        <p:txBody>
          <a:bodyPr/>
          <a:lstStyle>
            <a:lvl1pPr>
              <a:defRPr/>
            </a:lvl1pPr>
          </a:lstStyle>
          <a:p>
            <a:pPr>
              <a:defRPr/>
            </a:pPr>
            <a:fld id="{27BCF400-0009-1649-9396-428E256E23C8}" type="datetime4">
              <a:rPr lang="en-US" altLang="en-US"/>
              <a:pPr>
                <a:defRPr/>
              </a:pPr>
              <a:t>January 24, 2021</a:t>
            </a:fld>
            <a:endParaRPr lang="en-US" altLang="en-US" sz="1050">
              <a:latin typeface="Comic Sans MS" charset="0"/>
            </a:endParaRPr>
          </a:p>
        </p:txBody>
      </p:sp>
      <p:sp>
        <p:nvSpPr>
          <p:cNvPr id="8" name="Rectangle 23">
            <a:extLst>
              <a:ext uri="{FF2B5EF4-FFF2-40B4-BE49-F238E27FC236}">
                <a16:creationId xmlns:a16="http://schemas.microsoft.com/office/drawing/2014/main" id="{1EB6EA0A-C801-7F4A-A4F0-132FAB3E5286}"/>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9" name="Rectangle 24">
            <a:extLst>
              <a:ext uri="{FF2B5EF4-FFF2-40B4-BE49-F238E27FC236}">
                <a16:creationId xmlns:a16="http://schemas.microsoft.com/office/drawing/2014/main" id="{5CAEAF65-A737-AB43-855D-6546D3A5ECB8}"/>
              </a:ext>
            </a:extLst>
          </p:cNvPr>
          <p:cNvSpPr>
            <a:spLocks noGrp="1" noChangeArrowheads="1"/>
          </p:cNvSpPr>
          <p:nvPr>
            <p:ph type="sldNum" sz="quarter" idx="12"/>
          </p:nvPr>
        </p:nvSpPr>
        <p:spPr>
          <a:ln/>
        </p:spPr>
        <p:txBody>
          <a:bodyPr/>
          <a:lstStyle>
            <a:lvl1pPr>
              <a:defRPr/>
            </a:lvl1pPr>
          </a:lstStyle>
          <a:p>
            <a:pPr>
              <a:defRPr/>
            </a:pPr>
            <a:fld id="{13D68A71-039B-5F4A-92F9-F08AA422A93F}"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035920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2">
            <a:extLst>
              <a:ext uri="{FF2B5EF4-FFF2-40B4-BE49-F238E27FC236}">
                <a16:creationId xmlns:a16="http://schemas.microsoft.com/office/drawing/2014/main" id="{712B48F9-A9C4-6F4E-8616-FFF2506BD13B}"/>
              </a:ext>
            </a:extLst>
          </p:cNvPr>
          <p:cNvSpPr>
            <a:spLocks noGrp="1" noChangeArrowheads="1"/>
          </p:cNvSpPr>
          <p:nvPr>
            <p:ph type="dt" sz="half" idx="10"/>
          </p:nvPr>
        </p:nvSpPr>
        <p:spPr>
          <a:ln/>
        </p:spPr>
        <p:txBody>
          <a:bodyPr/>
          <a:lstStyle>
            <a:lvl1pPr>
              <a:defRPr/>
            </a:lvl1pPr>
          </a:lstStyle>
          <a:p>
            <a:pPr>
              <a:defRPr/>
            </a:pPr>
            <a:fld id="{05C1A236-52B5-6846-AA88-0CB948869D36}" type="datetime4">
              <a:rPr lang="en-US" altLang="en-US"/>
              <a:pPr>
                <a:defRPr/>
              </a:pPr>
              <a:t>January 24, 2021</a:t>
            </a:fld>
            <a:endParaRPr lang="en-US" altLang="en-US" sz="1050">
              <a:latin typeface="Comic Sans MS" charset="0"/>
            </a:endParaRPr>
          </a:p>
        </p:txBody>
      </p:sp>
      <p:sp>
        <p:nvSpPr>
          <p:cNvPr id="4" name="Rectangle 23">
            <a:extLst>
              <a:ext uri="{FF2B5EF4-FFF2-40B4-BE49-F238E27FC236}">
                <a16:creationId xmlns:a16="http://schemas.microsoft.com/office/drawing/2014/main" id="{11CF4B62-1BDB-894C-9B3A-CD634D1EC811}"/>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5" name="Rectangle 24">
            <a:extLst>
              <a:ext uri="{FF2B5EF4-FFF2-40B4-BE49-F238E27FC236}">
                <a16:creationId xmlns:a16="http://schemas.microsoft.com/office/drawing/2014/main" id="{DB2E37E2-13A0-6E49-8851-171E23617D61}"/>
              </a:ext>
            </a:extLst>
          </p:cNvPr>
          <p:cNvSpPr>
            <a:spLocks noGrp="1" noChangeArrowheads="1"/>
          </p:cNvSpPr>
          <p:nvPr>
            <p:ph type="sldNum" sz="quarter" idx="12"/>
          </p:nvPr>
        </p:nvSpPr>
        <p:spPr>
          <a:ln/>
        </p:spPr>
        <p:txBody>
          <a:bodyPr/>
          <a:lstStyle>
            <a:lvl1pPr>
              <a:defRPr/>
            </a:lvl1pPr>
          </a:lstStyle>
          <a:p>
            <a:pPr>
              <a:defRPr/>
            </a:pPr>
            <a:fld id="{3C9020D5-0362-AA4E-A109-44DF4CF31443}"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556999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2">
            <a:extLst>
              <a:ext uri="{FF2B5EF4-FFF2-40B4-BE49-F238E27FC236}">
                <a16:creationId xmlns:a16="http://schemas.microsoft.com/office/drawing/2014/main" id="{D5874594-CEEE-744E-84B5-849E1F7AD8F4}"/>
              </a:ext>
            </a:extLst>
          </p:cNvPr>
          <p:cNvSpPr>
            <a:spLocks noGrp="1" noChangeArrowheads="1"/>
          </p:cNvSpPr>
          <p:nvPr>
            <p:ph type="dt" sz="half" idx="10"/>
          </p:nvPr>
        </p:nvSpPr>
        <p:spPr>
          <a:ln/>
        </p:spPr>
        <p:txBody>
          <a:bodyPr/>
          <a:lstStyle>
            <a:lvl1pPr>
              <a:defRPr/>
            </a:lvl1pPr>
          </a:lstStyle>
          <a:p>
            <a:pPr>
              <a:defRPr/>
            </a:pPr>
            <a:fld id="{23FFD736-DE5F-F749-B213-A8CE00861415}" type="datetime4">
              <a:rPr lang="en-US" altLang="en-US"/>
              <a:pPr>
                <a:defRPr/>
              </a:pPr>
              <a:t>January 24, 2021</a:t>
            </a:fld>
            <a:endParaRPr lang="en-US" altLang="en-US" sz="1050">
              <a:latin typeface="Comic Sans MS" charset="0"/>
            </a:endParaRPr>
          </a:p>
        </p:txBody>
      </p:sp>
      <p:sp>
        <p:nvSpPr>
          <p:cNvPr id="3" name="Rectangle 23">
            <a:extLst>
              <a:ext uri="{FF2B5EF4-FFF2-40B4-BE49-F238E27FC236}">
                <a16:creationId xmlns:a16="http://schemas.microsoft.com/office/drawing/2014/main" id="{9F97AA66-02E4-5649-9500-0292003CC56A}"/>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4" name="Rectangle 24">
            <a:extLst>
              <a:ext uri="{FF2B5EF4-FFF2-40B4-BE49-F238E27FC236}">
                <a16:creationId xmlns:a16="http://schemas.microsoft.com/office/drawing/2014/main" id="{C311B7C1-252E-914D-8EE9-D1E9863162F9}"/>
              </a:ext>
            </a:extLst>
          </p:cNvPr>
          <p:cNvSpPr>
            <a:spLocks noGrp="1" noChangeArrowheads="1"/>
          </p:cNvSpPr>
          <p:nvPr>
            <p:ph type="sldNum" sz="quarter" idx="12"/>
          </p:nvPr>
        </p:nvSpPr>
        <p:spPr>
          <a:ln/>
        </p:spPr>
        <p:txBody>
          <a:bodyPr/>
          <a:lstStyle>
            <a:lvl1pPr>
              <a:defRPr/>
            </a:lvl1pPr>
          </a:lstStyle>
          <a:p>
            <a:pPr>
              <a:defRPr/>
            </a:pPr>
            <a:fld id="{D952FCBF-D95B-624A-BF6A-A7BAF479D36F}"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925219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2">
            <a:extLst>
              <a:ext uri="{FF2B5EF4-FFF2-40B4-BE49-F238E27FC236}">
                <a16:creationId xmlns:a16="http://schemas.microsoft.com/office/drawing/2014/main" id="{1354F707-12BB-744C-8FC8-2953E48FF621}"/>
              </a:ext>
            </a:extLst>
          </p:cNvPr>
          <p:cNvSpPr>
            <a:spLocks noGrp="1" noChangeArrowheads="1"/>
          </p:cNvSpPr>
          <p:nvPr>
            <p:ph type="dt" sz="half" idx="10"/>
          </p:nvPr>
        </p:nvSpPr>
        <p:spPr>
          <a:ln/>
        </p:spPr>
        <p:txBody>
          <a:bodyPr/>
          <a:lstStyle>
            <a:lvl1pPr>
              <a:defRPr/>
            </a:lvl1pPr>
          </a:lstStyle>
          <a:p>
            <a:pPr>
              <a:defRPr/>
            </a:pPr>
            <a:fld id="{CB2ADCE5-956F-834A-A409-407A72483B89}"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995A3012-1219-4446-A363-8328EACFBB8C}"/>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F42558D7-C9A2-854D-A8A1-2D0CA7EE8700}"/>
              </a:ext>
            </a:extLst>
          </p:cNvPr>
          <p:cNvSpPr>
            <a:spLocks noGrp="1" noChangeArrowheads="1"/>
          </p:cNvSpPr>
          <p:nvPr>
            <p:ph type="sldNum" sz="quarter" idx="12"/>
          </p:nvPr>
        </p:nvSpPr>
        <p:spPr>
          <a:ln/>
        </p:spPr>
        <p:txBody>
          <a:bodyPr/>
          <a:lstStyle>
            <a:lvl1pPr>
              <a:defRPr/>
            </a:lvl1pPr>
          </a:lstStyle>
          <a:p>
            <a:pPr>
              <a:defRPr/>
            </a:pPr>
            <a:fld id="{4FB1910A-2DF3-0043-9E2A-C089A6856FA8}"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3732136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Rectangle 22">
            <a:extLst>
              <a:ext uri="{FF2B5EF4-FFF2-40B4-BE49-F238E27FC236}">
                <a16:creationId xmlns:a16="http://schemas.microsoft.com/office/drawing/2014/main" id="{23E52F24-7910-2844-9315-F77D36D773B9}"/>
              </a:ext>
            </a:extLst>
          </p:cNvPr>
          <p:cNvSpPr>
            <a:spLocks noGrp="1" noChangeArrowheads="1"/>
          </p:cNvSpPr>
          <p:nvPr>
            <p:ph type="dt" sz="half" idx="10"/>
          </p:nvPr>
        </p:nvSpPr>
        <p:spPr>
          <a:ln/>
        </p:spPr>
        <p:txBody>
          <a:bodyPr/>
          <a:lstStyle>
            <a:lvl1pPr>
              <a:defRPr/>
            </a:lvl1pPr>
          </a:lstStyle>
          <a:p>
            <a:pPr>
              <a:defRPr/>
            </a:pPr>
            <a:fld id="{2FA057AB-C79C-1149-90DD-23BCF6A31DA5}" type="datetime4">
              <a:rPr lang="en-US" altLang="en-US"/>
              <a:pPr>
                <a:defRPr/>
              </a:pPr>
              <a:t>January 24, 2021</a:t>
            </a:fld>
            <a:endParaRPr lang="en-US" altLang="en-US" sz="1050">
              <a:latin typeface="Comic Sans MS" charset="0"/>
            </a:endParaRPr>
          </a:p>
        </p:txBody>
      </p:sp>
      <p:sp>
        <p:nvSpPr>
          <p:cNvPr id="6" name="Rectangle 23">
            <a:extLst>
              <a:ext uri="{FF2B5EF4-FFF2-40B4-BE49-F238E27FC236}">
                <a16:creationId xmlns:a16="http://schemas.microsoft.com/office/drawing/2014/main" id="{CDED770D-6B48-A641-9A9A-7623117BDAB3}"/>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7" name="Rectangle 24">
            <a:extLst>
              <a:ext uri="{FF2B5EF4-FFF2-40B4-BE49-F238E27FC236}">
                <a16:creationId xmlns:a16="http://schemas.microsoft.com/office/drawing/2014/main" id="{7F135474-D82E-D843-9996-03A10F4E08FA}"/>
              </a:ext>
            </a:extLst>
          </p:cNvPr>
          <p:cNvSpPr>
            <a:spLocks noGrp="1" noChangeArrowheads="1"/>
          </p:cNvSpPr>
          <p:nvPr>
            <p:ph type="sldNum" sz="quarter" idx="12"/>
          </p:nvPr>
        </p:nvSpPr>
        <p:spPr>
          <a:ln/>
        </p:spPr>
        <p:txBody>
          <a:bodyPr/>
          <a:lstStyle>
            <a:lvl1pPr>
              <a:defRPr/>
            </a:lvl1pPr>
          </a:lstStyle>
          <a:p>
            <a:pPr>
              <a:defRPr/>
            </a:pPr>
            <a:fld id="{5BBC07B4-ED15-8846-84F1-50A2C8EAFF4C}"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243367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D8296CF9-48A2-BA47-BEA0-79EF5672269B}"/>
              </a:ext>
            </a:extLst>
          </p:cNvPr>
          <p:cNvSpPr>
            <a:spLocks noGrp="1" noChangeArrowheads="1"/>
          </p:cNvSpPr>
          <p:nvPr>
            <p:ph type="dt" sz="half" idx="10"/>
          </p:nvPr>
        </p:nvSpPr>
        <p:spPr>
          <a:ln/>
        </p:spPr>
        <p:txBody>
          <a:bodyPr/>
          <a:lstStyle>
            <a:lvl1pPr>
              <a:defRPr/>
            </a:lvl1pPr>
          </a:lstStyle>
          <a:p>
            <a:pPr>
              <a:defRPr/>
            </a:pPr>
            <a:fld id="{C803F449-C714-D941-B131-367F9A667454}"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BA5724E5-A14D-B641-AD1D-2E783797776B}"/>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8A458193-BBFD-E04F-A687-2A5AE30A49ED}"/>
              </a:ext>
            </a:extLst>
          </p:cNvPr>
          <p:cNvSpPr>
            <a:spLocks noGrp="1" noChangeArrowheads="1"/>
          </p:cNvSpPr>
          <p:nvPr>
            <p:ph type="sldNum" sz="quarter" idx="12"/>
          </p:nvPr>
        </p:nvSpPr>
        <p:spPr>
          <a:ln/>
        </p:spPr>
        <p:txBody>
          <a:bodyPr/>
          <a:lstStyle>
            <a:lvl1pPr>
              <a:defRPr/>
            </a:lvl1pPr>
          </a:lstStyle>
          <a:p>
            <a:pPr>
              <a:defRPr/>
            </a:pPr>
            <a:fld id="{70FFA6F9-1418-8D47-8D0E-60C39D47D43A}"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70643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57150"/>
            <a:ext cx="2152650" cy="4800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57150"/>
            <a:ext cx="6305550" cy="4800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2">
            <a:extLst>
              <a:ext uri="{FF2B5EF4-FFF2-40B4-BE49-F238E27FC236}">
                <a16:creationId xmlns:a16="http://schemas.microsoft.com/office/drawing/2014/main" id="{1416F2AB-B07D-C348-9891-3EAB4F4AF495}"/>
              </a:ext>
            </a:extLst>
          </p:cNvPr>
          <p:cNvSpPr>
            <a:spLocks noGrp="1" noChangeArrowheads="1"/>
          </p:cNvSpPr>
          <p:nvPr>
            <p:ph type="dt" sz="half" idx="10"/>
          </p:nvPr>
        </p:nvSpPr>
        <p:spPr>
          <a:ln/>
        </p:spPr>
        <p:txBody>
          <a:bodyPr/>
          <a:lstStyle>
            <a:lvl1pPr>
              <a:defRPr/>
            </a:lvl1pPr>
          </a:lstStyle>
          <a:p>
            <a:pPr>
              <a:defRPr/>
            </a:pPr>
            <a:fld id="{7C1FD5FC-7325-9548-916A-DB14BA561054}" type="datetime4">
              <a:rPr lang="en-US" altLang="en-US"/>
              <a:pPr>
                <a:defRPr/>
              </a:pPr>
              <a:t>January 24, 2021</a:t>
            </a:fld>
            <a:endParaRPr lang="en-US" altLang="en-US" sz="1050">
              <a:latin typeface="Comic Sans MS" charset="0"/>
            </a:endParaRPr>
          </a:p>
        </p:txBody>
      </p:sp>
      <p:sp>
        <p:nvSpPr>
          <p:cNvPr id="5" name="Rectangle 23">
            <a:extLst>
              <a:ext uri="{FF2B5EF4-FFF2-40B4-BE49-F238E27FC236}">
                <a16:creationId xmlns:a16="http://schemas.microsoft.com/office/drawing/2014/main" id="{8AB9298A-C20E-9445-8B94-AC1D48A65A1A}"/>
              </a:ext>
            </a:extLst>
          </p:cNvPr>
          <p:cNvSpPr>
            <a:spLocks noGrp="1" noChangeArrowheads="1"/>
          </p:cNvSpPr>
          <p:nvPr>
            <p:ph type="ftr" sz="quarter" idx="11"/>
          </p:nvPr>
        </p:nvSpPr>
        <p:spPr>
          <a:ln/>
        </p:spPr>
        <p:txBody>
          <a:bodyPr/>
          <a:lstStyle>
            <a:lvl1pPr>
              <a:defRPr/>
            </a:lvl1pPr>
          </a:lstStyle>
          <a:p>
            <a:pPr>
              <a:defRPr/>
            </a:pPr>
            <a:r>
              <a:rPr lang="tr-TR" altLang="en-US"/>
              <a:t>PSYCH 4041 / 6014</a:t>
            </a:r>
            <a:endParaRPr lang="en-US" altLang="en-US" sz="1050">
              <a:latin typeface="Comic Sans MS" charset="0"/>
            </a:endParaRPr>
          </a:p>
        </p:txBody>
      </p:sp>
      <p:sp>
        <p:nvSpPr>
          <p:cNvPr id="6" name="Rectangle 24">
            <a:extLst>
              <a:ext uri="{FF2B5EF4-FFF2-40B4-BE49-F238E27FC236}">
                <a16:creationId xmlns:a16="http://schemas.microsoft.com/office/drawing/2014/main" id="{EA201A15-5BAB-674E-AF74-73666A6C1ECB}"/>
              </a:ext>
            </a:extLst>
          </p:cNvPr>
          <p:cNvSpPr>
            <a:spLocks noGrp="1" noChangeArrowheads="1"/>
          </p:cNvSpPr>
          <p:nvPr>
            <p:ph type="sldNum" sz="quarter" idx="12"/>
          </p:nvPr>
        </p:nvSpPr>
        <p:spPr>
          <a:ln/>
        </p:spPr>
        <p:txBody>
          <a:bodyPr/>
          <a:lstStyle>
            <a:lvl1pPr>
              <a:defRPr/>
            </a:lvl1pPr>
          </a:lstStyle>
          <a:p>
            <a:pPr>
              <a:defRPr/>
            </a:pPr>
            <a:fld id="{FDCE4DA0-AD44-E04D-8521-286DB415784D}" type="slidenum">
              <a:rPr lang="en-US" altLang="en-US"/>
              <a:pPr>
                <a:defRPr/>
              </a:pPr>
              <a:t>‹#›</a:t>
            </a:fld>
            <a:endParaRPr lang="en-US" altLang="en-US">
              <a:latin typeface="Comic Sans MS" charset="0"/>
            </a:endParaRPr>
          </a:p>
        </p:txBody>
      </p:sp>
    </p:spTree>
    <p:extLst>
      <p:ext uri="{BB962C8B-B14F-4D97-AF65-F5344CB8AC3E}">
        <p14:creationId xmlns:p14="http://schemas.microsoft.com/office/powerpoint/2010/main" val="14681561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84DF1917-075B-F74E-8DF4-232714D60E1C}"/>
              </a:ext>
            </a:extLst>
          </p:cNvPr>
          <p:cNvGrpSpPr>
            <a:grpSpLocks/>
          </p:cNvGrpSpPr>
          <p:nvPr/>
        </p:nvGrpSpPr>
        <p:grpSpPr bwMode="auto">
          <a:xfrm flipH="1">
            <a:off x="0" y="628650"/>
            <a:ext cx="8686800" cy="57150"/>
            <a:chOff x="0" y="905"/>
            <a:chExt cx="5282" cy="103"/>
          </a:xfrm>
        </p:grpSpPr>
        <p:grpSp>
          <p:nvGrpSpPr>
            <p:cNvPr id="1034" name="Group 3">
              <a:extLst>
                <a:ext uri="{FF2B5EF4-FFF2-40B4-BE49-F238E27FC236}">
                  <a16:creationId xmlns:a16="http://schemas.microsoft.com/office/drawing/2014/main" id="{8E1007EE-E9AD-004F-80F3-FDB32ADF9000}"/>
                </a:ext>
              </a:extLst>
            </p:cNvPr>
            <p:cNvGrpSpPr>
              <a:grpSpLocks/>
            </p:cNvGrpSpPr>
            <p:nvPr/>
          </p:nvGrpSpPr>
          <p:grpSpPr bwMode="auto">
            <a:xfrm>
              <a:off x="5158" y="905"/>
              <a:ext cx="124" cy="103"/>
              <a:chOff x="5158" y="905"/>
              <a:chExt cx="124" cy="103"/>
            </a:xfrm>
          </p:grpSpPr>
          <p:sp>
            <p:nvSpPr>
              <p:cNvPr id="1049" name="Rectangle 4">
                <a:extLst>
                  <a:ext uri="{FF2B5EF4-FFF2-40B4-BE49-F238E27FC236}">
                    <a16:creationId xmlns:a16="http://schemas.microsoft.com/office/drawing/2014/main" id="{B40944D2-73B7-3A45-9BDC-A2B98BC446F1}"/>
                  </a:ext>
                </a:extLst>
              </p:cNvPr>
              <p:cNvSpPr>
                <a:spLocks noChangeArrowheads="1"/>
              </p:cNvSpPr>
              <p:nvPr/>
            </p:nvSpPr>
            <p:spPr bwMode="auto">
              <a:xfrm>
                <a:off x="5252" y="905"/>
                <a:ext cx="3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50" name="Rectangle 5">
                <a:extLst>
                  <a:ext uri="{FF2B5EF4-FFF2-40B4-BE49-F238E27FC236}">
                    <a16:creationId xmlns:a16="http://schemas.microsoft.com/office/drawing/2014/main" id="{EB75D277-517D-844A-BFBC-163D8B6AFBAB}"/>
                  </a:ext>
                </a:extLst>
              </p:cNvPr>
              <p:cNvSpPr>
                <a:spLocks noChangeArrowheads="1"/>
              </p:cNvSpPr>
              <p:nvPr/>
            </p:nvSpPr>
            <p:spPr bwMode="auto">
              <a:xfrm>
                <a:off x="5158" y="905"/>
                <a:ext cx="6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5" name="Group 6">
              <a:extLst>
                <a:ext uri="{FF2B5EF4-FFF2-40B4-BE49-F238E27FC236}">
                  <a16:creationId xmlns:a16="http://schemas.microsoft.com/office/drawing/2014/main" id="{51A98CAD-F97A-8943-A055-2529CA1A56E3}"/>
                </a:ext>
              </a:extLst>
            </p:cNvPr>
            <p:cNvGrpSpPr>
              <a:grpSpLocks/>
            </p:cNvGrpSpPr>
            <p:nvPr/>
          </p:nvGrpSpPr>
          <p:grpSpPr bwMode="auto">
            <a:xfrm>
              <a:off x="4848" y="905"/>
              <a:ext cx="263" cy="103"/>
              <a:chOff x="4848" y="905"/>
              <a:chExt cx="263" cy="103"/>
            </a:xfrm>
          </p:grpSpPr>
          <p:sp>
            <p:nvSpPr>
              <p:cNvPr id="1047" name="Rectangle 7">
                <a:extLst>
                  <a:ext uri="{FF2B5EF4-FFF2-40B4-BE49-F238E27FC236}">
                    <a16:creationId xmlns:a16="http://schemas.microsoft.com/office/drawing/2014/main" id="{94D45677-E167-A04B-B7EA-536CDE7D0131}"/>
                  </a:ext>
                </a:extLst>
              </p:cNvPr>
              <p:cNvSpPr>
                <a:spLocks noChangeArrowheads="1"/>
              </p:cNvSpPr>
              <p:nvPr/>
            </p:nvSpPr>
            <p:spPr bwMode="auto">
              <a:xfrm>
                <a:off x="5018" y="905"/>
                <a:ext cx="9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8" name="Rectangle 8">
                <a:extLst>
                  <a:ext uri="{FF2B5EF4-FFF2-40B4-BE49-F238E27FC236}">
                    <a16:creationId xmlns:a16="http://schemas.microsoft.com/office/drawing/2014/main" id="{192533B0-711D-324C-A02D-09AB43CBC060}"/>
                  </a:ext>
                </a:extLst>
              </p:cNvPr>
              <p:cNvSpPr>
                <a:spLocks noChangeArrowheads="1"/>
              </p:cNvSpPr>
              <p:nvPr/>
            </p:nvSpPr>
            <p:spPr bwMode="auto">
              <a:xfrm>
                <a:off x="4848" y="905"/>
                <a:ext cx="12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6" name="Group 9">
              <a:extLst>
                <a:ext uri="{FF2B5EF4-FFF2-40B4-BE49-F238E27FC236}">
                  <a16:creationId xmlns:a16="http://schemas.microsoft.com/office/drawing/2014/main" id="{2A1956D2-787D-4C42-8746-071E1B687CB5}"/>
                </a:ext>
              </a:extLst>
            </p:cNvPr>
            <p:cNvGrpSpPr>
              <a:grpSpLocks/>
            </p:cNvGrpSpPr>
            <p:nvPr/>
          </p:nvGrpSpPr>
          <p:grpSpPr bwMode="auto">
            <a:xfrm>
              <a:off x="4418" y="905"/>
              <a:ext cx="386" cy="103"/>
              <a:chOff x="4418" y="905"/>
              <a:chExt cx="386" cy="103"/>
            </a:xfrm>
          </p:grpSpPr>
          <p:sp>
            <p:nvSpPr>
              <p:cNvPr id="1045" name="Rectangle 10">
                <a:extLst>
                  <a:ext uri="{FF2B5EF4-FFF2-40B4-BE49-F238E27FC236}">
                    <a16:creationId xmlns:a16="http://schemas.microsoft.com/office/drawing/2014/main" id="{BE15E58A-2FD3-E447-8EE2-6C127DBF1A20}"/>
                  </a:ext>
                </a:extLst>
              </p:cNvPr>
              <p:cNvSpPr>
                <a:spLocks noChangeArrowheads="1"/>
              </p:cNvSpPr>
              <p:nvPr/>
            </p:nvSpPr>
            <p:spPr bwMode="auto">
              <a:xfrm>
                <a:off x="4650" y="905"/>
                <a:ext cx="15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6" name="Rectangle 11">
                <a:extLst>
                  <a:ext uri="{FF2B5EF4-FFF2-40B4-BE49-F238E27FC236}">
                    <a16:creationId xmlns:a16="http://schemas.microsoft.com/office/drawing/2014/main" id="{CF283281-FE4D-DD49-B04E-9413E3009D27}"/>
                  </a:ext>
                </a:extLst>
              </p:cNvPr>
              <p:cNvSpPr>
                <a:spLocks noChangeArrowheads="1"/>
              </p:cNvSpPr>
              <p:nvPr/>
            </p:nvSpPr>
            <p:spPr bwMode="auto">
              <a:xfrm>
                <a:off x="4418" y="905"/>
                <a:ext cx="189"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7" name="Group 12">
              <a:extLst>
                <a:ext uri="{FF2B5EF4-FFF2-40B4-BE49-F238E27FC236}">
                  <a16:creationId xmlns:a16="http://schemas.microsoft.com/office/drawing/2014/main" id="{646E7CE3-1E48-3E4C-A16A-75739FD75886}"/>
                </a:ext>
              </a:extLst>
            </p:cNvPr>
            <p:cNvGrpSpPr>
              <a:grpSpLocks/>
            </p:cNvGrpSpPr>
            <p:nvPr/>
          </p:nvGrpSpPr>
          <p:grpSpPr bwMode="auto">
            <a:xfrm>
              <a:off x="3183" y="905"/>
              <a:ext cx="1191" cy="103"/>
              <a:chOff x="3183" y="905"/>
              <a:chExt cx="1191" cy="103"/>
            </a:xfrm>
          </p:grpSpPr>
          <p:sp>
            <p:nvSpPr>
              <p:cNvPr id="1041" name="Rectangle 13">
                <a:extLst>
                  <a:ext uri="{FF2B5EF4-FFF2-40B4-BE49-F238E27FC236}">
                    <a16:creationId xmlns:a16="http://schemas.microsoft.com/office/drawing/2014/main" id="{049A07BA-125C-294A-A3B4-D89BBC9F00CC}"/>
                  </a:ext>
                </a:extLst>
              </p:cNvPr>
              <p:cNvSpPr>
                <a:spLocks noChangeArrowheads="1"/>
              </p:cNvSpPr>
              <p:nvPr/>
            </p:nvSpPr>
            <p:spPr bwMode="auto">
              <a:xfrm>
                <a:off x="3558"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2" name="Rectangle 14">
                <a:extLst>
                  <a:ext uri="{FF2B5EF4-FFF2-40B4-BE49-F238E27FC236}">
                    <a16:creationId xmlns:a16="http://schemas.microsoft.com/office/drawing/2014/main" id="{0FD03B68-7F9D-4D45-AD4E-68D760BBDB38}"/>
                  </a:ext>
                </a:extLst>
              </p:cNvPr>
              <p:cNvSpPr>
                <a:spLocks noChangeArrowheads="1"/>
              </p:cNvSpPr>
              <p:nvPr/>
            </p:nvSpPr>
            <p:spPr bwMode="auto">
              <a:xfrm>
                <a:off x="4156" y="905"/>
                <a:ext cx="218"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3" name="Rectangle 15">
                <a:extLst>
                  <a:ext uri="{FF2B5EF4-FFF2-40B4-BE49-F238E27FC236}">
                    <a16:creationId xmlns:a16="http://schemas.microsoft.com/office/drawing/2014/main" id="{081F8C45-EB4F-0042-BF17-8C6ACAA57CCC}"/>
                  </a:ext>
                </a:extLst>
              </p:cNvPr>
              <p:cNvSpPr>
                <a:spLocks noChangeArrowheads="1"/>
              </p:cNvSpPr>
              <p:nvPr/>
            </p:nvSpPr>
            <p:spPr bwMode="auto">
              <a:xfrm>
                <a:off x="3864" y="905"/>
                <a:ext cx="250"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4" name="Rectangle 16">
                <a:extLst>
                  <a:ext uri="{FF2B5EF4-FFF2-40B4-BE49-F238E27FC236}">
                    <a16:creationId xmlns:a16="http://schemas.microsoft.com/office/drawing/2014/main" id="{21F7B391-9D2B-D74A-8DE2-F8562177B339}"/>
                  </a:ext>
                </a:extLst>
              </p:cNvPr>
              <p:cNvSpPr>
                <a:spLocks noChangeArrowheads="1"/>
              </p:cNvSpPr>
              <p:nvPr/>
            </p:nvSpPr>
            <p:spPr bwMode="auto">
              <a:xfrm>
                <a:off x="3183" y="905"/>
                <a:ext cx="314"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nvGrpSpPr>
            <p:cNvPr id="1038" name="Group 17">
              <a:extLst>
                <a:ext uri="{FF2B5EF4-FFF2-40B4-BE49-F238E27FC236}">
                  <a16:creationId xmlns:a16="http://schemas.microsoft.com/office/drawing/2014/main" id="{2D7AF668-B334-A146-AA53-8DFA6CBF94F2}"/>
                </a:ext>
              </a:extLst>
            </p:cNvPr>
            <p:cNvGrpSpPr>
              <a:grpSpLocks/>
            </p:cNvGrpSpPr>
            <p:nvPr/>
          </p:nvGrpSpPr>
          <p:grpSpPr bwMode="auto">
            <a:xfrm>
              <a:off x="0" y="905"/>
              <a:ext cx="3143" cy="103"/>
              <a:chOff x="0" y="905"/>
              <a:chExt cx="3143" cy="103"/>
            </a:xfrm>
          </p:grpSpPr>
          <p:sp>
            <p:nvSpPr>
              <p:cNvPr id="1039" name="Rectangle 18">
                <a:extLst>
                  <a:ext uri="{FF2B5EF4-FFF2-40B4-BE49-F238E27FC236}">
                    <a16:creationId xmlns:a16="http://schemas.microsoft.com/office/drawing/2014/main" id="{712DCCE5-D50B-5F46-968A-138F0F148763}"/>
                  </a:ext>
                </a:extLst>
              </p:cNvPr>
              <p:cNvSpPr>
                <a:spLocks noChangeArrowheads="1"/>
              </p:cNvSpPr>
              <p:nvPr/>
            </p:nvSpPr>
            <p:spPr bwMode="auto">
              <a:xfrm>
                <a:off x="2798" y="905"/>
                <a:ext cx="345"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
            <p:nvSpPr>
              <p:cNvPr id="1040" name="Rectangle 19">
                <a:extLst>
                  <a:ext uri="{FF2B5EF4-FFF2-40B4-BE49-F238E27FC236}">
                    <a16:creationId xmlns:a16="http://schemas.microsoft.com/office/drawing/2014/main" id="{E25710D3-F13F-6048-BEEC-03DCB0EBB0FA}"/>
                  </a:ext>
                </a:extLst>
              </p:cNvPr>
              <p:cNvSpPr>
                <a:spLocks noChangeArrowheads="1"/>
              </p:cNvSpPr>
              <p:nvPr/>
            </p:nvSpPr>
            <p:spPr bwMode="auto">
              <a:xfrm>
                <a:off x="0" y="905"/>
                <a:ext cx="2756" cy="103"/>
              </a:xfrm>
              <a:prstGeom prst="rect">
                <a:avLst/>
              </a:prstGeom>
              <a:solidFill>
                <a:schemeClr val="hlink">
                  <a:alpha val="50195"/>
                </a:scheme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grpSp>
      </p:grpSp>
      <p:sp>
        <p:nvSpPr>
          <p:cNvPr id="1027" name="Rectangle 20">
            <a:extLst>
              <a:ext uri="{FF2B5EF4-FFF2-40B4-BE49-F238E27FC236}">
                <a16:creationId xmlns:a16="http://schemas.microsoft.com/office/drawing/2014/main" id="{00BAB7E5-4DDE-6F4B-9664-E20F29B174F5}"/>
              </a:ext>
            </a:extLst>
          </p:cNvPr>
          <p:cNvSpPr>
            <a:spLocks noGrp="1" noChangeArrowheads="1"/>
          </p:cNvSpPr>
          <p:nvPr>
            <p:ph type="title"/>
          </p:nvPr>
        </p:nvSpPr>
        <p:spPr bwMode="auto">
          <a:xfrm>
            <a:off x="990600" y="57150"/>
            <a:ext cx="76962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21">
            <a:extLst>
              <a:ext uri="{FF2B5EF4-FFF2-40B4-BE49-F238E27FC236}">
                <a16:creationId xmlns:a16="http://schemas.microsoft.com/office/drawing/2014/main" id="{8F4F1CA7-1C7F-6F4A-81AC-D0443903995C}"/>
              </a:ext>
            </a:extLst>
          </p:cNvPr>
          <p:cNvSpPr>
            <a:spLocks noGrp="1" noChangeArrowheads="1"/>
          </p:cNvSpPr>
          <p:nvPr>
            <p:ph type="body" idx="1"/>
          </p:nvPr>
        </p:nvSpPr>
        <p:spPr bwMode="auto">
          <a:xfrm>
            <a:off x="228600" y="685800"/>
            <a:ext cx="8610600"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94" name="Rectangle 22">
            <a:extLst>
              <a:ext uri="{FF2B5EF4-FFF2-40B4-BE49-F238E27FC236}">
                <a16:creationId xmlns:a16="http://schemas.microsoft.com/office/drawing/2014/main" id="{562FC42B-43D6-4F4A-934D-67109AD4B0F3}"/>
              </a:ext>
            </a:extLst>
          </p:cNvPr>
          <p:cNvSpPr>
            <a:spLocks noGrp="1" noChangeArrowheads="1"/>
          </p:cNvSpPr>
          <p:nvPr>
            <p:ph type="dt" sz="half" idx="2"/>
          </p:nvPr>
        </p:nvSpPr>
        <p:spPr bwMode="auto">
          <a:xfrm>
            <a:off x="431800" y="4672013"/>
            <a:ext cx="19050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spcBef>
                <a:spcPct val="50000"/>
              </a:spcBef>
              <a:defRPr sz="900">
                <a:solidFill>
                  <a:schemeClr val="bg2"/>
                </a:solidFill>
                <a:latin typeface="Tahoma" charset="0"/>
                <a:ea typeface="ＭＳ Ｐゴシック" charset="-128"/>
              </a:defRPr>
            </a:lvl1pPr>
          </a:lstStyle>
          <a:p>
            <a:pPr>
              <a:defRPr/>
            </a:pPr>
            <a:fld id="{92E8E100-ADEF-EB4E-AB02-A2AF1A2FC806}" type="datetime4">
              <a:rPr lang="en-US" altLang="en-US"/>
              <a:pPr>
                <a:defRPr/>
              </a:pPr>
              <a:t>January 24, 2021</a:t>
            </a:fld>
            <a:endParaRPr lang="en-US" altLang="en-US" sz="1050">
              <a:latin typeface="Comic Sans MS" charset="0"/>
            </a:endParaRPr>
          </a:p>
        </p:txBody>
      </p:sp>
      <p:sp>
        <p:nvSpPr>
          <p:cNvPr id="3095" name="Rectangle 23">
            <a:extLst>
              <a:ext uri="{FF2B5EF4-FFF2-40B4-BE49-F238E27FC236}">
                <a16:creationId xmlns:a16="http://schemas.microsoft.com/office/drawing/2014/main" id="{EB3FA688-6455-9D4A-961A-9B2118FFD62D}"/>
              </a:ext>
            </a:extLst>
          </p:cNvPr>
          <p:cNvSpPr>
            <a:spLocks noGrp="1" noChangeArrowheads="1"/>
          </p:cNvSpPr>
          <p:nvPr>
            <p:ph type="ftr" sz="quarter" idx="3"/>
          </p:nvPr>
        </p:nvSpPr>
        <p:spPr bwMode="auto">
          <a:xfrm>
            <a:off x="3124200" y="4672013"/>
            <a:ext cx="28956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a:spcBef>
                <a:spcPct val="50000"/>
              </a:spcBef>
              <a:defRPr sz="900">
                <a:solidFill>
                  <a:schemeClr val="bg2"/>
                </a:solidFill>
                <a:latin typeface="Tahoma" charset="0"/>
                <a:ea typeface="ＭＳ Ｐゴシック" charset="-128"/>
              </a:defRPr>
            </a:lvl1pPr>
          </a:lstStyle>
          <a:p>
            <a:pPr>
              <a:defRPr/>
            </a:pPr>
            <a:r>
              <a:rPr lang="tr-TR" altLang="en-US"/>
              <a:t>PSYCH 4041 / 6014</a:t>
            </a:r>
            <a:endParaRPr lang="en-US" altLang="en-US" sz="1050">
              <a:latin typeface="Comic Sans MS" charset="0"/>
            </a:endParaRPr>
          </a:p>
        </p:txBody>
      </p:sp>
      <p:sp>
        <p:nvSpPr>
          <p:cNvPr id="3096" name="Rectangle 24">
            <a:extLst>
              <a:ext uri="{FF2B5EF4-FFF2-40B4-BE49-F238E27FC236}">
                <a16:creationId xmlns:a16="http://schemas.microsoft.com/office/drawing/2014/main" id="{CCC79CAA-D180-B549-B80B-93952BD15DD4}"/>
              </a:ext>
            </a:extLst>
          </p:cNvPr>
          <p:cNvSpPr>
            <a:spLocks noGrp="1" noChangeArrowheads="1"/>
          </p:cNvSpPr>
          <p:nvPr>
            <p:ph type="sldNum" sz="quarter" idx="4"/>
          </p:nvPr>
        </p:nvSpPr>
        <p:spPr bwMode="auto">
          <a:xfrm>
            <a:off x="6731000" y="4672013"/>
            <a:ext cx="1905000" cy="3429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spcBef>
                <a:spcPct val="50000"/>
              </a:spcBef>
              <a:defRPr sz="900">
                <a:solidFill>
                  <a:schemeClr val="bg2"/>
                </a:solidFill>
                <a:latin typeface="Tahoma" charset="0"/>
                <a:ea typeface="ＭＳ Ｐゴシック" charset="-128"/>
              </a:defRPr>
            </a:lvl1pPr>
          </a:lstStyle>
          <a:p>
            <a:pPr>
              <a:defRPr/>
            </a:pPr>
            <a:fld id="{EECB6731-2E5B-344F-BE2F-3B33DB3B9655}" type="slidenum">
              <a:rPr lang="en-US" altLang="en-US"/>
              <a:pPr>
                <a:defRPr/>
              </a:pPr>
              <a:t>‹#›</a:t>
            </a:fld>
            <a:endParaRPr lang="en-US" altLang="en-US">
              <a:latin typeface="Comic Sans MS" charset="0"/>
            </a:endParaRPr>
          </a:p>
        </p:txBody>
      </p:sp>
      <p:pic>
        <p:nvPicPr>
          <p:cNvPr id="1032" name="Picture 29">
            <a:extLst>
              <a:ext uri="{FF2B5EF4-FFF2-40B4-BE49-F238E27FC236}">
                <a16:creationId xmlns:a16="http://schemas.microsoft.com/office/drawing/2014/main" id="{83123BE1-9355-6245-9EF0-E4061A5C7814}"/>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l="10829" t="11624" r="16043" b="11624"/>
          <a:stretch>
            <a:fillRect/>
          </a:stretch>
        </p:blipFill>
        <p:spPr bwMode="auto">
          <a:xfrm>
            <a:off x="1" y="0"/>
            <a:ext cx="841375" cy="685800"/>
          </a:xfrm>
          <a:prstGeom prst="rect">
            <a:avLst/>
          </a:prstGeom>
          <a:noFill/>
          <a:ln>
            <a:noFill/>
          </a:ln>
          <a:extLst>
            <a:ext uri="{909E8E84-426E-40DD-AFC4-6F175D3DCCD1}">
              <a14:hiddenFill xmlns:a14="http://schemas.microsoft.com/office/drawing/2010/main">
                <a:solidFill>
                  <a:srgbClr val="FFFFFF">
                    <a:alpha val="9019"/>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3" name="Text Box 30">
            <a:extLst>
              <a:ext uri="{FF2B5EF4-FFF2-40B4-BE49-F238E27FC236}">
                <a16:creationId xmlns:a16="http://schemas.microsoft.com/office/drawing/2014/main" id="{8BF227DC-2A0E-614B-BEC2-33B81721D7E4}"/>
              </a:ext>
            </a:extLst>
          </p:cNvPr>
          <p:cNvSpPr txBox="1">
            <a:spLocks noChangeArrowheads="1"/>
          </p:cNvSpPr>
          <p:nvPr userDrawn="1"/>
        </p:nvSpPr>
        <p:spPr bwMode="auto">
          <a:xfrm>
            <a:off x="1355726" y="467439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defRPr/>
            </a:pPr>
            <a:endParaRPr lang="en-US" altLang="en-US" sz="1800"/>
          </a:p>
        </p:txBody>
      </p:sp>
    </p:spTree>
  </p:cSld>
  <p:clrMap bg1="lt1" tx1="dk1" bg2="lt2" tx2="dk2" accent1="accent1" accent2="accent2" accent3="accent3" accent4="accent4" accent5="accent5" accent6="accent6" hlink="hlink" folHlink="folHlink"/>
  <p:sldLayoutIdLst>
    <p:sldLayoutId id="2147483706"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sldNum="0" hdr="0"/>
  <p:txStyles>
    <p:titleStyle>
      <a:lvl1pPr algn="r" rtl="0" eaLnBrk="0" fontAlgn="base" hangingPunct="0">
        <a:spcBef>
          <a:spcPct val="0"/>
        </a:spcBef>
        <a:spcAft>
          <a:spcPct val="0"/>
        </a:spcAft>
        <a:defRPr kumimoji="1" sz="3000" b="1">
          <a:solidFill>
            <a:srgbClr val="666666"/>
          </a:solidFill>
          <a:latin typeface="+mj-lt"/>
          <a:ea typeface="ＭＳ Ｐゴシック" charset="-128"/>
          <a:cs typeface="+mj-cs"/>
        </a:defRPr>
      </a:lvl1pPr>
      <a:lvl2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2pPr>
      <a:lvl3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3pPr>
      <a:lvl4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4pPr>
      <a:lvl5pPr algn="r" rtl="0" eaLnBrk="0" fontAlgn="base" hangingPunct="0">
        <a:spcBef>
          <a:spcPct val="0"/>
        </a:spcBef>
        <a:spcAft>
          <a:spcPct val="0"/>
        </a:spcAft>
        <a:defRPr kumimoji="1" sz="3000" b="1">
          <a:solidFill>
            <a:srgbClr val="666666"/>
          </a:solidFill>
          <a:latin typeface="Arial" pitchFamily="-110" charset="0"/>
          <a:ea typeface="ＭＳ Ｐゴシック" charset="-128"/>
        </a:defRPr>
      </a:lvl5pPr>
      <a:lvl6pPr marL="342900" algn="r" rtl="0" eaLnBrk="0" fontAlgn="base" hangingPunct="0">
        <a:spcBef>
          <a:spcPct val="0"/>
        </a:spcBef>
        <a:spcAft>
          <a:spcPct val="0"/>
        </a:spcAft>
        <a:defRPr kumimoji="1" sz="3000" b="1">
          <a:solidFill>
            <a:srgbClr val="666666"/>
          </a:solidFill>
          <a:latin typeface="Arial" pitchFamily="-110" charset="0"/>
        </a:defRPr>
      </a:lvl6pPr>
      <a:lvl7pPr marL="685800" algn="r" rtl="0" eaLnBrk="0" fontAlgn="base" hangingPunct="0">
        <a:spcBef>
          <a:spcPct val="0"/>
        </a:spcBef>
        <a:spcAft>
          <a:spcPct val="0"/>
        </a:spcAft>
        <a:defRPr kumimoji="1" sz="3000" b="1">
          <a:solidFill>
            <a:srgbClr val="666666"/>
          </a:solidFill>
          <a:latin typeface="Arial" pitchFamily="-110" charset="0"/>
        </a:defRPr>
      </a:lvl7pPr>
      <a:lvl8pPr marL="1028700" algn="r" rtl="0" eaLnBrk="0" fontAlgn="base" hangingPunct="0">
        <a:spcBef>
          <a:spcPct val="0"/>
        </a:spcBef>
        <a:spcAft>
          <a:spcPct val="0"/>
        </a:spcAft>
        <a:defRPr kumimoji="1" sz="3000" b="1">
          <a:solidFill>
            <a:srgbClr val="666666"/>
          </a:solidFill>
          <a:latin typeface="Arial" pitchFamily="-110" charset="0"/>
        </a:defRPr>
      </a:lvl8pPr>
      <a:lvl9pPr marL="1371600" algn="r" rtl="0" eaLnBrk="0" fontAlgn="base" hangingPunct="0">
        <a:spcBef>
          <a:spcPct val="0"/>
        </a:spcBef>
        <a:spcAft>
          <a:spcPct val="0"/>
        </a:spcAft>
        <a:defRPr kumimoji="1" sz="3000" b="1">
          <a:solidFill>
            <a:srgbClr val="666666"/>
          </a:solidFill>
          <a:latin typeface="Arial" pitchFamily="-110" charset="0"/>
        </a:defRPr>
      </a:lvl9pPr>
    </p:titleStyle>
    <p:bodyStyle>
      <a:lvl1pPr marL="257175" indent="-257175" algn="l" rtl="0" eaLnBrk="0" fontAlgn="base" hangingPunct="0">
        <a:spcBef>
          <a:spcPct val="20000"/>
        </a:spcBef>
        <a:spcAft>
          <a:spcPct val="0"/>
        </a:spcAft>
        <a:buClr>
          <a:srgbClr val="193399"/>
        </a:buClr>
        <a:buFont typeface="Wingdings" pitchFamily="2" charset="2"/>
        <a:buChar char="Ø"/>
        <a:defRPr kumimoji="1" sz="2400">
          <a:solidFill>
            <a:schemeClr val="tx1"/>
          </a:solidFill>
          <a:latin typeface="+mn-lt"/>
          <a:ea typeface="ＭＳ Ｐゴシック" charset="-128"/>
          <a:cs typeface="+mn-cs"/>
        </a:defRPr>
      </a:lvl1pPr>
      <a:lvl2pPr marL="557213" indent="-214313" algn="l" rtl="0" eaLnBrk="0" fontAlgn="base" hangingPunct="0">
        <a:spcBef>
          <a:spcPct val="20000"/>
        </a:spcBef>
        <a:spcAft>
          <a:spcPct val="0"/>
        </a:spcAft>
        <a:buClr>
          <a:srgbClr val="193399"/>
        </a:buClr>
        <a:buSzPct val="70000"/>
        <a:buFont typeface="Wingdings" pitchFamily="2" charset="2"/>
        <a:buChar char="v"/>
        <a:defRPr kumimoji="1" sz="2100">
          <a:solidFill>
            <a:schemeClr val="tx1"/>
          </a:solidFill>
          <a:latin typeface="+mn-lt"/>
          <a:ea typeface="ＭＳ Ｐゴシック" pitchFamily="-110" charset="-128"/>
        </a:defRPr>
      </a:lvl2pPr>
      <a:lvl3pPr marL="857250" indent="-171450" algn="l" rtl="0" eaLnBrk="0" fontAlgn="base" hangingPunct="0">
        <a:spcBef>
          <a:spcPct val="20000"/>
        </a:spcBef>
        <a:spcAft>
          <a:spcPct val="0"/>
        </a:spcAft>
        <a:buClr>
          <a:srgbClr val="193399"/>
        </a:buClr>
        <a:buFont typeface="Times" pitchFamily="2" charset="0"/>
        <a:buChar char="•"/>
        <a:defRPr kumimoji="1" sz="1800">
          <a:solidFill>
            <a:schemeClr val="tx1"/>
          </a:solidFill>
          <a:latin typeface="+mn-lt"/>
          <a:ea typeface="ＭＳ Ｐゴシック" pitchFamily="-110" charset="-128"/>
        </a:defRPr>
      </a:lvl3pPr>
      <a:lvl4pPr marL="12001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4pPr>
      <a:lvl5pPr marL="15430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5pPr>
      <a:lvl6pPr marL="18859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6pPr>
      <a:lvl7pPr marL="22288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7pPr>
      <a:lvl8pPr marL="25717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8pPr>
      <a:lvl9pPr marL="2914650" indent="-171450" algn="l" rtl="0" eaLnBrk="0" fontAlgn="base" hangingPunct="0">
        <a:spcBef>
          <a:spcPct val="20000"/>
        </a:spcBef>
        <a:spcAft>
          <a:spcPct val="0"/>
        </a:spcAft>
        <a:buClr>
          <a:srgbClr val="193399"/>
        </a:buClr>
        <a:buChar char="–"/>
        <a:defRPr kumimoji="1" sz="1500">
          <a:solidFill>
            <a:schemeClr val="tx1"/>
          </a:solidFill>
          <a:latin typeface="+mn-lt"/>
          <a:ea typeface="ＭＳ Ｐゴシック" pitchFamily="-110" charset="-128"/>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6.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7.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8.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9.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B0EC7E1-70F5-B944-A6B9-9729D9C5766D}"/>
              </a:ext>
            </a:extLst>
          </p:cNvPr>
          <p:cNvSpPr>
            <a:spLocks noGrp="1" noChangeArrowheads="1"/>
          </p:cNvSpPr>
          <p:nvPr>
            <p:ph type="ctrTitle"/>
          </p:nvPr>
        </p:nvSpPr>
        <p:spPr/>
        <p:txBody>
          <a:bodyPr/>
          <a:lstStyle/>
          <a:p>
            <a:r>
              <a:rPr kumimoji="0" lang="en-US" altLang="en-US">
                <a:ea typeface="ＭＳ Ｐゴシック" panose="020B0600070205080204" pitchFamily="34" charset="-128"/>
              </a:rPr>
              <a:t>Physiology of Perception</a:t>
            </a:r>
          </a:p>
        </p:txBody>
      </p:sp>
      <p:sp>
        <p:nvSpPr>
          <p:cNvPr id="15362" name="Rectangle 3">
            <a:extLst>
              <a:ext uri="{FF2B5EF4-FFF2-40B4-BE49-F238E27FC236}">
                <a16:creationId xmlns:a16="http://schemas.microsoft.com/office/drawing/2014/main" id="{20FBDE40-A6DE-8D4F-B6AD-C5842F4DFA5E}"/>
              </a:ext>
            </a:extLst>
          </p:cNvPr>
          <p:cNvSpPr>
            <a:spLocks noGrp="1" noChangeArrowheads="1"/>
          </p:cNvSpPr>
          <p:nvPr>
            <p:ph type="subTitle" idx="1"/>
          </p:nvPr>
        </p:nvSpPr>
        <p:spPr/>
        <p:txBody>
          <a:bodyPr/>
          <a:lstStyle/>
          <a:p>
            <a:pPr>
              <a:buFont typeface="Wingdings" pitchFamily="2" charset="2"/>
              <a:buNone/>
            </a:pPr>
            <a:r>
              <a:rPr kumimoji="0" lang="en-US" altLang="en-US">
                <a:ea typeface="ＭＳ Ｐゴシック" panose="020B0600070205080204" pitchFamily="34" charset="-128"/>
              </a:rPr>
              <a:t>Fire in the brain</a:t>
            </a:r>
          </a:p>
        </p:txBody>
      </p:sp>
      <p:sp>
        <p:nvSpPr>
          <p:cNvPr id="2" name="Date Placeholder 1">
            <a:extLst>
              <a:ext uri="{FF2B5EF4-FFF2-40B4-BE49-F238E27FC236}">
                <a16:creationId xmlns:a16="http://schemas.microsoft.com/office/drawing/2014/main" id="{9723107C-33DB-3F40-BFA8-48DB5164EB7F}"/>
              </a:ext>
            </a:extLst>
          </p:cNvPr>
          <p:cNvSpPr>
            <a:spLocks noGrp="1"/>
          </p:cNvSpPr>
          <p:nvPr>
            <p:ph type="dt" sz="quarter" idx="10"/>
          </p:nvPr>
        </p:nvSpPr>
        <p:spPr/>
        <p:txBody>
          <a:bodyPr/>
          <a:lstStyle/>
          <a:p>
            <a:pPr>
              <a:defRPr/>
            </a:pPr>
            <a:fld id="{902962C5-4225-8049-BE34-7F57878BE24B}" type="datetime4">
              <a:rPr lang="en-US"/>
              <a:pPr>
                <a:defRPr/>
              </a:pPr>
              <a:t>January 24, 2021</a:t>
            </a:fld>
            <a:endParaRPr lang="en-US"/>
          </a:p>
        </p:txBody>
      </p:sp>
      <p:sp>
        <p:nvSpPr>
          <p:cNvPr id="3" name="Footer Placeholder 2">
            <a:extLst>
              <a:ext uri="{FF2B5EF4-FFF2-40B4-BE49-F238E27FC236}">
                <a16:creationId xmlns:a16="http://schemas.microsoft.com/office/drawing/2014/main" id="{445664FD-1ADA-174D-8A96-0EC32EF0A1E7}"/>
              </a:ext>
            </a:extLst>
          </p:cNvPr>
          <p:cNvSpPr>
            <a:spLocks noGrp="1"/>
          </p:cNvSpPr>
          <p:nvPr>
            <p:ph type="ftr" sz="quarter" idx="11"/>
          </p:nvPr>
        </p:nvSpPr>
        <p:spPr/>
        <p:txBody>
          <a:bodyPr/>
          <a:lstStyle/>
          <a:p>
            <a:pPr>
              <a:defRPr/>
            </a:pPr>
            <a:r>
              <a:rPr lang="tr-TR"/>
              <a:t>PSYCH 4041 / 6014</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A6A63-FDE1-1B42-99C6-A07A8B1817EB}"/>
              </a:ext>
            </a:extLst>
          </p:cNvPr>
          <p:cNvSpPr>
            <a:spLocks noGrp="1"/>
          </p:cNvSpPr>
          <p:nvPr>
            <p:ph type="title"/>
          </p:nvPr>
        </p:nvSpPr>
        <p:spPr/>
        <p:txBody>
          <a:bodyPr/>
          <a:lstStyle/>
          <a:p>
            <a:r>
              <a:rPr lang="en-US" dirty="0"/>
              <a:t>Reminder: Outline of Topics</a:t>
            </a:r>
          </a:p>
        </p:txBody>
      </p:sp>
      <p:sp>
        <p:nvSpPr>
          <p:cNvPr id="3" name="Content Placeholder 2">
            <a:extLst>
              <a:ext uri="{FF2B5EF4-FFF2-40B4-BE49-F238E27FC236}">
                <a16:creationId xmlns:a16="http://schemas.microsoft.com/office/drawing/2014/main" id="{8FCCD038-AE73-4547-816E-773CDEB735FC}"/>
              </a:ext>
            </a:extLst>
          </p:cNvPr>
          <p:cNvSpPr>
            <a:spLocks noGrp="1"/>
          </p:cNvSpPr>
          <p:nvPr>
            <p:ph idx="1"/>
          </p:nvPr>
        </p:nvSpPr>
        <p:spPr/>
        <p:txBody>
          <a:bodyPr/>
          <a:lstStyle/>
          <a:p>
            <a:pPr marL="0" indent="0">
              <a:buNone/>
            </a:pPr>
            <a:r>
              <a:rPr lang="en-US" sz="1600" dirty="0"/>
              <a:t>https://</a:t>
            </a:r>
            <a:r>
              <a:rPr lang="en-US" sz="1600" dirty="0" err="1"/>
              <a:t>gatech.instructure.com</a:t>
            </a:r>
            <a:r>
              <a:rPr lang="en-US" sz="1600" dirty="0"/>
              <a:t>/courses/181190/pages/schedule-of-lecture-topics-2021</a:t>
            </a:r>
          </a:p>
        </p:txBody>
      </p:sp>
      <p:sp>
        <p:nvSpPr>
          <p:cNvPr id="4" name="Date Placeholder 3">
            <a:extLst>
              <a:ext uri="{FF2B5EF4-FFF2-40B4-BE49-F238E27FC236}">
                <a16:creationId xmlns:a16="http://schemas.microsoft.com/office/drawing/2014/main" id="{59A11876-3039-DF49-BBBB-520DF66A311D}"/>
              </a:ext>
            </a:extLst>
          </p:cNvPr>
          <p:cNvSpPr>
            <a:spLocks noGrp="1"/>
          </p:cNvSpPr>
          <p:nvPr>
            <p:ph type="dt" sz="half" idx="10"/>
          </p:nvPr>
        </p:nvSpPr>
        <p:spPr/>
        <p:txBody>
          <a:bodyPr/>
          <a:lstStyle/>
          <a:p>
            <a:pPr>
              <a:defRPr/>
            </a:pPr>
            <a:r>
              <a:rPr lang="en-US"/>
              <a:t>Spring 2021</a:t>
            </a:r>
          </a:p>
        </p:txBody>
      </p:sp>
      <p:sp>
        <p:nvSpPr>
          <p:cNvPr id="5" name="Footer Placeholder 4">
            <a:extLst>
              <a:ext uri="{FF2B5EF4-FFF2-40B4-BE49-F238E27FC236}">
                <a16:creationId xmlns:a16="http://schemas.microsoft.com/office/drawing/2014/main" id="{EF36CFD3-57DD-1A4C-9BDA-B4204C4298AB}"/>
              </a:ext>
            </a:extLst>
          </p:cNvPr>
          <p:cNvSpPr>
            <a:spLocks noGrp="1"/>
          </p:cNvSpPr>
          <p:nvPr>
            <p:ph type="ftr" sz="quarter" idx="11"/>
          </p:nvPr>
        </p:nvSpPr>
        <p:spPr/>
        <p:txBody>
          <a:bodyPr/>
          <a:lstStyle/>
          <a:p>
            <a:pPr>
              <a:defRPr/>
            </a:pPr>
            <a:r>
              <a:rPr lang="tr-TR"/>
              <a:t>PSYCH 4041 / 6014</a:t>
            </a:r>
            <a:endParaRPr lang="en-US" sz="1050">
              <a:latin typeface="Comic Sans MS" charset="0"/>
            </a:endParaRPr>
          </a:p>
        </p:txBody>
      </p:sp>
      <p:pic>
        <p:nvPicPr>
          <p:cNvPr id="8" name="Picture 7" descr="A digital document displays a table titled &quot;Schedule of Lecture Topics (2021)&quot; and &quot;Schedule of Classes.&quot; The table is divided into columns for &quot;Wk Date,&quot; &quot;Topic,&quot; &quot;Reading(s) *,&quot; and &quot;Notes.&quot; It lists lecture topics, corresponding dates, and reading materials, with some entries including links to external resources. The table covers topics from &quot;Introduction to Course&quot; on January 15th to &quot;Pain&quot; on February 3rd. Below the table, a thumbnail of a video with a play button is visible, suggesting a related media resource.">
            <a:extLst>
              <a:ext uri="{FF2B5EF4-FFF2-40B4-BE49-F238E27FC236}">
                <a16:creationId xmlns:a16="http://schemas.microsoft.com/office/drawing/2014/main" id="{84D41207-A92B-6C4E-8A65-B666869A9333}"/>
              </a:ext>
            </a:extLst>
          </p:cNvPr>
          <p:cNvPicPr>
            <a:picLocks noChangeAspect="1"/>
          </p:cNvPicPr>
          <p:nvPr/>
        </p:nvPicPr>
        <p:blipFill rotWithShape="1">
          <a:blip r:embed="rId2"/>
          <a:srcRect t="13526"/>
          <a:stretch/>
        </p:blipFill>
        <p:spPr>
          <a:xfrm>
            <a:off x="1600200" y="1123016"/>
            <a:ext cx="6207239" cy="3887134"/>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6" name="Donut 5">
            <a:extLst>
              <a:ext uri="{FF2B5EF4-FFF2-40B4-BE49-F238E27FC236}">
                <a16:creationId xmlns:a16="http://schemas.microsoft.com/office/drawing/2014/main" id="{A33A7FE9-7467-414A-A855-1B2EB14EC9A5}"/>
              </a:ext>
            </a:extLst>
          </p:cNvPr>
          <p:cNvSpPr/>
          <p:nvPr/>
        </p:nvSpPr>
        <p:spPr bwMode="auto">
          <a:xfrm>
            <a:off x="990600" y="2800350"/>
            <a:ext cx="6435839" cy="1219200"/>
          </a:xfrm>
          <a:prstGeom prst="donut">
            <a:avLst/>
          </a:prstGeom>
          <a:solidFill>
            <a:srgbClr val="FFFF00">
              <a:alpha val="50000"/>
            </a:srgbClr>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00"/>
              </a:solidFill>
              <a:effectLst/>
              <a:latin typeface="Times" charset="0"/>
              <a:ea typeface="ＭＳ Ｐゴシック" charset="0"/>
            </a:endParaRPr>
          </a:p>
        </p:txBody>
      </p:sp>
    </p:spTree>
    <p:extLst>
      <p:ext uri="{BB962C8B-B14F-4D97-AF65-F5344CB8AC3E}">
        <p14:creationId xmlns:p14="http://schemas.microsoft.com/office/powerpoint/2010/main" val="562905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Date Placeholder 3">
            <a:extLst>
              <a:ext uri="{FF2B5EF4-FFF2-40B4-BE49-F238E27FC236}">
                <a16:creationId xmlns:a16="http://schemas.microsoft.com/office/drawing/2014/main" id="{B74CCB0F-2B8C-DA48-B9B6-5D5DC8FE1CD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470441A8-5C41-BD4D-9B61-FF018AA5E2C5}"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17410" name="Footer Placeholder 4">
            <a:extLst>
              <a:ext uri="{FF2B5EF4-FFF2-40B4-BE49-F238E27FC236}">
                <a16:creationId xmlns:a16="http://schemas.microsoft.com/office/drawing/2014/main" id="{D09DAB0C-30EB-E242-85E6-0F46531077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17411" name="Rectangle 2">
            <a:extLst>
              <a:ext uri="{FF2B5EF4-FFF2-40B4-BE49-F238E27FC236}">
                <a16:creationId xmlns:a16="http://schemas.microsoft.com/office/drawing/2014/main" id="{6C6D466D-6675-C747-854A-F701DCEA0C14}"/>
              </a:ext>
            </a:extLst>
          </p:cNvPr>
          <p:cNvSpPr>
            <a:spLocks noGrp="1" noChangeArrowheads="1"/>
          </p:cNvSpPr>
          <p:nvPr>
            <p:ph type="title"/>
          </p:nvPr>
        </p:nvSpPr>
        <p:spPr/>
        <p:txBody>
          <a:bodyPr/>
          <a:lstStyle/>
          <a:p>
            <a:r>
              <a:rPr lang="en-US" altLang="en-US">
                <a:ea typeface="ＭＳ Ｐゴシック" panose="020B0600070205080204" pitchFamily="34" charset="-128"/>
              </a:rPr>
              <a:t>Overview</a:t>
            </a:r>
          </a:p>
        </p:txBody>
      </p:sp>
      <p:sp>
        <p:nvSpPr>
          <p:cNvPr id="17412" name="Rectangle 3">
            <a:extLst>
              <a:ext uri="{FF2B5EF4-FFF2-40B4-BE49-F238E27FC236}">
                <a16:creationId xmlns:a16="http://schemas.microsoft.com/office/drawing/2014/main" id="{2C52D3D0-74DF-FF4B-8816-1AC2324BD10A}"/>
              </a:ext>
            </a:extLst>
          </p:cNvPr>
          <p:cNvSpPr>
            <a:spLocks noGrp="1" noChangeArrowheads="1"/>
          </p:cNvSpPr>
          <p:nvPr>
            <p:ph type="body" idx="1"/>
          </p:nvPr>
        </p:nvSpPr>
        <p:spPr>
          <a:xfrm>
            <a:off x="838200" y="685800"/>
            <a:ext cx="8001000" cy="4171950"/>
          </a:xfrm>
        </p:spPr>
        <p:txBody>
          <a:bodyPr/>
          <a:lstStyle/>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Brain as center of perception</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Brain Structure</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Transduction &amp; Transmission</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Neural Signals</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Coding</a:t>
            </a:r>
          </a:p>
          <a:p>
            <a:r>
              <a:rPr kumimoji="0" lang="en-US" altLang="en-US" sz="2200" dirty="0">
                <a:solidFill>
                  <a:srgbClr val="000000"/>
                </a:solidFill>
                <a:latin typeface="Tahoma" panose="020B0604030504040204" pitchFamily="34" charset="0"/>
                <a:ea typeface="Tahoma" panose="020B0604030504040204" pitchFamily="34" charset="0"/>
                <a:cs typeface="Tahoma" panose="020B0604030504040204" pitchFamily="34" charset="0"/>
              </a:rPr>
              <a:t>Upcoming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Date Placeholder 3">
            <a:extLst>
              <a:ext uri="{FF2B5EF4-FFF2-40B4-BE49-F238E27FC236}">
                <a16:creationId xmlns:a16="http://schemas.microsoft.com/office/drawing/2014/main" id="{6AD73A8B-38CB-2B4B-AE3D-22BE07F653D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D976380-119C-3F48-A59C-E46077F21BE3}"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19458" name="Footer Placeholder 4">
            <a:extLst>
              <a:ext uri="{FF2B5EF4-FFF2-40B4-BE49-F238E27FC236}">
                <a16:creationId xmlns:a16="http://schemas.microsoft.com/office/drawing/2014/main" id="{1754684D-BE54-724D-A2D8-0667E8A537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19459" name="Rectangle 2">
            <a:extLst>
              <a:ext uri="{FF2B5EF4-FFF2-40B4-BE49-F238E27FC236}">
                <a16:creationId xmlns:a16="http://schemas.microsoft.com/office/drawing/2014/main" id="{01C17CEB-3A9B-3148-A9AD-54A0BD4AB9A9}"/>
              </a:ext>
            </a:extLst>
          </p:cNvPr>
          <p:cNvSpPr>
            <a:spLocks noGrp="1" noChangeArrowheads="1"/>
          </p:cNvSpPr>
          <p:nvPr>
            <p:ph type="title"/>
          </p:nvPr>
        </p:nvSpPr>
        <p:spPr/>
        <p:txBody>
          <a:bodyPr/>
          <a:lstStyle/>
          <a:p>
            <a:r>
              <a:rPr lang="en-US" altLang="en-US">
                <a:ea typeface="ＭＳ Ｐゴシック" panose="020B0600070205080204" pitchFamily="34" charset="-128"/>
              </a:rPr>
              <a:t>Brain as Center of Perception</a:t>
            </a:r>
          </a:p>
        </p:txBody>
      </p:sp>
      <p:sp>
        <p:nvSpPr>
          <p:cNvPr id="19460" name="Rectangle 3">
            <a:extLst>
              <a:ext uri="{FF2B5EF4-FFF2-40B4-BE49-F238E27FC236}">
                <a16:creationId xmlns:a16="http://schemas.microsoft.com/office/drawing/2014/main" id="{B93E2BB2-C3D4-F84E-906F-7CC29E13E327}"/>
              </a:ext>
            </a:extLst>
          </p:cNvPr>
          <p:cNvSpPr>
            <a:spLocks noGrp="1" noChangeArrowheads="1"/>
          </p:cNvSpPr>
          <p:nvPr>
            <p:ph type="body" idx="1"/>
          </p:nvPr>
        </p:nvSpPr>
        <p:spPr>
          <a:xfrm>
            <a:off x="838200" y="762000"/>
            <a:ext cx="5486400" cy="4171950"/>
          </a:xfrm>
        </p:spPr>
        <p:txBody>
          <a:bodyPr/>
          <a:lstStyle/>
          <a:p>
            <a:pPr>
              <a:lnSpc>
                <a:spcPct val="90000"/>
              </a:lnSpc>
            </a:pPr>
            <a:r>
              <a:rPr lang="en-US" altLang="en-US" sz="2000" dirty="0">
                <a:ea typeface="ＭＳ Ｐゴシック" panose="020B0600070205080204" pitchFamily="34" charset="-128"/>
              </a:rPr>
              <a:t>Study of the human as a perceiving “machine” led to the conclusion that the brain was center of thought and perception</a:t>
            </a:r>
          </a:p>
          <a:p>
            <a:pPr>
              <a:lnSpc>
                <a:spcPct val="90000"/>
              </a:lnSpc>
            </a:pPr>
            <a:endParaRPr lang="en-US" altLang="en-US" sz="2000" dirty="0">
              <a:ea typeface="ＭＳ Ｐゴシック" panose="020B0600070205080204" pitchFamily="34" charset="-128"/>
            </a:endParaRPr>
          </a:p>
          <a:p>
            <a:pPr>
              <a:lnSpc>
                <a:spcPct val="90000"/>
              </a:lnSpc>
            </a:pPr>
            <a:r>
              <a:rPr lang="en-US" altLang="en-US" sz="2000" dirty="0">
                <a:ea typeface="ＭＳ Ｐゴシック" panose="020B0600070205080204" pitchFamily="34" charset="-128"/>
              </a:rPr>
              <a:t>Early anatomists tried dissection to determine (1) structure, then (2) function</a:t>
            </a:r>
          </a:p>
          <a:p>
            <a:pPr>
              <a:lnSpc>
                <a:spcPct val="90000"/>
              </a:lnSpc>
            </a:pPr>
            <a:endParaRPr lang="en-US" altLang="en-US" sz="2000" dirty="0">
              <a:ea typeface="ＭＳ Ｐゴシック" panose="020B0600070205080204" pitchFamily="34" charset="-128"/>
            </a:endParaRPr>
          </a:p>
          <a:p>
            <a:pPr>
              <a:lnSpc>
                <a:spcPct val="90000"/>
              </a:lnSpc>
            </a:pPr>
            <a:r>
              <a:rPr lang="en-US" altLang="en-US" sz="2000" dirty="0">
                <a:ea typeface="ＭＳ Ｐゴシック" panose="020B0600070205080204" pitchFamily="34" charset="-128"/>
              </a:rPr>
              <a:t>Modern efforts much more effective !</a:t>
            </a:r>
          </a:p>
        </p:txBody>
      </p:sp>
      <p:pic>
        <p:nvPicPr>
          <p:cNvPr id="19461" name="Picture 4" descr="The photograph displays a human brain presented against a black background. The brain is bisected vertically, revealing the two cerebral hemispheres. The surface is highly convoluted, with intricate patterns of gyri (folds) and sulci (grooves). The color of the brain tissue ranges from light tan to darker brown, with some darker blue or purplish areas indicating blood vessels. The texture appears slightly glossy, suggesting it has been preserved. The image is likely a specimen viewed from a superior perspective, showcasing the complex topography of the brain's surface. The title, &quot;Brain as Center of Perception,&quot; and the course information, &quot;January 24, 2021 PSYCH 4041 / 6014,&quot; provide context that this image is for an academic study related to psychology, likely illustrating the physical structure of the organ responsible for perception.">
            <a:extLst>
              <a:ext uri="{FF2B5EF4-FFF2-40B4-BE49-F238E27FC236}">
                <a16:creationId xmlns:a16="http://schemas.microsoft.com/office/drawing/2014/main" id="{8363DA79-3720-1F41-8661-DA78AEDDA2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742950"/>
            <a:ext cx="2396067" cy="3620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Date Placeholder 3">
            <a:extLst>
              <a:ext uri="{FF2B5EF4-FFF2-40B4-BE49-F238E27FC236}">
                <a16:creationId xmlns:a16="http://schemas.microsoft.com/office/drawing/2014/main" id="{D497DFB1-0648-0F41-85C5-7831C637BCB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85F0751-AA33-8041-A0B1-3573A6CC8921}"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1506" name="Footer Placeholder 4">
            <a:extLst>
              <a:ext uri="{FF2B5EF4-FFF2-40B4-BE49-F238E27FC236}">
                <a16:creationId xmlns:a16="http://schemas.microsoft.com/office/drawing/2014/main" id="{464259C6-498D-BE49-A278-D6ED9302585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21507" name="Rectangle 2">
            <a:extLst>
              <a:ext uri="{FF2B5EF4-FFF2-40B4-BE49-F238E27FC236}">
                <a16:creationId xmlns:a16="http://schemas.microsoft.com/office/drawing/2014/main" id="{4A649948-3311-754F-BAFA-B2BA18EFBB85}"/>
              </a:ext>
            </a:extLst>
          </p:cNvPr>
          <p:cNvSpPr>
            <a:spLocks noGrp="1" noChangeArrowheads="1"/>
          </p:cNvSpPr>
          <p:nvPr>
            <p:ph type="title"/>
          </p:nvPr>
        </p:nvSpPr>
        <p:spPr/>
        <p:txBody>
          <a:bodyPr/>
          <a:lstStyle/>
          <a:p>
            <a:r>
              <a:rPr lang="en-US" altLang="en-US">
                <a:ea typeface="ＭＳ Ｐゴシック" panose="020B0600070205080204" pitchFamily="34" charset="-128"/>
              </a:rPr>
              <a:t>Made Up of Neurons…</a:t>
            </a:r>
          </a:p>
        </p:txBody>
      </p:sp>
      <p:sp>
        <p:nvSpPr>
          <p:cNvPr id="21508" name="Rectangle 3">
            <a:extLst>
              <a:ext uri="{FF2B5EF4-FFF2-40B4-BE49-F238E27FC236}">
                <a16:creationId xmlns:a16="http://schemas.microsoft.com/office/drawing/2014/main" id="{0FA59155-5373-5A40-A771-48C3313E5410}"/>
              </a:ext>
            </a:extLst>
          </p:cNvPr>
          <p:cNvSpPr>
            <a:spLocks noGrp="1" noChangeArrowheads="1"/>
          </p:cNvSpPr>
          <p:nvPr>
            <p:ph type="body" idx="1"/>
          </p:nvPr>
        </p:nvSpPr>
        <p:spPr>
          <a:xfrm>
            <a:off x="838200" y="762000"/>
            <a:ext cx="5486400" cy="4171950"/>
          </a:xfrm>
        </p:spPr>
        <p:txBody>
          <a:bodyPr/>
          <a:lstStyle/>
          <a:p>
            <a:pPr>
              <a:lnSpc>
                <a:spcPct val="90000"/>
              </a:lnSpc>
            </a:pPr>
            <a:r>
              <a:rPr lang="en-US" altLang="en-US" sz="2200" dirty="0">
                <a:ea typeface="ＭＳ Ｐゴシック" panose="020B0600070205080204" pitchFamily="34" charset="-128"/>
              </a:rPr>
              <a:t>The Neuron Doctrine</a:t>
            </a:r>
          </a:p>
          <a:p>
            <a:pPr lvl="1">
              <a:lnSpc>
                <a:spcPct val="90000"/>
              </a:lnSpc>
            </a:pPr>
            <a:r>
              <a:rPr lang="en-US" altLang="en-US" sz="2200" dirty="0">
                <a:ea typeface="ＭＳ Ｐゴシック" panose="020B0600070205080204" pitchFamily="34" charset="-128"/>
              </a:rPr>
              <a:t>Neurons &amp; their synapses are the fundamental entities in brain functions, including the mind and consciousness</a:t>
            </a:r>
          </a:p>
          <a:p>
            <a:pPr lvl="1">
              <a:lnSpc>
                <a:spcPct val="90000"/>
              </a:lnSpc>
            </a:pPr>
            <a:r>
              <a:rPr lang="en-US" altLang="en-US" sz="2200" dirty="0">
                <a:ea typeface="ＭＳ Ｐゴシック" panose="020B0600070205080204" pitchFamily="34" charset="-128"/>
              </a:rPr>
              <a:t>All the functions of the brain must ultimately be understood in terms of neurons and their interactions</a:t>
            </a:r>
          </a:p>
          <a:p>
            <a:pPr lvl="1">
              <a:lnSpc>
                <a:spcPct val="90000"/>
              </a:lnSpc>
            </a:pPr>
            <a:r>
              <a:rPr lang="en-US" altLang="en-US" sz="2200" dirty="0">
                <a:ea typeface="ＭＳ Ｐゴシック" panose="020B0600070205080204" pitchFamily="34" charset="-128"/>
              </a:rPr>
              <a:t>Note: Neurons are electric</a:t>
            </a:r>
          </a:p>
        </p:txBody>
      </p:sp>
      <p:pic>
        <p:nvPicPr>
          <p:cNvPr id="21509" name="Picture 5" descr="The image is a microscopic view of neurons, colored in dark red against a bright orange background. The neurons have distinct triangular-shaped cell bodies from which numerous branching dendrites extend, creating a complex network. The image is titled &quot;Made Up of Neurons&quot; and is associated with PSYCH 4041/6014, indicating it's from a psychology or neuroscience context. The visual elements highlight the intricate structure and interconnectedness of these fundamental nerve cells.">
            <a:extLst>
              <a:ext uri="{FF2B5EF4-FFF2-40B4-BE49-F238E27FC236}">
                <a16:creationId xmlns:a16="http://schemas.microsoft.com/office/drawing/2014/main" id="{6B7C7D7C-FCFE-814F-A42C-1E07937956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4391" y="819150"/>
            <a:ext cx="2132409"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7DEA07D7-B863-D74C-853E-B17B753A0463}"/>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Basic Brain Structure</a:t>
            </a:r>
          </a:p>
        </p:txBody>
      </p:sp>
      <p:sp>
        <p:nvSpPr>
          <p:cNvPr id="23554" name="Rectangle 3">
            <a:extLst>
              <a:ext uri="{FF2B5EF4-FFF2-40B4-BE49-F238E27FC236}">
                <a16:creationId xmlns:a16="http://schemas.microsoft.com/office/drawing/2014/main" id="{D8C615DF-A988-584B-959D-8AA00A71291F}"/>
              </a:ext>
            </a:extLst>
          </p:cNvPr>
          <p:cNvSpPr>
            <a:spLocks noGrp="1" noChangeArrowheads="1"/>
          </p:cNvSpPr>
          <p:nvPr>
            <p:ph type="body" idx="1"/>
          </p:nvPr>
        </p:nvSpPr>
        <p:spPr>
          <a:xfrm>
            <a:off x="838200" y="857250"/>
            <a:ext cx="6648450" cy="365760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The brain has modular organization</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The sensory modalities have primary receiving areas</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Audition - temporal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Tactile senses - parietal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Vision - occipital lobe</a:t>
            </a:r>
          </a:p>
          <a:p>
            <a:pPr lvl="2">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Etc.</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Frontal lobe coordinates information received from two or more senses</a:t>
            </a:r>
          </a:p>
        </p:txBody>
      </p:sp>
      <p:sp>
        <p:nvSpPr>
          <p:cNvPr id="23555" name="Date Placeholder 1">
            <a:extLst>
              <a:ext uri="{FF2B5EF4-FFF2-40B4-BE49-F238E27FC236}">
                <a16:creationId xmlns:a16="http://schemas.microsoft.com/office/drawing/2014/main" id="{2F967521-A193-1843-B9FF-883539FCD86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1DA6B711-F320-CA47-8965-BE2A034C453B}"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3556" name="Footer Placeholder 2">
            <a:extLst>
              <a:ext uri="{FF2B5EF4-FFF2-40B4-BE49-F238E27FC236}">
                <a16:creationId xmlns:a16="http://schemas.microsoft.com/office/drawing/2014/main" id="{DA381CA7-7BFC-F844-8009-72C9FF712F0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7FD46BCF-354D-C84D-9640-D842959E13C7}"/>
              </a:ext>
            </a:extLst>
          </p:cNvPr>
          <p:cNvSpPr>
            <a:spLocks noGrp="1" noChangeArrowheads="1"/>
          </p:cNvSpPr>
          <p:nvPr>
            <p:ph type="body" idx="1"/>
          </p:nvPr>
        </p:nvSpPr>
        <p:spPr>
          <a:xfrm>
            <a:off x="2019300" y="3943350"/>
            <a:ext cx="6057900" cy="1028700"/>
          </a:xfrm>
          <a:solidFill>
            <a:schemeClr val="bg1"/>
          </a:solidFill>
        </p:spPr>
        <p:txBody>
          <a:bodyPr anchor="b"/>
          <a:lstStyle/>
          <a:p>
            <a:pPr marL="0" indent="0">
              <a:lnSpc>
                <a:spcPct val="80000"/>
              </a:lnSpc>
              <a:buNone/>
            </a:pPr>
            <a:r>
              <a:rPr lang="en-US" altLang="en-US" sz="975" dirty="0">
                <a:latin typeface="Arial" panose="020B0604020202020204" pitchFamily="34" charset="0"/>
                <a:ea typeface="ＭＳ Ｐゴシック" panose="020B0600070205080204" pitchFamily="34" charset="-128"/>
              </a:rPr>
              <a:t>Figure 2.3 The human brain, showing the locations of the primary receiving areas for the senses in the temporal, occipital, and parietal lobes, and the frontal lobe, which is involved with integrating sensory functions.</a:t>
            </a:r>
          </a:p>
        </p:txBody>
      </p:sp>
      <p:pic>
        <p:nvPicPr>
          <p:cNvPr id="25602" name="Picture 4" descr="A lateral view of the human brain is shown. The cerebrum is a reddish-brown color and is highly convoluted, with gyri and sulci visible. Four lobes are labeled: the frontal lobe at the front, the temporal lobe at the bottom-front, the parietal lobe at the top, and the occipital lobe at the back. The temporal lobe is associated with hearing, the parietal lobe with skin senses, and the occipital lobe with vision. The text indicates the frontal lobe is involved with integrating sensory functions. Below the cerebrum, the cerebellum is depicted in gray with a ribbed texture. Part of the brainstem is visible in yellow, connecting the cerebrum and cerebellum to the spinal cord (not shown). Lines with labels point to each of the indicated brain regions.">
            <a:extLst>
              <a:ext uri="{FF2B5EF4-FFF2-40B4-BE49-F238E27FC236}">
                <a16:creationId xmlns:a16="http://schemas.microsoft.com/office/drawing/2014/main" id="{84859B0F-B8DC-1F44-A0AB-0A0877E814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04807"/>
            <a:ext cx="6477000" cy="4448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Date Placeholder 1">
            <a:extLst>
              <a:ext uri="{FF2B5EF4-FFF2-40B4-BE49-F238E27FC236}">
                <a16:creationId xmlns:a16="http://schemas.microsoft.com/office/drawing/2014/main" id="{7BEF6A66-4D97-474A-8328-B4B3B64BFBE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9A86305-13EB-E149-8B7F-A8AC79AE81A2}"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268F3162-86D0-9E4B-A4A1-EDE1465DF482}"/>
              </a:ext>
            </a:extLst>
          </p:cNvPr>
          <p:cNvSpPr>
            <a:spLocks noGrp="1" noChangeArrowheads="1"/>
          </p:cNvSpPr>
          <p:nvPr>
            <p:ph type="title"/>
          </p:nvPr>
        </p:nvSpPr>
        <p:spPr>
          <a:xfrm>
            <a:off x="1143000" y="0"/>
            <a:ext cx="7543800" cy="628650"/>
          </a:xfrm>
        </p:spPr>
        <p:txBody>
          <a:bodyPr/>
          <a:lstStyle/>
          <a:p>
            <a:r>
              <a:rPr lang="en-US" altLang="en-US" sz="2700" dirty="0">
                <a:ea typeface="ＭＳ Ｐゴシック" panose="020B0600070205080204" pitchFamily="34" charset="-128"/>
              </a:rPr>
              <a:t>Neurons: Transduction &amp; Transmission</a:t>
            </a:r>
          </a:p>
        </p:txBody>
      </p:sp>
      <p:sp>
        <p:nvSpPr>
          <p:cNvPr id="27650" name="Rectangle 3">
            <a:extLst>
              <a:ext uri="{FF2B5EF4-FFF2-40B4-BE49-F238E27FC236}">
                <a16:creationId xmlns:a16="http://schemas.microsoft.com/office/drawing/2014/main" id="{E04CE557-18BC-2B4E-97EC-E93FCA4EB628}"/>
              </a:ext>
            </a:extLst>
          </p:cNvPr>
          <p:cNvSpPr>
            <a:spLocks noGrp="1" noChangeArrowheads="1"/>
          </p:cNvSpPr>
          <p:nvPr>
            <p:ph type="body" idx="1"/>
          </p:nvPr>
        </p:nvSpPr>
        <p:spPr>
          <a:xfrm>
            <a:off x="838200" y="685800"/>
            <a:ext cx="6648450" cy="3829050"/>
          </a:xfrm>
        </p:spPr>
        <p:txBody>
          <a:bodyPr/>
          <a:lstStyle/>
          <a:p>
            <a:pPr>
              <a:spcBef>
                <a:spcPct val="30000"/>
              </a:spcBef>
            </a:pPr>
            <a:r>
              <a:rPr lang="en-US" altLang="en-US" sz="2100" dirty="0">
                <a:latin typeface="Arial" panose="020B0604020202020204" pitchFamily="34" charset="0"/>
                <a:ea typeface="ＭＳ Ｐゴシック" panose="020B0600070205080204" pitchFamily="34" charset="-128"/>
              </a:rPr>
              <a:t>Receptors - specialized neurons that respond to specific kinds of energy</a:t>
            </a:r>
            <a:endParaRPr lang="en-US" altLang="en-US" dirty="0">
              <a:latin typeface="Arial" panose="020B0604020202020204" pitchFamily="34" charset="0"/>
              <a:ea typeface="ＭＳ Ｐゴシック" panose="020B0600070205080204" pitchFamily="34" charset="-128"/>
            </a:endParaRPr>
          </a:p>
        </p:txBody>
      </p:sp>
      <p:pic>
        <p:nvPicPr>
          <p:cNvPr id="27651" name="Picture 4" descr="The diagram, titled &quot;Neurons: Transduction &amp; Transmission,&quot; displays five distinct illustrations of sensory receptors, each labeled with a letter and a corresponding sense: (a) Vision, (b) Hearing, (c) Touch, (d) Smell, and (e) Taste. Each illustration is marked with an asterisk.&#10;&#10;Panel (a) shows a rod-shaped neuron with stacked discs at the top, resembling a photoreceptor cell. Panel (b) depicts a cross-section of a cochlear hair cell, featuring a central nucleus and cilia-like structures at the top. Panel (c) illustrates a cross-section of a pacinian corpuscle, a layered, oval-shaped structure with nerve fibers embedded within. Panel (d) presents a simplified diagram of olfactory receptor neurons, showing two neurons with cell bodies, nuclei, and branching dendrites extending into the nasal epithelium. Panel (e) illustrates a taste receptor cell, a spindle-shaped cell with a nucleus and microvilli at the apical end. The overall arrangement showcases different neuronal structures adapted for the transduction and transmission of sensory information from various modalities.">
            <a:extLst>
              <a:ext uri="{FF2B5EF4-FFF2-40B4-BE49-F238E27FC236}">
                <a16:creationId xmlns:a16="http://schemas.microsoft.com/office/drawing/2014/main" id="{EDC8230E-1E0A-5844-B2FC-597149D206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785" y="1581150"/>
            <a:ext cx="8327615" cy="2947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2" name="Date Placeholder 1">
            <a:extLst>
              <a:ext uri="{FF2B5EF4-FFF2-40B4-BE49-F238E27FC236}">
                <a16:creationId xmlns:a16="http://schemas.microsoft.com/office/drawing/2014/main" id="{416B7D9C-3591-114C-835B-7A772AB9DF1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9373439-8050-094F-AA91-928198248D79}"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27653" name="Footer Placeholder 2">
            <a:extLst>
              <a:ext uri="{FF2B5EF4-FFF2-40B4-BE49-F238E27FC236}">
                <a16:creationId xmlns:a16="http://schemas.microsoft.com/office/drawing/2014/main" id="{5853A928-1411-5447-A2C9-A417A56972A5}"/>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3E241A2D-2707-D549-8D5F-DBB2AAD12487}"/>
              </a:ext>
            </a:extLst>
          </p:cNvPr>
          <p:cNvSpPr>
            <a:spLocks noGrp="1" noChangeArrowheads="1"/>
          </p:cNvSpPr>
          <p:nvPr>
            <p:ph type="title"/>
          </p:nvPr>
        </p:nvSpPr>
        <p:spPr>
          <a:xfrm>
            <a:off x="1143000" y="0"/>
            <a:ext cx="7543800" cy="628650"/>
          </a:xfrm>
        </p:spPr>
        <p:txBody>
          <a:bodyPr/>
          <a:lstStyle/>
          <a:p>
            <a:r>
              <a:rPr lang="en-US" altLang="en-US" sz="2700" dirty="0">
                <a:ea typeface="ＭＳ Ｐゴシック" panose="020B0600070205080204" pitchFamily="34" charset="-128"/>
              </a:rPr>
              <a:t>Neurons: Transduction &amp; Transmission</a:t>
            </a:r>
          </a:p>
        </p:txBody>
      </p:sp>
      <p:sp>
        <p:nvSpPr>
          <p:cNvPr id="29698" name="Rectangle 3">
            <a:extLst>
              <a:ext uri="{FF2B5EF4-FFF2-40B4-BE49-F238E27FC236}">
                <a16:creationId xmlns:a16="http://schemas.microsoft.com/office/drawing/2014/main" id="{FFFB08A7-53EC-254D-AC7E-F67645324D6B}"/>
              </a:ext>
            </a:extLst>
          </p:cNvPr>
          <p:cNvSpPr>
            <a:spLocks noGrp="1" noChangeArrowheads="1"/>
          </p:cNvSpPr>
          <p:nvPr>
            <p:ph type="body" idx="1"/>
          </p:nvPr>
        </p:nvSpPr>
        <p:spPr>
          <a:xfrm>
            <a:off x="838200" y="685800"/>
            <a:ext cx="6648450" cy="38290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Key components of neurons: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Cell body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Dendrites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Axon or nerve fiber</a:t>
            </a:r>
          </a:p>
        </p:txBody>
      </p:sp>
      <p:pic>
        <p:nvPicPr>
          <p:cNvPr id="29699" name="Picture 4" descr="The diagram illustrates the process of transduction and transmission in neurons. It begins on the left with a bulbous structure labeled &quot;Touch receptor,&quot; receiving a &quot;Stimulus from environment&quot; indicated by a red arrow. A thin, purple-lined structure, labeled &quot;Nerve fiber,&quot; extends from the receptor, showing segments that appear to be transmitting an &quot;Electrical signal&quot; depicted by red arrows. This nerve fiber then connects to a larger, star-shaped cell body, which is labeled &quot;Cell body&quot; and has numerous branching extensions labeled &quot;Dendrite.&quot; To the right of the cell body, a long, cylindrical structure extends, identified as the &quot;Axon or nerve fiber.&quot; This axon also shows segments and red arrows indicating the transmission of an electrical signal. The junction between the nerve fiber and the dendrites of the cell body is labeled &quot;Synapse.&quot; The diagram visually represents how a stimulus is received, converted into an electrical signal, and transmitted along a neuron to communicate with other cells.">
            <a:extLst>
              <a:ext uri="{FF2B5EF4-FFF2-40B4-BE49-F238E27FC236}">
                <a16:creationId xmlns:a16="http://schemas.microsoft.com/office/drawing/2014/main" id="{69ACFB55-B8E3-314B-B581-5E5B86F79B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395495"/>
            <a:ext cx="8067897" cy="2081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Rectangle 2">
            <a:extLst>
              <a:ext uri="{FF2B5EF4-FFF2-40B4-BE49-F238E27FC236}">
                <a16:creationId xmlns:a16="http://schemas.microsoft.com/office/drawing/2014/main" id="{94A4D5F1-EEFA-7F42-973D-7198A94416D0}"/>
              </a:ext>
            </a:extLst>
          </p:cNvPr>
          <p:cNvSpPr txBox="1">
            <a:spLocks noChangeArrowheads="1"/>
          </p:cNvSpPr>
          <p:nvPr/>
        </p:nvSpPr>
        <p:spPr bwMode="auto">
          <a:xfrm>
            <a:off x="2247900" y="4476750"/>
            <a:ext cx="6057900" cy="471488"/>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2.4 The neuron on the right consists of a cell body, dendrites, and an axon, or nerve fiber.  The neuron on the left that receives stimuli from the environment has a receptor in place of the cell body.</a:t>
            </a:r>
          </a:p>
        </p:txBody>
      </p:sp>
      <p:sp>
        <p:nvSpPr>
          <p:cNvPr id="29701" name="Date Placeholder 1">
            <a:extLst>
              <a:ext uri="{FF2B5EF4-FFF2-40B4-BE49-F238E27FC236}">
                <a16:creationId xmlns:a16="http://schemas.microsoft.com/office/drawing/2014/main" id="{0FB608D1-8E1B-E149-906C-1951EDFEB1E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B63C21AA-C9E3-5D42-B571-1B128C2FCBB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242D317F-DF76-8043-AD69-87BC5CB5EA6E}"/>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Neural Signals</a:t>
            </a:r>
          </a:p>
        </p:txBody>
      </p:sp>
      <p:sp>
        <p:nvSpPr>
          <p:cNvPr id="31746" name="Rectangle 3">
            <a:extLst>
              <a:ext uri="{FF2B5EF4-FFF2-40B4-BE49-F238E27FC236}">
                <a16:creationId xmlns:a16="http://schemas.microsoft.com/office/drawing/2014/main" id="{5A1FAB20-FBA6-9842-ADB3-431636B93808}"/>
              </a:ext>
            </a:extLst>
          </p:cNvPr>
          <p:cNvSpPr>
            <a:spLocks noGrp="1" noChangeArrowheads="1"/>
          </p:cNvSpPr>
          <p:nvPr>
            <p:ph type="body" idx="1"/>
          </p:nvPr>
        </p:nvSpPr>
        <p:spPr>
          <a:xfrm>
            <a:off x="866775" y="792956"/>
            <a:ext cx="4514850" cy="3714750"/>
          </a:xfrm>
        </p:spPr>
        <p:txBody>
          <a:bodyPr/>
          <a:lstStyle/>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Electrical signals or action potentials</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 occur when: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permeability of the membrane changes</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Na+ flows into the fiber making </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the neuron more positive </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K+ flows out of the fiber making </a:t>
            </a:r>
            <a:br>
              <a:rPr lang="en-US" altLang="en-US" sz="2000" dirty="0">
                <a:latin typeface="Tahoma" panose="020B0604030504040204" pitchFamily="34" charset="0"/>
                <a:ea typeface="Tahoma" panose="020B0604030504040204" pitchFamily="34" charset="0"/>
                <a:cs typeface="Tahoma" panose="020B0604030504040204" pitchFamily="34" charset="0"/>
              </a:rPr>
            </a:br>
            <a:r>
              <a:rPr lang="en-US" altLang="en-US" sz="2000" dirty="0">
                <a:latin typeface="Tahoma" panose="020B0604030504040204" pitchFamily="34" charset="0"/>
                <a:ea typeface="Tahoma" panose="020B0604030504040204" pitchFamily="34" charset="0"/>
                <a:cs typeface="Tahoma" panose="020B0604030504040204" pitchFamily="34" charset="0"/>
              </a:rPr>
              <a:t>the neuron more negative</a:t>
            </a:r>
          </a:p>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This process travels down the axon in a propagated response</a:t>
            </a:r>
          </a:p>
          <a:p>
            <a:pPr lvl="1">
              <a:lnSpc>
                <a:spcPct val="90000"/>
              </a:lnSpc>
              <a:spcBef>
                <a:spcPct val="30000"/>
              </a:spcBef>
            </a:pPr>
            <a:endParaRPr lang="en-US" altLang="en-US" sz="2000" dirty="0">
              <a:latin typeface="Tahoma" panose="020B0604030504040204" pitchFamily="34" charset="0"/>
              <a:ea typeface="Tahoma" panose="020B0604030504040204" pitchFamily="34" charset="0"/>
              <a:cs typeface="Tahoma" panose="020B0604030504040204" pitchFamily="34" charset="0"/>
            </a:endParaRPr>
          </a:p>
        </p:txBody>
      </p:sp>
      <p:pic>
        <p:nvPicPr>
          <p:cNvPr id="31747" name="Picture 4" descr="1. Main Trend: The graphs show a rapid increase in electrical charge inside the nerve fiber relative to the outside, followed by a rapid decrease back to the resting potential. This represents the generation and propagation of a nerve impulse.&#10;&#10;2. Axes Description: The y-axis of each graph represents the electrical charge inside the fiber relative to the outside, measured in millivolts (mV). The x-axis of the top graph represents time. The x-axes of the other graphs represent the progression of the nerve impulse along the fiber.&#10;&#10;3. Individual Points: Not applicable.&#10;&#10;4. Contextual Explanation: The diagrams on the left illustrate the process of generating and transmitting a nerve impulse along an axon. The graphs on the right show the corresponding changes in the electrical potential across the axon membrane as the impulse passes. The top graph shows the stable resting potential before the impulse arrives. The subsequent graphs depict the rapid depolarization (increase in positive charge) and repolarization (decrease in charge back to negative) that characterize an action potential. The final graph shows the potential returning to the resting level.">
            <a:extLst>
              <a:ext uri="{FF2B5EF4-FFF2-40B4-BE49-F238E27FC236}">
                <a16:creationId xmlns:a16="http://schemas.microsoft.com/office/drawing/2014/main" id="{2B2EA2DA-F5F3-D241-8C7D-A0EA4FF038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6166" y="800100"/>
            <a:ext cx="3170634" cy="3500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Date Placeholder 1">
            <a:extLst>
              <a:ext uri="{FF2B5EF4-FFF2-40B4-BE49-F238E27FC236}">
                <a16:creationId xmlns:a16="http://schemas.microsoft.com/office/drawing/2014/main" id="{6CC403BE-2CF1-634E-99A5-930E7B60E074}"/>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A56E3F5E-46BE-0C4A-9B48-7A0757E0168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1749" name="Footer Placeholder 2">
            <a:extLst>
              <a:ext uri="{FF2B5EF4-FFF2-40B4-BE49-F238E27FC236}">
                <a16:creationId xmlns:a16="http://schemas.microsoft.com/office/drawing/2014/main" id="{E7BD3A59-C96D-0342-8BA4-E2CFE59413E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0D084AA8-0E46-0B41-BA15-3867FDBF548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Properties of Action Potentials</a:t>
            </a:r>
          </a:p>
        </p:txBody>
      </p:sp>
      <p:sp>
        <p:nvSpPr>
          <p:cNvPr id="33794" name="Rectangle 3">
            <a:extLst>
              <a:ext uri="{FF2B5EF4-FFF2-40B4-BE49-F238E27FC236}">
                <a16:creationId xmlns:a16="http://schemas.microsoft.com/office/drawing/2014/main" id="{D26D8A89-1DF6-6641-BB7E-B3F5CF742404}"/>
              </a:ext>
            </a:extLst>
          </p:cNvPr>
          <p:cNvSpPr>
            <a:spLocks noGrp="1" noChangeArrowheads="1"/>
          </p:cNvSpPr>
          <p:nvPr>
            <p:ph type="body" idx="1"/>
          </p:nvPr>
        </p:nvSpPr>
        <p:spPr>
          <a:xfrm>
            <a:off x="838200" y="800100"/>
            <a:ext cx="7162800" cy="37147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Action potentials: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show propagated response.</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remain the same size regardless of stimulus intensity.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increase in </a:t>
            </a:r>
            <a:r>
              <a:rPr lang="en-US" altLang="en-US" sz="2000" b="1" dirty="0">
                <a:latin typeface="Tahoma" panose="020B0604030504040204" pitchFamily="34" charset="0"/>
                <a:ea typeface="Tahoma" panose="020B0604030504040204" pitchFamily="34" charset="0"/>
                <a:cs typeface="Tahoma" panose="020B0604030504040204" pitchFamily="34" charset="0"/>
              </a:rPr>
              <a:t>rate </a:t>
            </a:r>
            <a:r>
              <a:rPr lang="en-US" altLang="en-US" sz="2000" dirty="0">
                <a:latin typeface="Tahoma" panose="020B0604030504040204" pitchFamily="34" charset="0"/>
                <a:ea typeface="Tahoma" panose="020B0604030504040204" pitchFamily="34" charset="0"/>
                <a:cs typeface="Tahoma" panose="020B0604030504040204" pitchFamily="34" charset="0"/>
              </a:rPr>
              <a:t>to increase in stimulus intensity.</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have a refractory period of 1 </a:t>
            </a:r>
            <a:r>
              <a:rPr lang="en-US" altLang="en-US" sz="2000" dirty="0" err="1">
                <a:latin typeface="Tahoma" panose="020B0604030504040204" pitchFamily="34" charset="0"/>
                <a:ea typeface="Tahoma" panose="020B0604030504040204" pitchFamily="34" charset="0"/>
                <a:cs typeface="Tahoma" panose="020B0604030504040204" pitchFamily="34" charset="0"/>
              </a:rPr>
              <a:t>ms</a:t>
            </a:r>
            <a:r>
              <a:rPr lang="en-US" altLang="en-US" sz="2000" dirty="0">
                <a:latin typeface="Tahoma" panose="020B0604030504040204" pitchFamily="34" charset="0"/>
                <a:ea typeface="Tahoma" panose="020B0604030504040204" pitchFamily="34" charset="0"/>
                <a:cs typeface="Tahoma" panose="020B0604030504040204" pitchFamily="34" charset="0"/>
              </a:rPr>
              <a:t> - </a:t>
            </a:r>
            <a:r>
              <a:rPr lang="en-US" altLang="en-US" sz="2000" b="1" dirty="0">
                <a:latin typeface="Tahoma" panose="020B0604030504040204" pitchFamily="34" charset="0"/>
                <a:ea typeface="Tahoma" panose="020B0604030504040204" pitchFamily="34" charset="0"/>
                <a:cs typeface="Tahoma" panose="020B0604030504040204" pitchFamily="34" charset="0"/>
              </a:rPr>
              <a:t>upper firing rate </a:t>
            </a:r>
            <a:r>
              <a:rPr lang="en-US" altLang="en-US" sz="2000" dirty="0">
                <a:latin typeface="Tahoma" panose="020B0604030504040204" pitchFamily="34" charset="0"/>
                <a:ea typeface="Tahoma" panose="020B0604030504040204" pitchFamily="34" charset="0"/>
                <a:cs typeface="Tahoma" panose="020B0604030504040204" pitchFamily="34" charset="0"/>
              </a:rPr>
              <a:t>is 500 to 800 impulses per second.</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show spontaneous activity that occurs without stimulation (neuronal noise).</a:t>
            </a:r>
          </a:p>
        </p:txBody>
      </p:sp>
      <p:sp>
        <p:nvSpPr>
          <p:cNvPr id="33795" name="Date Placeholder 1">
            <a:extLst>
              <a:ext uri="{FF2B5EF4-FFF2-40B4-BE49-F238E27FC236}">
                <a16:creationId xmlns:a16="http://schemas.microsoft.com/office/drawing/2014/main" id="{EE05B481-9AF4-F94C-B6FF-1FDCCFEBD9E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7D9888F8-8F4A-144E-B4DC-BCCEBEB728F9}"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3796" name="Footer Placeholder 2">
            <a:extLst>
              <a:ext uri="{FF2B5EF4-FFF2-40B4-BE49-F238E27FC236}">
                <a16:creationId xmlns:a16="http://schemas.microsoft.com/office/drawing/2014/main" id="{90590B3B-5A73-3C45-A8FF-88E166A2C45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0B5D2456-7F45-814E-BEA2-67251C9F7F88}"/>
              </a:ext>
            </a:extLst>
          </p:cNvPr>
          <p:cNvSpPr>
            <a:spLocks noGrp="1" noChangeArrowheads="1"/>
          </p:cNvSpPr>
          <p:nvPr>
            <p:ph type="body" idx="1"/>
          </p:nvPr>
        </p:nvSpPr>
        <p:spPr>
          <a:xfrm>
            <a:off x="1543050" y="3886200"/>
            <a:ext cx="6057900" cy="1028700"/>
          </a:xfrm>
        </p:spPr>
        <p:txBody>
          <a:bodyPr anchor="b"/>
          <a:lstStyle/>
          <a:p>
            <a:pPr marL="0" indent="0">
              <a:lnSpc>
                <a:spcPct val="80000"/>
              </a:lnSpc>
              <a:buNone/>
            </a:pPr>
            <a:r>
              <a:rPr lang="en-US" altLang="en-US" sz="975" dirty="0">
                <a:latin typeface="Arial" panose="020B0604020202020204" pitchFamily="34" charset="0"/>
                <a:ea typeface="ＭＳ Ｐゴシック" panose="020B0600070205080204" pitchFamily="34" charset="-128"/>
              </a:rPr>
              <a:t>Figure 2.10 Response of a nerve fiber to (a) soft, (b) medium, and (c) strong stimulation. Increasing the stimulus strength increases both the rate and the regularity of nerve firing in this fiber.</a:t>
            </a:r>
          </a:p>
        </p:txBody>
      </p:sp>
      <p:pic>
        <p:nvPicPr>
          <p:cNvPr id="35842" name="Picture 4" descr="1. **Main Trend:** The diagram illustrates how increasing stimulus intensity leads to an increased rate and regularity of nerve firing.&#10;&#10;2. **Axes:** The horizontal axis represents time, indicated by the arrow labeled &quot;Time&quot; and marked with &quot;Pressure on&quot; and &quot;Pressure off&quot; events. The vertical axis is not explicitly labeled but represents the occurrence of nerve impulses, depicted as vertical lines (spikes). The labels (a), (b), and (c) correspond to different levels of stimulus intensity: (a) soft, (b) medium, and (c) strong.&#10;&#10;3. **Description:** The diagram shows three horizontal lines, each representing the response of a nerve fiber over time to different levels of stimulation. Line (a) represents a soft stimulation, line (b) a medium stimulation, and line (c) a strong stimulation. Vertical lines on each horizontal axis indicate the timing of nerve impulses (action potentials). The region between the dashed lines indicates when the pressure stimulus is applied. As the stimulus intensity increases from (a) to (c), the frequency of the vertical lines (nerve impulses) increases, and they become more evenly spaced, indicating a more regular firing pattern.">
            <a:extLst>
              <a:ext uri="{FF2B5EF4-FFF2-40B4-BE49-F238E27FC236}">
                <a16:creationId xmlns:a16="http://schemas.microsoft.com/office/drawing/2014/main" id="{2F5D69F8-E115-DF42-8F8C-889AC5310B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742950"/>
            <a:ext cx="5257800" cy="3529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3" name="Rectangle 2">
            <a:extLst>
              <a:ext uri="{FF2B5EF4-FFF2-40B4-BE49-F238E27FC236}">
                <a16:creationId xmlns:a16="http://schemas.microsoft.com/office/drawing/2014/main" id="{CDB2805F-6060-B840-BA6B-688A2A823E6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Stimulus Intensity &amp; Firing Rate</a:t>
            </a:r>
          </a:p>
        </p:txBody>
      </p:sp>
      <p:sp>
        <p:nvSpPr>
          <p:cNvPr id="35844" name="Date Placeholder 1">
            <a:extLst>
              <a:ext uri="{FF2B5EF4-FFF2-40B4-BE49-F238E27FC236}">
                <a16:creationId xmlns:a16="http://schemas.microsoft.com/office/drawing/2014/main" id="{4CA4627A-B8F5-0E4F-8B43-924A60A46B1F}"/>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9AC1371-0779-BB4C-A035-9E911F29B3A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5846" name="TextBox 1">
            <a:extLst>
              <a:ext uri="{FF2B5EF4-FFF2-40B4-BE49-F238E27FC236}">
                <a16:creationId xmlns:a16="http://schemas.microsoft.com/office/drawing/2014/main" id="{03E9264F-A3F5-6F47-80E2-F661537094A4}"/>
              </a:ext>
            </a:extLst>
          </p:cNvPr>
          <p:cNvSpPr txBox="1">
            <a:spLocks noChangeArrowheads="1"/>
          </p:cNvSpPr>
          <p:nvPr/>
        </p:nvSpPr>
        <p:spPr bwMode="auto">
          <a:xfrm>
            <a:off x="1314450" y="971551"/>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Soft pressure</a:t>
            </a:r>
          </a:p>
        </p:txBody>
      </p:sp>
      <p:sp>
        <p:nvSpPr>
          <p:cNvPr id="35847" name="TextBox 7">
            <a:extLst>
              <a:ext uri="{FF2B5EF4-FFF2-40B4-BE49-F238E27FC236}">
                <a16:creationId xmlns:a16="http://schemas.microsoft.com/office/drawing/2014/main" id="{050A81E7-E8C5-CC46-B259-77B662C198B9}"/>
              </a:ext>
            </a:extLst>
          </p:cNvPr>
          <p:cNvSpPr txBox="1">
            <a:spLocks noChangeArrowheads="1"/>
          </p:cNvSpPr>
          <p:nvPr/>
        </p:nvSpPr>
        <p:spPr bwMode="auto">
          <a:xfrm>
            <a:off x="1275160" y="1947863"/>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Medium pressure</a:t>
            </a:r>
          </a:p>
        </p:txBody>
      </p:sp>
      <p:sp>
        <p:nvSpPr>
          <p:cNvPr id="35848" name="TextBox 8">
            <a:extLst>
              <a:ext uri="{FF2B5EF4-FFF2-40B4-BE49-F238E27FC236}">
                <a16:creationId xmlns:a16="http://schemas.microsoft.com/office/drawing/2014/main" id="{D3CF4D5A-592D-464E-AC35-7656D17F328E}"/>
              </a:ext>
            </a:extLst>
          </p:cNvPr>
          <p:cNvSpPr txBox="1">
            <a:spLocks noChangeArrowheads="1"/>
          </p:cNvSpPr>
          <p:nvPr/>
        </p:nvSpPr>
        <p:spPr bwMode="auto">
          <a:xfrm>
            <a:off x="1328738" y="3063479"/>
            <a:ext cx="9715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r>
              <a:rPr lang="en-US" altLang="en-US" sz="1800"/>
              <a:t>Strong pressure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89" name="Picture 4" descr="The diagram illustrates synaptic transmission, the process by which neurons communicate. Panel (a) shows a stimulus exciting a receptor, which initiates a nerve impulse that travels down the axon of a sending neuron towards a receiving neuron. Panel (b) is a magnified view of the synapse, the junction between the two neurons. Here, synaptic vesicles within the axon of the sending neuron release neurotransmitter molecules into the synaptic cleft. These molecules are then shown approaching the receiving neuron. Panel (c) provides an even closer look, depicting neurotransmitter molecules binding to specific receptor sites on the membrane of the receiving neuron. The context provided explains that neurotransmitters are released from vesicles, received by receptor sites, fit like a key into a lock, and trigger voltage changes in the postsynaptic neuron.">
            <a:extLst>
              <a:ext uri="{FF2B5EF4-FFF2-40B4-BE49-F238E27FC236}">
                <a16:creationId xmlns:a16="http://schemas.microsoft.com/office/drawing/2014/main" id="{BA59CB00-07A8-A54E-81D3-225A2084DF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2650" y="685800"/>
            <a:ext cx="2419350" cy="4332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0" name="Rectangle 2">
            <a:extLst>
              <a:ext uri="{FF2B5EF4-FFF2-40B4-BE49-F238E27FC236}">
                <a16:creationId xmlns:a16="http://schemas.microsoft.com/office/drawing/2014/main" id="{C3D6827B-86A0-D54A-8598-57D6E402C09E}"/>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Synaptic Transmission of Impulses </a:t>
            </a:r>
          </a:p>
        </p:txBody>
      </p:sp>
      <p:sp>
        <p:nvSpPr>
          <p:cNvPr id="37891" name="Rectangle 3">
            <a:extLst>
              <a:ext uri="{FF2B5EF4-FFF2-40B4-BE49-F238E27FC236}">
                <a16:creationId xmlns:a16="http://schemas.microsoft.com/office/drawing/2014/main" id="{8DB2E0CE-6C0C-4D4C-9A99-A72D9976CA4E}"/>
              </a:ext>
            </a:extLst>
          </p:cNvPr>
          <p:cNvSpPr>
            <a:spLocks noGrp="1" noChangeArrowheads="1"/>
          </p:cNvSpPr>
          <p:nvPr>
            <p:ph type="body" idx="1"/>
          </p:nvPr>
        </p:nvSpPr>
        <p:spPr>
          <a:xfrm>
            <a:off x="838200" y="800100"/>
            <a:ext cx="4933950" cy="3714750"/>
          </a:xfrm>
        </p:spPr>
        <p:txBody>
          <a:bodyPr/>
          <a:lstStyle/>
          <a:p>
            <a:pPr>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Neurotransmitters are:</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released by the presynaptic neuron from vesicles.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received by the postsynaptic neuron on receptor sites.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matched like a key to a lock into specific receptor sites.</a:t>
            </a:r>
          </a:p>
          <a:p>
            <a:pPr lvl="1">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used as triggers for voltage change in the postsynaptic neuron. </a:t>
            </a:r>
          </a:p>
        </p:txBody>
      </p:sp>
      <p:sp>
        <p:nvSpPr>
          <p:cNvPr id="37892" name="Date Placeholder 1">
            <a:extLst>
              <a:ext uri="{FF2B5EF4-FFF2-40B4-BE49-F238E27FC236}">
                <a16:creationId xmlns:a16="http://schemas.microsoft.com/office/drawing/2014/main" id="{1A67EFEC-74DE-7943-8D65-9A3A7E7BC430}"/>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BAA026FD-8174-A943-8DC8-503C1A0776A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7893" name="Footer Placeholder 2">
            <a:extLst>
              <a:ext uri="{FF2B5EF4-FFF2-40B4-BE49-F238E27FC236}">
                <a16:creationId xmlns:a16="http://schemas.microsoft.com/office/drawing/2014/main" id="{846D9E54-4F23-D64D-BC34-4290BAFE5B7D}"/>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7" name="Picture 5" descr="The image is an illustration related to &quot;Synaptic Transmission.&quot; In the foreground, bold yellow, cursive text reads &quot;Synaptic Transmission.&quot; Behind the text, a dark purple, bulbous structure appears to be part of a neuron. Extending from this structure are several smooth, curved, orange-brown tubes, resembling the dendrites or axon terminals of neurons. To the right, a smaller, stylized representation of a neuron's cell body with branching dendrites is visible. A faint, glowing line extends from this cell body downwards, suggesting the transmission of a signal. The overall impression is a simplified, artistic depiction of neuronal communication.">
            <a:extLst>
              <a:ext uri="{FF2B5EF4-FFF2-40B4-BE49-F238E27FC236}">
                <a16:creationId xmlns:a16="http://schemas.microsoft.com/office/drawing/2014/main" id="{1DE6042D-1442-B946-9E36-76566AB57E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0838" y="1323975"/>
            <a:ext cx="3362325" cy="2494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38" name="Rectangle 2">
            <a:extLst>
              <a:ext uri="{FF2B5EF4-FFF2-40B4-BE49-F238E27FC236}">
                <a16:creationId xmlns:a16="http://schemas.microsoft.com/office/drawing/2014/main" id="{243AF993-D135-BF4A-A470-8F98CC1B5A78}"/>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Video: Synaptic Transmission</a:t>
            </a:r>
          </a:p>
        </p:txBody>
      </p:sp>
      <p:sp>
        <p:nvSpPr>
          <p:cNvPr id="39939" name="Date Placeholder 1">
            <a:extLst>
              <a:ext uri="{FF2B5EF4-FFF2-40B4-BE49-F238E27FC236}">
                <a16:creationId xmlns:a16="http://schemas.microsoft.com/office/drawing/2014/main" id="{0E06D05A-9384-A44A-820F-185B0499EAC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A276D481-585E-C044-BF9C-683D2527731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39940" name="Footer Placeholder 2">
            <a:extLst>
              <a:ext uri="{FF2B5EF4-FFF2-40B4-BE49-F238E27FC236}">
                <a16:creationId xmlns:a16="http://schemas.microsoft.com/office/drawing/2014/main" id="{21B925D6-0888-864C-BF30-D9A58E43C6F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B541A588-BDDC-8D40-AC6C-42FBB1101FE8}"/>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Types of Neurotransmitters</a:t>
            </a:r>
          </a:p>
        </p:txBody>
      </p:sp>
      <p:sp>
        <p:nvSpPr>
          <p:cNvPr id="41986" name="Rectangle 3">
            <a:extLst>
              <a:ext uri="{FF2B5EF4-FFF2-40B4-BE49-F238E27FC236}">
                <a16:creationId xmlns:a16="http://schemas.microsoft.com/office/drawing/2014/main" id="{A38AEB4D-F70C-1943-B6C1-490BB67F288E}"/>
              </a:ext>
            </a:extLst>
          </p:cNvPr>
          <p:cNvSpPr>
            <a:spLocks noGrp="1" noChangeArrowheads="1"/>
          </p:cNvSpPr>
          <p:nvPr>
            <p:ph type="body" idx="1"/>
          </p:nvPr>
        </p:nvSpPr>
        <p:spPr>
          <a:xfrm>
            <a:off x="838200" y="800100"/>
            <a:ext cx="4476750" cy="3714750"/>
          </a:xfrm>
        </p:spPr>
        <p:txBody>
          <a:bodyPr/>
          <a:lstStyle/>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Excitatory transmitters - cause depolarization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Neuron becomes more positive</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Increases the likelihood of an action potential</a:t>
            </a:r>
          </a:p>
          <a:p>
            <a:pPr>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Inhibitory transmitters - cause hyperpolarization</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Neuron becomes more negative</a:t>
            </a:r>
          </a:p>
          <a:p>
            <a:pPr lvl="1">
              <a:lnSpc>
                <a:spcPct val="90000"/>
              </a:lnSpc>
              <a:spcBef>
                <a:spcPct val="30000"/>
              </a:spcBef>
            </a:pPr>
            <a:r>
              <a:rPr lang="en-US" altLang="en-US" sz="2000" dirty="0">
                <a:latin typeface="Tahoma" panose="020B0604030504040204" pitchFamily="34" charset="0"/>
                <a:ea typeface="Tahoma" panose="020B0604030504040204" pitchFamily="34" charset="0"/>
                <a:cs typeface="Tahoma" panose="020B0604030504040204" pitchFamily="34" charset="0"/>
              </a:rPr>
              <a:t>Decreases the likelihood of an action potential</a:t>
            </a:r>
          </a:p>
        </p:txBody>
      </p:sp>
      <p:pic>
        <p:nvPicPr>
          <p:cNvPr id="41988" name="Picture 4" descr="1. The main trend depicted is how neurotransmitters affect the charge inside a nerve fiber, either increasing or decreasing the likelihood of an action potential.&#10;2. The vertical axis represents the electrical charge inside the nerve fiber, with values ranging from -70 to 0. The horizontal axis represents the change in charge over time, illustrating depolarization (excitatory) and hyperpolarization (inhibitory) effects.&#10;3. This graph illustrates two opposing effects of neurotransmitters on a neuron's electrical state. The upper graph (a) shows an excitatory effect, where the charge inside the fiber temporarily becomes more positive, moving towards a threshold level needed to trigger an action potential. The lower graph (b) shows an inhibitory effect, where the charge inside the fiber becomes more negative, moving away from the threshold, thus decreasing the likelihood of an action potential. The dashed line indicates the critical level of charge needed to initiate an electrical signal in the neuron.">
            <a:extLst>
              <a:ext uri="{FF2B5EF4-FFF2-40B4-BE49-F238E27FC236}">
                <a16:creationId xmlns:a16="http://schemas.microsoft.com/office/drawing/2014/main" id="{2A4870DD-9E4C-2949-B837-14A1B98BA0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2087" y="742950"/>
            <a:ext cx="2968886"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Date Placeholder 1">
            <a:extLst>
              <a:ext uri="{FF2B5EF4-FFF2-40B4-BE49-F238E27FC236}">
                <a16:creationId xmlns:a16="http://schemas.microsoft.com/office/drawing/2014/main" id="{A9CC91C4-FFD9-C94D-972B-9F653DE2C69D}"/>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88661226-C6A5-3C48-B740-EDFE3FC5402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1990" name="Footer Placeholder 2">
            <a:extLst>
              <a:ext uri="{FF2B5EF4-FFF2-40B4-BE49-F238E27FC236}">
                <a16:creationId xmlns:a16="http://schemas.microsoft.com/office/drawing/2014/main" id="{8A7C94E4-4EFF-1B42-9929-3CC056F01CB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41987" name="Rectangle 2">
            <a:extLst>
              <a:ext uri="{FF2B5EF4-FFF2-40B4-BE49-F238E27FC236}">
                <a16:creationId xmlns:a16="http://schemas.microsoft.com/office/drawing/2014/main" id="{98AE3C26-6566-7442-8CE7-1478B61147AF}"/>
              </a:ext>
            </a:extLst>
          </p:cNvPr>
          <p:cNvSpPr txBox="1">
            <a:spLocks noChangeArrowheads="1"/>
          </p:cNvSpPr>
          <p:nvPr/>
        </p:nvSpPr>
        <p:spPr bwMode="auto">
          <a:xfrm>
            <a:off x="3086100" y="455295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2.12 (a) Excitatory transmitters cause depolarization, an increased positive charge inside the neuron. (b) Inhibitory transmitters cause </a:t>
            </a:r>
            <a:r>
              <a:rPr lang="en-US" altLang="en-US" sz="975" dirty="0" err="1">
                <a:latin typeface="Arial" panose="020B0604020202020204" pitchFamily="34" charset="0"/>
              </a:rPr>
              <a:t>hyperpolization</a:t>
            </a:r>
            <a:r>
              <a:rPr lang="en-US" altLang="en-US" sz="975" dirty="0">
                <a:latin typeface="Arial" panose="020B0604020202020204" pitchFamily="34" charset="0"/>
              </a:rPr>
              <a:t>, an increased negative charge inside the axon. The charge inside the axon must reach the dashed line to trigger an action potential.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459BB17C-9678-4D44-87CF-CA7550244BF5}"/>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Neural Circuits</a:t>
            </a:r>
          </a:p>
        </p:txBody>
      </p:sp>
      <p:sp>
        <p:nvSpPr>
          <p:cNvPr id="44034" name="Rectangle 3">
            <a:extLst>
              <a:ext uri="{FF2B5EF4-FFF2-40B4-BE49-F238E27FC236}">
                <a16:creationId xmlns:a16="http://schemas.microsoft.com/office/drawing/2014/main" id="{B13179A6-3E42-6048-BA00-22A9D9723CDC}"/>
              </a:ext>
            </a:extLst>
          </p:cNvPr>
          <p:cNvSpPr>
            <a:spLocks noGrp="1" noChangeArrowheads="1"/>
          </p:cNvSpPr>
          <p:nvPr>
            <p:ph type="body" idx="1"/>
          </p:nvPr>
        </p:nvSpPr>
        <p:spPr>
          <a:xfrm>
            <a:off x="838200" y="742950"/>
            <a:ext cx="7543800" cy="33147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Groups of neurons connected by excitatory and inhibitory synapses</a:t>
            </a:r>
          </a:p>
          <a:p>
            <a:r>
              <a:rPr lang="en-US" altLang="en-US" sz="2200" dirty="0">
                <a:latin typeface="Tahoma" panose="020B0604030504040204" pitchFamily="34" charset="0"/>
                <a:ea typeface="Tahoma" panose="020B0604030504040204" pitchFamily="34" charset="0"/>
                <a:cs typeface="Tahoma" panose="020B0604030504040204" pitchFamily="34" charset="0"/>
              </a:rPr>
              <a:t>A simple circuit has no convergence and only excitatory inputs.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Input into each receptor has no effect on the output of neighboring circuits.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Each circuit can only indicate single spot of stimulation. </a:t>
            </a:r>
          </a:p>
          <a:p>
            <a:pPr>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44035" name="Date Placeholder 1">
            <a:extLst>
              <a:ext uri="{FF2B5EF4-FFF2-40B4-BE49-F238E27FC236}">
                <a16:creationId xmlns:a16="http://schemas.microsoft.com/office/drawing/2014/main" id="{EC46ED55-ADE4-E445-B9D9-67CB104E62D2}"/>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D8623FCF-D56F-F940-94FE-25FED5B8C843}"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4036" name="Footer Placeholder 2">
            <a:extLst>
              <a:ext uri="{FF2B5EF4-FFF2-40B4-BE49-F238E27FC236}">
                <a16:creationId xmlns:a16="http://schemas.microsoft.com/office/drawing/2014/main" id="{B1A50123-1258-FB45-BA11-529557439C6F}"/>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4" descr="The graph shows a constant firing rate of neuron &quot;B&quot; regardless of which receptors are stimulated. The horizontal axis represents different combinations of receptors stimulated, and the vertical axis represents the firing rate of neuron &quot;B.&quot;">
            <a:extLst>
              <a:ext uri="{FF2B5EF4-FFF2-40B4-BE49-F238E27FC236}">
                <a16:creationId xmlns:a16="http://schemas.microsoft.com/office/drawing/2014/main" id="{C70ED361-EFB2-2F41-9530-9E97A0EBCC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27498"/>
            <a:ext cx="6724650" cy="3288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Rectangle 2">
            <a:extLst>
              <a:ext uri="{FF2B5EF4-FFF2-40B4-BE49-F238E27FC236}">
                <a16:creationId xmlns:a16="http://schemas.microsoft.com/office/drawing/2014/main" id="{287FE222-E070-EC4B-8845-46E14C8282B7}"/>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Simple Circuit</a:t>
            </a:r>
          </a:p>
        </p:txBody>
      </p:sp>
      <p:sp>
        <p:nvSpPr>
          <p:cNvPr id="46084" name="Date Placeholder 1">
            <a:extLst>
              <a:ext uri="{FF2B5EF4-FFF2-40B4-BE49-F238E27FC236}">
                <a16:creationId xmlns:a16="http://schemas.microsoft.com/office/drawing/2014/main" id="{7ECAD3A6-2397-B342-9809-8AFFDDF27B07}"/>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584DF197-13D8-814D-B686-7C57BD2C838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6085" name="Footer Placeholder 2">
            <a:extLst>
              <a:ext uri="{FF2B5EF4-FFF2-40B4-BE49-F238E27FC236}">
                <a16:creationId xmlns:a16="http://schemas.microsoft.com/office/drawing/2014/main" id="{6480D1FE-63CC-144E-A32C-3E997D24B1C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46081" name="Rectangle 2">
            <a:extLst>
              <a:ext uri="{FF2B5EF4-FFF2-40B4-BE49-F238E27FC236}">
                <a16:creationId xmlns:a16="http://schemas.microsoft.com/office/drawing/2014/main" id="{1937F5B3-15AF-F14A-9C16-E91A37DA7548}"/>
              </a:ext>
            </a:extLst>
          </p:cNvPr>
          <p:cNvSpPr>
            <a:spLocks noGrp="1" noChangeArrowheads="1"/>
          </p:cNvSpPr>
          <p:nvPr>
            <p:ph type="body" idx="1"/>
          </p:nvPr>
        </p:nvSpPr>
        <p:spPr>
          <a:xfrm>
            <a:off x="1752600" y="3929659"/>
            <a:ext cx="6057900" cy="1028700"/>
          </a:xfrm>
          <a:solidFill>
            <a:schemeClr val="bg1"/>
          </a:solidFill>
        </p:spPr>
        <p:txBody>
          <a:bodyPr anchor="b"/>
          <a:lstStyle/>
          <a:p>
            <a:pPr marL="0" indent="0">
              <a:lnSpc>
                <a:spcPct val="80000"/>
              </a:lnSpc>
              <a:buNone/>
            </a:pPr>
            <a:r>
              <a:rPr lang="en-US" altLang="en-US" sz="1100" dirty="0">
                <a:latin typeface="Arial" panose="020B0604020202020204" pitchFamily="34" charset="0"/>
                <a:ea typeface="ＭＳ Ｐゴシック" panose="020B0600070205080204" pitchFamily="34" charset="-128"/>
              </a:rPr>
              <a:t>Figure 2.14  Left: A circuit with no convergence. Right: Response of neuron B as we increase the number of receptors stimulated. </a:t>
            </a:r>
          </a:p>
          <a:p>
            <a:pPr marL="0" indent="0">
              <a:lnSpc>
                <a:spcPct val="80000"/>
              </a:lnSpc>
              <a:buNone/>
            </a:pPr>
            <a:endParaRPr lang="en-US" altLang="en-US" sz="110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852728C6-1D04-884C-BC1E-29229FC72568}"/>
              </a:ext>
            </a:extLst>
          </p:cNvPr>
          <p:cNvSpPr>
            <a:spLocks noGrp="1" noChangeArrowheads="1"/>
          </p:cNvSpPr>
          <p:nvPr>
            <p:ph type="title"/>
          </p:nvPr>
        </p:nvSpPr>
        <p:spPr>
          <a:xfrm>
            <a:off x="2819400" y="0"/>
            <a:ext cx="5829300" cy="628650"/>
          </a:xfrm>
        </p:spPr>
        <p:txBody>
          <a:bodyPr/>
          <a:lstStyle/>
          <a:p>
            <a:r>
              <a:rPr lang="en-US" altLang="en-US" dirty="0">
                <a:ea typeface="ＭＳ Ｐゴシック" panose="020B0600070205080204" pitchFamily="34" charset="-128"/>
              </a:rPr>
              <a:t>Neural Circuits - continued</a:t>
            </a:r>
          </a:p>
        </p:txBody>
      </p:sp>
      <p:sp>
        <p:nvSpPr>
          <p:cNvPr id="48130" name="Rectangle 3">
            <a:extLst>
              <a:ext uri="{FF2B5EF4-FFF2-40B4-BE49-F238E27FC236}">
                <a16:creationId xmlns:a16="http://schemas.microsoft.com/office/drawing/2014/main" id="{2BEBEFA9-968C-ED41-A622-D6A6B2FDEFCB}"/>
              </a:ext>
            </a:extLst>
          </p:cNvPr>
          <p:cNvSpPr>
            <a:spLocks noGrp="1" noChangeArrowheads="1"/>
          </p:cNvSpPr>
          <p:nvPr>
            <p:ph type="body" idx="1"/>
          </p:nvPr>
        </p:nvSpPr>
        <p:spPr>
          <a:xfrm>
            <a:off x="838200" y="800100"/>
            <a:ext cx="7162800" cy="3714750"/>
          </a:xfrm>
        </p:spPr>
        <p:txBody>
          <a:bodyPr/>
          <a:lstStyle/>
          <a:p>
            <a:pPr>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Convergent circuit with only excitatory connections</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Input from each receptor summates into the next neuron in the circuit.</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Output from convergent system varies based on input. </a:t>
            </a:r>
          </a:p>
          <a:p>
            <a:pPr lvl="1">
              <a:lnSpc>
                <a:spcPct val="90000"/>
              </a:lnSpc>
            </a:pPr>
            <a:r>
              <a:rPr lang="en-US" altLang="en-US" sz="2200" dirty="0">
                <a:latin typeface="Tahoma" panose="020B0604030504040204" pitchFamily="34" charset="0"/>
                <a:ea typeface="Tahoma" panose="020B0604030504040204" pitchFamily="34" charset="0"/>
                <a:cs typeface="Tahoma" panose="020B0604030504040204" pitchFamily="34" charset="0"/>
              </a:rPr>
              <a:t>Output of circuit can indicate single input and increases output as length of stimulus increases.</a:t>
            </a:r>
          </a:p>
          <a:p>
            <a:pPr>
              <a:lnSpc>
                <a:spcPct val="90000"/>
              </a:lnSpc>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48131" name="Date Placeholder 1">
            <a:extLst>
              <a:ext uri="{FF2B5EF4-FFF2-40B4-BE49-F238E27FC236}">
                <a16:creationId xmlns:a16="http://schemas.microsoft.com/office/drawing/2014/main" id="{4F713B7E-6B3C-F740-8791-73360FAAD4E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26E8EA8A-C5ED-3D42-835A-8DDD24CC3EF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48132" name="Footer Placeholder 2">
            <a:extLst>
              <a:ext uri="{FF2B5EF4-FFF2-40B4-BE49-F238E27FC236}">
                <a16:creationId xmlns:a16="http://schemas.microsoft.com/office/drawing/2014/main" id="{249F881E-B95F-904C-BCBC-0DD5F95CC7B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4" descr="The graph shows a linear relationship between the number of receptors stimulated and the firing rate of neuron B. The x-axis represents the number of receptors stimulated, categorized into groups such as &quot;4,&quot; &quot;3-5,&quot; &quot;2-6,&quot; and &quot;1-7.&quot; The y-axis represents the firing rate of neuron B. As the number of stimulated receptors increases, the firing rate of neuron B also increases proportionally.">
            <a:extLst>
              <a:ext uri="{FF2B5EF4-FFF2-40B4-BE49-F238E27FC236}">
                <a16:creationId xmlns:a16="http://schemas.microsoft.com/office/drawing/2014/main" id="{FB714A6D-0A97-914F-A674-D4C6885F3D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64406"/>
            <a:ext cx="6724650" cy="321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79" name="Rectangle 2">
            <a:extLst>
              <a:ext uri="{FF2B5EF4-FFF2-40B4-BE49-F238E27FC236}">
                <a16:creationId xmlns:a16="http://schemas.microsoft.com/office/drawing/2014/main" id="{F7F0ECFB-379D-8B47-BA76-1D7331E42C39}"/>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Convergent Circuits (+ only)</a:t>
            </a:r>
          </a:p>
        </p:txBody>
      </p:sp>
      <p:sp>
        <p:nvSpPr>
          <p:cNvPr id="50180" name="Date Placeholder 1">
            <a:extLst>
              <a:ext uri="{FF2B5EF4-FFF2-40B4-BE49-F238E27FC236}">
                <a16:creationId xmlns:a16="http://schemas.microsoft.com/office/drawing/2014/main" id="{6D3BA7C0-4043-2E4C-AA4F-9FC663244EF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853A7F3-7BBF-C84B-B546-6681C34CB9D4}"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0181" name="Footer Placeholder 2">
            <a:extLst>
              <a:ext uri="{FF2B5EF4-FFF2-40B4-BE49-F238E27FC236}">
                <a16:creationId xmlns:a16="http://schemas.microsoft.com/office/drawing/2014/main" id="{2CA4D844-FEED-C64A-9202-6742A47DB372}"/>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dirty="0">
                <a:solidFill>
                  <a:schemeClr val="bg2"/>
                </a:solidFill>
              </a:rPr>
              <a:t>PSYCH 4041 / 6014</a:t>
            </a:r>
            <a:endParaRPr kumimoji="0" lang="en-US" altLang="en-US" sz="1050" dirty="0">
              <a:solidFill>
                <a:schemeClr val="bg2"/>
              </a:solidFill>
              <a:latin typeface="Comic Sans MS" panose="030F0902030302020204" pitchFamily="66" charset="0"/>
            </a:endParaRPr>
          </a:p>
        </p:txBody>
      </p:sp>
      <p:sp>
        <p:nvSpPr>
          <p:cNvPr id="50177" name="Rectangle 2">
            <a:extLst>
              <a:ext uri="{FF2B5EF4-FFF2-40B4-BE49-F238E27FC236}">
                <a16:creationId xmlns:a16="http://schemas.microsoft.com/office/drawing/2014/main" id="{BA750772-B1FC-1D42-83F8-5C8A2A66EEF4}"/>
              </a:ext>
            </a:extLst>
          </p:cNvPr>
          <p:cNvSpPr>
            <a:spLocks noGrp="1" noChangeArrowheads="1"/>
          </p:cNvSpPr>
          <p:nvPr>
            <p:ph type="body" idx="1"/>
          </p:nvPr>
        </p:nvSpPr>
        <p:spPr>
          <a:xfrm>
            <a:off x="1543050" y="3981450"/>
            <a:ext cx="6057900" cy="1028700"/>
          </a:xfrm>
          <a:solidFill>
            <a:schemeClr val="bg1"/>
          </a:solidFill>
        </p:spPr>
        <p:txBody>
          <a:bodyPr anchor="b"/>
          <a:lstStyle/>
          <a:p>
            <a:pPr marL="0" indent="0">
              <a:lnSpc>
                <a:spcPct val="80000"/>
              </a:lnSpc>
              <a:buNone/>
            </a:pPr>
            <a:r>
              <a:rPr lang="en-US" altLang="en-US" sz="1050" dirty="0">
                <a:latin typeface="Arial" panose="020B0604020202020204" pitchFamily="34" charset="0"/>
                <a:ea typeface="ＭＳ Ｐゴシック" panose="020B0600070205080204" pitchFamily="34" charset="-128"/>
              </a:rPr>
              <a:t>Figure 2.15 Circuit with convergence added.  Neuron B now receives inputs form all of the receptors, so increasing the size of the stimulus increases the size of neuron B’s response. </a:t>
            </a:r>
          </a:p>
          <a:p>
            <a:pPr marL="0" indent="0">
              <a:lnSpc>
                <a:spcPct val="80000"/>
              </a:lnSpc>
              <a:buNone/>
            </a:pPr>
            <a:endParaRPr lang="en-US" altLang="en-US" sz="105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2EF97950-B022-5641-8CCB-2A33BB852E8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Neural Circuits - continued</a:t>
            </a:r>
          </a:p>
        </p:txBody>
      </p:sp>
      <p:sp>
        <p:nvSpPr>
          <p:cNvPr id="52226" name="Rectangle 3">
            <a:extLst>
              <a:ext uri="{FF2B5EF4-FFF2-40B4-BE49-F238E27FC236}">
                <a16:creationId xmlns:a16="http://schemas.microsoft.com/office/drawing/2014/main" id="{A3842CE8-0A07-C843-9F27-78BDDA32D80E}"/>
              </a:ext>
            </a:extLst>
          </p:cNvPr>
          <p:cNvSpPr>
            <a:spLocks noGrp="1" noChangeArrowheads="1"/>
          </p:cNvSpPr>
          <p:nvPr>
            <p:ph type="body" idx="1"/>
          </p:nvPr>
        </p:nvSpPr>
        <p:spPr>
          <a:xfrm>
            <a:off x="838200" y="857250"/>
            <a:ext cx="7315200" cy="36576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Convergent circuit with excitatory and inhibitory connections</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Inputs from receptors summate to determine output of circuit.</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Summation of inputs result in:</a:t>
            </a:r>
          </a:p>
          <a:p>
            <a:pPr lvl="2"/>
            <a:r>
              <a:rPr lang="en-US" altLang="en-US" sz="2200" dirty="0">
                <a:latin typeface="Tahoma" panose="020B0604030504040204" pitchFamily="34" charset="0"/>
                <a:ea typeface="Tahoma" panose="020B0604030504040204" pitchFamily="34" charset="0"/>
                <a:cs typeface="Tahoma" panose="020B0604030504040204" pitchFamily="34" charset="0"/>
              </a:rPr>
              <a:t>weak response for single inputs and long stimuli.</a:t>
            </a:r>
          </a:p>
          <a:p>
            <a:pPr lvl="2"/>
            <a:r>
              <a:rPr lang="en-US" altLang="en-US" sz="2200" dirty="0">
                <a:latin typeface="Tahoma" panose="020B0604030504040204" pitchFamily="34" charset="0"/>
                <a:ea typeface="Tahoma" panose="020B0604030504040204" pitchFamily="34" charset="0"/>
                <a:cs typeface="Tahoma" panose="020B0604030504040204" pitchFamily="34" charset="0"/>
              </a:rPr>
              <a:t>maximum firing rate for medium length stimulus.</a:t>
            </a:r>
          </a:p>
        </p:txBody>
      </p:sp>
      <p:sp>
        <p:nvSpPr>
          <p:cNvPr id="52227" name="Date Placeholder 1">
            <a:extLst>
              <a:ext uri="{FF2B5EF4-FFF2-40B4-BE49-F238E27FC236}">
                <a16:creationId xmlns:a16="http://schemas.microsoft.com/office/drawing/2014/main" id="{E92AF40F-F759-7143-B9AA-BE62D5E47AB3}"/>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787D3394-5D47-E347-AB22-B4D673BB959C}"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2228" name="Footer Placeholder 2">
            <a:extLst>
              <a:ext uri="{FF2B5EF4-FFF2-40B4-BE49-F238E27FC236}">
                <a16:creationId xmlns:a16="http://schemas.microsoft.com/office/drawing/2014/main" id="{CC9CF3DC-8D34-7444-B61C-BBD59BF6E59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4" descr="The graph shows that the firing rate of neuron &quot;B&quot; increases as more receptors are stimulated, peaks when receptors 3-5 are stimulated, and then decreases as stimulation extends to include more receptors. The x-axis represents the groups of receptors stimulated, and the y-axis represents the firing rate of neuron &quot;B&quot;.">
            <a:extLst>
              <a:ext uri="{FF2B5EF4-FFF2-40B4-BE49-F238E27FC236}">
                <a16:creationId xmlns:a16="http://schemas.microsoft.com/office/drawing/2014/main" id="{714F309C-8D1D-EA4E-867C-CDD00459E8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9675" y="967979"/>
            <a:ext cx="6724650" cy="3207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5" name="Rectangle 2">
            <a:extLst>
              <a:ext uri="{FF2B5EF4-FFF2-40B4-BE49-F238E27FC236}">
                <a16:creationId xmlns:a16="http://schemas.microsoft.com/office/drawing/2014/main" id="{A180A7FD-9A3A-BB4A-9740-9339A34B46DE}"/>
              </a:ext>
            </a:extLst>
          </p:cNvPr>
          <p:cNvSpPr>
            <a:spLocks noGrp="1" noChangeArrowheads="1"/>
          </p:cNvSpPr>
          <p:nvPr>
            <p:ph type="title"/>
          </p:nvPr>
        </p:nvSpPr>
        <p:spPr>
          <a:xfrm>
            <a:off x="1657350" y="114300"/>
            <a:ext cx="7029450" cy="514350"/>
          </a:xfrm>
        </p:spPr>
        <p:txBody>
          <a:bodyPr/>
          <a:lstStyle/>
          <a:p>
            <a:r>
              <a:rPr lang="en-US" altLang="en-US" dirty="0">
                <a:ea typeface="ＭＳ Ｐゴシック" panose="020B0600070205080204" pitchFamily="34" charset="-128"/>
              </a:rPr>
              <a:t>Convergent Circuits (+ and -)</a:t>
            </a:r>
          </a:p>
        </p:txBody>
      </p:sp>
      <p:sp>
        <p:nvSpPr>
          <p:cNvPr id="54276" name="Date Placeholder 1">
            <a:extLst>
              <a:ext uri="{FF2B5EF4-FFF2-40B4-BE49-F238E27FC236}">
                <a16:creationId xmlns:a16="http://schemas.microsoft.com/office/drawing/2014/main" id="{8C065D47-ACB1-A24C-8CDC-BC72394E4B9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FAE63AC-C0BB-F840-8EA9-02B6CDB2AEFA}"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4277" name="Footer Placeholder 2">
            <a:extLst>
              <a:ext uri="{FF2B5EF4-FFF2-40B4-BE49-F238E27FC236}">
                <a16:creationId xmlns:a16="http://schemas.microsoft.com/office/drawing/2014/main" id="{90D03CF9-D342-E64E-AB7D-C062862EEE99}"/>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dirty="0">
                <a:solidFill>
                  <a:schemeClr val="bg2"/>
                </a:solidFill>
              </a:rPr>
              <a:t>PSYCH 4041 / 6014</a:t>
            </a:r>
            <a:endParaRPr kumimoji="0" lang="en-US" altLang="en-US" sz="1050" dirty="0">
              <a:solidFill>
                <a:schemeClr val="bg2"/>
              </a:solidFill>
              <a:latin typeface="Comic Sans MS" panose="030F0902030302020204" pitchFamily="66" charset="0"/>
            </a:endParaRPr>
          </a:p>
        </p:txBody>
      </p:sp>
      <p:sp>
        <p:nvSpPr>
          <p:cNvPr id="54273" name="Rectangle 2">
            <a:extLst>
              <a:ext uri="{FF2B5EF4-FFF2-40B4-BE49-F238E27FC236}">
                <a16:creationId xmlns:a16="http://schemas.microsoft.com/office/drawing/2014/main" id="{42B53E02-15EA-2744-8B4C-569F94091F3E}"/>
              </a:ext>
            </a:extLst>
          </p:cNvPr>
          <p:cNvSpPr>
            <a:spLocks noGrp="1" noChangeArrowheads="1"/>
          </p:cNvSpPr>
          <p:nvPr>
            <p:ph type="body" idx="1"/>
          </p:nvPr>
        </p:nvSpPr>
        <p:spPr>
          <a:xfrm>
            <a:off x="1562100" y="3981450"/>
            <a:ext cx="6057900" cy="1028700"/>
          </a:xfrm>
          <a:solidFill>
            <a:schemeClr val="bg1"/>
          </a:solidFill>
        </p:spPr>
        <p:txBody>
          <a:bodyPr anchor="b"/>
          <a:lstStyle/>
          <a:p>
            <a:pPr marL="0" indent="0">
              <a:lnSpc>
                <a:spcPct val="80000"/>
              </a:lnSpc>
              <a:buNone/>
            </a:pPr>
            <a:r>
              <a:rPr lang="en-US" altLang="en-US" sz="1050" dirty="0">
                <a:latin typeface="Arial" panose="020B0604020202020204" pitchFamily="34" charset="0"/>
                <a:ea typeface="ＭＳ Ｐゴシック" panose="020B0600070205080204" pitchFamily="34" charset="-128"/>
              </a:rPr>
              <a:t>Figure 2.16 Circuit with convergence and inhibition.  Because stimulation of the receptors on the side (1, 2, 6, and 7) sends inhibition to neuron B, neuron B responds best when just the center (3 - 5) are stimulated.</a:t>
            </a:r>
          </a:p>
          <a:p>
            <a:pPr marL="0" indent="0">
              <a:lnSpc>
                <a:spcPct val="80000"/>
              </a:lnSpc>
              <a:buNone/>
            </a:pPr>
            <a:endParaRPr lang="en-US" altLang="en-US" sz="1050" dirty="0">
              <a:latin typeface="Arial" panose="020B0604020202020204" pitchFamily="34" charset="0"/>
              <a:ea typeface="ＭＳ Ｐゴシック" panose="020B0600070205080204" pitchFamily="34" charset="-128"/>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88937661-DA07-5A44-BFE1-A8D7B8E0FB7B}"/>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Receptive Fields</a:t>
            </a:r>
          </a:p>
        </p:txBody>
      </p:sp>
      <p:sp>
        <p:nvSpPr>
          <p:cNvPr id="56322" name="Rectangle 3">
            <a:extLst>
              <a:ext uri="{FF2B5EF4-FFF2-40B4-BE49-F238E27FC236}">
                <a16:creationId xmlns:a16="http://schemas.microsoft.com/office/drawing/2014/main" id="{8DF77118-826D-634D-89C5-4281FBB2C9CE}"/>
              </a:ext>
            </a:extLst>
          </p:cNvPr>
          <p:cNvSpPr>
            <a:spLocks noGrp="1" noChangeArrowheads="1"/>
          </p:cNvSpPr>
          <p:nvPr>
            <p:ph type="body" idx="1"/>
          </p:nvPr>
        </p:nvSpPr>
        <p:spPr>
          <a:xfrm>
            <a:off x="838200" y="857250"/>
            <a:ext cx="6648450" cy="3657600"/>
          </a:xfrm>
        </p:spPr>
        <p:txBody>
          <a:bodyPr/>
          <a:lstStyle/>
          <a:p>
            <a:r>
              <a:rPr lang="en-US" altLang="en-US" sz="2200" dirty="0">
                <a:latin typeface="Tahoma" panose="020B0604030504040204" pitchFamily="34" charset="0"/>
                <a:ea typeface="Tahoma" panose="020B0604030504040204" pitchFamily="34" charset="0"/>
                <a:cs typeface="Tahoma" panose="020B0604030504040204" pitchFamily="34" charset="0"/>
              </a:rPr>
              <a:t>Area of receptors that affects firing rate of a given neuron in the circuit</a:t>
            </a:r>
          </a:p>
          <a:p>
            <a:r>
              <a:rPr lang="en-US" altLang="en-US" sz="2200" dirty="0">
                <a:latin typeface="Tahoma" panose="020B0604030504040204" pitchFamily="34" charset="0"/>
                <a:ea typeface="Tahoma" panose="020B0604030504040204" pitchFamily="34" charset="0"/>
                <a:cs typeface="Tahoma" panose="020B0604030504040204" pitchFamily="34" charset="0"/>
              </a:rPr>
              <a:t>Receptive fields are determined by monitoring single cell responses.</a:t>
            </a:r>
          </a:p>
          <a:p>
            <a:r>
              <a:rPr lang="en-US" altLang="en-US" sz="2200" dirty="0">
                <a:latin typeface="Tahoma" panose="020B0604030504040204" pitchFamily="34" charset="0"/>
                <a:ea typeface="Tahoma" panose="020B0604030504040204" pitchFamily="34" charset="0"/>
                <a:cs typeface="Tahoma" panose="020B0604030504040204" pitchFamily="34" charset="0"/>
              </a:rPr>
              <a:t>Research example for vision</a:t>
            </a:r>
          </a:p>
          <a:p>
            <a:pPr lvl="1"/>
            <a:r>
              <a:rPr lang="en-US" altLang="en-US" sz="2200" dirty="0">
                <a:latin typeface="Tahoma" panose="020B0604030504040204" pitchFamily="34" charset="0"/>
                <a:ea typeface="Tahoma" panose="020B0604030504040204" pitchFamily="34" charset="0"/>
                <a:cs typeface="Tahoma" panose="020B0604030504040204" pitchFamily="34" charset="0"/>
              </a:rPr>
              <a:t>Stimulus is presented to retina and response of cell is measured by an electrode.</a:t>
            </a:r>
          </a:p>
          <a:p>
            <a:pPr>
              <a:spcBef>
                <a:spcPct val="30000"/>
              </a:spcBef>
            </a:pPr>
            <a:endParaRPr lang="en-US" altLang="en-US" sz="2200" dirty="0">
              <a:latin typeface="Tahoma" panose="020B0604030504040204" pitchFamily="34" charset="0"/>
              <a:ea typeface="Tahoma" panose="020B0604030504040204" pitchFamily="34" charset="0"/>
              <a:cs typeface="Tahoma" panose="020B0604030504040204" pitchFamily="34" charset="0"/>
            </a:endParaRPr>
          </a:p>
        </p:txBody>
      </p:sp>
      <p:sp>
        <p:nvSpPr>
          <p:cNvPr id="56323" name="Date Placeholder 1">
            <a:extLst>
              <a:ext uri="{FF2B5EF4-FFF2-40B4-BE49-F238E27FC236}">
                <a16:creationId xmlns:a16="http://schemas.microsoft.com/office/drawing/2014/main" id="{956906F3-2F83-E646-9BE8-D15A32EF22C8}"/>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663A2362-48F3-BD45-92E8-E73CA65DEB0C}"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6324" name="Footer Placeholder 2">
            <a:extLst>
              <a:ext uri="{FF2B5EF4-FFF2-40B4-BE49-F238E27FC236}">
                <a16:creationId xmlns:a16="http://schemas.microsoft.com/office/drawing/2014/main" id="{B50FD2F6-6045-2B4A-B8DD-2C384CC28BE3}"/>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E805CBD8-F62E-4A47-A08D-28F696590563}"/>
              </a:ext>
            </a:extLst>
          </p:cNvPr>
          <p:cNvSpPr>
            <a:spLocks noGrp="1" noChangeArrowheads="1"/>
          </p:cNvSpPr>
          <p:nvPr>
            <p:ph type="title"/>
          </p:nvPr>
        </p:nvSpPr>
        <p:spPr>
          <a:xfrm>
            <a:off x="1143000" y="0"/>
            <a:ext cx="7543800" cy="628650"/>
          </a:xfrm>
        </p:spPr>
        <p:txBody>
          <a:bodyPr/>
          <a:lstStyle/>
          <a:p>
            <a:r>
              <a:rPr lang="en-US" altLang="en-US" dirty="0">
                <a:ea typeface="ＭＳ Ｐゴシック" panose="020B0600070205080204" pitchFamily="34" charset="-128"/>
              </a:rPr>
              <a:t>Center-Surround Receptive Fields</a:t>
            </a:r>
          </a:p>
        </p:txBody>
      </p:sp>
      <p:sp>
        <p:nvSpPr>
          <p:cNvPr id="58370" name="Rectangle 3">
            <a:extLst>
              <a:ext uri="{FF2B5EF4-FFF2-40B4-BE49-F238E27FC236}">
                <a16:creationId xmlns:a16="http://schemas.microsoft.com/office/drawing/2014/main" id="{A100A91A-EA16-0A4D-9252-905E8921CAC9}"/>
              </a:ext>
            </a:extLst>
          </p:cNvPr>
          <p:cNvSpPr>
            <a:spLocks noGrp="1" noChangeArrowheads="1"/>
          </p:cNvSpPr>
          <p:nvPr>
            <p:ph type="body" idx="1"/>
          </p:nvPr>
        </p:nvSpPr>
        <p:spPr>
          <a:xfrm>
            <a:off x="838200" y="800100"/>
            <a:ext cx="4305300" cy="3714750"/>
          </a:xfrm>
        </p:spPr>
        <p:txBody>
          <a:bodyPr/>
          <a:lstStyle/>
          <a:p>
            <a:r>
              <a:rPr lang="en-US" altLang="en-US" sz="1800" dirty="0">
                <a:latin typeface="Arial" panose="020B0604020202020204" pitchFamily="34" charset="0"/>
                <a:ea typeface="ＭＳ Ｐゴシック" panose="020B0600070205080204" pitchFamily="34" charset="-128"/>
              </a:rPr>
              <a:t>Excitatory and inhibitory effects are found in receptive fields.</a:t>
            </a:r>
          </a:p>
          <a:p>
            <a:r>
              <a:rPr lang="en-US" altLang="en-US" sz="1800" dirty="0">
                <a:latin typeface="Arial" panose="020B0604020202020204" pitchFamily="34" charset="0"/>
                <a:ea typeface="ＭＳ Ｐゴシック" panose="020B0600070205080204" pitchFamily="34" charset="-128"/>
              </a:rPr>
              <a:t>Center and surround areas of receptive fields result in:</a:t>
            </a:r>
          </a:p>
          <a:p>
            <a:pPr lvl="1"/>
            <a:r>
              <a:rPr lang="en-US" altLang="en-US" sz="1800" dirty="0">
                <a:latin typeface="Arial" panose="020B0604020202020204" pitchFamily="34" charset="0"/>
                <a:ea typeface="ＭＳ Ｐゴシック" panose="020B0600070205080204" pitchFamily="34" charset="-128"/>
              </a:rPr>
              <a:t>Excitatory-center-inhibitory surround</a:t>
            </a:r>
          </a:p>
          <a:p>
            <a:pPr lvl="1"/>
            <a:r>
              <a:rPr lang="en-US" altLang="en-US" sz="1800" dirty="0">
                <a:latin typeface="Arial" panose="020B0604020202020204" pitchFamily="34" charset="0"/>
                <a:ea typeface="ＭＳ Ｐゴシック" panose="020B0600070205080204" pitchFamily="34" charset="-128"/>
              </a:rPr>
              <a:t>Inhibitory-center-excitatory surround</a:t>
            </a:r>
          </a:p>
          <a:p>
            <a:pPr>
              <a:spcBef>
                <a:spcPct val="30000"/>
              </a:spcBef>
            </a:pPr>
            <a:endParaRPr lang="en-US" altLang="en-US" sz="1800" dirty="0">
              <a:latin typeface="Arial" panose="020B0604020202020204" pitchFamily="34" charset="0"/>
              <a:ea typeface="ＭＳ Ｐゴシック" panose="020B0600070205080204" pitchFamily="34" charset="-128"/>
            </a:endParaRPr>
          </a:p>
        </p:txBody>
      </p:sp>
      <p:pic>
        <p:nvPicPr>
          <p:cNvPr id="58372" name="Picture 4" descr="The diagram illustrates the concept of center-surround receptive fields. Panel (a) depicts a light-sensitive surface with an elliptical receptive field labeled B within a larger surrounding area C, all against a background labeled A. Associated with this are three graphs, A, B, and C, showing neural activity over time. Graph A shows sparse, irregular spikes. Graph B shows a burst of spikes immediately upon an &quot;On&quot; stimulus and then ceases. Graph C shows an initial spike upon &quot;On&quot; and then a burst of spikes upon an &quot;Off&quot; stimulus. Panel (b) provides a schematic representation of a &quot;Receptive field,&quot; showing a central region with plus signs (+) indicating excitatory input and a surrounding annular region with minus signs (-) indicating inhibitory input. This arrangement visually explains how the center and surround regions of a receptive field can contribute to excitatory and inhibitory effects on neuronal firing, as represented by the different response patterns in graphs B and C.">
            <a:extLst>
              <a:ext uri="{FF2B5EF4-FFF2-40B4-BE49-F238E27FC236}">
                <a16:creationId xmlns:a16="http://schemas.microsoft.com/office/drawing/2014/main" id="{37F877B3-1280-AF4E-AAB5-48F08D3083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3501" y="800100"/>
            <a:ext cx="2755106" cy="2996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3" name="Date Placeholder 1">
            <a:extLst>
              <a:ext uri="{FF2B5EF4-FFF2-40B4-BE49-F238E27FC236}">
                <a16:creationId xmlns:a16="http://schemas.microsoft.com/office/drawing/2014/main" id="{30FE83BA-2906-7045-BA97-3586B89444FA}"/>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CBF63094-845F-214C-B38E-564E28837508}"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58374" name="Footer Placeholder 2">
            <a:extLst>
              <a:ext uri="{FF2B5EF4-FFF2-40B4-BE49-F238E27FC236}">
                <a16:creationId xmlns:a16="http://schemas.microsoft.com/office/drawing/2014/main" id="{373BE9A4-F0C0-1942-ACA3-AFC5A516162C}"/>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58371" name="Rectangle 2">
            <a:extLst>
              <a:ext uri="{FF2B5EF4-FFF2-40B4-BE49-F238E27FC236}">
                <a16:creationId xmlns:a16="http://schemas.microsoft.com/office/drawing/2014/main" id="{710E4F6F-FCFA-C541-8DE6-1D6A95EAD5DE}"/>
              </a:ext>
            </a:extLst>
          </p:cNvPr>
          <p:cNvSpPr txBox="1">
            <a:spLocks noChangeArrowheads="1"/>
          </p:cNvSpPr>
          <p:nvPr/>
        </p:nvSpPr>
        <p:spPr bwMode="auto">
          <a:xfrm>
            <a:off x="2781300" y="4069555"/>
            <a:ext cx="6057900" cy="945357"/>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2.18  (a) Response of a ganglion cell in the cat’s retina to stimulation: outside the cell’s receptive field (area A on the screen); inside the excitatory area of the cell’s receptive field (area B); and inside the inhibitory area of the cell’s receptive field (area C).  (b) The receptive field is shown without the screen.</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250E0A04-7880-1949-95A0-19350CFDB1FF}"/>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Center-Surround Antagonism</a:t>
            </a:r>
          </a:p>
        </p:txBody>
      </p:sp>
      <p:sp>
        <p:nvSpPr>
          <p:cNvPr id="60418" name="Rectangle 3">
            <a:extLst>
              <a:ext uri="{FF2B5EF4-FFF2-40B4-BE49-F238E27FC236}">
                <a16:creationId xmlns:a16="http://schemas.microsoft.com/office/drawing/2014/main" id="{0C0529C7-2EF1-0E49-A11E-2E2F54953DB4}"/>
              </a:ext>
            </a:extLst>
          </p:cNvPr>
          <p:cNvSpPr>
            <a:spLocks noGrp="1" noChangeArrowheads="1"/>
          </p:cNvSpPr>
          <p:nvPr>
            <p:ph type="body" idx="1"/>
          </p:nvPr>
        </p:nvSpPr>
        <p:spPr>
          <a:xfrm>
            <a:off x="838200" y="742950"/>
            <a:ext cx="7162800" cy="3657600"/>
          </a:xfrm>
        </p:spPr>
        <p:txBody>
          <a:bodyPr/>
          <a:lstStyle/>
          <a:p>
            <a:r>
              <a:rPr lang="en-US" altLang="en-US" sz="2100" dirty="0">
                <a:latin typeface="Arial" panose="020B0604020202020204" pitchFamily="34" charset="0"/>
                <a:ea typeface="ＭＳ Ｐゴシック" panose="020B0600070205080204" pitchFamily="34" charset="-128"/>
              </a:rPr>
              <a:t>Output of center-surround receptive fields changes depending on area stimulated:</a:t>
            </a:r>
          </a:p>
          <a:p>
            <a:pPr lvl="1"/>
            <a:r>
              <a:rPr lang="en-US" altLang="en-US" sz="1800" dirty="0">
                <a:latin typeface="Arial" panose="020B0604020202020204" pitchFamily="34" charset="0"/>
                <a:ea typeface="ＭＳ Ｐゴシック" panose="020B0600070205080204" pitchFamily="34" charset="-128"/>
              </a:rPr>
              <a:t>Highest response when only the excitatory area is stimulated </a:t>
            </a:r>
          </a:p>
          <a:p>
            <a:pPr lvl="1"/>
            <a:r>
              <a:rPr lang="en-US" altLang="en-US" sz="1800" dirty="0">
                <a:latin typeface="Arial" panose="020B0604020202020204" pitchFamily="34" charset="0"/>
                <a:ea typeface="ＭＳ Ｐゴシック" panose="020B0600070205080204" pitchFamily="34" charset="-128"/>
              </a:rPr>
              <a:t>Lowest response when only the inhibitory area is stimulated</a:t>
            </a:r>
          </a:p>
          <a:p>
            <a:pPr lvl="1"/>
            <a:r>
              <a:rPr lang="en-US" altLang="en-US" sz="1800" dirty="0">
                <a:latin typeface="Arial" panose="020B0604020202020204" pitchFamily="34" charset="0"/>
                <a:ea typeface="ＭＳ Ｐゴシック" panose="020B0600070205080204" pitchFamily="34" charset="-128"/>
              </a:rPr>
              <a:t>Intermediate responses when both areas are stimulated</a:t>
            </a:r>
            <a:r>
              <a:rPr lang="en-US" altLang="en-US" sz="1800" dirty="0">
                <a:ea typeface="ＭＳ Ｐゴシック" panose="020B0600070205080204" pitchFamily="34" charset="-128"/>
              </a:rPr>
              <a:t> </a:t>
            </a:r>
          </a:p>
          <a:p>
            <a:pPr>
              <a:spcBef>
                <a:spcPct val="30000"/>
              </a:spcBef>
            </a:pPr>
            <a:endParaRPr lang="en-US" altLang="en-US" sz="2100" dirty="0">
              <a:latin typeface="Arial" panose="020B0604020202020204" pitchFamily="34" charset="0"/>
              <a:ea typeface="ＭＳ Ｐゴシック" panose="020B0600070205080204" pitchFamily="34" charset="-128"/>
            </a:endParaRPr>
          </a:p>
        </p:txBody>
      </p:sp>
      <p:pic>
        <p:nvPicPr>
          <p:cNvPr id="60420" name="Picture 4" descr="1. Main Trend: The output response varies based on which part of the receptive field is stimulated.&#10;&#10;2. Axes: The top row shows diagrams of a receptive field, illustrating excitatory (indicated by '+') and inhibitory (indicated by '-') regions within a circular area. The bottom row displays a series of vertical lines representing neural activity over time, with an &quot;On&quot; indicator signifying the onset of stimulation. The height of the vertical lines, or the density of these lines, represents the magnitude of the neural response.&#10;&#10;3. Individual Points: N/A&#10;&#10;4. Contextual Explanation: Diagram (a) depicts a receptive field with an excitatory center and an inhibitory surround. Diagram (b) shows a receptive field with only the excitatory center stimulated, resulting in a high neural response. Diagram (c) illustrates a situation where both the excitatory center and the inhibitory surround are stimulated, leading to an intermediate neural response. Diagram (d) represents a receptive field where only the inhibitory surround is stimulated, yielding the lowest neural response.">
            <a:extLst>
              <a:ext uri="{FF2B5EF4-FFF2-40B4-BE49-F238E27FC236}">
                <a16:creationId xmlns:a16="http://schemas.microsoft.com/office/drawing/2014/main" id="{F1FFBC5B-DBB9-5B4C-A158-741842E37B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2488073"/>
            <a:ext cx="4495800" cy="1969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1" name="Date Placeholder 1">
            <a:extLst>
              <a:ext uri="{FF2B5EF4-FFF2-40B4-BE49-F238E27FC236}">
                <a16:creationId xmlns:a16="http://schemas.microsoft.com/office/drawing/2014/main" id="{E5C61688-2CFC-9149-BFAC-42F4DD271F96}"/>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E7C537CA-840A-2542-9048-3F7167C6FE70}"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0422" name="Footer Placeholder 2">
            <a:extLst>
              <a:ext uri="{FF2B5EF4-FFF2-40B4-BE49-F238E27FC236}">
                <a16:creationId xmlns:a16="http://schemas.microsoft.com/office/drawing/2014/main" id="{27F08951-E2EE-5444-AF8D-877C780E32AB}"/>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0419" name="Rectangle 2">
            <a:extLst>
              <a:ext uri="{FF2B5EF4-FFF2-40B4-BE49-F238E27FC236}">
                <a16:creationId xmlns:a16="http://schemas.microsoft.com/office/drawing/2014/main" id="{31221572-0423-B94C-AAE5-546C2798D218}"/>
              </a:ext>
            </a:extLst>
          </p:cNvPr>
          <p:cNvSpPr txBox="1">
            <a:spLocks noChangeArrowheads="1"/>
          </p:cNvSpPr>
          <p:nvPr/>
        </p:nvSpPr>
        <p:spPr bwMode="auto">
          <a:xfrm>
            <a:off x="1676400" y="4343400"/>
            <a:ext cx="6057900" cy="80010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975" dirty="0">
                <a:latin typeface="Arial" panose="020B0604020202020204" pitchFamily="34" charset="0"/>
              </a:rPr>
              <a:t>Figure 2.19  Response of an excitatory-center-inhibitory-surround receptive field as stimulus size is increased. Shading indicates the area stimulated with light. The response to the stimulus is indicated below each receptive field. The largest response occurs when the entire excitatory area is illuminated, as in (b).  Increasing stimulus size further causes a decrease in firing due to center-surround antagonism. </a:t>
            </a:r>
            <a:r>
              <a:rPr lang="en-US" altLang="en-US" sz="975" i="1" dirty="0">
                <a:latin typeface="Arial" panose="020B0604020202020204" pitchFamily="34" charset="0"/>
              </a:rPr>
              <a:t>(Adapted from Hubel and Wiesel, 1961.)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3C3B9707-35E6-654B-878B-1F40216E5360}"/>
              </a:ext>
            </a:extLst>
          </p:cNvPr>
          <p:cNvSpPr>
            <a:spLocks noGrp="1" noChangeArrowheads="1"/>
          </p:cNvSpPr>
          <p:nvPr>
            <p:ph type="title"/>
          </p:nvPr>
        </p:nvSpPr>
        <p:spPr>
          <a:xfrm>
            <a:off x="1143000" y="0"/>
            <a:ext cx="7543800" cy="628650"/>
          </a:xfrm>
        </p:spPr>
        <p:txBody>
          <a:bodyPr/>
          <a:lstStyle/>
          <a:p>
            <a:r>
              <a:rPr lang="en-US" altLang="en-US" sz="2850" dirty="0">
                <a:ea typeface="ＭＳ Ｐゴシック" panose="020B0600070205080204" pitchFamily="34" charset="-128"/>
              </a:rPr>
              <a:t>Sensory Code: Specificity Encoding</a:t>
            </a:r>
          </a:p>
        </p:txBody>
      </p:sp>
      <p:sp>
        <p:nvSpPr>
          <p:cNvPr id="62466" name="Rectangle 3">
            <a:extLst>
              <a:ext uri="{FF2B5EF4-FFF2-40B4-BE49-F238E27FC236}">
                <a16:creationId xmlns:a16="http://schemas.microsoft.com/office/drawing/2014/main" id="{6077F66F-2E9A-8D42-BA91-E68903C0DDA5}"/>
              </a:ext>
            </a:extLst>
          </p:cNvPr>
          <p:cNvSpPr>
            <a:spLocks noGrp="1" noChangeArrowheads="1"/>
          </p:cNvSpPr>
          <p:nvPr>
            <p:ph type="body" idx="1"/>
          </p:nvPr>
        </p:nvSpPr>
        <p:spPr>
          <a:xfrm>
            <a:off x="838200" y="742950"/>
            <a:ext cx="5791200" cy="3771900"/>
          </a:xfrm>
        </p:spPr>
        <p:txBody>
          <a:bodyPr/>
          <a:lstStyle/>
          <a:p>
            <a:pPr>
              <a:spcBef>
                <a:spcPct val="30000"/>
              </a:spcBef>
            </a:pPr>
            <a:r>
              <a:rPr lang="en-US" altLang="en-US" b="1" dirty="0">
                <a:latin typeface="Arial" panose="020B0604020202020204" pitchFamily="34" charset="0"/>
                <a:ea typeface="ＭＳ Ｐゴシック" panose="020B0600070205080204" pitchFamily="34" charset="-128"/>
              </a:rPr>
              <a:t>Specificity coding </a:t>
            </a:r>
            <a:r>
              <a:rPr lang="en-US" altLang="en-US" dirty="0">
                <a:latin typeface="Arial" panose="020B0604020202020204" pitchFamily="34" charset="0"/>
                <a:ea typeface="ＭＳ Ｐゴシック" panose="020B0600070205080204" pitchFamily="34" charset="-128"/>
              </a:rPr>
              <a:t>- specific </a:t>
            </a:r>
            <a:br>
              <a:rPr lang="en-US" altLang="en-US" dirty="0">
                <a:latin typeface="Arial" panose="020B0604020202020204" pitchFamily="34" charset="0"/>
                <a:ea typeface="ＭＳ Ｐゴシック" panose="020B0600070205080204" pitchFamily="34" charset="-128"/>
              </a:rPr>
            </a:br>
            <a:r>
              <a:rPr lang="en-US" altLang="en-US" dirty="0">
                <a:latin typeface="Arial" panose="020B0604020202020204" pitchFamily="34" charset="0"/>
                <a:ea typeface="ＭＳ Ｐゴシック" panose="020B0600070205080204" pitchFamily="34" charset="-128"/>
              </a:rPr>
              <a:t>neurons responding to specific</a:t>
            </a:r>
            <a:br>
              <a:rPr lang="en-US" altLang="en-US" dirty="0">
                <a:latin typeface="Arial" panose="020B0604020202020204" pitchFamily="34" charset="0"/>
                <a:ea typeface="ＭＳ Ｐゴシック" panose="020B0600070205080204" pitchFamily="34" charset="-128"/>
              </a:rPr>
            </a:br>
            <a:r>
              <a:rPr lang="en-US" altLang="en-US" dirty="0">
                <a:latin typeface="Arial" panose="020B0604020202020204" pitchFamily="34" charset="0"/>
                <a:ea typeface="ＭＳ Ｐゴシック" panose="020B0600070205080204" pitchFamily="34" charset="-128"/>
              </a:rPr>
              <a:t>stimuli</a:t>
            </a:r>
          </a:p>
          <a:p>
            <a:pPr lvl="1">
              <a:spcBef>
                <a:spcPct val="30000"/>
              </a:spcBef>
            </a:pPr>
            <a:r>
              <a:rPr lang="en-US" altLang="en-US" sz="1500" dirty="0">
                <a:latin typeface="Arial" panose="020B0604020202020204" pitchFamily="34" charset="0"/>
                <a:ea typeface="ＭＳ Ｐゴシック" panose="020B0600070205080204" pitchFamily="34" charset="-128"/>
              </a:rPr>
              <a:t>Leads to the “grandmother cell” hypothesis</a:t>
            </a:r>
          </a:p>
          <a:p>
            <a:pPr lvl="1">
              <a:spcBef>
                <a:spcPct val="30000"/>
              </a:spcBef>
            </a:pPr>
            <a:r>
              <a:rPr lang="en-US" altLang="en-US" sz="1500" dirty="0">
                <a:latin typeface="Arial" panose="020B0604020202020204" pitchFamily="34" charset="0"/>
                <a:ea typeface="ＭＳ Ｐゴシック" panose="020B0600070205080204" pitchFamily="34" charset="-128"/>
              </a:rPr>
              <a:t>Cells in the hippocampus that respond to </a:t>
            </a:r>
            <a:br>
              <a:rPr lang="en-US" altLang="en-US" sz="1500" dirty="0">
                <a:latin typeface="Arial" panose="020B0604020202020204" pitchFamily="34" charset="0"/>
                <a:ea typeface="ＭＳ Ｐゴシック" panose="020B0600070205080204" pitchFamily="34" charset="-128"/>
              </a:rPr>
            </a:br>
            <a:r>
              <a:rPr lang="en-US" altLang="en-US" sz="1500" dirty="0">
                <a:latin typeface="Arial" panose="020B0604020202020204" pitchFamily="34" charset="0"/>
                <a:ea typeface="ＭＳ Ｐゴシック" panose="020B0600070205080204" pitchFamily="34" charset="-128"/>
              </a:rPr>
              <a:t>concepts such as Halle Berry.</a:t>
            </a:r>
          </a:p>
          <a:p>
            <a:pPr lvl="1">
              <a:spcBef>
                <a:spcPct val="30000"/>
              </a:spcBef>
            </a:pPr>
            <a:endParaRPr lang="en-US" altLang="en-US" sz="1500" dirty="0">
              <a:latin typeface="Arial" panose="020B0604020202020204" pitchFamily="34" charset="0"/>
              <a:ea typeface="ＭＳ Ｐゴシック" panose="020B0600070205080204" pitchFamily="34" charset="-128"/>
            </a:endParaRPr>
          </a:p>
          <a:p>
            <a:pPr>
              <a:spcBef>
                <a:spcPct val="30000"/>
              </a:spcBef>
            </a:pPr>
            <a:r>
              <a:rPr lang="en-US" altLang="en-US" dirty="0">
                <a:latin typeface="Arial" panose="020B0604020202020204" pitchFamily="34" charset="0"/>
                <a:ea typeface="ＭＳ Ｐゴシック" panose="020B0600070205080204" pitchFamily="34" charset="-128"/>
              </a:rPr>
              <a:t>Problems with specificity coding:</a:t>
            </a:r>
          </a:p>
          <a:p>
            <a:pPr lvl="1">
              <a:spcBef>
                <a:spcPct val="30000"/>
              </a:spcBef>
            </a:pPr>
            <a:r>
              <a:rPr lang="en-US" altLang="en-US" sz="1500" dirty="0">
                <a:latin typeface="Arial" panose="020B0604020202020204" pitchFamily="34" charset="0"/>
                <a:ea typeface="ＭＳ Ｐゴシック" panose="020B0600070205080204" pitchFamily="34" charset="-128"/>
              </a:rPr>
              <a:t>Too many different stimuli to assign specific neurons</a:t>
            </a:r>
          </a:p>
          <a:p>
            <a:pPr lvl="1">
              <a:spcBef>
                <a:spcPct val="30000"/>
              </a:spcBef>
            </a:pPr>
            <a:r>
              <a:rPr lang="en-US" altLang="en-US" sz="1500" dirty="0">
                <a:latin typeface="Arial" panose="020B0604020202020204" pitchFamily="34" charset="0"/>
                <a:ea typeface="ＭＳ Ｐゴシック" panose="020B0600070205080204" pitchFamily="34" charset="-128"/>
              </a:rPr>
              <a:t>Most neurons respond to a number of different stimuli.</a:t>
            </a:r>
          </a:p>
        </p:txBody>
      </p:sp>
      <p:pic>
        <p:nvPicPr>
          <p:cNvPr id="62468" name="Picture 4" descr="The diagram illustrates the concept of specificity coding in neural responses. It is divided into two main sections: &quot;Stimulus&quot; and neuron activity. The &quot;Stimulus&quot; section displays portraits of three individuals: (a) Bill, (b) Mary, and (c) Raphael. To the right of each portrait, and aligned with it, is a horizontal line representing the activity of three different neurons, labeled &quot;Neuron 1,&quot; &quot;Neuron 2,&quot; and &quot;Neuron 3.&quot; Vertical bars on these lines represent neural firing.&#10;&#10;When presented with the stimulus of &quot;Bill,&quot; Neuron 1 shows a burst of activity (multiple vertical bars), while Neuron 2 and Neuron 3 are inactive. In contrast, when the stimulus is &quot;Mary,&quot; Neuron 2 exhibits a burst of activity, with Neuron 1 and Neuron 3 remaining inactive. Finally, when the stimulus is &quot;Raphael,&quot; Neuron 3 shows a burst of activity, while Neuron 1 and Neuron 2 are inactive. This pattern suggests that each neuron is specifically tuned to respond to a particular stimulus, aligning with the principle of specificity coding where specific neurons are activated by specific stimuli.">
            <a:extLst>
              <a:ext uri="{FF2B5EF4-FFF2-40B4-BE49-F238E27FC236}">
                <a16:creationId xmlns:a16="http://schemas.microsoft.com/office/drawing/2014/main" id="{7FB89131-5184-ED4D-9052-86DA64B90D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6950" y="742950"/>
            <a:ext cx="2686050" cy="2567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9" name="Date Placeholder 1">
            <a:extLst>
              <a:ext uri="{FF2B5EF4-FFF2-40B4-BE49-F238E27FC236}">
                <a16:creationId xmlns:a16="http://schemas.microsoft.com/office/drawing/2014/main" id="{D8B5F911-D511-714A-8763-50AF0F6920A9}"/>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079E9236-5184-CA4C-AEA4-0E73484E3320}"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2470" name="Footer Placeholder 2">
            <a:extLst>
              <a:ext uri="{FF2B5EF4-FFF2-40B4-BE49-F238E27FC236}">
                <a16:creationId xmlns:a16="http://schemas.microsoft.com/office/drawing/2014/main" id="{609A1AA8-8DB0-2D46-9777-3F6333270E88}"/>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2467" name="Rectangle 2">
            <a:extLst>
              <a:ext uri="{FF2B5EF4-FFF2-40B4-BE49-F238E27FC236}">
                <a16:creationId xmlns:a16="http://schemas.microsoft.com/office/drawing/2014/main" id="{79366FD2-89E8-8345-85CC-52310112EFB3}"/>
              </a:ext>
            </a:extLst>
          </p:cNvPr>
          <p:cNvSpPr txBox="1">
            <a:spLocks noChangeArrowheads="1"/>
          </p:cNvSpPr>
          <p:nvPr/>
        </p:nvSpPr>
        <p:spPr bwMode="auto">
          <a:xfrm>
            <a:off x="2857500" y="449580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2.21 How faces could be coded by specificity coding. Each face causes one specialized neuron to respond.</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C97D915E-8B6E-F74C-84B9-898BAF951299}"/>
              </a:ext>
            </a:extLst>
          </p:cNvPr>
          <p:cNvSpPr>
            <a:spLocks noGrp="1" noChangeArrowheads="1"/>
          </p:cNvSpPr>
          <p:nvPr>
            <p:ph type="title"/>
          </p:nvPr>
        </p:nvSpPr>
        <p:spPr>
          <a:xfrm>
            <a:off x="1143000" y="0"/>
            <a:ext cx="7543800" cy="628650"/>
          </a:xfrm>
        </p:spPr>
        <p:txBody>
          <a:bodyPr/>
          <a:lstStyle/>
          <a:p>
            <a:r>
              <a:rPr lang="en-US" altLang="en-US" sz="2850" dirty="0">
                <a:ea typeface="ＭＳ Ｐゴシック" panose="020B0600070205080204" pitchFamily="34" charset="-128"/>
              </a:rPr>
              <a:t>Sensory Code: Distributed Encoding</a:t>
            </a:r>
          </a:p>
        </p:txBody>
      </p:sp>
      <p:sp>
        <p:nvSpPr>
          <p:cNvPr id="64514" name="Rectangle 3">
            <a:extLst>
              <a:ext uri="{FF2B5EF4-FFF2-40B4-BE49-F238E27FC236}">
                <a16:creationId xmlns:a16="http://schemas.microsoft.com/office/drawing/2014/main" id="{5BA3B80B-CC71-F245-B5EC-185BB5844F69}"/>
              </a:ext>
            </a:extLst>
          </p:cNvPr>
          <p:cNvSpPr>
            <a:spLocks noGrp="1" noChangeArrowheads="1"/>
          </p:cNvSpPr>
          <p:nvPr>
            <p:ph type="body" idx="1"/>
          </p:nvPr>
        </p:nvSpPr>
        <p:spPr>
          <a:xfrm>
            <a:off x="838200" y="742950"/>
            <a:ext cx="5391150" cy="3771900"/>
          </a:xfrm>
        </p:spPr>
        <p:txBody>
          <a:bodyPr/>
          <a:lstStyle/>
          <a:p>
            <a:pPr>
              <a:spcBef>
                <a:spcPct val="30000"/>
              </a:spcBef>
            </a:pPr>
            <a:r>
              <a:rPr lang="en-US" altLang="en-US" sz="2100" b="1" dirty="0">
                <a:latin typeface="Arial" panose="020B0604020202020204" pitchFamily="34" charset="0"/>
                <a:ea typeface="ＭＳ Ｐゴシック" panose="020B0600070205080204" pitchFamily="34" charset="-128"/>
              </a:rPr>
              <a:t>Distributed coding </a:t>
            </a:r>
            <a:r>
              <a:rPr lang="en-US" altLang="en-US" sz="2100" dirty="0">
                <a:latin typeface="Arial" panose="020B0604020202020204" pitchFamily="34" charset="0"/>
                <a:ea typeface="ＭＳ Ｐゴシック" panose="020B0600070205080204" pitchFamily="34" charset="-128"/>
              </a:rPr>
              <a:t>- pattern of firing across many neurons codes specific objects</a:t>
            </a:r>
          </a:p>
          <a:p>
            <a:pPr lvl="1">
              <a:spcBef>
                <a:spcPct val="30000"/>
              </a:spcBef>
            </a:pPr>
            <a:r>
              <a:rPr lang="en-US" altLang="en-US" dirty="0">
                <a:latin typeface="Arial" panose="020B0604020202020204" pitchFamily="34" charset="0"/>
                <a:ea typeface="ＭＳ Ｐゴシック" panose="020B0600070205080204" pitchFamily="34" charset="-128"/>
              </a:rPr>
              <a:t>Large number of stimuli can be coded by a few neurons.</a:t>
            </a:r>
            <a:endParaRPr lang="en-US" altLang="en-US" sz="2400" dirty="0">
              <a:latin typeface="Arial" panose="020B0604020202020204" pitchFamily="34" charset="0"/>
              <a:ea typeface="ＭＳ Ｐゴシック" panose="020B0600070205080204" pitchFamily="34" charset="-128"/>
            </a:endParaRPr>
          </a:p>
        </p:txBody>
      </p:sp>
      <p:pic>
        <p:nvPicPr>
          <p:cNvPr id="64516" name="Picture 4" descr="1. Main Trend: The diagram illustrates how different stimuli (represented by faces) evoke unique patterns of neural firing across multiple neurons.&#10;&#10;2. Axes: The vertical axis implicitly represents different stimuli (Bill, Mary, Raphael, and Roger). The horizontal axis represents time, with vertical spikes indicating neural activity. The columns represent individual neurons (Neuron 1, Neuron 2, and Neuron 3).&#10;&#10;3. Explanation of Labels: The labels &quot;Stimulus&quot; and &quot;Neuron 1,&quot; &quot;Neuron 2,&quot; and &quot;Neuron 3&quot; categorize the information presented. The faces labeled (a) Bill, (b) Mary, (c) Raphael, and (d) Roger represent distinct visual stimuli. The vertical lines (spikes) on the horizontal lines represent action potentials or &quot;firings&quot; of the neurons over time, indicating their activity in response to each stimulus. The different arrangements and densities of these spikes demonstrate a pattern of activation.">
            <a:extLst>
              <a:ext uri="{FF2B5EF4-FFF2-40B4-BE49-F238E27FC236}">
                <a16:creationId xmlns:a16="http://schemas.microsoft.com/office/drawing/2014/main" id="{607B50F4-BEC9-0048-A7C5-DDBE3CBBFB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846137"/>
            <a:ext cx="2743200" cy="340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7" name="Date Placeholder 1">
            <a:extLst>
              <a:ext uri="{FF2B5EF4-FFF2-40B4-BE49-F238E27FC236}">
                <a16:creationId xmlns:a16="http://schemas.microsoft.com/office/drawing/2014/main" id="{05719AE2-C87A-894B-9616-EBABFCB222C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B959C51-B313-E149-BF84-930006D54CFD}"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4518" name="Footer Placeholder 2">
            <a:extLst>
              <a:ext uri="{FF2B5EF4-FFF2-40B4-BE49-F238E27FC236}">
                <a16:creationId xmlns:a16="http://schemas.microsoft.com/office/drawing/2014/main" id="{9FCB42F5-D118-5C4E-AA1F-4CCC67636236}"/>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4515" name="Rectangle 2">
            <a:extLst>
              <a:ext uri="{FF2B5EF4-FFF2-40B4-BE49-F238E27FC236}">
                <a16:creationId xmlns:a16="http://schemas.microsoft.com/office/drawing/2014/main" id="{38FC451D-1F6A-0B4A-B747-1A638D4138F9}"/>
              </a:ext>
            </a:extLst>
          </p:cNvPr>
          <p:cNvSpPr txBox="1">
            <a:spLocks noChangeArrowheads="1"/>
          </p:cNvSpPr>
          <p:nvPr/>
        </p:nvSpPr>
        <p:spPr bwMode="auto">
          <a:xfrm>
            <a:off x="2641895" y="4572000"/>
            <a:ext cx="6057900" cy="514350"/>
          </a:xfrm>
          <a:prstGeom prst="rect">
            <a:avLst/>
          </a:prstGeom>
          <a:solidFill>
            <a:schemeClr val="bg1"/>
          </a:solidFill>
          <a:ln>
            <a:noFill/>
          </a:ln>
        </p:spPr>
        <p:txBody>
          <a:bodyPr anchor="b"/>
          <a:lstStyle>
            <a:lvl1pPr>
              <a:spcBef>
                <a:spcPct val="20000"/>
              </a:spcBef>
              <a:buClr>
                <a:srgbClr val="193399"/>
              </a:buClr>
              <a:buFont typeface="Wingdings" pitchFamily="2" charset="2"/>
              <a:buChar char="Ø"/>
              <a:defRPr kumimoji="1" sz="3200">
                <a:solidFill>
                  <a:schemeClr val="tx1"/>
                </a:solidFill>
                <a:latin typeface="Tahoma" panose="020B0604030504040204" pitchFamily="34" charset="0"/>
                <a:ea typeface="ＭＳ Ｐゴシック" panose="020B0600070205080204" pitchFamily="34" charset="-128"/>
              </a:defRPr>
            </a:lvl1pPr>
            <a:lvl2pPr marL="37931725" indent="-37474525">
              <a:spcBef>
                <a:spcPct val="20000"/>
              </a:spcBef>
              <a:buClr>
                <a:srgbClr val="193399"/>
              </a:buClr>
              <a:buSzPct val="70000"/>
              <a:buFont typeface="Wingdings" pitchFamily="2" charset="2"/>
              <a:buChar char="v"/>
              <a:defRPr kumimoji="1" sz="2800">
                <a:solidFill>
                  <a:schemeClr val="tx1"/>
                </a:solidFill>
                <a:latin typeface="Tahoma" panose="020B0604030504040204" pitchFamily="34" charset="0"/>
                <a:ea typeface="ＭＳ Ｐゴシック" panose="020B0600070205080204" pitchFamily="34" charset="-128"/>
              </a:defRPr>
            </a:lvl2pPr>
            <a:lvl3pPr marL="1143000" indent="-228600">
              <a:spcBef>
                <a:spcPct val="20000"/>
              </a:spcBef>
              <a:buClr>
                <a:srgbClr val="193399"/>
              </a:buClr>
              <a:buFont typeface="Times" pitchFamily="2" charset="0"/>
              <a:buChar char="•"/>
              <a:defRPr kumimoji="1" sz="2400">
                <a:solidFill>
                  <a:schemeClr val="tx1"/>
                </a:solidFill>
                <a:latin typeface="Tahoma" panose="020B0604030504040204" pitchFamily="34" charset="0"/>
                <a:ea typeface="ＭＳ Ｐゴシック" panose="020B0600070205080204" pitchFamily="34" charset="-128"/>
              </a:defRPr>
            </a:lvl3pPr>
            <a:lvl4pPr marL="16002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4pPr>
            <a:lvl5pPr marL="2057400" indent="-228600">
              <a:spcBef>
                <a:spcPct val="20000"/>
              </a:spcBef>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193399"/>
              </a:buClr>
              <a:buChar char="–"/>
              <a:defRPr kumimoji="1" sz="2000">
                <a:solidFill>
                  <a:schemeClr val="tx1"/>
                </a:solidFill>
                <a:latin typeface="Tahoma" panose="020B0604030504040204" pitchFamily="34" charset="0"/>
                <a:ea typeface="ＭＳ Ｐゴシック" panose="020B0600070205080204" pitchFamily="34" charset="-128"/>
              </a:defRPr>
            </a:lvl9pPr>
          </a:lstStyle>
          <a:p>
            <a:pPr>
              <a:lnSpc>
                <a:spcPct val="80000"/>
              </a:lnSpc>
              <a:buFontTx/>
              <a:buNone/>
            </a:pPr>
            <a:r>
              <a:rPr lang="en-US" altLang="en-US" sz="1050" dirty="0">
                <a:latin typeface="Arial" panose="020B0604020202020204" pitchFamily="34" charset="0"/>
              </a:rPr>
              <a:t>Figure 2.23 How faces could be coded by distributed coding. Each face causes all the neurons to fire, but the pattern of firing is different for each face.  One advantage of this method of coding is that many faces could be represented by the firing of the three neurons.</a:t>
            </a:r>
          </a:p>
          <a:p>
            <a:pPr>
              <a:lnSpc>
                <a:spcPct val="80000"/>
              </a:lnSpc>
              <a:buFontTx/>
              <a:buNone/>
            </a:pPr>
            <a:endParaRPr lang="en-US" altLang="en-US" sz="1050" dirty="0">
              <a:latin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Date Placeholder 3">
            <a:extLst>
              <a:ext uri="{FF2B5EF4-FFF2-40B4-BE49-F238E27FC236}">
                <a16:creationId xmlns:a16="http://schemas.microsoft.com/office/drawing/2014/main" id="{D2F0672F-AB6B-404A-80BB-928A1AF57C91}"/>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F88F77D5-90D3-0F4B-A09D-99FD626BD4CF}"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6562" name="Footer Placeholder 4">
            <a:extLst>
              <a:ext uri="{FF2B5EF4-FFF2-40B4-BE49-F238E27FC236}">
                <a16:creationId xmlns:a16="http://schemas.microsoft.com/office/drawing/2014/main" id="{EBF249F9-01DA-AF4E-8285-ABA44C3D28AA}"/>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28448794" indent="-28105894">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
        <p:nvSpPr>
          <p:cNvPr id="66563" name="Rectangle 2">
            <a:extLst>
              <a:ext uri="{FF2B5EF4-FFF2-40B4-BE49-F238E27FC236}">
                <a16:creationId xmlns:a16="http://schemas.microsoft.com/office/drawing/2014/main" id="{CAE3E9D9-27AC-0A42-A9EB-8E0BD44D64A0}"/>
              </a:ext>
            </a:extLst>
          </p:cNvPr>
          <p:cNvSpPr>
            <a:spLocks noGrp="1" noChangeArrowheads="1"/>
          </p:cNvSpPr>
          <p:nvPr>
            <p:ph type="title"/>
          </p:nvPr>
        </p:nvSpPr>
        <p:spPr/>
        <p:txBody>
          <a:bodyPr/>
          <a:lstStyle/>
          <a:p>
            <a:r>
              <a:rPr lang="en-US" altLang="en-US">
                <a:ea typeface="ＭＳ Ｐゴシック" panose="020B0600070205080204" pitchFamily="34" charset="-128"/>
              </a:rPr>
              <a:t>Upcoming</a:t>
            </a:r>
          </a:p>
        </p:txBody>
      </p:sp>
      <p:sp>
        <p:nvSpPr>
          <p:cNvPr id="66564" name="Rectangle 3">
            <a:extLst>
              <a:ext uri="{FF2B5EF4-FFF2-40B4-BE49-F238E27FC236}">
                <a16:creationId xmlns:a16="http://schemas.microsoft.com/office/drawing/2014/main" id="{593F7533-4B1D-7149-83E7-9B72C20ACC1E}"/>
              </a:ext>
            </a:extLst>
          </p:cNvPr>
          <p:cNvSpPr>
            <a:spLocks noGrp="1" noChangeArrowheads="1"/>
          </p:cNvSpPr>
          <p:nvPr>
            <p:ph type="body" idx="1"/>
          </p:nvPr>
        </p:nvSpPr>
        <p:spPr>
          <a:xfrm>
            <a:off x="838200" y="685800"/>
            <a:ext cx="8001000" cy="4171950"/>
          </a:xfrm>
        </p:spPr>
        <p:txBody>
          <a:bodyPr/>
          <a:lstStyle/>
          <a:p>
            <a:r>
              <a:rPr lang="en-US" altLang="en-US" dirty="0">
                <a:ea typeface="ＭＳ Ｐゴシック" panose="020B0600070205080204" pitchFamily="34" charset="-128"/>
              </a:rPr>
              <a:t>Neuroimaging</a:t>
            </a:r>
          </a:p>
          <a:p>
            <a:r>
              <a:rPr lang="en-US" altLang="en-US" dirty="0">
                <a:ea typeface="ＭＳ Ｐゴシック" panose="020B0600070205080204" pitchFamily="34" charset="-128"/>
              </a:rPr>
              <a:t>Bottom-up vs. Top-down Processing</a:t>
            </a:r>
          </a:p>
          <a:p>
            <a:endParaRPr lang="en-US" altLang="en-US" dirty="0">
              <a:ea typeface="ＭＳ Ｐゴシック" panose="020B0600070205080204" pitchFamily="34" charset="-128"/>
            </a:endParaRPr>
          </a:p>
          <a:p>
            <a:r>
              <a:rPr lang="en-US" altLang="en-US" dirty="0">
                <a:ea typeface="ＭＳ Ｐゴシック" panose="020B0600070205080204" pitchFamily="34" charset="-128"/>
              </a:rPr>
              <a:t>Extra Readings</a:t>
            </a:r>
          </a:p>
          <a:p>
            <a:pPr lvl="1"/>
            <a:r>
              <a:rPr lang="en-US" altLang="en-US" dirty="0">
                <a:ea typeface="ＭＳ Ｐゴシック" panose="020B0600070205080204" pitchFamily="34" charset="-128"/>
              </a:rPr>
              <a:t>Download from Web site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8A11D940-1180-984D-A7AF-5F76851C2D9E}"/>
              </a:ext>
            </a:extLst>
          </p:cNvPr>
          <p:cNvSpPr>
            <a:spLocks noGrp="1" noChangeArrowheads="1"/>
          </p:cNvSpPr>
          <p:nvPr>
            <p:ph type="title"/>
          </p:nvPr>
        </p:nvSpPr>
        <p:spPr>
          <a:xfrm>
            <a:off x="1657350" y="0"/>
            <a:ext cx="7029450" cy="628650"/>
          </a:xfrm>
        </p:spPr>
        <p:txBody>
          <a:bodyPr/>
          <a:lstStyle/>
          <a:p>
            <a:r>
              <a:rPr lang="en-US" altLang="en-US" dirty="0">
                <a:ea typeface="ＭＳ Ｐゴシック" panose="020B0600070205080204" pitchFamily="34" charset="-128"/>
              </a:rPr>
              <a:t>Basics of Neural Signals</a:t>
            </a:r>
          </a:p>
        </p:txBody>
      </p:sp>
      <p:sp>
        <p:nvSpPr>
          <p:cNvPr id="68610" name="Rectangle 3">
            <a:extLst>
              <a:ext uri="{FF2B5EF4-FFF2-40B4-BE49-F238E27FC236}">
                <a16:creationId xmlns:a16="http://schemas.microsoft.com/office/drawing/2014/main" id="{48267FC9-2229-9A4C-93EE-650A4BA91DE6}"/>
              </a:ext>
            </a:extLst>
          </p:cNvPr>
          <p:cNvSpPr>
            <a:spLocks noGrp="1" noChangeArrowheads="1"/>
          </p:cNvSpPr>
          <p:nvPr>
            <p:ph type="body" idx="1"/>
          </p:nvPr>
        </p:nvSpPr>
        <p:spPr>
          <a:xfrm>
            <a:off x="838200" y="800100"/>
            <a:ext cx="6648450" cy="3714750"/>
          </a:xfrm>
        </p:spPr>
        <p:txBody>
          <a:bodyPr/>
          <a:lstStyle/>
          <a:p>
            <a:pPr>
              <a:lnSpc>
                <a:spcPct val="90000"/>
              </a:lnSpc>
              <a:spcBef>
                <a:spcPct val="30000"/>
              </a:spcBef>
            </a:pPr>
            <a:r>
              <a:rPr lang="en-US" altLang="en-US" sz="2100" dirty="0">
                <a:latin typeface="Arial" panose="020B0604020202020204" pitchFamily="34" charset="0"/>
                <a:ea typeface="ＭＳ Ｐゴシック" panose="020B0600070205080204" pitchFamily="34" charset="-128"/>
              </a:rPr>
              <a:t>Neurons are surrounded by a solution containing ions.</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Ions carry an electrical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Sodium ions (Na</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positive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Chlorine ions (Cl</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negative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Potassium ions (K</a:t>
            </a:r>
            <a:r>
              <a:rPr lang="en-US" altLang="en-US" baseline="30000" dirty="0">
                <a:latin typeface="Arial" panose="020B0604020202020204" pitchFamily="34" charset="0"/>
                <a:ea typeface="ＭＳ Ｐゴシック" panose="020B0600070205080204" pitchFamily="34" charset="-128"/>
              </a:rPr>
              <a:t>+</a:t>
            </a:r>
            <a:r>
              <a:rPr lang="en-US" altLang="en-US" dirty="0">
                <a:latin typeface="Arial" panose="020B0604020202020204" pitchFamily="34" charset="0"/>
                <a:ea typeface="ＭＳ Ｐゴシック" panose="020B0600070205080204" pitchFamily="34" charset="-128"/>
              </a:rPr>
              <a:t>) - positive charge</a:t>
            </a:r>
          </a:p>
          <a:p>
            <a:pPr lvl="1">
              <a:lnSpc>
                <a:spcPct val="90000"/>
              </a:lnSpc>
              <a:spcBef>
                <a:spcPct val="30000"/>
              </a:spcBef>
            </a:pPr>
            <a:r>
              <a:rPr lang="en-US" altLang="en-US" dirty="0">
                <a:latin typeface="Arial" panose="020B0604020202020204" pitchFamily="34" charset="0"/>
                <a:ea typeface="ＭＳ Ｐゴシック" panose="020B0600070205080204" pitchFamily="34" charset="-128"/>
              </a:rPr>
              <a:t>Electrical signals are generated when such ions cross the membranes of neurons.</a:t>
            </a:r>
          </a:p>
          <a:p>
            <a:pPr>
              <a:lnSpc>
                <a:spcPct val="90000"/>
              </a:lnSpc>
              <a:spcBef>
                <a:spcPct val="30000"/>
              </a:spcBef>
            </a:pPr>
            <a:r>
              <a:rPr lang="en-US" altLang="en-US" sz="2100" dirty="0">
                <a:latin typeface="Arial" panose="020B0604020202020204" pitchFamily="34" charset="0"/>
                <a:ea typeface="ＭＳ Ｐゴシック" panose="020B0600070205080204" pitchFamily="34" charset="-128"/>
              </a:rPr>
              <a:t>Membranes have selective permeability. </a:t>
            </a:r>
          </a:p>
        </p:txBody>
      </p:sp>
      <p:sp>
        <p:nvSpPr>
          <p:cNvPr id="68611" name="Date Placeholder 1">
            <a:extLst>
              <a:ext uri="{FF2B5EF4-FFF2-40B4-BE49-F238E27FC236}">
                <a16:creationId xmlns:a16="http://schemas.microsoft.com/office/drawing/2014/main" id="{0CF841D2-514E-524B-A64A-B4B7484FCE8E}"/>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319DF38F-5532-6442-94AE-33CEAF1922FB}"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68612" name="Footer Placeholder 2">
            <a:extLst>
              <a:ext uri="{FF2B5EF4-FFF2-40B4-BE49-F238E27FC236}">
                <a16:creationId xmlns:a16="http://schemas.microsoft.com/office/drawing/2014/main" id="{B0427ED6-163E-BA48-AF21-C8A9EFBAED10}"/>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7" name="Picture 4" descr="The diagram illustrates a cross-section of a nerve fiber, depicted as a hollow yellow tube with an orange interior. Floating around the exterior of the nerve fiber are several blue spheres labeled &quot;Na+&quot;, representing sodium ions. Within the nerve fiber, inside the orange area, are several red spheres labeled &quot;K+&quot;, representing potassium ions. The image visually demonstrates the differing concentrations of sodium and potassium ions inside and outside the nerve fiber, as described in the accompanying text.">
            <a:extLst>
              <a:ext uri="{FF2B5EF4-FFF2-40B4-BE49-F238E27FC236}">
                <a16:creationId xmlns:a16="http://schemas.microsoft.com/office/drawing/2014/main" id="{41B8919D-8B06-C742-91C9-DCC2CAC86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7862" y="1013223"/>
            <a:ext cx="5195888" cy="3107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58" name="Rectangle 2">
            <a:extLst>
              <a:ext uri="{FF2B5EF4-FFF2-40B4-BE49-F238E27FC236}">
                <a16:creationId xmlns:a16="http://schemas.microsoft.com/office/drawing/2014/main" id="{ADF337A6-DA9D-A04A-9C0D-8EC0007C4AF2}"/>
              </a:ext>
            </a:extLst>
          </p:cNvPr>
          <p:cNvSpPr>
            <a:spLocks noGrp="1" noChangeArrowheads="1"/>
          </p:cNvSpPr>
          <p:nvPr>
            <p:ph type="body" idx="1"/>
          </p:nvPr>
        </p:nvSpPr>
        <p:spPr>
          <a:xfrm>
            <a:off x="1543050" y="3886200"/>
            <a:ext cx="6057900" cy="1028700"/>
          </a:xfrm>
        </p:spPr>
        <p:txBody>
          <a:bodyPr anchor="b"/>
          <a:lstStyle/>
          <a:p>
            <a:pPr marL="0" indent="0">
              <a:lnSpc>
                <a:spcPct val="80000"/>
              </a:lnSpc>
              <a:buNone/>
            </a:pPr>
            <a:r>
              <a:rPr lang="en-US" altLang="en-US" sz="975">
                <a:latin typeface="Arial" panose="020B0604020202020204" pitchFamily="34" charset="0"/>
                <a:ea typeface="ＭＳ Ｐゴシック" panose="020B0600070205080204" pitchFamily="34" charset="-128"/>
              </a:rPr>
              <a:t>Figure 2.8 A nerve fiber, showing the high concentration of sodium outside the fiber and potassium inside the fiber.  Other ions, such as negatively charged chlorine, are not shown.</a:t>
            </a:r>
          </a:p>
        </p:txBody>
      </p:sp>
      <p:sp>
        <p:nvSpPr>
          <p:cNvPr id="70659" name="Date Placeholder 1">
            <a:extLst>
              <a:ext uri="{FF2B5EF4-FFF2-40B4-BE49-F238E27FC236}">
                <a16:creationId xmlns:a16="http://schemas.microsoft.com/office/drawing/2014/main" id="{904DD699-08DA-8D4F-AF76-BBB7E3A9A02B}"/>
              </a:ext>
            </a:extLst>
          </p:cNvPr>
          <p:cNvSpPr>
            <a:spLocks noGrp="1"/>
          </p:cNvSpPr>
          <p:nvPr>
            <p:ph type="dt"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fld id="{0021D0A5-06AD-4745-95DC-214FE699ED17}" type="datetime4">
              <a:rPr kumimoji="0" lang="en-US" altLang="en-US" sz="900">
                <a:solidFill>
                  <a:schemeClr val="bg2"/>
                </a:solidFill>
              </a:rPr>
              <a:pPr>
                <a:spcBef>
                  <a:spcPct val="50000"/>
                </a:spcBef>
                <a:buClrTx/>
                <a:buFontTx/>
                <a:buNone/>
              </a:pPr>
              <a:t>January 24, 2021</a:t>
            </a:fld>
            <a:endParaRPr kumimoji="0" lang="en-US" altLang="en-US" sz="1050">
              <a:solidFill>
                <a:schemeClr val="bg2"/>
              </a:solidFill>
              <a:latin typeface="Comic Sans MS" panose="030F0902030302020204" pitchFamily="66" charset="0"/>
            </a:endParaRPr>
          </a:p>
        </p:txBody>
      </p:sp>
      <p:sp>
        <p:nvSpPr>
          <p:cNvPr id="70660" name="Footer Placeholder 2">
            <a:extLst>
              <a:ext uri="{FF2B5EF4-FFF2-40B4-BE49-F238E27FC236}">
                <a16:creationId xmlns:a16="http://schemas.microsoft.com/office/drawing/2014/main" id="{CF8DC108-FD50-DD4F-B81C-629F01112847}"/>
              </a:ext>
            </a:extLst>
          </p:cNvPr>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93399"/>
              </a:buClr>
              <a:buFont typeface="Wingdings" pitchFamily="2" charset="2"/>
              <a:buChar char="Ø"/>
              <a:defRPr kumimoji="1" sz="2400">
                <a:solidFill>
                  <a:schemeClr val="tx1"/>
                </a:solidFill>
                <a:latin typeface="Tahoma" panose="020B0604030504040204" pitchFamily="34" charset="0"/>
                <a:ea typeface="ＭＳ Ｐゴシック" panose="020B0600070205080204" pitchFamily="34" charset="-128"/>
              </a:defRPr>
            </a:lvl1pPr>
            <a:lvl2pPr marL="557213" indent="-214313">
              <a:spcBef>
                <a:spcPct val="20000"/>
              </a:spcBef>
              <a:buClr>
                <a:srgbClr val="193399"/>
              </a:buClr>
              <a:buSzPct val="70000"/>
              <a:buFont typeface="Wingdings" pitchFamily="2" charset="2"/>
              <a:buChar char="v"/>
              <a:defRPr kumimoji="1" sz="2100">
                <a:solidFill>
                  <a:schemeClr val="tx1"/>
                </a:solidFill>
                <a:latin typeface="Tahoma" panose="020B0604030504040204" pitchFamily="34" charset="0"/>
                <a:ea typeface="ＭＳ Ｐゴシック" panose="020B0600070205080204" pitchFamily="34" charset="-128"/>
              </a:defRPr>
            </a:lvl2pPr>
            <a:lvl3pPr marL="857250" indent="-171450">
              <a:spcBef>
                <a:spcPct val="20000"/>
              </a:spcBef>
              <a:buClr>
                <a:srgbClr val="193399"/>
              </a:buClr>
              <a:buFont typeface="Times" pitchFamily="2" charset="0"/>
              <a:buChar char="•"/>
              <a:defRPr kumimoji="1" sz="1800">
                <a:solidFill>
                  <a:schemeClr val="tx1"/>
                </a:solidFill>
                <a:latin typeface="Tahoma" panose="020B0604030504040204" pitchFamily="34" charset="0"/>
                <a:ea typeface="ＭＳ Ｐゴシック" panose="020B0600070205080204" pitchFamily="34" charset="-128"/>
              </a:defRPr>
            </a:lvl3pPr>
            <a:lvl4pPr marL="12001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4pPr>
            <a:lvl5pPr marL="1543050" indent="-171450">
              <a:spcBef>
                <a:spcPct val="20000"/>
              </a:spcBef>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5pPr>
            <a:lvl6pPr marL="18859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6pPr>
            <a:lvl7pPr marL="22288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7pPr>
            <a:lvl8pPr marL="25717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8pPr>
            <a:lvl9pPr marL="2914650" indent="-171450" eaLnBrk="0" fontAlgn="base" hangingPunct="0">
              <a:spcBef>
                <a:spcPct val="20000"/>
              </a:spcBef>
              <a:spcAft>
                <a:spcPct val="0"/>
              </a:spcAft>
              <a:buClr>
                <a:srgbClr val="193399"/>
              </a:buClr>
              <a:buChar char="–"/>
              <a:defRPr kumimoji="1" sz="1500">
                <a:solidFill>
                  <a:schemeClr val="tx1"/>
                </a:solidFill>
                <a:latin typeface="Tahoma" panose="020B0604030504040204" pitchFamily="34" charset="0"/>
                <a:ea typeface="ＭＳ Ｐゴシック" panose="020B0600070205080204" pitchFamily="34" charset="-128"/>
              </a:defRPr>
            </a:lvl9pPr>
          </a:lstStyle>
          <a:p>
            <a:pPr>
              <a:spcBef>
                <a:spcPct val="50000"/>
              </a:spcBef>
              <a:buClrTx/>
              <a:buFontTx/>
              <a:buNone/>
            </a:pPr>
            <a:r>
              <a:rPr kumimoji="0" lang="tr-TR" altLang="en-US" sz="900">
                <a:solidFill>
                  <a:schemeClr val="bg2"/>
                </a:solidFill>
              </a:rPr>
              <a:t>PSYCH 4041 / 6014</a:t>
            </a:r>
            <a:endParaRPr kumimoji="0" lang="en-US" altLang="en-US" sz="1050">
              <a:solidFill>
                <a:schemeClr val="bg2"/>
              </a:solidFill>
              <a:latin typeface="Comic Sans MS" panose="030F0902030302020204" pitchFamily="66" charset="0"/>
            </a:endParaRPr>
          </a:p>
        </p:txBody>
      </p:sp>
    </p:spTree>
  </p:cSld>
  <p:clrMapOvr>
    <a:masterClrMapping/>
  </p:clrMapOvr>
</p:sld>
</file>

<file path=ppt/theme/theme1.xml><?xml version="1.0" encoding="utf-8"?>
<a:theme xmlns:a="http://schemas.openxmlformats.org/drawingml/2006/main" name="35-audio">
  <a:themeElements>
    <a:clrScheme name="">
      <a:dk1>
        <a:srgbClr val="000000"/>
      </a:dk1>
      <a:lt1>
        <a:srgbClr val="FFFFFF"/>
      </a:lt1>
      <a:dk2>
        <a:srgbClr val="000000"/>
      </a:dk2>
      <a:lt2>
        <a:srgbClr val="5E574E"/>
      </a:lt2>
      <a:accent1>
        <a:srgbClr val="0080FF"/>
      </a:accent1>
      <a:accent2>
        <a:srgbClr val="FFCC00"/>
      </a:accent2>
      <a:accent3>
        <a:srgbClr val="FFFFFF"/>
      </a:accent3>
      <a:accent4>
        <a:srgbClr val="000000"/>
      </a:accent4>
      <a:accent5>
        <a:srgbClr val="AAC0FF"/>
      </a:accent5>
      <a:accent6>
        <a:srgbClr val="E7B900"/>
      </a:accent6>
      <a:hlink>
        <a:srgbClr val="3366CC"/>
      </a:hlink>
      <a:folHlink>
        <a:srgbClr val="808000"/>
      </a:folHlink>
    </a:clrScheme>
    <a:fontScheme name="35-audio">
      <a:majorFont>
        <a:latin typeface="Arial"/>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10"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Times" pitchFamily="-110" charset="0"/>
          </a:defRPr>
        </a:defPPr>
      </a:lstStyle>
    </a:lnDef>
  </a:objectDefaults>
  <a:extraClrSchemeLst>
    <a:extraClrScheme>
      <a:clrScheme name="35-audio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35-audio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35-audio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5-audio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35-audio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35-audio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35-audio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35-audio 8">
        <a:dk1>
          <a:srgbClr val="000000"/>
        </a:dk1>
        <a:lt1>
          <a:srgbClr val="FFFFFF"/>
        </a:lt1>
        <a:dk2>
          <a:srgbClr val="000066"/>
        </a:dk2>
        <a:lt2>
          <a:srgbClr val="FFFF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WalkerB HD:Users:walkerb:Bruce:Classes:6750-HCI:PPT Slides:35-audio.ppt</Template>
  <TotalTime>7158</TotalTime>
  <Words>1573</Words>
  <Application>Microsoft Macintosh PowerPoint</Application>
  <PresentationFormat>On-screen Show (16:9)</PresentationFormat>
  <Paragraphs>223</Paragraphs>
  <Slides>29</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Comic Sans MS</vt:lpstr>
      <vt:lpstr>Tahoma</vt:lpstr>
      <vt:lpstr>Times</vt:lpstr>
      <vt:lpstr>Wingdings</vt:lpstr>
      <vt:lpstr>35-audio</vt:lpstr>
      <vt:lpstr>Physiology of Perception</vt:lpstr>
      <vt:lpstr>Reminder: Outline of Topics</vt:lpstr>
      <vt:lpstr>Overview</vt:lpstr>
      <vt:lpstr>Brain as Center of Perception</vt:lpstr>
      <vt:lpstr>Made Up of Neurons…</vt:lpstr>
      <vt:lpstr>Basic Brain Structure</vt:lpstr>
      <vt:lpstr>PowerPoint Presentation</vt:lpstr>
      <vt:lpstr>Neurons: Transduction &amp; Transmission</vt:lpstr>
      <vt:lpstr>Neurons: Transduction &amp; Transmission</vt:lpstr>
      <vt:lpstr>Neural Signals</vt:lpstr>
      <vt:lpstr>Properties of Action Potentials</vt:lpstr>
      <vt:lpstr>Stimulus Intensity &amp; Firing Rate</vt:lpstr>
      <vt:lpstr>Synaptic Transmission of Impulses </vt:lpstr>
      <vt:lpstr>Video: Synaptic Transmission</vt:lpstr>
      <vt:lpstr>Types of Neurotransmitters</vt:lpstr>
      <vt:lpstr>Neural Circuits</vt:lpstr>
      <vt:lpstr>Simple Circuit</vt:lpstr>
      <vt:lpstr>Neural Circuits - continued</vt:lpstr>
      <vt:lpstr>Convergent Circuits (+ only)</vt:lpstr>
      <vt:lpstr>Neural Circuits - continued</vt:lpstr>
      <vt:lpstr>Convergent Circuits (+ and -)</vt:lpstr>
      <vt:lpstr>Receptive Fields</vt:lpstr>
      <vt:lpstr>Center-Surround Receptive Fields</vt:lpstr>
      <vt:lpstr>Center-Surround Antagonism</vt:lpstr>
      <vt:lpstr>Sensory Code: Specificity Encoding</vt:lpstr>
      <vt:lpstr>Sensory Code: Distributed Encoding</vt:lpstr>
      <vt:lpstr>Upcoming</vt:lpstr>
      <vt:lpstr>Basics of Neural Signals</vt:lpstr>
      <vt:lpstr>PowerPoint Presentation</vt:lpstr>
    </vt:vector>
  </TitlesOfParts>
  <Company>Georgia Tech Psychology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Sensation &amp; Perception</dc:title>
  <dc:creator>Bruce Walker</dc:creator>
  <cp:lastModifiedBy>Walker, Bruce N</cp:lastModifiedBy>
  <cp:revision>51</cp:revision>
  <cp:lastPrinted>2002-12-30T22:33:12Z</cp:lastPrinted>
  <dcterms:created xsi:type="dcterms:W3CDTF">2012-01-20T02:14:24Z</dcterms:created>
  <dcterms:modified xsi:type="dcterms:W3CDTF">2021-01-24T21:07:41Z</dcterms:modified>
</cp:coreProperties>
</file>