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31"/>
  </p:notesMasterIdLst>
  <p:handoutMasterIdLst>
    <p:handoutMasterId r:id="rId32"/>
  </p:handoutMasterIdLst>
  <p:sldIdLst>
    <p:sldId id="256" r:id="rId2"/>
    <p:sldId id="328" r:id="rId3"/>
    <p:sldId id="257" r:id="rId4"/>
    <p:sldId id="269" r:id="rId5"/>
    <p:sldId id="276" r:id="rId6"/>
    <p:sldId id="286" r:id="rId7"/>
    <p:sldId id="287" r:id="rId8"/>
    <p:sldId id="325" r:id="rId9"/>
    <p:sldId id="288" r:id="rId10"/>
    <p:sldId id="292" r:id="rId11"/>
    <p:sldId id="296" r:id="rId12"/>
    <p:sldId id="297" r:id="rId13"/>
    <p:sldId id="298" r:id="rId14"/>
    <p:sldId id="300" r:id="rId15"/>
    <p:sldId id="301" r:id="rId16"/>
    <p:sldId id="304" r:id="rId17"/>
    <p:sldId id="305" r:id="rId18"/>
    <p:sldId id="306" r:id="rId19"/>
    <p:sldId id="307" r:id="rId20"/>
    <p:sldId id="308" r:id="rId21"/>
    <p:sldId id="309" r:id="rId22"/>
    <p:sldId id="310" r:id="rId23"/>
    <p:sldId id="312" r:id="rId24"/>
    <p:sldId id="314" r:id="rId25"/>
    <p:sldId id="316" r:id="rId26"/>
    <p:sldId id="319" r:id="rId27"/>
    <p:sldId id="268" r:id="rId28"/>
    <p:sldId id="326" r:id="rId29"/>
    <p:sldId id="327" r:id="rId30"/>
  </p:sldIdLst>
  <p:sldSz cx="9144000" cy="5143500" type="screen16x9"/>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38"/>
  </p:normalViewPr>
  <p:slideViewPr>
    <p:cSldViewPr>
      <p:cViewPr varScale="1">
        <p:scale>
          <a:sx n="151" d="100"/>
          <a:sy n="151" d="100"/>
        </p:scale>
        <p:origin x="520" y="176"/>
      </p:cViewPr>
      <p:guideLst>
        <p:guide orient="horz" pos="1620"/>
        <p:guide pos="2880"/>
      </p:guideLst>
    </p:cSldViewPr>
  </p:slideViewPr>
  <p:outlineViewPr>
    <p:cViewPr>
      <p:scale>
        <a:sx n="33" d="100"/>
        <a:sy n="33" d="100"/>
      </p:scale>
      <p:origin x="0" y="18536"/>
    </p:cViewPr>
  </p:outlineViewPr>
  <p:notesTextViewPr>
    <p:cViewPr>
      <p:scale>
        <a:sx n="100" d="100"/>
        <a:sy n="100" d="100"/>
      </p:scale>
      <p:origin x="0" y="0"/>
    </p:cViewPr>
  </p:notesTextViewPr>
  <p:sorterViewPr>
    <p:cViewPr>
      <p:scale>
        <a:sx n="200" d="100"/>
        <a:sy n="2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13F558A9-DA8C-0A4A-A9D6-28E17870D4BD}"/>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11267" name="Rectangle 3">
            <a:extLst>
              <a:ext uri="{FF2B5EF4-FFF2-40B4-BE49-F238E27FC236}">
                <a16:creationId xmlns:a16="http://schemas.microsoft.com/office/drawing/2014/main" id="{600705CB-591E-D340-B556-AB4ACC36EBB8}"/>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pitchFamily="-110" charset="0"/>
                <a:ea typeface="+mn-ea"/>
              </a:defRPr>
            </a:lvl1pPr>
          </a:lstStyle>
          <a:p>
            <a:pPr>
              <a:defRPr/>
            </a:pPr>
            <a:endParaRPr lang="en-US"/>
          </a:p>
        </p:txBody>
      </p:sp>
      <p:sp>
        <p:nvSpPr>
          <p:cNvPr id="11268" name="Rectangle 4">
            <a:extLst>
              <a:ext uri="{FF2B5EF4-FFF2-40B4-BE49-F238E27FC236}">
                <a16:creationId xmlns:a16="http://schemas.microsoft.com/office/drawing/2014/main" id="{AF3A6860-2E4E-5C43-9346-C44984AD63E6}"/>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11269" name="Rectangle 5">
            <a:extLst>
              <a:ext uri="{FF2B5EF4-FFF2-40B4-BE49-F238E27FC236}">
                <a16:creationId xmlns:a16="http://schemas.microsoft.com/office/drawing/2014/main" id="{0CE811E3-AE1A-5A42-B453-E883C13CD3A4}"/>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charset="0"/>
                <a:ea typeface="ＭＳ Ｐゴシック" charset="-128"/>
              </a:defRPr>
            </a:lvl1pPr>
          </a:lstStyle>
          <a:p>
            <a:pPr>
              <a:defRPr/>
            </a:pPr>
            <a:fld id="{E1326EE1-770B-5044-B269-2293F993D78F}"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E3F1E7CE-B704-5B46-9A09-9D8D78B6AE99}"/>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43011" name="Rectangle 3">
            <a:extLst>
              <a:ext uri="{FF2B5EF4-FFF2-40B4-BE49-F238E27FC236}">
                <a16:creationId xmlns:a16="http://schemas.microsoft.com/office/drawing/2014/main" id="{08BBAAEB-51AC-5C4C-B0B0-F67056DD0FB6}"/>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pitchFamily="-110" charset="0"/>
                <a:ea typeface="+mn-ea"/>
              </a:defRPr>
            </a:lvl1pPr>
          </a:lstStyle>
          <a:p>
            <a:pPr>
              <a:defRPr/>
            </a:pPr>
            <a:endParaRPr lang="en-US"/>
          </a:p>
        </p:txBody>
      </p:sp>
      <p:sp>
        <p:nvSpPr>
          <p:cNvPr id="13316" name="Rectangle 4">
            <a:extLst>
              <a:ext uri="{FF2B5EF4-FFF2-40B4-BE49-F238E27FC236}">
                <a16:creationId xmlns:a16="http://schemas.microsoft.com/office/drawing/2014/main" id="{239BCA80-B535-0A4F-95BC-1F3B6D974DB8}"/>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3" name="Rectangle 5">
            <a:extLst>
              <a:ext uri="{FF2B5EF4-FFF2-40B4-BE49-F238E27FC236}">
                <a16:creationId xmlns:a16="http://schemas.microsoft.com/office/drawing/2014/main" id="{33C9E59B-4658-BE47-9963-4BB72D8AE619}"/>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3014" name="Rectangle 6">
            <a:extLst>
              <a:ext uri="{FF2B5EF4-FFF2-40B4-BE49-F238E27FC236}">
                <a16:creationId xmlns:a16="http://schemas.microsoft.com/office/drawing/2014/main" id="{11C0D8D2-8A4B-754B-A07D-6617721D8BE3}"/>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43015" name="Rectangle 7">
            <a:extLst>
              <a:ext uri="{FF2B5EF4-FFF2-40B4-BE49-F238E27FC236}">
                <a16:creationId xmlns:a16="http://schemas.microsoft.com/office/drawing/2014/main" id="{1B1B4E08-1B91-BE4E-A3F6-841920412614}"/>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charset="0"/>
                <a:ea typeface="ＭＳ Ｐゴシック" charset="-128"/>
              </a:defRPr>
            </a:lvl1pPr>
          </a:lstStyle>
          <a:p>
            <a:pPr>
              <a:defRPr/>
            </a:pPr>
            <a:fld id="{EBA2F6CF-D245-AE40-B035-DD9CA7F120A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10" charset="0"/>
        <a:ea typeface="ＭＳ Ｐゴシック" charset="-128"/>
        <a:cs typeface="+mn-cs"/>
      </a:defRPr>
    </a:lvl1pPr>
    <a:lvl2pPr marL="4572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2pPr>
    <a:lvl3pPr marL="9144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3pPr>
    <a:lvl4pPr marL="13716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4pPr>
    <a:lvl5pPr marL="18288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D9BAB331-E797-3E44-BEBB-E17657056E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DCE2B21B-6094-064D-B292-99F66B598B11}" type="slidenum">
              <a:rPr lang="en-US" altLang="en-US" sz="1200" smtClean="0"/>
              <a:pPr/>
              <a:t>1</a:t>
            </a:fld>
            <a:endParaRPr lang="en-US" altLang="en-US" sz="1200"/>
          </a:p>
        </p:txBody>
      </p:sp>
      <p:sp>
        <p:nvSpPr>
          <p:cNvPr id="16386" name="Rectangle 2">
            <a:extLst>
              <a:ext uri="{FF2B5EF4-FFF2-40B4-BE49-F238E27FC236}">
                <a16:creationId xmlns:a16="http://schemas.microsoft.com/office/drawing/2014/main" id="{2CD11686-6F80-A444-AEE4-DCA41A984AFF}"/>
              </a:ext>
            </a:extLst>
          </p:cNvPr>
          <p:cNvSpPr>
            <a:spLocks noGrp="1" noRot="1" noChangeAspect="1" noChangeArrowheads="1" noTextEdit="1"/>
          </p:cNvSpPr>
          <p:nvPr>
            <p:ph type="sldImg"/>
          </p:nvPr>
        </p:nvSpPr>
        <p:spPr>
          <a:xfrm>
            <a:off x="381000" y="685800"/>
            <a:ext cx="6096000" cy="3429000"/>
          </a:xfrm>
          <a:ln/>
        </p:spPr>
      </p:sp>
      <p:sp>
        <p:nvSpPr>
          <p:cNvPr id="16387" name="Rectangle 3">
            <a:extLst>
              <a:ext uri="{FF2B5EF4-FFF2-40B4-BE49-F238E27FC236}">
                <a16:creationId xmlns:a16="http://schemas.microsoft.com/office/drawing/2014/main" id="{117B5C69-F248-B34F-BDE5-CEC38FF56A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279E30D2-E615-954C-B0C9-2124F66A04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FC0F0B0-1D28-3D46-B8C1-8534A751C016}" type="slidenum">
              <a:rPr lang="en-US" altLang="en-US" sz="1200" smtClean="0"/>
              <a:pPr/>
              <a:t>3</a:t>
            </a:fld>
            <a:endParaRPr lang="en-US" altLang="en-US" sz="1200"/>
          </a:p>
        </p:txBody>
      </p:sp>
      <p:sp>
        <p:nvSpPr>
          <p:cNvPr id="18434" name="Rectangle 2">
            <a:extLst>
              <a:ext uri="{FF2B5EF4-FFF2-40B4-BE49-F238E27FC236}">
                <a16:creationId xmlns:a16="http://schemas.microsoft.com/office/drawing/2014/main" id="{FEE0D0F6-533B-2248-AD10-AB98B9AD9D16}"/>
              </a:ext>
            </a:extLst>
          </p:cNvPr>
          <p:cNvSpPr>
            <a:spLocks noGrp="1" noRot="1" noChangeAspect="1" noChangeArrowheads="1" noTextEdit="1"/>
          </p:cNvSpPr>
          <p:nvPr>
            <p:ph type="sldImg"/>
          </p:nvPr>
        </p:nvSpPr>
        <p:spPr>
          <a:xfrm>
            <a:off x="381000" y="685800"/>
            <a:ext cx="6096000" cy="3429000"/>
          </a:xfrm>
          <a:ln/>
        </p:spPr>
      </p:sp>
      <p:sp>
        <p:nvSpPr>
          <p:cNvPr id="18435" name="Rectangle 3">
            <a:extLst>
              <a:ext uri="{FF2B5EF4-FFF2-40B4-BE49-F238E27FC236}">
                <a16:creationId xmlns:a16="http://schemas.microsoft.com/office/drawing/2014/main" id="{D778F79E-8D22-C842-8B85-D3C7E3FA5D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BFB05557-4DD7-9241-9D3A-36B408B032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08289F4B-38A2-F443-BB95-7E2E014086A9}" type="slidenum">
              <a:rPr lang="en-US" altLang="en-US" sz="1200" smtClean="0"/>
              <a:pPr/>
              <a:t>4</a:t>
            </a:fld>
            <a:endParaRPr lang="en-US" altLang="en-US" sz="1200"/>
          </a:p>
        </p:txBody>
      </p:sp>
      <p:sp>
        <p:nvSpPr>
          <p:cNvPr id="20482" name="Rectangle 2">
            <a:extLst>
              <a:ext uri="{FF2B5EF4-FFF2-40B4-BE49-F238E27FC236}">
                <a16:creationId xmlns:a16="http://schemas.microsoft.com/office/drawing/2014/main" id="{03E90D78-ADCB-674B-85A8-C19868155A58}"/>
              </a:ext>
            </a:extLst>
          </p:cNvPr>
          <p:cNvSpPr>
            <a:spLocks noGrp="1" noRot="1" noChangeAspect="1" noChangeArrowheads="1" noTextEdit="1"/>
          </p:cNvSpPr>
          <p:nvPr>
            <p:ph type="sldImg"/>
          </p:nvPr>
        </p:nvSpPr>
        <p:spPr>
          <a:xfrm>
            <a:off x="381000" y="685800"/>
            <a:ext cx="6096000" cy="3429000"/>
          </a:xfrm>
          <a:ln/>
        </p:spPr>
      </p:sp>
      <p:sp>
        <p:nvSpPr>
          <p:cNvPr id="20483" name="Rectangle 3">
            <a:extLst>
              <a:ext uri="{FF2B5EF4-FFF2-40B4-BE49-F238E27FC236}">
                <a16:creationId xmlns:a16="http://schemas.microsoft.com/office/drawing/2014/main" id="{B0F22141-D9B4-044A-9F1B-59F8A077CF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0F5C0031-C48D-3446-B7AD-3B9171E548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AC0A6925-F32A-5649-9A77-A1B5FCC1DF2F}" type="slidenum">
              <a:rPr lang="en-US" altLang="en-US" sz="1200" smtClean="0"/>
              <a:pPr/>
              <a:t>5</a:t>
            </a:fld>
            <a:endParaRPr lang="en-US" altLang="en-US" sz="1200"/>
          </a:p>
        </p:txBody>
      </p:sp>
      <p:sp>
        <p:nvSpPr>
          <p:cNvPr id="22530" name="Rectangle 2">
            <a:extLst>
              <a:ext uri="{FF2B5EF4-FFF2-40B4-BE49-F238E27FC236}">
                <a16:creationId xmlns:a16="http://schemas.microsoft.com/office/drawing/2014/main" id="{4482657A-98B1-9D43-9AF7-52D7102F8DF9}"/>
              </a:ext>
            </a:extLst>
          </p:cNvPr>
          <p:cNvSpPr>
            <a:spLocks noGrp="1" noRot="1" noChangeAspect="1" noChangeArrowheads="1" noTextEdit="1"/>
          </p:cNvSpPr>
          <p:nvPr>
            <p:ph type="sldImg"/>
          </p:nvPr>
        </p:nvSpPr>
        <p:spPr>
          <a:xfrm>
            <a:off x="381000" y="685800"/>
            <a:ext cx="6096000" cy="3429000"/>
          </a:xfrm>
          <a:ln/>
        </p:spPr>
      </p:sp>
      <p:sp>
        <p:nvSpPr>
          <p:cNvPr id="22531" name="Rectangle 3">
            <a:extLst>
              <a:ext uri="{FF2B5EF4-FFF2-40B4-BE49-F238E27FC236}">
                <a16:creationId xmlns:a16="http://schemas.microsoft.com/office/drawing/2014/main" id="{47B59028-2F3E-B049-95D4-304CEB9565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9C872A02-86E7-D349-971C-E4EFD26C50C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B2B1064-FB65-C948-BB30-A23CFD71F264}" type="slidenum">
              <a:rPr lang="en-US" altLang="en-US" sz="1200" smtClean="0"/>
              <a:pPr/>
              <a:t>6</a:t>
            </a:fld>
            <a:endParaRPr lang="en-US" altLang="en-US" sz="1200"/>
          </a:p>
        </p:txBody>
      </p:sp>
      <p:sp>
        <p:nvSpPr>
          <p:cNvPr id="24578" name="Rectangle 2">
            <a:extLst>
              <a:ext uri="{FF2B5EF4-FFF2-40B4-BE49-F238E27FC236}">
                <a16:creationId xmlns:a16="http://schemas.microsoft.com/office/drawing/2014/main" id="{0284A813-4981-594F-B220-65DEC1F2733E}"/>
              </a:ext>
            </a:extLst>
          </p:cNvPr>
          <p:cNvSpPr>
            <a:spLocks noGrp="1" noRot="1" noChangeAspect="1" noChangeArrowheads="1" noTextEdit="1"/>
          </p:cNvSpPr>
          <p:nvPr>
            <p:ph type="sldImg"/>
          </p:nvPr>
        </p:nvSpPr>
        <p:spPr>
          <a:xfrm>
            <a:off x="381000" y="685800"/>
            <a:ext cx="6096000" cy="3429000"/>
          </a:xfrm>
          <a:ln/>
        </p:spPr>
      </p:sp>
      <p:sp>
        <p:nvSpPr>
          <p:cNvPr id="24579" name="Rectangle 3">
            <a:extLst>
              <a:ext uri="{FF2B5EF4-FFF2-40B4-BE49-F238E27FC236}">
                <a16:creationId xmlns:a16="http://schemas.microsoft.com/office/drawing/2014/main" id="{12863047-9B60-BD49-99AC-BB6E6F5F340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80459D58-1A5D-3947-B5D8-E34AE6FD2E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3FEB8D92-5D75-4E41-9902-CBAE81064C62}" type="slidenum">
              <a:rPr lang="en-US" altLang="en-US" sz="1200" smtClean="0"/>
              <a:pPr/>
              <a:t>7</a:t>
            </a:fld>
            <a:endParaRPr lang="en-US" altLang="en-US" sz="1200"/>
          </a:p>
        </p:txBody>
      </p:sp>
      <p:sp>
        <p:nvSpPr>
          <p:cNvPr id="26626" name="Rectangle 2">
            <a:extLst>
              <a:ext uri="{FF2B5EF4-FFF2-40B4-BE49-F238E27FC236}">
                <a16:creationId xmlns:a16="http://schemas.microsoft.com/office/drawing/2014/main" id="{6E74BE94-D453-BE46-99BB-8F110FEB698D}"/>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26627" name="Rectangle 3">
            <a:extLst>
              <a:ext uri="{FF2B5EF4-FFF2-40B4-BE49-F238E27FC236}">
                <a16:creationId xmlns:a16="http://schemas.microsoft.com/office/drawing/2014/main" id="{E761AF3C-9833-CC4B-9C02-D9A3FCF90337}"/>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CDB30AC7-22BA-314D-9FB1-28914E5DB5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EBD3D8DE-791C-5347-9826-D10E8AFA3F13}" type="slidenum">
              <a:rPr lang="en-US" altLang="en-US" sz="1200" smtClean="0"/>
              <a:pPr/>
              <a:t>8</a:t>
            </a:fld>
            <a:endParaRPr lang="en-US" altLang="en-US" sz="1200"/>
          </a:p>
        </p:txBody>
      </p:sp>
      <p:sp>
        <p:nvSpPr>
          <p:cNvPr id="28674" name="Rectangle 2">
            <a:extLst>
              <a:ext uri="{FF2B5EF4-FFF2-40B4-BE49-F238E27FC236}">
                <a16:creationId xmlns:a16="http://schemas.microsoft.com/office/drawing/2014/main" id="{0CD75608-B2AB-734A-8BB0-789E1B71177D}"/>
              </a:ext>
            </a:extLst>
          </p:cNvPr>
          <p:cNvSpPr>
            <a:spLocks noGrp="1" noRot="1" noChangeAspect="1" noChangeArrowheads="1" noTextEdit="1"/>
          </p:cNvSpPr>
          <p:nvPr>
            <p:ph type="sldImg"/>
          </p:nvPr>
        </p:nvSpPr>
        <p:spPr>
          <a:xfrm>
            <a:off x="381000" y="685800"/>
            <a:ext cx="6096000" cy="3429000"/>
          </a:xfrm>
          <a:ln/>
        </p:spPr>
      </p:sp>
      <p:sp>
        <p:nvSpPr>
          <p:cNvPr id="28675" name="Rectangle 3">
            <a:extLst>
              <a:ext uri="{FF2B5EF4-FFF2-40B4-BE49-F238E27FC236}">
                <a16:creationId xmlns:a16="http://schemas.microsoft.com/office/drawing/2014/main" id="{50CD4570-DC87-7A4D-BA94-F394092EB8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78C42032-8C53-4040-9734-2362D39328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3E034A6-42EB-2E45-B73E-C9DA2FBCBE24}" type="slidenum">
              <a:rPr lang="en-US" altLang="en-US" sz="1200" smtClean="0"/>
              <a:pPr/>
              <a:t>9</a:t>
            </a:fld>
            <a:endParaRPr lang="en-US" altLang="en-US" sz="1200"/>
          </a:p>
        </p:txBody>
      </p:sp>
      <p:sp>
        <p:nvSpPr>
          <p:cNvPr id="30722" name="Rectangle 2">
            <a:extLst>
              <a:ext uri="{FF2B5EF4-FFF2-40B4-BE49-F238E27FC236}">
                <a16:creationId xmlns:a16="http://schemas.microsoft.com/office/drawing/2014/main" id="{A560BA01-F890-5B41-BC3B-0BFDB8FE4EE3}"/>
              </a:ext>
            </a:extLst>
          </p:cNvPr>
          <p:cNvSpPr>
            <a:spLocks noGrp="1" noRot="1" noChangeAspect="1" noChangeArrowheads="1" noTextEdit="1"/>
          </p:cNvSpPr>
          <p:nvPr>
            <p:ph type="sldImg"/>
          </p:nvPr>
        </p:nvSpPr>
        <p:spPr>
          <a:xfrm>
            <a:off x="381000" y="685800"/>
            <a:ext cx="6096000" cy="3429000"/>
          </a:xfrm>
          <a:ln/>
        </p:spPr>
      </p:sp>
      <p:sp>
        <p:nvSpPr>
          <p:cNvPr id="30723" name="Rectangle 3">
            <a:extLst>
              <a:ext uri="{FF2B5EF4-FFF2-40B4-BE49-F238E27FC236}">
                <a16:creationId xmlns:a16="http://schemas.microsoft.com/office/drawing/2014/main" id="{E6E447F0-CDE8-8340-BDB0-82D92EEEF79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0E4B206B-4629-7940-AEDA-088CE17AFA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E4600EB2-3F10-7C49-B268-BFE0508D8167}" type="slidenum">
              <a:rPr lang="en-US" altLang="en-US" sz="1200" smtClean="0"/>
              <a:pPr/>
              <a:t>10</a:t>
            </a:fld>
            <a:endParaRPr lang="en-US" altLang="en-US" sz="1200"/>
          </a:p>
        </p:txBody>
      </p:sp>
      <p:sp>
        <p:nvSpPr>
          <p:cNvPr id="32770" name="Rectangle 2">
            <a:extLst>
              <a:ext uri="{FF2B5EF4-FFF2-40B4-BE49-F238E27FC236}">
                <a16:creationId xmlns:a16="http://schemas.microsoft.com/office/drawing/2014/main" id="{6DCD66F7-9241-6E42-88B5-349C60B8F686}"/>
              </a:ext>
            </a:extLst>
          </p:cNvPr>
          <p:cNvSpPr>
            <a:spLocks noGrp="1" noRot="1" noChangeAspect="1" noChangeArrowheads="1" noTextEdit="1"/>
          </p:cNvSpPr>
          <p:nvPr>
            <p:ph type="sldImg"/>
          </p:nvPr>
        </p:nvSpPr>
        <p:spPr>
          <a:xfrm>
            <a:off x="381000" y="685800"/>
            <a:ext cx="6096000" cy="3429000"/>
          </a:xfrm>
          <a:ln/>
        </p:spPr>
      </p:sp>
      <p:sp>
        <p:nvSpPr>
          <p:cNvPr id="32771" name="Rectangle 3">
            <a:extLst>
              <a:ext uri="{FF2B5EF4-FFF2-40B4-BE49-F238E27FC236}">
                <a16:creationId xmlns:a16="http://schemas.microsoft.com/office/drawing/2014/main" id="{E21ED039-0736-A045-ADC2-347AD1394F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680FEE61-3EA3-2C49-A617-EEDD5FCDD5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CDC6572F-9CD6-3F4D-B656-ED08FB64CAB1}" type="slidenum">
              <a:rPr lang="en-US" altLang="en-US" sz="1200" smtClean="0"/>
              <a:pPr/>
              <a:t>11</a:t>
            </a:fld>
            <a:endParaRPr lang="en-US" altLang="en-US" sz="1200"/>
          </a:p>
        </p:txBody>
      </p:sp>
      <p:sp>
        <p:nvSpPr>
          <p:cNvPr id="34818" name="Rectangle 2">
            <a:extLst>
              <a:ext uri="{FF2B5EF4-FFF2-40B4-BE49-F238E27FC236}">
                <a16:creationId xmlns:a16="http://schemas.microsoft.com/office/drawing/2014/main" id="{5C01FEA8-76FA-A847-9BDA-5AE6C50923E9}"/>
              </a:ext>
            </a:extLst>
          </p:cNvPr>
          <p:cNvSpPr>
            <a:spLocks noGrp="1" noRot="1" noChangeAspect="1" noChangeArrowheads="1" noTextEdit="1"/>
          </p:cNvSpPr>
          <p:nvPr>
            <p:ph type="sldImg"/>
          </p:nvPr>
        </p:nvSpPr>
        <p:spPr>
          <a:xfrm>
            <a:off x="381000" y="685800"/>
            <a:ext cx="6096000" cy="3429000"/>
          </a:xfrm>
          <a:ln/>
        </p:spPr>
      </p:sp>
      <p:sp>
        <p:nvSpPr>
          <p:cNvPr id="34819" name="Rectangle 3">
            <a:extLst>
              <a:ext uri="{FF2B5EF4-FFF2-40B4-BE49-F238E27FC236}">
                <a16:creationId xmlns:a16="http://schemas.microsoft.com/office/drawing/2014/main" id="{5B219D65-454F-3D4A-9A56-78C2BF1181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5CE4C6E6-56B4-0448-ADA6-FADE7997D9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A59C21F5-AC1F-6C44-8225-0BBB2A221D3F}" type="slidenum">
              <a:rPr lang="en-US" altLang="en-US" sz="1200" smtClean="0"/>
              <a:pPr/>
              <a:t>12</a:t>
            </a:fld>
            <a:endParaRPr lang="en-US" altLang="en-US" sz="1200"/>
          </a:p>
        </p:txBody>
      </p:sp>
      <p:sp>
        <p:nvSpPr>
          <p:cNvPr id="36866" name="Rectangle 2">
            <a:extLst>
              <a:ext uri="{FF2B5EF4-FFF2-40B4-BE49-F238E27FC236}">
                <a16:creationId xmlns:a16="http://schemas.microsoft.com/office/drawing/2014/main" id="{1E0FC249-816C-F043-9175-3880D51C82DB}"/>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36867" name="Rectangle 3">
            <a:extLst>
              <a:ext uri="{FF2B5EF4-FFF2-40B4-BE49-F238E27FC236}">
                <a16:creationId xmlns:a16="http://schemas.microsoft.com/office/drawing/2014/main" id="{4F645025-64D3-754B-93E9-D55DF99A47BB}"/>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54A89F74-16D8-5144-BCE6-872091AEF04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C617417-CD43-3D4A-8ADE-1DCA8D9ABAF3}" type="slidenum">
              <a:rPr lang="en-US" altLang="en-US" sz="1200" smtClean="0"/>
              <a:pPr/>
              <a:t>13</a:t>
            </a:fld>
            <a:endParaRPr lang="en-US" altLang="en-US" sz="1200"/>
          </a:p>
        </p:txBody>
      </p:sp>
      <p:sp>
        <p:nvSpPr>
          <p:cNvPr id="38914" name="Rectangle 2">
            <a:extLst>
              <a:ext uri="{FF2B5EF4-FFF2-40B4-BE49-F238E27FC236}">
                <a16:creationId xmlns:a16="http://schemas.microsoft.com/office/drawing/2014/main" id="{12EC4778-71CC-D147-8F88-FB66169D6DFE}"/>
              </a:ext>
            </a:extLst>
          </p:cNvPr>
          <p:cNvSpPr>
            <a:spLocks noGrp="1" noRot="1" noChangeAspect="1" noChangeArrowheads="1" noTextEdit="1"/>
          </p:cNvSpPr>
          <p:nvPr>
            <p:ph type="sldImg"/>
          </p:nvPr>
        </p:nvSpPr>
        <p:spPr>
          <a:xfrm>
            <a:off x="381000" y="685800"/>
            <a:ext cx="6096000" cy="3429000"/>
          </a:xfrm>
          <a:ln/>
        </p:spPr>
      </p:sp>
      <p:sp>
        <p:nvSpPr>
          <p:cNvPr id="38915" name="Rectangle 3">
            <a:extLst>
              <a:ext uri="{FF2B5EF4-FFF2-40B4-BE49-F238E27FC236}">
                <a16:creationId xmlns:a16="http://schemas.microsoft.com/office/drawing/2014/main" id="{547664E5-2A3C-E346-ACAB-020C19D760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F5A8C933-A186-BC43-8512-F36FEB8CFD3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CEDEAEA-D266-7840-8459-D90A0CDD0E1C}" type="slidenum">
              <a:rPr lang="en-US" altLang="en-US" sz="1200" smtClean="0"/>
              <a:pPr/>
              <a:t>14</a:t>
            </a:fld>
            <a:endParaRPr lang="en-US" altLang="en-US" sz="1200"/>
          </a:p>
        </p:txBody>
      </p:sp>
      <p:sp>
        <p:nvSpPr>
          <p:cNvPr id="40962" name="Rectangle 2">
            <a:extLst>
              <a:ext uri="{FF2B5EF4-FFF2-40B4-BE49-F238E27FC236}">
                <a16:creationId xmlns:a16="http://schemas.microsoft.com/office/drawing/2014/main" id="{5995B5E6-6177-5744-B156-E03ACF3A49CE}"/>
              </a:ext>
            </a:extLst>
          </p:cNvPr>
          <p:cNvSpPr>
            <a:spLocks noGrp="1" noRot="1" noChangeAspect="1" noChangeArrowheads="1" noTextEdit="1"/>
          </p:cNvSpPr>
          <p:nvPr>
            <p:ph type="sldImg"/>
          </p:nvPr>
        </p:nvSpPr>
        <p:spPr>
          <a:xfrm>
            <a:off x="381000" y="685800"/>
            <a:ext cx="6096000" cy="3429000"/>
          </a:xfrm>
          <a:ln/>
        </p:spPr>
      </p:sp>
      <p:sp>
        <p:nvSpPr>
          <p:cNvPr id="40963" name="Rectangle 3">
            <a:extLst>
              <a:ext uri="{FF2B5EF4-FFF2-40B4-BE49-F238E27FC236}">
                <a16:creationId xmlns:a16="http://schemas.microsoft.com/office/drawing/2014/main" id="{476EA1FD-8DBB-E04F-B72F-02AA31AD15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C9B67EAC-17D0-484D-BE1C-9942CF7CE9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E41E98D6-6CFA-334E-903B-675863571BCB}" type="slidenum">
              <a:rPr lang="en-US" altLang="en-US" sz="1200" smtClean="0"/>
              <a:pPr/>
              <a:t>15</a:t>
            </a:fld>
            <a:endParaRPr lang="en-US" altLang="en-US" sz="1200"/>
          </a:p>
        </p:txBody>
      </p:sp>
      <p:sp>
        <p:nvSpPr>
          <p:cNvPr id="43010" name="Rectangle 2">
            <a:extLst>
              <a:ext uri="{FF2B5EF4-FFF2-40B4-BE49-F238E27FC236}">
                <a16:creationId xmlns:a16="http://schemas.microsoft.com/office/drawing/2014/main" id="{14CE1EEF-CD36-544F-BFFE-F2C906813B33}"/>
              </a:ext>
            </a:extLst>
          </p:cNvPr>
          <p:cNvSpPr>
            <a:spLocks noGrp="1" noRot="1" noChangeAspect="1" noChangeArrowheads="1" noTextEdit="1"/>
          </p:cNvSpPr>
          <p:nvPr>
            <p:ph type="sldImg"/>
          </p:nvPr>
        </p:nvSpPr>
        <p:spPr>
          <a:xfrm>
            <a:off x="381000" y="685800"/>
            <a:ext cx="6096000" cy="3429000"/>
          </a:xfrm>
          <a:ln/>
        </p:spPr>
      </p:sp>
      <p:sp>
        <p:nvSpPr>
          <p:cNvPr id="43011" name="Rectangle 3">
            <a:extLst>
              <a:ext uri="{FF2B5EF4-FFF2-40B4-BE49-F238E27FC236}">
                <a16:creationId xmlns:a16="http://schemas.microsoft.com/office/drawing/2014/main" id="{18A232AC-38D2-034A-8B2E-C15FD1F0F70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580023FD-EEC4-6449-84F2-26EB6D3683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4AEF171-57C5-154E-A80D-79188824DFCE}" type="slidenum">
              <a:rPr lang="en-US" altLang="en-US" sz="1200" smtClean="0"/>
              <a:pPr/>
              <a:t>16</a:t>
            </a:fld>
            <a:endParaRPr lang="en-US" altLang="en-US" sz="1200"/>
          </a:p>
        </p:txBody>
      </p:sp>
      <p:sp>
        <p:nvSpPr>
          <p:cNvPr id="45058" name="Rectangle 2">
            <a:extLst>
              <a:ext uri="{FF2B5EF4-FFF2-40B4-BE49-F238E27FC236}">
                <a16:creationId xmlns:a16="http://schemas.microsoft.com/office/drawing/2014/main" id="{95B831F9-0F6A-F04B-B831-1B27C94F3054}"/>
              </a:ext>
            </a:extLst>
          </p:cNvPr>
          <p:cNvSpPr>
            <a:spLocks noGrp="1" noRot="1" noChangeAspect="1" noChangeArrowheads="1" noTextEdit="1"/>
          </p:cNvSpPr>
          <p:nvPr>
            <p:ph type="sldImg"/>
          </p:nvPr>
        </p:nvSpPr>
        <p:spPr>
          <a:xfrm>
            <a:off x="381000" y="685800"/>
            <a:ext cx="6096000" cy="3429000"/>
          </a:xfrm>
          <a:ln/>
        </p:spPr>
      </p:sp>
      <p:sp>
        <p:nvSpPr>
          <p:cNvPr id="45059" name="Rectangle 3">
            <a:extLst>
              <a:ext uri="{FF2B5EF4-FFF2-40B4-BE49-F238E27FC236}">
                <a16:creationId xmlns:a16="http://schemas.microsoft.com/office/drawing/2014/main" id="{67FA9997-5E0D-5741-9607-A297E4E3894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BC5BA006-616D-354F-AB12-042D5790D0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753E1EF3-3263-DC47-A67D-A736E7ACF3D3}" type="slidenum">
              <a:rPr lang="en-US" altLang="en-US" sz="1200" smtClean="0"/>
              <a:pPr/>
              <a:t>17</a:t>
            </a:fld>
            <a:endParaRPr lang="en-US" altLang="en-US" sz="1200"/>
          </a:p>
        </p:txBody>
      </p:sp>
      <p:sp>
        <p:nvSpPr>
          <p:cNvPr id="47106" name="Rectangle 2">
            <a:extLst>
              <a:ext uri="{FF2B5EF4-FFF2-40B4-BE49-F238E27FC236}">
                <a16:creationId xmlns:a16="http://schemas.microsoft.com/office/drawing/2014/main" id="{6D666652-57C7-5340-9D11-C8E1EC8DF43A}"/>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47107" name="Rectangle 3">
            <a:extLst>
              <a:ext uri="{FF2B5EF4-FFF2-40B4-BE49-F238E27FC236}">
                <a16:creationId xmlns:a16="http://schemas.microsoft.com/office/drawing/2014/main" id="{BBCA6982-6CD2-6944-92FD-A2DA5BB528D2}"/>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353927FD-A8F4-7645-8B49-8D28805845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A39F931C-6838-6641-B9BD-C24F7F44BFD4}" type="slidenum">
              <a:rPr lang="en-US" altLang="en-US" sz="1200" smtClean="0"/>
              <a:pPr/>
              <a:t>18</a:t>
            </a:fld>
            <a:endParaRPr lang="en-US" altLang="en-US" sz="1200"/>
          </a:p>
        </p:txBody>
      </p:sp>
      <p:sp>
        <p:nvSpPr>
          <p:cNvPr id="49154" name="Rectangle 2">
            <a:extLst>
              <a:ext uri="{FF2B5EF4-FFF2-40B4-BE49-F238E27FC236}">
                <a16:creationId xmlns:a16="http://schemas.microsoft.com/office/drawing/2014/main" id="{4034AA3B-CE9B-C34F-A971-15F87039F1D0}"/>
              </a:ext>
            </a:extLst>
          </p:cNvPr>
          <p:cNvSpPr>
            <a:spLocks noGrp="1" noRot="1" noChangeAspect="1" noChangeArrowheads="1" noTextEdit="1"/>
          </p:cNvSpPr>
          <p:nvPr>
            <p:ph type="sldImg"/>
          </p:nvPr>
        </p:nvSpPr>
        <p:spPr>
          <a:xfrm>
            <a:off x="381000" y="685800"/>
            <a:ext cx="6096000" cy="3429000"/>
          </a:xfrm>
          <a:ln/>
        </p:spPr>
      </p:sp>
      <p:sp>
        <p:nvSpPr>
          <p:cNvPr id="49155" name="Rectangle 3">
            <a:extLst>
              <a:ext uri="{FF2B5EF4-FFF2-40B4-BE49-F238E27FC236}">
                <a16:creationId xmlns:a16="http://schemas.microsoft.com/office/drawing/2014/main" id="{15F73C26-3C08-2F4C-808C-004118B593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6A4F6725-D5C7-9F49-AE23-2A21FDE19E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C0C47261-F674-104D-805A-82E1427A4F72}" type="slidenum">
              <a:rPr lang="en-US" altLang="en-US" sz="1200" smtClean="0"/>
              <a:pPr/>
              <a:t>19</a:t>
            </a:fld>
            <a:endParaRPr lang="en-US" altLang="en-US" sz="1200"/>
          </a:p>
        </p:txBody>
      </p:sp>
      <p:sp>
        <p:nvSpPr>
          <p:cNvPr id="51202" name="Rectangle 2">
            <a:extLst>
              <a:ext uri="{FF2B5EF4-FFF2-40B4-BE49-F238E27FC236}">
                <a16:creationId xmlns:a16="http://schemas.microsoft.com/office/drawing/2014/main" id="{A72B6142-9053-1A45-80E5-DCF57A70AA35}"/>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51203" name="Rectangle 3">
            <a:extLst>
              <a:ext uri="{FF2B5EF4-FFF2-40B4-BE49-F238E27FC236}">
                <a16:creationId xmlns:a16="http://schemas.microsoft.com/office/drawing/2014/main" id="{C07DA4DF-6E07-1344-81C2-4DB9F55D155D}"/>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3BBF598C-EFE3-CE43-BA72-A3EC38888B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C90CBC27-A2E0-624F-9177-135995E547A6}" type="slidenum">
              <a:rPr lang="en-US" altLang="en-US" sz="1200" smtClean="0"/>
              <a:pPr/>
              <a:t>20</a:t>
            </a:fld>
            <a:endParaRPr lang="en-US" altLang="en-US" sz="1200"/>
          </a:p>
        </p:txBody>
      </p:sp>
      <p:sp>
        <p:nvSpPr>
          <p:cNvPr id="53250" name="Rectangle 2">
            <a:extLst>
              <a:ext uri="{FF2B5EF4-FFF2-40B4-BE49-F238E27FC236}">
                <a16:creationId xmlns:a16="http://schemas.microsoft.com/office/drawing/2014/main" id="{DAE20997-D217-984E-AC19-C5247688C062}"/>
              </a:ext>
            </a:extLst>
          </p:cNvPr>
          <p:cNvSpPr>
            <a:spLocks noGrp="1" noRot="1" noChangeAspect="1" noChangeArrowheads="1" noTextEdit="1"/>
          </p:cNvSpPr>
          <p:nvPr>
            <p:ph type="sldImg"/>
          </p:nvPr>
        </p:nvSpPr>
        <p:spPr>
          <a:xfrm>
            <a:off x="381000" y="685800"/>
            <a:ext cx="6096000" cy="3429000"/>
          </a:xfrm>
          <a:ln/>
        </p:spPr>
      </p:sp>
      <p:sp>
        <p:nvSpPr>
          <p:cNvPr id="53251" name="Rectangle 3">
            <a:extLst>
              <a:ext uri="{FF2B5EF4-FFF2-40B4-BE49-F238E27FC236}">
                <a16:creationId xmlns:a16="http://schemas.microsoft.com/office/drawing/2014/main" id="{6208C768-C685-F745-B371-0411BB13BD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91C21289-99D5-864C-9BA1-40D28DE3A2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7CC6A1A8-D8B5-224E-800E-7E3FA83B9D06}" type="slidenum">
              <a:rPr lang="en-US" altLang="en-US" sz="1200" smtClean="0"/>
              <a:pPr/>
              <a:t>21</a:t>
            </a:fld>
            <a:endParaRPr lang="en-US" altLang="en-US" sz="1200"/>
          </a:p>
        </p:txBody>
      </p:sp>
      <p:sp>
        <p:nvSpPr>
          <p:cNvPr id="55298" name="Rectangle 2">
            <a:extLst>
              <a:ext uri="{FF2B5EF4-FFF2-40B4-BE49-F238E27FC236}">
                <a16:creationId xmlns:a16="http://schemas.microsoft.com/office/drawing/2014/main" id="{3615589A-5D37-E34B-9571-A922BAE4F031}"/>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55299" name="Rectangle 3">
            <a:extLst>
              <a:ext uri="{FF2B5EF4-FFF2-40B4-BE49-F238E27FC236}">
                <a16:creationId xmlns:a16="http://schemas.microsoft.com/office/drawing/2014/main" id="{E91332A6-274D-8740-87CE-D1E83163FDD5}"/>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855B6762-CFC3-9F42-8537-BCBAF93B1D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253050FE-8CA7-AE4B-A70F-D58A37BABE11}" type="slidenum">
              <a:rPr lang="en-US" altLang="en-US" sz="1200" smtClean="0"/>
              <a:pPr/>
              <a:t>22</a:t>
            </a:fld>
            <a:endParaRPr lang="en-US" altLang="en-US" sz="1200"/>
          </a:p>
        </p:txBody>
      </p:sp>
      <p:sp>
        <p:nvSpPr>
          <p:cNvPr id="57346" name="Rectangle 2">
            <a:extLst>
              <a:ext uri="{FF2B5EF4-FFF2-40B4-BE49-F238E27FC236}">
                <a16:creationId xmlns:a16="http://schemas.microsoft.com/office/drawing/2014/main" id="{2AA16590-9606-CF49-B7BA-117676016D43}"/>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57347" name="Rectangle 3">
            <a:extLst>
              <a:ext uri="{FF2B5EF4-FFF2-40B4-BE49-F238E27FC236}">
                <a16:creationId xmlns:a16="http://schemas.microsoft.com/office/drawing/2014/main" id="{D6F7C511-80BA-BE4C-B8B0-CEF0E95B4B13}"/>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a:latin typeface="Times" pitchFamily="2" charset="0"/>
                <a:ea typeface="ＭＳ Ｐゴシック" panose="020B0600070205080204" pitchFamily="34" charset="-128"/>
              </a:rPr>
              <a:t>Important to emphasize that the receptive field is on the retina.  Students tend to forget this as you work your way through the explanation of more specifically tuned neurons further into the system.</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a:extLst>
              <a:ext uri="{FF2B5EF4-FFF2-40B4-BE49-F238E27FC236}">
                <a16:creationId xmlns:a16="http://schemas.microsoft.com/office/drawing/2014/main" id="{63CEBBEC-F901-8B45-8AE6-4E0E7598241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3A98F82-EC9A-644A-B244-1CCB3A789304}" type="slidenum">
              <a:rPr lang="en-US" altLang="en-US" sz="1200" smtClean="0"/>
              <a:pPr/>
              <a:t>23</a:t>
            </a:fld>
            <a:endParaRPr lang="en-US" altLang="en-US" sz="1200"/>
          </a:p>
        </p:txBody>
      </p:sp>
      <p:sp>
        <p:nvSpPr>
          <p:cNvPr id="59394" name="Rectangle 2">
            <a:extLst>
              <a:ext uri="{FF2B5EF4-FFF2-40B4-BE49-F238E27FC236}">
                <a16:creationId xmlns:a16="http://schemas.microsoft.com/office/drawing/2014/main" id="{5A6EE83F-2666-AE45-9680-463949BC37FD}"/>
              </a:ext>
            </a:extLst>
          </p:cNvPr>
          <p:cNvSpPr>
            <a:spLocks noGrp="1" noRot="1" noChangeAspect="1" noChangeArrowheads="1" noTextEdit="1"/>
          </p:cNvSpPr>
          <p:nvPr>
            <p:ph type="sldImg"/>
          </p:nvPr>
        </p:nvSpPr>
        <p:spPr>
          <a:xfrm>
            <a:off x="381000" y="685800"/>
            <a:ext cx="6096000" cy="3429000"/>
          </a:xfrm>
          <a:ln/>
        </p:spPr>
      </p:sp>
      <p:sp>
        <p:nvSpPr>
          <p:cNvPr id="59395" name="Rectangle 3">
            <a:extLst>
              <a:ext uri="{FF2B5EF4-FFF2-40B4-BE49-F238E27FC236}">
                <a16:creationId xmlns:a16="http://schemas.microsoft.com/office/drawing/2014/main" id="{AFE381F7-7A23-914C-9D8D-EB61D8AD84F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C9ACFEA2-5C9E-CD40-B6DB-128D57BD45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533B43F3-259C-434E-A071-E40D362BAA33}" type="slidenum">
              <a:rPr lang="en-US" altLang="en-US" sz="1200" smtClean="0"/>
              <a:pPr/>
              <a:t>24</a:t>
            </a:fld>
            <a:endParaRPr lang="en-US" altLang="en-US" sz="1200"/>
          </a:p>
        </p:txBody>
      </p:sp>
      <p:sp>
        <p:nvSpPr>
          <p:cNvPr id="61442" name="Rectangle 2">
            <a:extLst>
              <a:ext uri="{FF2B5EF4-FFF2-40B4-BE49-F238E27FC236}">
                <a16:creationId xmlns:a16="http://schemas.microsoft.com/office/drawing/2014/main" id="{94AE4C3E-9FC3-6C41-BBA6-206708FD7E9F}"/>
              </a:ext>
            </a:extLst>
          </p:cNvPr>
          <p:cNvSpPr>
            <a:spLocks noGrp="1" noRot="1" noChangeAspect="1" noChangeArrowheads="1" noTextEdit="1"/>
          </p:cNvSpPr>
          <p:nvPr>
            <p:ph type="sldImg"/>
          </p:nvPr>
        </p:nvSpPr>
        <p:spPr>
          <a:xfrm>
            <a:off x="381000" y="685800"/>
            <a:ext cx="6096000" cy="3429000"/>
          </a:xfrm>
          <a:ln/>
        </p:spPr>
      </p:sp>
      <p:sp>
        <p:nvSpPr>
          <p:cNvPr id="61443" name="Rectangle 3">
            <a:extLst>
              <a:ext uri="{FF2B5EF4-FFF2-40B4-BE49-F238E27FC236}">
                <a16:creationId xmlns:a16="http://schemas.microsoft.com/office/drawing/2014/main" id="{90B90274-6809-6F42-B8C0-E905A66C224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a:extLst>
              <a:ext uri="{FF2B5EF4-FFF2-40B4-BE49-F238E27FC236}">
                <a16:creationId xmlns:a16="http://schemas.microsoft.com/office/drawing/2014/main" id="{6A90AFE9-E38F-E94B-A4E5-421B68FD31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7DACD68-58F9-5045-84AA-F03D4C9421BB}" type="slidenum">
              <a:rPr lang="en-US" altLang="en-US" sz="1200" smtClean="0"/>
              <a:pPr/>
              <a:t>25</a:t>
            </a:fld>
            <a:endParaRPr lang="en-US" altLang="en-US" sz="1200"/>
          </a:p>
        </p:txBody>
      </p:sp>
      <p:sp>
        <p:nvSpPr>
          <p:cNvPr id="63490" name="Rectangle 2">
            <a:extLst>
              <a:ext uri="{FF2B5EF4-FFF2-40B4-BE49-F238E27FC236}">
                <a16:creationId xmlns:a16="http://schemas.microsoft.com/office/drawing/2014/main" id="{2A9924F6-22BF-3443-A9E3-88296A7AD0F0}"/>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63491" name="Rectangle 3">
            <a:extLst>
              <a:ext uri="{FF2B5EF4-FFF2-40B4-BE49-F238E27FC236}">
                <a16:creationId xmlns:a16="http://schemas.microsoft.com/office/drawing/2014/main" id="{C4DC1D3A-E739-3C49-979D-C97D09EB465B}"/>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55B23B04-DC00-8B4A-980E-8FF422F0C1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D7EAFE8A-11C4-564E-94A5-5141107C5F1E}" type="slidenum">
              <a:rPr lang="en-US" altLang="en-US" sz="1200" smtClean="0"/>
              <a:pPr/>
              <a:t>26</a:t>
            </a:fld>
            <a:endParaRPr lang="en-US" altLang="en-US" sz="1200"/>
          </a:p>
        </p:txBody>
      </p:sp>
      <p:sp>
        <p:nvSpPr>
          <p:cNvPr id="65538" name="Rectangle 2">
            <a:extLst>
              <a:ext uri="{FF2B5EF4-FFF2-40B4-BE49-F238E27FC236}">
                <a16:creationId xmlns:a16="http://schemas.microsoft.com/office/drawing/2014/main" id="{1DAF2432-E704-C341-A8B1-A3A9209D20A0}"/>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65539" name="Rectangle 3">
            <a:extLst>
              <a:ext uri="{FF2B5EF4-FFF2-40B4-BE49-F238E27FC236}">
                <a16:creationId xmlns:a16="http://schemas.microsoft.com/office/drawing/2014/main" id="{D4DA86AD-77CA-3843-82D6-388D5D51E711}"/>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a:extLst>
              <a:ext uri="{FF2B5EF4-FFF2-40B4-BE49-F238E27FC236}">
                <a16:creationId xmlns:a16="http://schemas.microsoft.com/office/drawing/2014/main" id="{A92BE941-87AF-CA4F-97E0-45429FE879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E97CFD5-89F9-F34C-B2E3-5C18D4E96528}" type="slidenum">
              <a:rPr lang="en-US" altLang="en-US" sz="1200" smtClean="0"/>
              <a:pPr/>
              <a:t>27</a:t>
            </a:fld>
            <a:endParaRPr lang="en-US" altLang="en-US" sz="1200"/>
          </a:p>
        </p:txBody>
      </p:sp>
      <p:sp>
        <p:nvSpPr>
          <p:cNvPr id="67586" name="Rectangle 2">
            <a:extLst>
              <a:ext uri="{FF2B5EF4-FFF2-40B4-BE49-F238E27FC236}">
                <a16:creationId xmlns:a16="http://schemas.microsoft.com/office/drawing/2014/main" id="{54F3312B-0130-B640-A470-D61632AD39E9}"/>
              </a:ext>
            </a:extLst>
          </p:cNvPr>
          <p:cNvSpPr>
            <a:spLocks noGrp="1" noRot="1" noChangeAspect="1" noChangeArrowheads="1" noTextEdit="1"/>
          </p:cNvSpPr>
          <p:nvPr>
            <p:ph type="sldImg"/>
          </p:nvPr>
        </p:nvSpPr>
        <p:spPr>
          <a:xfrm>
            <a:off x="381000" y="685800"/>
            <a:ext cx="6096000" cy="3429000"/>
          </a:xfrm>
          <a:ln/>
        </p:spPr>
      </p:sp>
      <p:sp>
        <p:nvSpPr>
          <p:cNvPr id="67587" name="Rectangle 3">
            <a:extLst>
              <a:ext uri="{FF2B5EF4-FFF2-40B4-BE49-F238E27FC236}">
                <a16:creationId xmlns:a16="http://schemas.microsoft.com/office/drawing/2014/main" id="{A8C9C5BB-09C1-B544-8903-E1487D14A2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a:extLst>
              <a:ext uri="{FF2B5EF4-FFF2-40B4-BE49-F238E27FC236}">
                <a16:creationId xmlns:a16="http://schemas.microsoft.com/office/drawing/2014/main" id="{03FC13F9-EAA9-1345-BEFC-77268DFD6B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2081C2A7-EF6D-9241-8164-0D99AFCAB934}" type="slidenum">
              <a:rPr lang="en-US" altLang="en-US" sz="1200" smtClean="0"/>
              <a:pPr/>
              <a:t>28</a:t>
            </a:fld>
            <a:endParaRPr lang="en-US" altLang="en-US" sz="1200"/>
          </a:p>
        </p:txBody>
      </p:sp>
      <p:sp>
        <p:nvSpPr>
          <p:cNvPr id="69634" name="Rectangle 2">
            <a:extLst>
              <a:ext uri="{FF2B5EF4-FFF2-40B4-BE49-F238E27FC236}">
                <a16:creationId xmlns:a16="http://schemas.microsoft.com/office/drawing/2014/main" id="{41AC8CE9-6CEC-8845-8C73-6799B8ED8E36}"/>
              </a:ext>
            </a:extLst>
          </p:cNvPr>
          <p:cNvSpPr>
            <a:spLocks noGrp="1" noRot="1" noChangeAspect="1" noChangeArrowheads="1" noTextEdit="1"/>
          </p:cNvSpPr>
          <p:nvPr>
            <p:ph type="sldImg"/>
          </p:nvPr>
        </p:nvSpPr>
        <p:spPr>
          <a:xfrm>
            <a:off x="381000" y="685800"/>
            <a:ext cx="6096000" cy="3429000"/>
          </a:xfrm>
          <a:ln/>
        </p:spPr>
      </p:sp>
      <p:sp>
        <p:nvSpPr>
          <p:cNvPr id="69635" name="Rectangle 3">
            <a:extLst>
              <a:ext uri="{FF2B5EF4-FFF2-40B4-BE49-F238E27FC236}">
                <a16:creationId xmlns:a16="http://schemas.microsoft.com/office/drawing/2014/main" id="{737ABBE3-6A34-5641-97C7-88174E6EE0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a:extLst>
              <a:ext uri="{FF2B5EF4-FFF2-40B4-BE49-F238E27FC236}">
                <a16:creationId xmlns:a16="http://schemas.microsoft.com/office/drawing/2014/main" id="{4A5D49CE-A171-6946-B365-DDADB6907A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9CFDE03A-E109-9B4A-9BA0-4428192B3339}" type="slidenum">
              <a:rPr lang="en-US" altLang="en-US" sz="1200" smtClean="0"/>
              <a:pPr/>
              <a:t>29</a:t>
            </a:fld>
            <a:endParaRPr lang="en-US" altLang="en-US" sz="1200"/>
          </a:p>
        </p:txBody>
      </p:sp>
      <p:sp>
        <p:nvSpPr>
          <p:cNvPr id="71682" name="Rectangle 2">
            <a:extLst>
              <a:ext uri="{FF2B5EF4-FFF2-40B4-BE49-F238E27FC236}">
                <a16:creationId xmlns:a16="http://schemas.microsoft.com/office/drawing/2014/main" id="{AAC72180-D57D-FC43-B13D-84E93E77BCA3}"/>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71683" name="Rectangle 3">
            <a:extLst>
              <a:ext uri="{FF2B5EF4-FFF2-40B4-BE49-F238E27FC236}">
                <a16:creationId xmlns:a16="http://schemas.microsoft.com/office/drawing/2014/main" id="{232F6B42-0A32-EA46-88F2-83867B602A7B}"/>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8">
            <a:extLst>
              <a:ext uri="{FF2B5EF4-FFF2-40B4-BE49-F238E27FC236}">
                <a16:creationId xmlns:a16="http://schemas.microsoft.com/office/drawing/2014/main" id="{2BF0DFA3-6678-FE4F-9B23-A65370E613A3}"/>
              </a:ext>
            </a:extLst>
          </p:cNvPr>
          <p:cNvGrpSpPr>
            <a:grpSpLocks/>
          </p:cNvGrpSpPr>
          <p:nvPr/>
        </p:nvGrpSpPr>
        <p:grpSpPr bwMode="auto">
          <a:xfrm flipH="1">
            <a:off x="1447800" y="1714500"/>
            <a:ext cx="7010400" cy="57150"/>
            <a:chOff x="0" y="905"/>
            <a:chExt cx="5282" cy="103"/>
          </a:xfrm>
        </p:grpSpPr>
        <p:grpSp>
          <p:nvGrpSpPr>
            <p:cNvPr id="5" name="Group 9">
              <a:extLst>
                <a:ext uri="{FF2B5EF4-FFF2-40B4-BE49-F238E27FC236}">
                  <a16:creationId xmlns:a16="http://schemas.microsoft.com/office/drawing/2014/main" id="{4EECC484-F07B-D844-B96E-20DE1C623310}"/>
                </a:ext>
              </a:extLst>
            </p:cNvPr>
            <p:cNvGrpSpPr>
              <a:grpSpLocks/>
            </p:cNvGrpSpPr>
            <p:nvPr/>
          </p:nvGrpSpPr>
          <p:grpSpPr bwMode="auto">
            <a:xfrm>
              <a:off x="5158" y="905"/>
              <a:ext cx="124" cy="103"/>
              <a:chOff x="5158" y="905"/>
              <a:chExt cx="124" cy="103"/>
            </a:xfrm>
          </p:grpSpPr>
          <p:sp>
            <p:nvSpPr>
              <p:cNvPr id="20" name="Rectangle 10">
                <a:extLst>
                  <a:ext uri="{FF2B5EF4-FFF2-40B4-BE49-F238E27FC236}">
                    <a16:creationId xmlns:a16="http://schemas.microsoft.com/office/drawing/2014/main" id="{91626018-4216-C44E-935D-29470EB3D851}"/>
                  </a:ext>
                </a:extLst>
              </p:cNvPr>
              <p:cNvSpPr>
                <a:spLocks noChangeArrowheads="1"/>
              </p:cNvSpPr>
              <p:nvPr/>
            </p:nvSpPr>
            <p:spPr bwMode="auto">
              <a:xfrm>
                <a:off x="5252" y="905"/>
                <a:ext cx="3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21" name="Rectangle 11">
                <a:extLst>
                  <a:ext uri="{FF2B5EF4-FFF2-40B4-BE49-F238E27FC236}">
                    <a16:creationId xmlns:a16="http://schemas.microsoft.com/office/drawing/2014/main" id="{2DD35798-8B32-104F-9D81-EB25BE868D6D}"/>
                  </a:ext>
                </a:extLst>
              </p:cNvPr>
              <p:cNvSpPr>
                <a:spLocks noChangeArrowheads="1"/>
              </p:cNvSpPr>
              <p:nvPr/>
            </p:nvSpPr>
            <p:spPr bwMode="auto">
              <a:xfrm>
                <a:off x="5158" y="905"/>
                <a:ext cx="6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6" name="Group 12">
              <a:extLst>
                <a:ext uri="{FF2B5EF4-FFF2-40B4-BE49-F238E27FC236}">
                  <a16:creationId xmlns:a16="http://schemas.microsoft.com/office/drawing/2014/main" id="{410B0E2B-ED30-F148-9DF9-F82C0399D91F}"/>
                </a:ext>
              </a:extLst>
            </p:cNvPr>
            <p:cNvGrpSpPr>
              <a:grpSpLocks/>
            </p:cNvGrpSpPr>
            <p:nvPr/>
          </p:nvGrpSpPr>
          <p:grpSpPr bwMode="auto">
            <a:xfrm>
              <a:off x="4848" y="905"/>
              <a:ext cx="263" cy="103"/>
              <a:chOff x="4848" y="905"/>
              <a:chExt cx="263" cy="103"/>
            </a:xfrm>
          </p:grpSpPr>
          <p:sp>
            <p:nvSpPr>
              <p:cNvPr id="18" name="Rectangle 13">
                <a:extLst>
                  <a:ext uri="{FF2B5EF4-FFF2-40B4-BE49-F238E27FC236}">
                    <a16:creationId xmlns:a16="http://schemas.microsoft.com/office/drawing/2014/main" id="{0064018A-4062-D541-9C90-9063B79D7378}"/>
                  </a:ext>
                </a:extLst>
              </p:cNvPr>
              <p:cNvSpPr>
                <a:spLocks noChangeArrowheads="1"/>
              </p:cNvSpPr>
              <p:nvPr/>
            </p:nvSpPr>
            <p:spPr bwMode="auto">
              <a:xfrm>
                <a:off x="5018" y="905"/>
                <a:ext cx="93"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9" name="Rectangle 14">
                <a:extLst>
                  <a:ext uri="{FF2B5EF4-FFF2-40B4-BE49-F238E27FC236}">
                    <a16:creationId xmlns:a16="http://schemas.microsoft.com/office/drawing/2014/main" id="{7F9D76DE-956F-734E-B3D8-2AC8390BC9AB}"/>
                  </a:ext>
                </a:extLst>
              </p:cNvPr>
              <p:cNvSpPr>
                <a:spLocks noChangeArrowheads="1"/>
              </p:cNvSpPr>
              <p:nvPr/>
            </p:nvSpPr>
            <p:spPr bwMode="auto">
              <a:xfrm>
                <a:off x="4848" y="905"/>
                <a:ext cx="12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7" name="Group 15">
              <a:extLst>
                <a:ext uri="{FF2B5EF4-FFF2-40B4-BE49-F238E27FC236}">
                  <a16:creationId xmlns:a16="http://schemas.microsoft.com/office/drawing/2014/main" id="{E63D0747-76BA-AD4F-B0D3-B9977085A9A8}"/>
                </a:ext>
              </a:extLst>
            </p:cNvPr>
            <p:cNvGrpSpPr>
              <a:grpSpLocks/>
            </p:cNvGrpSpPr>
            <p:nvPr/>
          </p:nvGrpSpPr>
          <p:grpSpPr bwMode="auto">
            <a:xfrm>
              <a:off x="4418" y="905"/>
              <a:ext cx="386" cy="103"/>
              <a:chOff x="4418" y="905"/>
              <a:chExt cx="386" cy="103"/>
            </a:xfrm>
          </p:grpSpPr>
          <p:sp>
            <p:nvSpPr>
              <p:cNvPr id="16" name="Rectangle 16">
                <a:extLst>
                  <a:ext uri="{FF2B5EF4-FFF2-40B4-BE49-F238E27FC236}">
                    <a16:creationId xmlns:a16="http://schemas.microsoft.com/office/drawing/2014/main" id="{A7BEA727-32DF-5D41-BD04-18AC55BBC120}"/>
                  </a:ext>
                </a:extLst>
              </p:cNvPr>
              <p:cNvSpPr>
                <a:spLocks noChangeArrowheads="1"/>
              </p:cNvSpPr>
              <p:nvPr/>
            </p:nvSpPr>
            <p:spPr bwMode="auto">
              <a:xfrm>
                <a:off x="4650" y="905"/>
                <a:ext cx="152"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7" name="Rectangle 17">
                <a:extLst>
                  <a:ext uri="{FF2B5EF4-FFF2-40B4-BE49-F238E27FC236}">
                    <a16:creationId xmlns:a16="http://schemas.microsoft.com/office/drawing/2014/main" id="{CD0D6B13-774D-6844-B9F6-B98E2595A059}"/>
                  </a:ext>
                </a:extLst>
              </p:cNvPr>
              <p:cNvSpPr>
                <a:spLocks noChangeArrowheads="1"/>
              </p:cNvSpPr>
              <p:nvPr/>
            </p:nvSpPr>
            <p:spPr bwMode="auto">
              <a:xfrm>
                <a:off x="4418" y="905"/>
                <a:ext cx="189"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8" name="Group 18">
              <a:extLst>
                <a:ext uri="{FF2B5EF4-FFF2-40B4-BE49-F238E27FC236}">
                  <a16:creationId xmlns:a16="http://schemas.microsoft.com/office/drawing/2014/main" id="{C59C22A7-8E31-2340-BC3C-DF1F2C5C8B20}"/>
                </a:ext>
              </a:extLst>
            </p:cNvPr>
            <p:cNvGrpSpPr>
              <a:grpSpLocks/>
            </p:cNvGrpSpPr>
            <p:nvPr/>
          </p:nvGrpSpPr>
          <p:grpSpPr bwMode="auto">
            <a:xfrm>
              <a:off x="3183" y="905"/>
              <a:ext cx="1191" cy="103"/>
              <a:chOff x="3183" y="905"/>
              <a:chExt cx="1191" cy="103"/>
            </a:xfrm>
          </p:grpSpPr>
          <p:sp>
            <p:nvSpPr>
              <p:cNvPr id="12" name="Rectangle 19">
                <a:extLst>
                  <a:ext uri="{FF2B5EF4-FFF2-40B4-BE49-F238E27FC236}">
                    <a16:creationId xmlns:a16="http://schemas.microsoft.com/office/drawing/2014/main" id="{F4A82BE1-108E-A340-B04E-65120D3FB645}"/>
                  </a:ext>
                </a:extLst>
              </p:cNvPr>
              <p:cNvSpPr>
                <a:spLocks noChangeArrowheads="1"/>
              </p:cNvSpPr>
              <p:nvPr/>
            </p:nvSpPr>
            <p:spPr bwMode="auto">
              <a:xfrm>
                <a:off x="3558"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3" name="Rectangle 20">
                <a:extLst>
                  <a:ext uri="{FF2B5EF4-FFF2-40B4-BE49-F238E27FC236}">
                    <a16:creationId xmlns:a16="http://schemas.microsoft.com/office/drawing/2014/main" id="{4E496FE5-9BA5-D240-A35F-6A71D6F3E093}"/>
                  </a:ext>
                </a:extLst>
              </p:cNvPr>
              <p:cNvSpPr>
                <a:spLocks noChangeArrowheads="1"/>
              </p:cNvSpPr>
              <p:nvPr/>
            </p:nvSpPr>
            <p:spPr bwMode="auto">
              <a:xfrm>
                <a:off x="4156" y="905"/>
                <a:ext cx="218"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4" name="Rectangle 21">
                <a:extLst>
                  <a:ext uri="{FF2B5EF4-FFF2-40B4-BE49-F238E27FC236}">
                    <a16:creationId xmlns:a16="http://schemas.microsoft.com/office/drawing/2014/main" id="{51E1E95F-AC64-5C49-A40D-9888C30135A7}"/>
                  </a:ext>
                </a:extLst>
              </p:cNvPr>
              <p:cNvSpPr>
                <a:spLocks noChangeArrowheads="1"/>
              </p:cNvSpPr>
              <p:nvPr/>
            </p:nvSpPr>
            <p:spPr bwMode="auto">
              <a:xfrm>
                <a:off x="3865"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5" name="Rectangle 22">
                <a:extLst>
                  <a:ext uri="{FF2B5EF4-FFF2-40B4-BE49-F238E27FC236}">
                    <a16:creationId xmlns:a16="http://schemas.microsoft.com/office/drawing/2014/main" id="{DD5CE1D7-1411-5A48-8C1B-A21B1E12BED5}"/>
                  </a:ext>
                </a:extLst>
              </p:cNvPr>
              <p:cNvSpPr>
                <a:spLocks noChangeArrowheads="1"/>
              </p:cNvSpPr>
              <p:nvPr/>
            </p:nvSpPr>
            <p:spPr bwMode="auto">
              <a:xfrm>
                <a:off x="3183" y="905"/>
                <a:ext cx="315"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9" name="Group 23">
              <a:extLst>
                <a:ext uri="{FF2B5EF4-FFF2-40B4-BE49-F238E27FC236}">
                  <a16:creationId xmlns:a16="http://schemas.microsoft.com/office/drawing/2014/main" id="{44BF9323-685D-6D48-86F4-EADFA65249FB}"/>
                </a:ext>
              </a:extLst>
            </p:cNvPr>
            <p:cNvGrpSpPr>
              <a:grpSpLocks/>
            </p:cNvGrpSpPr>
            <p:nvPr/>
          </p:nvGrpSpPr>
          <p:grpSpPr bwMode="auto">
            <a:xfrm>
              <a:off x="0" y="905"/>
              <a:ext cx="3143" cy="103"/>
              <a:chOff x="0" y="905"/>
              <a:chExt cx="3143" cy="103"/>
            </a:xfrm>
          </p:grpSpPr>
          <p:sp>
            <p:nvSpPr>
              <p:cNvPr id="10" name="Rectangle 24">
                <a:extLst>
                  <a:ext uri="{FF2B5EF4-FFF2-40B4-BE49-F238E27FC236}">
                    <a16:creationId xmlns:a16="http://schemas.microsoft.com/office/drawing/2014/main" id="{73CE666A-E2B7-0346-ACEF-77FDCF4292F6}"/>
                  </a:ext>
                </a:extLst>
              </p:cNvPr>
              <p:cNvSpPr>
                <a:spLocks noChangeArrowheads="1"/>
              </p:cNvSpPr>
              <p:nvPr/>
            </p:nvSpPr>
            <p:spPr bwMode="auto">
              <a:xfrm>
                <a:off x="2799" y="905"/>
                <a:ext cx="344"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1" name="Rectangle 25">
                <a:extLst>
                  <a:ext uri="{FF2B5EF4-FFF2-40B4-BE49-F238E27FC236}">
                    <a16:creationId xmlns:a16="http://schemas.microsoft.com/office/drawing/2014/main" id="{2D786B34-D524-7040-924C-E406A7911E51}"/>
                  </a:ext>
                </a:extLst>
              </p:cNvPr>
              <p:cNvSpPr>
                <a:spLocks noChangeArrowheads="1"/>
              </p:cNvSpPr>
              <p:nvPr/>
            </p:nvSpPr>
            <p:spPr bwMode="auto">
              <a:xfrm>
                <a:off x="0" y="905"/>
                <a:ext cx="275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pic>
        <p:nvPicPr>
          <p:cNvPr id="22" name="Picture 26">
            <a:extLst>
              <a:ext uri="{FF2B5EF4-FFF2-40B4-BE49-F238E27FC236}">
                <a16:creationId xmlns:a16="http://schemas.microsoft.com/office/drawing/2014/main" id="{F2741114-EEEA-164F-95B1-06D66670F53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0829" t="11624" r="16043" b="11624"/>
          <a:stretch>
            <a:fillRect/>
          </a:stretch>
        </p:blipFill>
        <p:spPr bwMode="auto">
          <a:xfrm>
            <a:off x="0" y="971550"/>
            <a:ext cx="1963738" cy="1600200"/>
          </a:xfrm>
          <a:prstGeom prst="rect">
            <a:avLst/>
          </a:prstGeom>
          <a:noFill/>
          <a:ln>
            <a:noFill/>
          </a:ln>
          <a:extLst>
            <a:ext uri="{909E8E84-426E-40DD-AFC4-6F175D3DCCD1}">
              <a14:hiddenFill xmlns:a14="http://schemas.microsoft.com/office/drawing/2010/main">
                <a:solidFill>
                  <a:srgbClr val="FFFFFF">
                    <a:alpha val="9019"/>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 name="Rectangle 3"/>
          <p:cNvSpPr>
            <a:spLocks noGrp="1" noChangeArrowheads="1"/>
          </p:cNvSpPr>
          <p:nvPr>
            <p:ph type="ctrTitle"/>
          </p:nvPr>
        </p:nvSpPr>
        <p:spPr>
          <a:xfrm>
            <a:off x="1905000" y="914400"/>
            <a:ext cx="6578600" cy="685800"/>
          </a:xfrm>
        </p:spPr>
        <p:txBody>
          <a:bodyPr/>
          <a:lstStyle>
            <a:lvl1pPr>
              <a:defRPr/>
            </a:lvl1pPr>
          </a:lstStyle>
          <a:p>
            <a:r>
              <a:rPr lang="en-US"/>
              <a:t>Click to edit Master title style</a:t>
            </a:r>
          </a:p>
        </p:txBody>
      </p:sp>
      <p:sp>
        <p:nvSpPr>
          <p:cNvPr id="4100" name="Rectangle 4"/>
          <p:cNvSpPr>
            <a:spLocks noGrp="1" noChangeArrowheads="1"/>
          </p:cNvSpPr>
          <p:nvPr>
            <p:ph type="subTitle" idx="1"/>
          </p:nvPr>
        </p:nvSpPr>
        <p:spPr>
          <a:xfrm>
            <a:off x="1981200" y="2914650"/>
            <a:ext cx="5638800" cy="1328738"/>
          </a:xfrm>
        </p:spPr>
        <p:txBody>
          <a:bodyPr/>
          <a:lstStyle>
            <a:lvl1pPr marL="0" indent="0">
              <a:buFont typeface="Wingdings" pitchFamily="-110" charset="2"/>
              <a:buNone/>
              <a:defRPr>
                <a:solidFill>
                  <a:srgbClr val="666666"/>
                </a:solidFill>
              </a:defRPr>
            </a:lvl1pPr>
          </a:lstStyle>
          <a:p>
            <a:r>
              <a:rPr lang="en-US"/>
              <a:t>Click to edit Master subtitle style</a:t>
            </a:r>
          </a:p>
        </p:txBody>
      </p:sp>
      <p:sp>
        <p:nvSpPr>
          <p:cNvPr id="23" name="Rectangle 5">
            <a:extLst>
              <a:ext uri="{FF2B5EF4-FFF2-40B4-BE49-F238E27FC236}">
                <a16:creationId xmlns:a16="http://schemas.microsoft.com/office/drawing/2014/main" id="{55CCE881-A8D4-2040-A268-84EF420CCD66}"/>
              </a:ext>
            </a:extLst>
          </p:cNvPr>
          <p:cNvSpPr>
            <a:spLocks noGrp="1" noChangeArrowheads="1"/>
          </p:cNvSpPr>
          <p:nvPr>
            <p:ph type="dt" sz="half" idx="10"/>
          </p:nvPr>
        </p:nvSpPr>
        <p:spPr>
          <a:xfrm>
            <a:off x="711200" y="4672012"/>
            <a:ext cx="1930400" cy="385763"/>
          </a:xfrm>
        </p:spPr>
        <p:txBody>
          <a:bodyPr/>
          <a:lstStyle>
            <a:lvl1pPr>
              <a:defRPr sz="1050">
                <a:solidFill>
                  <a:srgbClr val="5E574E"/>
                </a:solidFill>
                <a:latin typeface="Comic Sans MS" pitchFamily="-110" charset="0"/>
                <a:ea typeface="+mn-ea"/>
              </a:defRPr>
            </a:lvl1pPr>
          </a:lstStyle>
          <a:p>
            <a:pPr>
              <a:defRPr/>
            </a:pPr>
            <a:fld id="{A73CB773-CEC5-D440-8B91-1E178CEBBA26}" type="datetime4">
              <a:rPr lang="en-US"/>
              <a:pPr>
                <a:defRPr/>
              </a:pPr>
              <a:t>January 24, 2021</a:t>
            </a:fld>
            <a:endParaRPr lang="en-US"/>
          </a:p>
        </p:txBody>
      </p:sp>
      <p:sp>
        <p:nvSpPr>
          <p:cNvPr id="24" name="Rectangle 6">
            <a:extLst>
              <a:ext uri="{FF2B5EF4-FFF2-40B4-BE49-F238E27FC236}">
                <a16:creationId xmlns:a16="http://schemas.microsoft.com/office/drawing/2014/main" id="{117EEFB0-05C2-274F-BBA9-E6882B11D70E}"/>
              </a:ext>
            </a:extLst>
          </p:cNvPr>
          <p:cNvSpPr>
            <a:spLocks noGrp="1" noChangeArrowheads="1"/>
          </p:cNvSpPr>
          <p:nvPr>
            <p:ph type="ftr" sz="quarter" idx="11"/>
          </p:nvPr>
        </p:nvSpPr>
        <p:spPr>
          <a:xfrm>
            <a:off x="3149600" y="4672012"/>
            <a:ext cx="2844800" cy="385763"/>
          </a:xfrm>
        </p:spPr>
        <p:txBody>
          <a:bodyPr/>
          <a:lstStyle>
            <a:lvl1pPr>
              <a:defRPr sz="1050">
                <a:solidFill>
                  <a:srgbClr val="5E574E"/>
                </a:solidFill>
                <a:latin typeface="Comic Sans MS" pitchFamily="-110" charset="0"/>
                <a:ea typeface="+mn-ea"/>
              </a:defRPr>
            </a:lvl1pPr>
          </a:lstStyle>
          <a:p>
            <a:pPr>
              <a:defRPr/>
            </a:pPr>
            <a:r>
              <a:rPr lang="tr-TR"/>
              <a:t>PSYCH 4041 / 6014</a:t>
            </a:r>
            <a:endParaRPr lang="en-US"/>
          </a:p>
        </p:txBody>
      </p:sp>
      <p:sp>
        <p:nvSpPr>
          <p:cNvPr id="25" name="Rectangle 7">
            <a:extLst>
              <a:ext uri="{FF2B5EF4-FFF2-40B4-BE49-F238E27FC236}">
                <a16:creationId xmlns:a16="http://schemas.microsoft.com/office/drawing/2014/main" id="{64845BCB-98EA-844C-94A6-FB365159E848}"/>
              </a:ext>
            </a:extLst>
          </p:cNvPr>
          <p:cNvSpPr>
            <a:spLocks noGrp="1" noChangeArrowheads="1"/>
          </p:cNvSpPr>
          <p:nvPr>
            <p:ph type="sldNum" sz="quarter" idx="12"/>
          </p:nvPr>
        </p:nvSpPr>
        <p:spPr>
          <a:xfrm>
            <a:off x="6604000" y="4672012"/>
            <a:ext cx="1828800" cy="385763"/>
          </a:xfrm>
        </p:spPr>
        <p:txBody>
          <a:bodyPr/>
          <a:lstStyle>
            <a:lvl1pPr>
              <a:defRPr sz="1050">
                <a:solidFill>
                  <a:srgbClr val="5E574E"/>
                </a:solidFill>
                <a:latin typeface="Comic Sans MS" charset="0"/>
              </a:defRPr>
            </a:lvl1pPr>
          </a:lstStyle>
          <a:p>
            <a:pPr>
              <a:defRPr/>
            </a:pPr>
            <a:fld id="{92DC4404-2F15-3F45-8888-95924375BD0C}" type="slidenum">
              <a:rPr lang="en-US" altLang="en-US"/>
              <a:pPr>
                <a:defRPr/>
              </a:pPr>
              <a:t>‹#›</a:t>
            </a:fld>
            <a:endParaRPr lang="en-US" altLang="en-US"/>
          </a:p>
        </p:txBody>
      </p:sp>
    </p:spTree>
    <p:extLst>
      <p:ext uri="{BB962C8B-B14F-4D97-AF65-F5344CB8AC3E}">
        <p14:creationId xmlns:p14="http://schemas.microsoft.com/office/powerpoint/2010/main" val="3605342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2">
            <a:extLst>
              <a:ext uri="{FF2B5EF4-FFF2-40B4-BE49-F238E27FC236}">
                <a16:creationId xmlns:a16="http://schemas.microsoft.com/office/drawing/2014/main" id="{14707B4C-EF31-F647-A71D-AB9270757B77}"/>
              </a:ext>
            </a:extLst>
          </p:cNvPr>
          <p:cNvSpPr>
            <a:spLocks noGrp="1" noChangeArrowheads="1"/>
          </p:cNvSpPr>
          <p:nvPr>
            <p:ph type="dt" sz="half" idx="10"/>
          </p:nvPr>
        </p:nvSpPr>
        <p:spPr>
          <a:ln/>
        </p:spPr>
        <p:txBody>
          <a:bodyPr/>
          <a:lstStyle>
            <a:lvl1pPr>
              <a:defRPr/>
            </a:lvl1pPr>
          </a:lstStyle>
          <a:p>
            <a:pPr>
              <a:defRPr/>
            </a:pPr>
            <a:fld id="{112A986E-296C-E749-8F65-D992795A84A2}"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AF52C9EA-3740-1242-B25F-606A9B965FA4}"/>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DB0D6FD0-1E2B-B947-8AA4-2626311FAD57}"/>
              </a:ext>
            </a:extLst>
          </p:cNvPr>
          <p:cNvSpPr>
            <a:spLocks noGrp="1" noChangeArrowheads="1"/>
          </p:cNvSpPr>
          <p:nvPr>
            <p:ph type="sldNum" sz="quarter" idx="12"/>
          </p:nvPr>
        </p:nvSpPr>
        <p:spPr>
          <a:ln/>
        </p:spPr>
        <p:txBody>
          <a:bodyPr/>
          <a:lstStyle>
            <a:lvl1pPr>
              <a:defRPr/>
            </a:lvl1pPr>
          </a:lstStyle>
          <a:p>
            <a:pPr>
              <a:defRPr/>
            </a:pPr>
            <a:fld id="{4CA8C557-DD77-1748-8E31-6A889C9DF817}"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297535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22">
            <a:extLst>
              <a:ext uri="{FF2B5EF4-FFF2-40B4-BE49-F238E27FC236}">
                <a16:creationId xmlns:a16="http://schemas.microsoft.com/office/drawing/2014/main" id="{2AAD0317-70F0-B94C-BB39-0ABC55091889}"/>
              </a:ext>
            </a:extLst>
          </p:cNvPr>
          <p:cNvSpPr>
            <a:spLocks noGrp="1" noChangeArrowheads="1"/>
          </p:cNvSpPr>
          <p:nvPr>
            <p:ph type="dt" sz="half" idx="10"/>
          </p:nvPr>
        </p:nvSpPr>
        <p:spPr>
          <a:ln/>
        </p:spPr>
        <p:txBody>
          <a:bodyPr/>
          <a:lstStyle>
            <a:lvl1pPr>
              <a:defRPr/>
            </a:lvl1pPr>
          </a:lstStyle>
          <a:p>
            <a:pPr>
              <a:defRPr/>
            </a:pPr>
            <a:fld id="{3AEFB91E-E5BD-EE4D-A07A-55C24F14E2A0}"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AF8651DA-9710-F84C-A4F3-F020DF00D2C8}"/>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507A8183-A5F2-6242-BF9B-0B1220BE0006}"/>
              </a:ext>
            </a:extLst>
          </p:cNvPr>
          <p:cNvSpPr>
            <a:spLocks noGrp="1" noChangeArrowheads="1"/>
          </p:cNvSpPr>
          <p:nvPr>
            <p:ph type="sldNum" sz="quarter" idx="12"/>
          </p:nvPr>
        </p:nvSpPr>
        <p:spPr>
          <a:ln/>
        </p:spPr>
        <p:txBody>
          <a:bodyPr/>
          <a:lstStyle>
            <a:lvl1pPr>
              <a:defRPr/>
            </a:lvl1pPr>
          </a:lstStyle>
          <a:p>
            <a:pPr>
              <a:defRPr/>
            </a:pPr>
            <a:fld id="{CBB7A264-F09C-6F45-A315-515D1A577834}"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3397080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685800"/>
            <a:ext cx="4229100" cy="41719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685800"/>
            <a:ext cx="4229100" cy="41719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2">
            <a:extLst>
              <a:ext uri="{FF2B5EF4-FFF2-40B4-BE49-F238E27FC236}">
                <a16:creationId xmlns:a16="http://schemas.microsoft.com/office/drawing/2014/main" id="{D983D188-7D1A-E241-87AB-E2B86283B338}"/>
              </a:ext>
            </a:extLst>
          </p:cNvPr>
          <p:cNvSpPr>
            <a:spLocks noGrp="1" noChangeArrowheads="1"/>
          </p:cNvSpPr>
          <p:nvPr>
            <p:ph type="dt" sz="half" idx="10"/>
          </p:nvPr>
        </p:nvSpPr>
        <p:spPr>
          <a:ln/>
        </p:spPr>
        <p:txBody>
          <a:bodyPr/>
          <a:lstStyle>
            <a:lvl1pPr>
              <a:defRPr/>
            </a:lvl1pPr>
          </a:lstStyle>
          <a:p>
            <a:pPr>
              <a:defRPr/>
            </a:pPr>
            <a:fld id="{5E4FAFA1-DCDB-CE44-B4D9-18A612C40F1D}" type="datetime4">
              <a:rPr lang="en-US" altLang="en-US"/>
              <a:pPr>
                <a:defRPr/>
              </a:pPr>
              <a:t>January 24, 2021</a:t>
            </a:fld>
            <a:endParaRPr lang="en-US" altLang="en-US" sz="1050">
              <a:latin typeface="Comic Sans MS" charset="0"/>
            </a:endParaRPr>
          </a:p>
        </p:txBody>
      </p:sp>
      <p:sp>
        <p:nvSpPr>
          <p:cNvPr id="6" name="Rectangle 23">
            <a:extLst>
              <a:ext uri="{FF2B5EF4-FFF2-40B4-BE49-F238E27FC236}">
                <a16:creationId xmlns:a16="http://schemas.microsoft.com/office/drawing/2014/main" id="{4A0E4F64-8C63-0343-95FD-3EEC79C18542}"/>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7" name="Rectangle 24">
            <a:extLst>
              <a:ext uri="{FF2B5EF4-FFF2-40B4-BE49-F238E27FC236}">
                <a16:creationId xmlns:a16="http://schemas.microsoft.com/office/drawing/2014/main" id="{65E5D3CE-E485-7646-A6AA-90EA12B0027B}"/>
              </a:ext>
            </a:extLst>
          </p:cNvPr>
          <p:cNvSpPr>
            <a:spLocks noGrp="1" noChangeArrowheads="1"/>
          </p:cNvSpPr>
          <p:nvPr>
            <p:ph type="sldNum" sz="quarter" idx="12"/>
          </p:nvPr>
        </p:nvSpPr>
        <p:spPr>
          <a:ln/>
        </p:spPr>
        <p:txBody>
          <a:bodyPr/>
          <a:lstStyle>
            <a:lvl1pPr>
              <a:defRPr/>
            </a:lvl1pPr>
          </a:lstStyle>
          <a:p>
            <a:pPr>
              <a:defRPr/>
            </a:pPr>
            <a:fld id="{7338305D-A1B6-6C4B-91E3-9F068766A850}"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4025012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2">
            <a:extLst>
              <a:ext uri="{FF2B5EF4-FFF2-40B4-BE49-F238E27FC236}">
                <a16:creationId xmlns:a16="http://schemas.microsoft.com/office/drawing/2014/main" id="{5CB8646C-A46B-4E4E-8ADB-C8886DE1E675}"/>
              </a:ext>
            </a:extLst>
          </p:cNvPr>
          <p:cNvSpPr>
            <a:spLocks noGrp="1" noChangeArrowheads="1"/>
          </p:cNvSpPr>
          <p:nvPr>
            <p:ph type="dt" sz="half" idx="10"/>
          </p:nvPr>
        </p:nvSpPr>
        <p:spPr>
          <a:ln/>
        </p:spPr>
        <p:txBody>
          <a:bodyPr/>
          <a:lstStyle>
            <a:lvl1pPr>
              <a:defRPr/>
            </a:lvl1pPr>
          </a:lstStyle>
          <a:p>
            <a:pPr>
              <a:defRPr/>
            </a:pPr>
            <a:fld id="{27BCF400-0009-1649-9396-428E256E23C8}" type="datetime4">
              <a:rPr lang="en-US" altLang="en-US"/>
              <a:pPr>
                <a:defRPr/>
              </a:pPr>
              <a:t>January 24, 2021</a:t>
            </a:fld>
            <a:endParaRPr lang="en-US" altLang="en-US" sz="1050">
              <a:latin typeface="Comic Sans MS" charset="0"/>
            </a:endParaRPr>
          </a:p>
        </p:txBody>
      </p:sp>
      <p:sp>
        <p:nvSpPr>
          <p:cNvPr id="8" name="Rectangle 23">
            <a:extLst>
              <a:ext uri="{FF2B5EF4-FFF2-40B4-BE49-F238E27FC236}">
                <a16:creationId xmlns:a16="http://schemas.microsoft.com/office/drawing/2014/main" id="{1EB6EA0A-C801-7F4A-A4F0-132FAB3E5286}"/>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9" name="Rectangle 24">
            <a:extLst>
              <a:ext uri="{FF2B5EF4-FFF2-40B4-BE49-F238E27FC236}">
                <a16:creationId xmlns:a16="http://schemas.microsoft.com/office/drawing/2014/main" id="{5CAEAF65-A737-AB43-855D-6546D3A5ECB8}"/>
              </a:ext>
            </a:extLst>
          </p:cNvPr>
          <p:cNvSpPr>
            <a:spLocks noGrp="1" noChangeArrowheads="1"/>
          </p:cNvSpPr>
          <p:nvPr>
            <p:ph type="sldNum" sz="quarter" idx="12"/>
          </p:nvPr>
        </p:nvSpPr>
        <p:spPr>
          <a:ln/>
        </p:spPr>
        <p:txBody>
          <a:bodyPr/>
          <a:lstStyle>
            <a:lvl1pPr>
              <a:defRPr/>
            </a:lvl1pPr>
          </a:lstStyle>
          <a:p>
            <a:pPr>
              <a:defRPr/>
            </a:pPr>
            <a:fld id="{13D68A71-039B-5F4A-92F9-F08AA422A93F}"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035920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2">
            <a:extLst>
              <a:ext uri="{FF2B5EF4-FFF2-40B4-BE49-F238E27FC236}">
                <a16:creationId xmlns:a16="http://schemas.microsoft.com/office/drawing/2014/main" id="{712B48F9-A9C4-6F4E-8616-FFF2506BD13B}"/>
              </a:ext>
            </a:extLst>
          </p:cNvPr>
          <p:cNvSpPr>
            <a:spLocks noGrp="1" noChangeArrowheads="1"/>
          </p:cNvSpPr>
          <p:nvPr>
            <p:ph type="dt" sz="half" idx="10"/>
          </p:nvPr>
        </p:nvSpPr>
        <p:spPr>
          <a:ln/>
        </p:spPr>
        <p:txBody>
          <a:bodyPr/>
          <a:lstStyle>
            <a:lvl1pPr>
              <a:defRPr/>
            </a:lvl1pPr>
          </a:lstStyle>
          <a:p>
            <a:pPr>
              <a:defRPr/>
            </a:pPr>
            <a:fld id="{05C1A236-52B5-6846-AA88-0CB948869D36}" type="datetime4">
              <a:rPr lang="en-US" altLang="en-US"/>
              <a:pPr>
                <a:defRPr/>
              </a:pPr>
              <a:t>January 24, 2021</a:t>
            </a:fld>
            <a:endParaRPr lang="en-US" altLang="en-US" sz="1050">
              <a:latin typeface="Comic Sans MS" charset="0"/>
            </a:endParaRPr>
          </a:p>
        </p:txBody>
      </p:sp>
      <p:sp>
        <p:nvSpPr>
          <p:cNvPr id="4" name="Rectangle 23">
            <a:extLst>
              <a:ext uri="{FF2B5EF4-FFF2-40B4-BE49-F238E27FC236}">
                <a16:creationId xmlns:a16="http://schemas.microsoft.com/office/drawing/2014/main" id="{11CF4B62-1BDB-894C-9B3A-CD634D1EC811}"/>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5" name="Rectangle 24">
            <a:extLst>
              <a:ext uri="{FF2B5EF4-FFF2-40B4-BE49-F238E27FC236}">
                <a16:creationId xmlns:a16="http://schemas.microsoft.com/office/drawing/2014/main" id="{DB2E37E2-13A0-6E49-8851-171E23617D61}"/>
              </a:ext>
            </a:extLst>
          </p:cNvPr>
          <p:cNvSpPr>
            <a:spLocks noGrp="1" noChangeArrowheads="1"/>
          </p:cNvSpPr>
          <p:nvPr>
            <p:ph type="sldNum" sz="quarter" idx="12"/>
          </p:nvPr>
        </p:nvSpPr>
        <p:spPr>
          <a:ln/>
        </p:spPr>
        <p:txBody>
          <a:bodyPr/>
          <a:lstStyle>
            <a:lvl1pPr>
              <a:defRPr/>
            </a:lvl1pPr>
          </a:lstStyle>
          <a:p>
            <a:pPr>
              <a:defRPr/>
            </a:pPr>
            <a:fld id="{3C9020D5-0362-AA4E-A109-44DF4CF31443}"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556999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2">
            <a:extLst>
              <a:ext uri="{FF2B5EF4-FFF2-40B4-BE49-F238E27FC236}">
                <a16:creationId xmlns:a16="http://schemas.microsoft.com/office/drawing/2014/main" id="{D5874594-CEEE-744E-84B5-849E1F7AD8F4}"/>
              </a:ext>
            </a:extLst>
          </p:cNvPr>
          <p:cNvSpPr>
            <a:spLocks noGrp="1" noChangeArrowheads="1"/>
          </p:cNvSpPr>
          <p:nvPr>
            <p:ph type="dt" sz="half" idx="10"/>
          </p:nvPr>
        </p:nvSpPr>
        <p:spPr>
          <a:ln/>
        </p:spPr>
        <p:txBody>
          <a:bodyPr/>
          <a:lstStyle>
            <a:lvl1pPr>
              <a:defRPr/>
            </a:lvl1pPr>
          </a:lstStyle>
          <a:p>
            <a:pPr>
              <a:defRPr/>
            </a:pPr>
            <a:fld id="{23FFD736-DE5F-F749-B213-A8CE00861415}" type="datetime4">
              <a:rPr lang="en-US" altLang="en-US"/>
              <a:pPr>
                <a:defRPr/>
              </a:pPr>
              <a:t>January 24, 2021</a:t>
            </a:fld>
            <a:endParaRPr lang="en-US" altLang="en-US" sz="1050">
              <a:latin typeface="Comic Sans MS" charset="0"/>
            </a:endParaRPr>
          </a:p>
        </p:txBody>
      </p:sp>
      <p:sp>
        <p:nvSpPr>
          <p:cNvPr id="3" name="Rectangle 23">
            <a:extLst>
              <a:ext uri="{FF2B5EF4-FFF2-40B4-BE49-F238E27FC236}">
                <a16:creationId xmlns:a16="http://schemas.microsoft.com/office/drawing/2014/main" id="{9F97AA66-02E4-5649-9500-0292003CC56A}"/>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4" name="Rectangle 24">
            <a:extLst>
              <a:ext uri="{FF2B5EF4-FFF2-40B4-BE49-F238E27FC236}">
                <a16:creationId xmlns:a16="http://schemas.microsoft.com/office/drawing/2014/main" id="{C311B7C1-252E-914D-8EE9-D1E9863162F9}"/>
              </a:ext>
            </a:extLst>
          </p:cNvPr>
          <p:cNvSpPr>
            <a:spLocks noGrp="1" noChangeArrowheads="1"/>
          </p:cNvSpPr>
          <p:nvPr>
            <p:ph type="sldNum" sz="quarter" idx="12"/>
          </p:nvPr>
        </p:nvSpPr>
        <p:spPr>
          <a:ln/>
        </p:spPr>
        <p:txBody>
          <a:bodyPr/>
          <a:lstStyle>
            <a:lvl1pPr>
              <a:defRPr/>
            </a:lvl1pPr>
          </a:lstStyle>
          <a:p>
            <a:pPr>
              <a:defRPr/>
            </a:pPr>
            <a:fld id="{D952FCBF-D95B-624A-BF6A-A7BAF479D36F}"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3925219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22">
            <a:extLst>
              <a:ext uri="{FF2B5EF4-FFF2-40B4-BE49-F238E27FC236}">
                <a16:creationId xmlns:a16="http://schemas.microsoft.com/office/drawing/2014/main" id="{1354F707-12BB-744C-8FC8-2953E48FF621}"/>
              </a:ext>
            </a:extLst>
          </p:cNvPr>
          <p:cNvSpPr>
            <a:spLocks noGrp="1" noChangeArrowheads="1"/>
          </p:cNvSpPr>
          <p:nvPr>
            <p:ph type="dt" sz="half" idx="10"/>
          </p:nvPr>
        </p:nvSpPr>
        <p:spPr>
          <a:ln/>
        </p:spPr>
        <p:txBody>
          <a:bodyPr/>
          <a:lstStyle>
            <a:lvl1pPr>
              <a:defRPr/>
            </a:lvl1pPr>
          </a:lstStyle>
          <a:p>
            <a:pPr>
              <a:defRPr/>
            </a:pPr>
            <a:fld id="{CB2ADCE5-956F-834A-A409-407A72483B89}" type="datetime4">
              <a:rPr lang="en-US" altLang="en-US"/>
              <a:pPr>
                <a:defRPr/>
              </a:pPr>
              <a:t>January 24, 2021</a:t>
            </a:fld>
            <a:endParaRPr lang="en-US" altLang="en-US" sz="1050">
              <a:latin typeface="Comic Sans MS" charset="0"/>
            </a:endParaRPr>
          </a:p>
        </p:txBody>
      </p:sp>
      <p:sp>
        <p:nvSpPr>
          <p:cNvPr id="6" name="Rectangle 23">
            <a:extLst>
              <a:ext uri="{FF2B5EF4-FFF2-40B4-BE49-F238E27FC236}">
                <a16:creationId xmlns:a16="http://schemas.microsoft.com/office/drawing/2014/main" id="{995A3012-1219-4446-A363-8328EACFBB8C}"/>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7" name="Rectangle 24">
            <a:extLst>
              <a:ext uri="{FF2B5EF4-FFF2-40B4-BE49-F238E27FC236}">
                <a16:creationId xmlns:a16="http://schemas.microsoft.com/office/drawing/2014/main" id="{F42558D7-C9A2-854D-A8A1-2D0CA7EE8700}"/>
              </a:ext>
            </a:extLst>
          </p:cNvPr>
          <p:cNvSpPr>
            <a:spLocks noGrp="1" noChangeArrowheads="1"/>
          </p:cNvSpPr>
          <p:nvPr>
            <p:ph type="sldNum" sz="quarter" idx="12"/>
          </p:nvPr>
        </p:nvSpPr>
        <p:spPr>
          <a:ln/>
        </p:spPr>
        <p:txBody>
          <a:bodyPr/>
          <a:lstStyle>
            <a:lvl1pPr>
              <a:defRPr/>
            </a:lvl1pPr>
          </a:lstStyle>
          <a:p>
            <a:pPr>
              <a:defRPr/>
            </a:pPr>
            <a:fld id="{4FB1910A-2DF3-0043-9E2A-C089A6856FA8}"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37321363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22">
            <a:extLst>
              <a:ext uri="{FF2B5EF4-FFF2-40B4-BE49-F238E27FC236}">
                <a16:creationId xmlns:a16="http://schemas.microsoft.com/office/drawing/2014/main" id="{23E52F24-7910-2844-9315-F77D36D773B9}"/>
              </a:ext>
            </a:extLst>
          </p:cNvPr>
          <p:cNvSpPr>
            <a:spLocks noGrp="1" noChangeArrowheads="1"/>
          </p:cNvSpPr>
          <p:nvPr>
            <p:ph type="dt" sz="half" idx="10"/>
          </p:nvPr>
        </p:nvSpPr>
        <p:spPr>
          <a:ln/>
        </p:spPr>
        <p:txBody>
          <a:bodyPr/>
          <a:lstStyle>
            <a:lvl1pPr>
              <a:defRPr/>
            </a:lvl1pPr>
          </a:lstStyle>
          <a:p>
            <a:pPr>
              <a:defRPr/>
            </a:pPr>
            <a:fld id="{2FA057AB-C79C-1149-90DD-23BCF6A31DA5}" type="datetime4">
              <a:rPr lang="en-US" altLang="en-US"/>
              <a:pPr>
                <a:defRPr/>
              </a:pPr>
              <a:t>January 24, 2021</a:t>
            </a:fld>
            <a:endParaRPr lang="en-US" altLang="en-US" sz="1050">
              <a:latin typeface="Comic Sans MS" charset="0"/>
            </a:endParaRPr>
          </a:p>
        </p:txBody>
      </p:sp>
      <p:sp>
        <p:nvSpPr>
          <p:cNvPr id="6" name="Rectangle 23">
            <a:extLst>
              <a:ext uri="{FF2B5EF4-FFF2-40B4-BE49-F238E27FC236}">
                <a16:creationId xmlns:a16="http://schemas.microsoft.com/office/drawing/2014/main" id="{CDED770D-6B48-A641-9A9A-7623117BDAB3}"/>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7" name="Rectangle 24">
            <a:extLst>
              <a:ext uri="{FF2B5EF4-FFF2-40B4-BE49-F238E27FC236}">
                <a16:creationId xmlns:a16="http://schemas.microsoft.com/office/drawing/2014/main" id="{7F135474-D82E-D843-9996-03A10F4E08FA}"/>
              </a:ext>
            </a:extLst>
          </p:cNvPr>
          <p:cNvSpPr>
            <a:spLocks noGrp="1" noChangeArrowheads="1"/>
          </p:cNvSpPr>
          <p:nvPr>
            <p:ph type="sldNum" sz="quarter" idx="12"/>
          </p:nvPr>
        </p:nvSpPr>
        <p:spPr>
          <a:ln/>
        </p:spPr>
        <p:txBody>
          <a:bodyPr/>
          <a:lstStyle>
            <a:lvl1pPr>
              <a:defRPr/>
            </a:lvl1pPr>
          </a:lstStyle>
          <a:p>
            <a:pPr>
              <a:defRPr/>
            </a:pPr>
            <a:fld id="{5BBC07B4-ED15-8846-84F1-50A2C8EAFF4C}"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2433675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2">
            <a:extLst>
              <a:ext uri="{FF2B5EF4-FFF2-40B4-BE49-F238E27FC236}">
                <a16:creationId xmlns:a16="http://schemas.microsoft.com/office/drawing/2014/main" id="{D8296CF9-48A2-BA47-BEA0-79EF5672269B}"/>
              </a:ext>
            </a:extLst>
          </p:cNvPr>
          <p:cNvSpPr>
            <a:spLocks noGrp="1" noChangeArrowheads="1"/>
          </p:cNvSpPr>
          <p:nvPr>
            <p:ph type="dt" sz="half" idx="10"/>
          </p:nvPr>
        </p:nvSpPr>
        <p:spPr>
          <a:ln/>
        </p:spPr>
        <p:txBody>
          <a:bodyPr/>
          <a:lstStyle>
            <a:lvl1pPr>
              <a:defRPr/>
            </a:lvl1pPr>
          </a:lstStyle>
          <a:p>
            <a:pPr>
              <a:defRPr/>
            </a:pPr>
            <a:fld id="{C803F449-C714-D941-B131-367F9A667454}"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BA5724E5-A14D-B641-AD1D-2E783797776B}"/>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8A458193-BBFD-E04F-A687-2A5AE30A49ED}"/>
              </a:ext>
            </a:extLst>
          </p:cNvPr>
          <p:cNvSpPr>
            <a:spLocks noGrp="1" noChangeArrowheads="1"/>
          </p:cNvSpPr>
          <p:nvPr>
            <p:ph type="sldNum" sz="quarter" idx="12"/>
          </p:nvPr>
        </p:nvSpPr>
        <p:spPr>
          <a:ln/>
        </p:spPr>
        <p:txBody>
          <a:bodyPr/>
          <a:lstStyle>
            <a:lvl1pPr>
              <a:defRPr/>
            </a:lvl1pPr>
          </a:lstStyle>
          <a:p>
            <a:pPr>
              <a:defRPr/>
            </a:pPr>
            <a:fld id="{70FFA6F9-1418-8D47-8D0E-60C39D47D43A}"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70643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57150"/>
            <a:ext cx="2152650" cy="4800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57150"/>
            <a:ext cx="6305550" cy="4800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2">
            <a:extLst>
              <a:ext uri="{FF2B5EF4-FFF2-40B4-BE49-F238E27FC236}">
                <a16:creationId xmlns:a16="http://schemas.microsoft.com/office/drawing/2014/main" id="{1416F2AB-B07D-C348-9891-3EAB4F4AF495}"/>
              </a:ext>
            </a:extLst>
          </p:cNvPr>
          <p:cNvSpPr>
            <a:spLocks noGrp="1" noChangeArrowheads="1"/>
          </p:cNvSpPr>
          <p:nvPr>
            <p:ph type="dt" sz="half" idx="10"/>
          </p:nvPr>
        </p:nvSpPr>
        <p:spPr>
          <a:ln/>
        </p:spPr>
        <p:txBody>
          <a:bodyPr/>
          <a:lstStyle>
            <a:lvl1pPr>
              <a:defRPr/>
            </a:lvl1pPr>
          </a:lstStyle>
          <a:p>
            <a:pPr>
              <a:defRPr/>
            </a:pPr>
            <a:fld id="{7C1FD5FC-7325-9548-916A-DB14BA561054}"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8AB9298A-C20E-9445-8B94-AC1D48A65A1A}"/>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EA201A15-5BAB-674E-AF74-73666A6C1ECB}"/>
              </a:ext>
            </a:extLst>
          </p:cNvPr>
          <p:cNvSpPr>
            <a:spLocks noGrp="1" noChangeArrowheads="1"/>
          </p:cNvSpPr>
          <p:nvPr>
            <p:ph type="sldNum" sz="quarter" idx="12"/>
          </p:nvPr>
        </p:nvSpPr>
        <p:spPr>
          <a:ln/>
        </p:spPr>
        <p:txBody>
          <a:bodyPr/>
          <a:lstStyle>
            <a:lvl1pPr>
              <a:defRPr/>
            </a:lvl1pPr>
          </a:lstStyle>
          <a:p>
            <a:pPr>
              <a:defRPr/>
            </a:pPr>
            <a:fld id="{FDCE4DA0-AD44-E04D-8521-286DB415784D}"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4681561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84DF1917-075B-F74E-8DF4-232714D60E1C}"/>
              </a:ext>
            </a:extLst>
          </p:cNvPr>
          <p:cNvGrpSpPr>
            <a:grpSpLocks/>
          </p:cNvGrpSpPr>
          <p:nvPr/>
        </p:nvGrpSpPr>
        <p:grpSpPr bwMode="auto">
          <a:xfrm flipH="1">
            <a:off x="0" y="628650"/>
            <a:ext cx="8686800" cy="57150"/>
            <a:chOff x="0" y="905"/>
            <a:chExt cx="5282" cy="103"/>
          </a:xfrm>
        </p:grpSpPr>
        <p:grpSp>
          <p:nvGrpSpPr>
            <p:cNvPr id="1034" name="Group 3">
              <a:extLst>
                <a:ext uri="{FF2B5EF4-FFF2-40B4-BE49-F238E27FC236}">
                  <a16:creationId xmlns:a16="http://schemas.microsoft.com/office/drawing/2014/main" id="{8E1007EE-E9AD-004F-80F3-FDB32ADF9000}"/>
                </a:ext>
              </a:extLst>
            </p:cNvPr>
            <p:cNvGrpSpPr>
              <a:grpSpLocks/>
            </p:cNvGrpSpPr>
            <p:nvPr/>
          </p:nvGrpSpPr>
          <p:grpSpPr bwMode="auto">
            <a:xfrm>
              <a:off x="5158" y="905"/>
              <a:ext cx="124" cy="103"/>
              <a:chOff x="5158" y="905"/>
              <a:chExt cx="124" cy="103"/>
            </a:xfrm>
          </p:grpSpPr>
          <p:sp>
            <p:nvSpPr>
              <p:cNvPr id="1049" name="Rectangle 4">
                <a:extLst>
                  <a:ext uri="{FF2B5EF4-FFF2-40B4-BE49-F238E27FC236}">
                    <a16:creationId xmlns:a16="http://schemas.microsoft.com/office/drawing/2014/main" id="{B40944D2-73B7-3A45-9BDC-A2B98BC446F1}"/>
                  </a:ext>
                </a:extLst>
              </p:cNvPr>
              <p:cNvSpPr>
                <a:spLocks noChangeArrowheads="1"/>
              </p:cNvSpPr>
              <p:nvPr/>
            </p:nvSpPr>
            <p:spPr bwMode="auto">
              <a:xfrm>
                <a:off x="5252" y="905"/>
                <a:ext cx="3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50" name="Rectangle 5">
                <a:extLst>
                  <a:ext uri="{FF2B5EF4-FFF2-40B4-BE49-F238E27FC236}">
                    <a16:creationId xmlns:a16="http://schemas.microsoft.com/office/drawing/2014/main" id="{EB75D277-517D-844A-BFBC-163D8B6AFBAB}"/>
                  </a:ext>
                </a:extLst>
              </p:cNvPr>
              <p:cNvSpPr>
                <a:spLocks noChangeArrowheads="1"/>
              </p:cNvSpPr>
              <p:nvPr/>
            </p:nvSpPr>
            <p:spPr bwMode="auto">
              <a:xfrm>
                <a:off x="5158" y="905"/>
                <a:ext cx="6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5" name="Group 6">
              <a:extLst>
                <a:ext uri="{FF2B5EF4-FFF2-40B4-BE49-F238E27FC236}">
                  <a16:creationId xmlns:a16="http://schemas.microsoft.com/office/drawing/2014/main" id="{51A98CAD-F97A-8943-A055-2529CA1A56E3}"/>
                </a:ext>
              </a:extLst>
            </p:cNvPr>
            <p:cNvGrpSpPr>
              <a:grpSpLocks/>
            </p:cNvGrpSpPr>
            <p:nvPr/>
          </p:nvGrpSpPr>
          <p:grpSpPr bwMode="auto">
            <a:xfrm>
              <a:off x="4848" y="905"/>
              <a:ext cx="263" cy="103"/>
              <a:chOff x="4848" y="905"/>
              <a:chExt cx="263" cy="103"/>
            </a:xfrm>
          </p:grpSpPr>
          <p:sp>
            <p:nvSpPr>
              <p:cNvPr id="1047" name="Rectangle 7">
                <a:extLst>
                  <a:ext uri="{FF2B5EF4-FFF2-40B4-BE49-F238E27FC236}">
                    <a16:creationId xmlns:a16="http://schemas.microsoft.com/office/drawing/2014/main" id="{94D45677-E167-A04B-B7EA-536CDE7D0131}"/>
                  </a:ext>
                </a:extLst>
              </p:cNvPr>
              <p:cNvSpPr>
                <a:spLocks noChangeArrowheads="1"/>
              </p:cNvSpPr>
              <p:nvPr/>
            </p:nvSpPr>
            <p:spPr bwMode="auto">
              <a:xfrm>
                <a:off x="5018" y="905"/>
                <a:ext cx="95"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8" name="Rectangle 8">
                <a:extLst>
                  <a:ext uri="{FF2B5EF4-FFF2-40B4-BE49-F238E27FC236}">
                    <a16:creationId xmlns:a16="http://schemas.microsoft.com/office/drawing/2014/main" id="{192533B0-711D-324C-A02D-09AB43CBC060}"/>
                  </a:ext>
                </a:extLst>
              </p:cNvPr>
              <p:cNvSpPr>
                <a:spLocks noChangeArrowheads="1"/>
              </p:cNvSpPr>
              <p:nvPr/>
            </p:nvSpPr>
            <p:spPr bwMode="auto">
              <a:xfrm>
                <a:off x="4848" y="905"/>
                <a:ext cx="12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6" name="Group 9">
              <a:extLst>
                <a:ext uri="{FF2B5EF4-FFF2-40B4-BE49-F238E27FC236}">
                  <a16:creationId xmlns:a16="http://schemas.microsoft.com/office/drawing/2014/main" id="{2A1956D2-787D-4C42-8746-071E1B687CB5}"/>
                </a:ext>
              </a:extLst>
            </p:cNvPr>
            <p:cNvGrpSpPr>
              <a:grpSpLocks/>
            </p:cNvGrpSpPr>
            <p:nvPr/>
          </p:nvGrpSpPr>
          <p:grpSpPr bwMode="auto">
            <a:xfrm>
              <a:off x="4418" y="905"/>
              <a:ext cx="386" cy="103"/>
              <a:chOff x="4418" y="905"/>
              <a:chExt cx="386" cy="103"/>
            </a:xfrm>
          </p:grpSpPr>
          <p:sp>
            <p:nvSpPr>
              <p:cNvPr id="1045" name="Rectangle 10">
                <a:extLst>
                  <a:ext uri="{FF2B5EF4-FFF2-40B4-BE49-F238E27FC236}">
                    <a16:creationId xmlns:a16="http://schemas.microsoft.com/office/drawing/2014/main" id="{BE15E58A-2FD3-E447-8EE2-6C127DBF1A20}"/>
                  </a:ext>
                </a:extLst>
              </p:cNvPr>
              <p:cNvSpPr>
                <a:spLocks noChangeArrowheads="1"/>
              </p:cNvSpPr>
              <p:nvPr/>
            </p:nvSpPr>
            <p:spPr bwMode="auto">
              <a:xfrm>
                <a:off x="4650" y="905"/>
                <a:ext cx="154"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6" name="Rectangle 11">
                <a:extLst>
                  <a:ext uri="{FF2B5EF4-FFF2-40B4-BE49-F238E27FC236}">
                    <a16:creationId xmlns:a16="http://schemas.microsoft.com/office/drawing/2014/main" id="{CF283281-FE4D-DD49-B04E-9413E3009D27}"/>
                  </a:ext>
                </a:extLst>
              </p:cNvPr>
              <p:cNvSpPr>
                <a:spLocks noChangeArrowheads="1"/>
              </p:cNvSpPr>
              <p:nvPr/>
            </p:nvSpPr>
            <p:spPr bwMode="auto">
              <a:xfrm>
                <a:off x="4418" y="905"/>
                <a:ext cx="189"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7" name="Group 12">
              <a:extLst>
                <a:ext uri="{FF2B5EF4-FFF2-40B4-BE49-F238E27FC236}">
                  <a16:creationId xmlns:a16="http://schemas.microsoft.com/office/drawing/2014/main" id="{646E7CE3-1E48-3E4C-A16A-75739FD75886}"/>
                </a:ext>
              </a:extLst>
            </p:cNvPr>
            <p:cNvGrpSpPr>
              <a:grpSpLocks/>
            </p:cNvGrpSpPr>
            <p:nvPr/>
          </p:nvGrpSpPr>
          <p:grpSpPr bwMode="auto">
            <a:xfrm>
              <a:off x="3183" y="905"/>
              <a:ext cx="1191" cy="103"/>
              <a:chOff x="3183" y="905"/>
              <a:chExt cx="1191" cy="103"/>
            </a:xfrm>
          </p:grpSpPr>
          <p:sp>
            <p:nvSpPr>
              <p:cNvPr id="1041" name="Rectangle 13">
                <a:extLst>
                  <a:ext uri="{FF2B5EF4-FFF2-40B4-BE49-F238E27FC236}">
                    <a16:creationId xmlns:a16="http://schemas.microsoft.com/office/drawing/2014/main" id="{049A07BA-125C-294A-A3B4-D89BBC9F00CC}"/>
                  </a:ext>
                </a:extLst>
              </p:cNvPr>
              <p:cNvSpPr>
                <a:spLocks noChangeArrowheads="1"/>
              </p:cNvSpPr>
              <p:nvPr/>
            </p:nvSpPr>
            <p:spPr bwMode="auto">
              <a:xfrm>
                <a:off x="3558"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2" name="Rectangle 14">
                <a:extLst>
                  <a:ext uri="{FF2B5EF4-FFF2-40B4-BE49-F238E27FC236}">
                    <a16:creationId xmlns:a16="http://schemas.microsoft.com/office/drawing/2014/main" id="{0FD03B68-7F9D-4D45-AD4E-68D760BBDB38}"/>
                  </a:ext>
                </a:extLst>
              </p:cNvPr>
              <p:cNvSpPr>
                <a:spLocks noChangeArrowheads="1"/>
              </p:cNvSpPr>
              <p:nvPr/>
            </p:nvSpPr>
            <p:spPr bwMode="auto">
              <a:xfrm>
                <a:off x="4156" y="905"/>
                <a:ext cx="218"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3" name="Rectangle 15">
                <a:extLst>
                  <a:ext uri="{FF2B5EF4-FFF2-40B4-BE49-F238E27FC236}">
                    <a16:creationId xmlns:a16="http://schemas.microsoft.com/office/drawing/2014/main" id="{081F8C45-EB4F-0042-BF17-8C6ACAA57CCC}"/>
                  </a:ext>
                </a:extLst>
              </p:cNvPr>
              <p:cNvSpPr>
                <a:spLocks noChangeArrowheads="1"/>
              </p:cNvSpPr>
              <p:nvPr/>
            </p:nvSpPr>
            <p:spPr bwMode="auto">
              <a:xfrm>
                <a:off x="3864"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4" name="Rectangle 16">
                <a:extLst>
                  <a:ext uri="{FF2B5EF4-FFF2-40B4-BE49-F238E27FC236}">
                    <a16:creationId xmlns:a16="http://schemas.microsoft.com/office/drawing/2014/main" id="{21F7B391-9D2B-D74A-8DE2-F8562177B339}"/>
                  </a:ext>
                </a:extLst>
              </p:cNvPr>
              <p:cNvSpPr>
                <a:spLocks noChangeArrowheads="1"/>
              </p:cNvSpPr>
              <p:nvPr/>
            </p:nvSpPr>
            <p:spPr bwMode="auto">
              <a:xfrm>
                <a:off x="3183" y="905"/>
                <a:ext cx="314"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8" name="Group 17">
              <a:extLst>
                <a:ext uri="{FF2B5EF4-FFF2-40B4-BE49-F238E27FC236}">
                  <a16:creationId xmlns:a16="http://schemas.microsoft.com/office/drawing/2014/main" id="{2D7AF668-B334-A146-AA53-8DFA6CBF94F2}"/>
                </a:ext>
              </a:extLst>
            </p:cNvPr>
            <p:cNvGrpSpPr>
              <a:grpSpLocks/>
            </p:cNvGrpSpPr>
            <p:nvPr/>
          </p:nvGrpSpPr>
          <p:grpSpPr bwMode="auto">
            <a:xfrm>
              <a:off x="0" y="905"/>
              <a:ext cx="3143" cy="103"/>
              <a:chOff x="0" y="905"/>
              <a:chExt cx="3143" cy="103"/>
            </a:xfrm>
          </p:grpSpPr>
          <p:sp>
            <p:nvSpPr>
              <p:cNvPr id="1039" name="Rectangle 18">
                <a:extLst>
                  <a:ext uri="{FF2B5EF4-FFF2-40B4-BE49-F238E27FC236}">
                    <a16:creationId xmlns:a16="http://schemas.microsoft.com/office/drawing/2014/main" id="{712DCCE5-D50B-5F46-968A-138F0F148763}"/>
                  </a:ext>
                </a:extLst>
              </p:cNvPr>
              <p:cNvSpPr>
                <a:spLocks noChangeArrowheads="1"/>
              </p:cNvSpPr>
              <p:nvPr/>
            </p:nvSpPr>
            <p:spPr bwMode="auto">
              <a:xfrm>
                <a:off x="2798" y="905"/>
                <a:ext cx="345"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0" name="Rectangle 19">
                <a:extLst>
                  <a:ext uri="{FF2B5EF4-FFF2-40B4-BE49-F238E27FC236}">
                    <a16:creationId xmlns:a16="http://schemas.microsoft.com/office/drawing/2014/main" id="{E25710D3-F13F-6048-BEEC-03DCB0EBB0FA}"/>
                  </a:ext>
                </a:extLst>
              </p:cNvPr>
              <p:cNvSpPr>
                <a:spLocks noChangeArrowheads="1"/>
              </p:cNvSpPr>
              <p:nvPr/>
            </p:nvSpPr>
            <p:spPr bwMode="auto">
              <a:xfrm>
                <a:off x="0" y="905"/>
                <a:ext cx="275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sp>
        <p:nvSpPr>
          <p:cNvPr id="1027" name="Rectangle 20">
            <a:extLst>
              <a:ext uri="{FF2B5EF4-FFF2-40B4-BE49-F238E27FC236}">
                <a16:creationId xmlns:a16="http://schemas.microsoft.com/office/drawing/2014/main" id="{00BAB7E5-4DDE-6F4B-9664-E20F29B174F5}"/>
              </a:ext>
            </a:extLst>
          </p:cNvPr>
          <p:cNvSpPr>
            <a:spLocks noGrp="1" noChangeArrowheads="1"/>
          </p:cNvSpPr>
          <p:nvPr>
            <p:ph type="title"/>
          </p:nvPr>
        </p:nvSpPr>
        <p:spPr bwMode="auto">
          <a:xfrm>
            <a:off x="990600" y="57150"/>
            <a:ext cx="76962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21">
            <a:extLst>
              <a:ext uri="{FF2B5EF4-FFF2-40B4-BE49-F238E27FC236}">
                <a16:creationId xmlns:a16="http://schemas.microsoft.com/office/drawing/2014/main" id="{8F4F1CA7-1C7F-6F4A-81AC-D0443903995C}"/>
              </a:ext>
            </a:extLst>
          </p:cNvPr>
          <p:cNvSpPr>
            <a:spLocks noGrp="1" noChangeArrowheads="1"/>
          </p:cNvSpPr>
          <p:nvPr>
            <p:ph type="body" idx="1"/>
          </p:nvPr>
        </p:nvSpPr>
        <p:spPr bwMode="auto">
          <a:xfrm>
            <a:off x="228600" y="685800"/>
            <a:ext cx="8610600" cy="417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094" name="Rectangle 22">
            <a:extLst>
              <a:ext uri="{FF2B5EF4-FFF2-40B4-BE49-F238E27FC236}">
                <a16:creationId xmlns:a16="http://schemas.microsoft.com/office/drawing/2014/main" id="{562FC42B-43D6-4F4A-934D-67109AD4B0F3}"/>
              </a:ext>
            </a:extLst>
          </p:cNvPr>
          <p:cNvSpPr>
            <a:spLocks noGrp="1" noChangeArrowheads="1"/>
          </p:cNvSpPr>
          <p:nvPr>
            <p:ph type="dt" sz="half" idx="2"/>
          </p:nvPr>
        </p:nvSpPr>
        <p:spPr bwMode="auto">
          <a:xfrm>
            <a:off x="431800" y="4672013"/>
            <a:ext cx="1905000" cy="3429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spcBef>
                <a:spcPct val="50000"/>
              </a:spcBef>
              <a:defRPr sz="900">
                <a:solidFill>
                  <a:schemeClr val="bg2"/>
                </a:solidFill>
                <a:latin typeface="Tahoma" charset="0"/>
                <a:ea typeface="ＭＳ Ｐゴシック" charset="-128"/>
              </a:defRPr>
            </a:lvl1pPr>
          </a:lstStyle>
          <a:p>
            <a:pPr>
              <a:defRPr/>
            </a:pPr>
            <a:fld id="{92E8E100-ADEF-EB4E-AB02-A2AF1A2FC806}" type="datetime4">
              <a:rPr lang="en-US" altLang="en-US"/>
              <a:pPr>
                <a:defRPr/>
              </a:pPr>
              <a:t>January 24, 2021</a:t>
            </a:fld>
            <a:endParaRPr lang="en-US" altLang="en-US" sz="1050">
              <a:latin typeface="Comic Sans MS" charset="0"/>
            </a:endParaRPr>
          </a:p>
        </p:txBody>
      </p:sp>
      <p:sp>
        <p:nvSpPr>
          <p:cNvPr id="3095" name="Rectangle 23">
            <a:extLst>
              <a:ext uri="{FF2B5EF4-FFF2-40B4-BE49-F238E27FC236}">
                <a16:creationId xmlns:a16="http://schemas.microsoft.com/office/drawing/2014/main" id="{EB3FA688-6455-9D4A-961A-9B2118FFD62D}"/>
              </a:ext>
            </a:extLst>
          </p:cNvPr>
          <p:cNvSpPr>
            <a:spLocks noGrp="1" noChangeArrowheads="1"/>
          </p:cNvSpPr>
          <p:nvPr>
            <p:ph type="ftr" sz="quarter" idx="3"/>
          </p:nvPr>
        </p:nvSpPr>
        <p:spPr bwMode="auto">
          <a:xfrm>
            <a:off x="3124200" y="4672013"/>
            <a:ext cx="2895600" cy="3429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a:spcBef>
                <a:spcPct val="50000"/>
              </a:spcBef>
              <a:defRPr sz="900">
                <a:solidFill>
                  <a:schemeClr val="bg2"/>
                </a:solidFill>
                <a:latin typeface="Tahoma" charset="0"/>
                <a:ea typeface="ＭＳ Ｐゴシック" charset="-128"/>
              </a:defRPr>
            </a:lvl1pPr>
          </a:lstStyle>
          <a:p>
            <a:pPr>
              <a:defRPr/>
            </a:pPr>
            <a:r>
              <a:rPr lang="tr-TR" altLang="en-US"/>
              <a:t>PSYCH 4041 / 6014</a:t>
            </a:r>
            <a:endParaRPr lang="en-US" altLang="en-US" sz="1050">
              <a:latin typeface="Comic Sans MS" charset="0"/>
            </a:endParaRPr>
          </a:p>
        </p:txBody>
      </p:sp>
      <p:sp>
        <p:nvSpPr>
          <p:cNvPr id="3096" name="Rectangle 24">
            <a:extLst>
              <a:ext uri="{FF2B5EF4-FFF2-40B4-BE49-F238E27FC236}">
                <a16:creationId xmlns:a16="http://schemas.microsoft.com/office/drawing/2014/main" id="{CCC79CAA-D180-B549-B80B-93952BD15DD4}"/>
              </a:ext>
            </a:extLst>
          </p:cNvPr>
          <p:cNvSpPr>
            <a:spLocks noGrp="1" noChangeArrowheads="1"/>
          </p:cNvSpPr>
          <p:nvPr>
            <p:ph type="sldNum" sz="quarter" idx="4"/>
          </p:nvPr>
        </p:nvSpPr>
        <p:spPr bwMode="auto">
          <a:xfrm>
            <a:off x="6731000" y="4672013"/>
            <a:ext cx="1905000" cy="3429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spcBef>
                <a:spcPct val="50000"/>
              </a:spcBef>
              <a:defRPr sz="900">
                <a:solidFill>
                  <a:schemeClr val="bg2"/>
                </a:solidFill>
                <a:latin typeface="Tahoma" charset="0"/>
                <a:ea typeface="ＭＳ Ｐゴシック" charset="-128"/>
              </a:defRPr>
            </a:lvl1pPr>
          </a:lstStyle>
          <a:p>
            <a:pPr>
              <a:defRPr/>
            </a:pPr>
            <a:fld id="{EECB6731-2E5B-344F-BE2F-3B33DB3B9655}" type="slidenum">
              <a:rPr lang="en-US" altLang="en-US"/>
              <a:pPr>
                <a:defRPr/>
              </a:pPr>
              <a:t>‹#›</a:t>
            </a:fld>
            <a:endParaRPr lang="en-US" altLang="en-US">
              <a:latin typeface="Comic Sans MS" charset="0"/>
            </a:endParaRPr>
          </a:p>
        </p:txBody>
      </p:sp>
      <p:pic>
        <p:nvPicPr>
          <p:cNvPr id="1032" name="Picture 29">
            <a:extLst>
              <a:ext uri="{FF2B5EF4-FFF2-40B4-BE49-F238E27FC236}">
                <a16:creationId xmlns:a16="http://schemas.microsoft.com/office/drawing/2014/main" id="{83123BE1-9355-6245-9EF0-E4061A5C7814}"/>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l="10829" t="11624" r="16043" b="11624"/>
          <a:stretch>
            <a:fillRect/>
          </a:stretch>
        </p:blipFill>
        <p:spPr bwMode="auto">
          <a:xfrm>
            <a:off x="1" y="0"/>
            <a:ext cx="841375" cy="685800"/>
          </a:xfrm>
          <a:prstGeom prst="rect">
            <a:avLst/>
          </a:prstGeom>
          <a:noFill/>
          <a:ln>
            <a:noFill/>
          </a:ln>
          <a:extLst>
            <a:ext uri="{909E8E84-426E-40DD-AFC4-6F175D3DCCD1}">
              <a14:hiddenFill xmlns:a14="http://schemas.microsoft.com/office/drawing/2010/main">
                <a:solidFill>
                  <a:srgbClr val="FFFFFF">
                    <a:alpha val="9019"/>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3" name="Text Box 30">
            <a:extLst>
              <a:ext uri="{FF2B5EF4-FFF2-40B4-BE49-F238E27FC236}">
                <a16:creationId xmlns:a16="http://schemas.microsoft.com/office/drawing/2014/main" id="{8BF227DC-2A0E-614B-BEC2-33B81721D7E4}"/>
              </a:ext>
            </a:extLst>
          </p:cNvPr>
          <p:cNvSpPr txBox="1">
            <a:spLocks noChangeArrowheads="1"/>
          </p:cNvSpPr>
          <p:nvPr userDrawn="1"/>
        </p:nvSpPr>
        <p:spPr bwMode="auto">
          <a:xfrm>
            <a:off x="1355726" y="467439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Tree>
  </p:cSld>
  <p:clrMap bg1="lt1" tx1="dk1" bg2="lt2" tx2="dk2" accent1="accent1" accent2="accent2" accent3="accent3" accent4="accent4" accent5="accent5" accent6="accent6" hlink="hlink" folHlink="folHlink"/>
  <p:sldLayoutIdLst>
    <p:sldLayoutId id="2147483706"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hf sldNum="0" hdr="0"/>
  <p:txStyles>
    <p:titleStyle>
      <a:lvl1pPr algn="r" rtl="0" eaLnBrk="0" fontAlgn="base" hangingPunct="0">
        <a:spcBef>
          <a:spcPct val="0"/>
        </a:spcBef>
        <a:spcAft>
          <a:spcPct val="0"/>
        </a:spcAft>
        <a:defRPr kumimoji="1" sz="3000" b="1">
          <a:solidFill>
            <a:srgbClr val="666666"/>
          </a:solidFill>
          <a:latin typeface="+mj-lt"/>
          <a:ea typeface="ＭＳ Ｐゴシック" charset="-128"/>
          <a:cs typeface="+mj-cs"/>
        </a:defRPr>
      </a:lvl1pPr>
      <a:lvl2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2pPr>
      <a:lvl3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3pPr>
      <a:lvl4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4pPr>
      <a:lvl5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5pPr>
      <a:lvl6pPr marL="342900" algn="r" rtl="0" eaLnBrk="0" fontAlgn="base" hangingPunct="0">
        <a:spcBef>
          <a:spcPct val="0"/>
        </a:spcBef>
        <a:spcAft>
          <a:spcPct val="0"/>
        </a:spcAft>
        <a:defRPr kumimoji="1" sz="3000" b="1">
          <a:solidFill>
            <a:srgbClr val="666666"/>
          </a:solidFill>
          <a:latin typeface="Arial" pitchFamily="-110" charset="0"/>
        </a:defRPr>
      </a:lvl6pPr>
      <a:lvl7pPr marL="685800" algn="r" rtl="0" eaLnBrk="0" fontAlgn="base" hangingPunct="0">
        <a:spcBef>
          <a:spcPct val="0"/>
        </a:spcBef>
        <a:spcAft>
          <a:spcPct val="0"/>
        </a:spcAft>
        <a:defRPr kumimoji="1" sz="3000" b="1">
          <a:solidFill>
            <a:srgbClr val="666666"/>
          </a:solidFill>
          <a:latin typeface="Arial" pitchFamily="-110" charset="0"/>
        </a:defRPr>
      </a:lvl7pPr>
      <a:lvl8pPr marL="1028700" algn="r" rtl="0" eaLnBrk="0" fontAlgn="base" hangingPunct="0">
        <a:spcBef>
          <a:spcPct val="0"/>
        </a:spcBef>
        <a:spcAft>
          <a:spcPct val="0"/>
        </a:spcAft>
        <a:defRPr kumimoji="1" sz="3000" b="1">
          <a:solidFill>
            <a:srgbClr val="666666"/>
          </a:solidFill>
          <a:latin typeface="Arial" pitchFamily="-110" charset="0"/>
        </a:defRPr>
      </a:lvl8pPr>
      <a:lvl9pPr marL="1371600" algn="r" rtl="0" eaLnBrk="0" fontAlgn="base" hangingPunct="0">
        <a:spcBef>
          <a:spcPct val="0"/>
        </a:spcBef>
        <a:spcAft>
          <a:spcPct val="0"/>
        </a:spcAft>
        <a:defRPr kumimoji="1" sz="3000" b="1">
          <a:solidFill>
            <a:srgbClr val="666666"/>
          </a:solidFill>
          <a:latin typeface="Arial" pitchFamily="-110" charset="0"/>
        </a:defRPr>
      </a:lvl9pPr>
    </p:titleStyle>
    <p:bodyStyle>
      <a:lvl1pPr marL="257175" indent="-257175" algn="l" rtl="0" eaLnBrk="0" fontAlgn="base" hangingPunct="0">
        <a:spcBef>
          <a:spcPct val="20000"/>
        </a:spcBef>
        <a:spcAft>
          <a:spcPct val="0"/>
        </a:spcAft>
        <a:buClr>
          <a:srgbClr val="193399"/>
        </a:buClr>
        <a:buFont typeface="Wingdings" pitchFamily="2" charset="2"/>
        <a:buChar char="Ø"/>
        <a:defRPr kumimoji="1" sz="2400">
          <a:solidFill>
            <a:schemeClr val="tx1"/>
          </a:solidFill>
          <a:latin typeface="+mn-lt"/>
          <a:ea typeface="ＭＳ Ｐゴシック" charset="-128"/>
          <a:cs typeface="+mn-cs"/>
        </a:defRPr>
      </a:lvl1pPr>
      <a:lvl2pPr marL="557213" indent="-214313" algn="l" rtl="0" eaLnBrk="0" fontAlgn="base" hangingPunct="0">
        <a:spcBef>
          <a:spcPct val="20000"/>
        </a:spcBef>
        <a:spcAft>
          <a:spcPct val="0"/>
        </a:spcAft>
        <a:buClr>
          <a:srgbClr val="193399"/>
        </a:buClr>
        <a:buSzPct val="70000"/>
        <a:buFont typeface="Wingdings" pitchFamily="2" charset="2"/>
        <a:buChar char="v"/>
        <a:defRPr kumimoji="1" sz="2100">
          <a:solidFill>
            <a:schemeClr val="tx1"/>
          </a:solidFill>
          <a:latin typeface="+mn-lt"/>
          <a:ea typeface="ＭＳ Ｐゴシック" pitchFamily="-110" charset="-128"/>
        </a:defRPr>
      </a:lvl2pPr>
      <a:lvl3pPr marL="857250" indent="-171450" algn="l" rtl="0" eaLnBrk="0" fontAlgn="base" hangingPunct="0">
        <a:spcBef>
          <a:spcPct val="20000"/>
        </a:spcBef>
        <a:spcAft>
          <a:spcPct val="0"/>
        </a:spcAft>
        <a:buClr>
          <a:srgbClr val="193399"/>
        </a:buClr>
        <a:buFont typeface="Times" pitchFamily="2" charset="0"/>
        <a:buChar char="•"/>
        <a:defRPr kumimoji="1" sz="1800">
          <a:solidFill>
            <a:schemeClr val="tx1"/>
          </a:solidFill>
          <a:latin typeface="+mn-lt"/>
          <a:ea typeface="ＭＳ Ｐゴシック" pitchFamily="-110" charset="-128"/>
        </a:defRPr>
      </a:lvl3pPr>
      <a:lvl4pPr marL="12001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4pPr>
      <a:lvl5pPr marL="15430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5pPr>
      <a:lvl6pPr marL="18859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6pPr>
      <a:lvl7pPr marL="22288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7pPr>
      <a:lvl8pPr marL="25717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8pPr>
      <a:lvl9pPr marL="29146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2.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3.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4.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5.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6.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7.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8.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9.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B0EC7E1-70F5-B944-A6B9-9729D9C5766D}"/>
              </a:ext>
            </a:extLst>
          </p:cNvPr>
          <p:cNvSpPr>
            <a:spLocks noGrp="1" noChangeArrowheads="1"/>
          </p:cNvSpPr>
          <p:nvPr>
            <p:ph type="ctrTitle"/>
          </p:nvPr>
        </p:nvSpPr>
        <p:spPr/>
        <p:txBody>
          <a:bodyPr/>
          <a:lstStyle/>
          <a:p>
            <a:r>
              <a:rPr kumimoji="0" lang="en-US" altLang="en-US">
                <a:ea typeface="ＭＳ Ｐゴシック" panose="020B0600070205080204" pitchFamily="34" charset="-128"/>
              </a:rPr>
              <a:t>Physiology of Perception</a:t>
            </a:r>
          </a:p>
        </p:txBody>
      </p:sp>
      <p:sp>
        <p:nvSpPr>
          <p:cNvPr id="15362" name="Rectangle 3">
            <a:extLst>
              <a:ext uri="{FF2B5EF4-FFF2-40B4-BE49-F238E27FC236}">
                <a16:creationId xmlns:a16="http://schemas.microsoft.com/office/drawing/2014/main" id="{20FBDE40-A6DE-8D4F-B6AD-C5842F4DFA5E}"/>
              </a:ext>
            </a:extLst>
          </p:cNvPr>
          <p:cNvSpPr>
            <a:spLocks noGrp="1" noChangeArrowheads="1"/>
          </p:cNvSpPr>
          <p:nvPr>
            <p:ph type="subTitle" idx="1"/>
          </p:nvPr>
        </p:nvSpPr>
        <p:spPr/>
        <p:txBody>
          <a:bodyPr/>
          <a:lstStyle/>
          <a:p>
            <a:pPr>
              <a:buFont typeface="Wingdings" pitchFamily="2" charset="2"/>
              <a:buNone/>
            </a:pPr>
            <a:r>
              <a:rPr kumimoji="0" lang="en-US" altLang="en-US">
                <a:ea typeface="ＭＳ Ｐゴシック" panose="020B0600070205080204" pitchFamily="34" charset="-128"/>
              </a:rPr>
              <a:t>Fire in the brain</a:t>
            </a:r>
          </a:p>
        </p:txBody>
      </p:sp>
      <p:sp>
        <p:nvSpPr>
          <p:cNvPr id="2" name="Date Placeholder 1">
            <a:extLst>
              <a:ext uri="{FF2B5EF4-FFF2-40B4-BE49-F238E27FC236}">
                <a16:creationId xmlns:a16="http://schemas.microsoft.com/office/drawing/2014/main" id="{9723107C-33DB-3F40-BFA8-48DB5164EB7F}"/>
              </a:ext>
            </a:extLst>
          </p:cNvPr>
          <p:cNvSpPr>
            <a:spLocks noGrp="1"/>
          </p:cNvSpPr>
          <p:nvPr>
            <p:ph type="dt" sz="quarter" idx="10"/>
          </p:nvPr>
        </p:nvSpPr>
        <p:spPr/>
        <p:txBody>
          <a:bodyPr/>
          <a:lstStyle/>
          <a:p>
            <a:pPr>
              <a:defRPr/>
            </a:pPr>
            <a:fld id="{902962C5-4225-8049-BE34-7F57878BE24B}" type="datetime4">
              <a:rPr lang="en-US"/>
              <a:pPr>
                <a:defRPr/>
              </a:pPr>
              <a:t>January 24, 2021</a:t>
            </a:fld>
            <a:endParaRPr lang="en-US"/>
          </a:p>
        </p:txBody>
      </p:sp>
      <p:sp>
        <p:nvSpPr>
          <p:cNvPr id="3" name="Footer Placeholder 2">
            <a:extLst>
              <a:ext uri="{FF2B5EF4-FFF2-40B4-BE49-F238E27FC236}">
                <a16:creationId xmlns:a16="http://schemas.microsoft.com/office/drawing/2014/main" id="{445664FD-1ADA-174D-8A96-0EC32EF0A1E7}"/>
              </a:ext>
            </a:extLst>
          </p:cNvPr>
          <p:cNvSpPr>
            <a:spLocks noGrp="1"/>
          </p:cNvSpPr>
          <p:nvPr>
            <p:ph type="ftr" sz="quarter" idx="11"/>
          </p:nvPr>
        </p:nvSpPr>
        <p:spPr/>
        <p:txBody>
          <a:bodyPr/>
          <a:lstStyle/>
          <a:p>
            <a:pPr>
              <a:defRPr/>
            </a:pPr>
            <a:r>
              <a:rPr lang="tr-TR"/>
              <a:t>PSYCH 4041 / 6014</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A6A63-FDE1-1B42-99C6-A07A8B1817EB}"/>
              </a:ext>
            </a:extLst>
          </p:cNvPr>
          <p:cNvSpPr>
            <a:spLocks noGrp="1"/>
          </p:cNvSpPr>
          <p:nvPr>
            <p:ph type="title"/>
          </p:nvPr>
        </p:nvSpPr>
        <p:spPr/>
        <p:txBody>
          <a:bodyPr/>
          <a:lstStyle/>
          <a:p>
            <a:r>
              <a:rPr lang="en-US" dirty="0"/>
              <a:t>Reminder: Outline of Topics</a:t>
            </a:r>
          </a:p>
        </p:txBody>
      </p:sp>
      <p:sp>
        <p:nvSpPr>
          <p:cNvPr id="3" name="Content Placeholder 2">
            <a:extLst>
              <a:ext uri="{FF2B5EF4-FFF2-40B4-BE49-F238E27FC236}">
                <a16:creationId xmlns:a16="http://schemas.microsoft.com/office/drawing/2014/main" id="{8FCCD038-AE73-4547-816E-773CDEB735FC}"/>
              </a:ext>
            </a:extLst>
          </p:cNvPr>
          <p:cNvSpPr>
            <a:spLocks noGrp="1"/>
          </p:cNvSpPr>
          <p:nvPr>
            <p:ph idx="1"/>
          </p:nvPr>
        </p:nvSpPr>
        <p:spPr/>
        <p:txBody>
          <a:bodyPr/>
          <a:lstStyle/>
          <a:p>
            <a:pPr marL="0" indent="0">
              <a:buNone/>
            </a:pPr>
            <a:r>
              <a:rPr lang="en-US" sz="1600" dirty="0"/>
              <a:t>https://</a:t>
            </a:r>
            <a:r>
              <a:rPr lang="en-US" sz="1600" dirty="0" err="1"/>
              <a:t>gatech.instructure.com</a:t>
            </a:r>
            <a:r>
              <a:rPr lang="en-US" sz="1600" dirty="0"/>
              <a:t>/courses/181190/pages/schedule-of-lecture-topics-2021</a:t>
            </a:r>
          </a:p>
        </p:txBody>
      </p:sp>
      <p:sp>
        <p:nvSpPr>
          <p:cNvPr id="4" name="Date Placeholder 3">
            <a:extLst>
              <a:ext uri="{FF2B5EF4-FFF2-40B4-BE49-F238E27FC236}">
                <a16:creationId xmlns:a16="http://schemas.microsoft.com/office/drawing/2014/main" id="{59A11876-3039-DF49-BBBB-520DF66A311D}"/>
              </a:ext>
            </a:extLst>
          </p:cNvPr>
          <p:cNvSpPr>
            <a:spLocks noGrp="1"/>
          </p:cNvSpPr>
          <p:nvPr>
            <p:ph type="dt" sz="half" idx="10"/>
          </p:nvPr>
        </p:nvSpPr>
        <p:spPr/>
        <p:txBody>
          <a:bodyPr/>
          <a:lstStyle/>
          <a:p>
            <a:pPr>
              <a:defRPr/>
            </a:pPr>
            <a:r>
              <a:rPr lang="en-US"/>
              <a:t>Spring 2021</a:t>
            </a:r>
          </a:p>
        </p:txBody>
      </p:sp>
      <p:sp>
        <p:nvSpPr>
          <p:cNvPr id="5" name="Footer Placeholder 4">
            <a:extLst>
              <a:ext uri="{FF2B5EF4-FFF2-40B4-BE49-F238E27FC236}">
                <a16:creationId xmlns:a16="http://schemas.microsoft.com/office/drawing/2014/main" id="{EF36CFD3-57DD-1A4C-9BDA-B4204C4298AB}"/>
              </a:ext>
            </a:extLst>
          </p:cNvPr>
          <p:cNvSpPr>
            <a:spLocks noGrp="1"/>
          </p:cNvSpPr>
          <p:nvPr>
            <p:ph type="ftr" sz="quarter" idx="11"/>
          </p:nvPr>
        </p:nvSpPr>
        <p:spPr/>
        <p:txBody>
          <a:bodyPr/>
          <a:lstStyle/>
          <a:p>
            <a:pPr>
              <a:defRPr/>
            </a:pPr>
            <a:r>
              <a:rPr lang="tr-TR"/>
              <a:t>PSYCH 4041 / 6014</a:t>
            </a:r>
            <a:endParaRPr lang="en-US" sz="1050">
              <a:latin typeface="Comic Sans MS" charset="0"/>
            </a:endParaRPr>
          </a:p>
        </p:txBody>
      </p:sp>
      <p:pic>
        <p:nvPicPr>
          <p:cNvPr id="8" name="Picture 7" descr="This is a screenshot of a &quot;Schedule of Lecture Topics (2021)&quot; and a &quot;Schedule of Classes&quot; for a course. The schedule is presented in a table format with columns for Week/Date, Topic, Reading(s), and Notes. It outlines the topics to be covered in the course, including &quot;Introduction to Course,&quot; &quot;History &amp; Philosophy,&quot; &quot;Methods &amp; Techniques,&quot; &quot;Psychophysics; Signal Detection Theory,&quot; &quot;Physiology of Perception,&quot; &quot;Neuroimaging: Bottom-Up vs. Top-Down,&quot; &quot;Cutaneous Senses,&quot; and &quot;Pain.&quot; It also lists corresponding readings and notes for each topic. The schedule covers dates from January 15th to February 3rd, 2021. There is also a video embedded at the bottom of the page, presumably related to the topic of &quot;Pain.&quot;">
            <a:extLst>
              <a:ext uri="{FF2B5EF4-FFF2-40B4-BE49-F238E27FC236}">
                <a16:creationId xmlns:a16="http://schemas.microsoft.com/office/drawing/2014/main" id="{84D41207-A92B-6C4E-8A65-B666869A9333}"/>
              </a:ext>
            </a:extLst>
          </p:cNvPr>
          <p:cNvPicPr>
            <a:picLocks noChangeAspect="1"/>
          </p:cNvPicPr>
          <p:nvPr/>
        </p:nvPicPr>
        <p:blipFill rotWithShape="1">
          <a:blip r:embed="rId2"/>
          <a:srcRect t="13526"/>
          <a:stretch/>
        </p:blipFill>
        <p:spPr>
          <a:xfrm>
            <a:off x="1600200" y="1123016"/>
            <a:ext cx="6207239" cy="3887134"/>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6" name="Donut 5">
            <a:extLst>
              <a:ext uri="{FF2B5EF4-FFF2-40B4-BE49-F238E27FC236}">
                <a16:creationId xmlns:a16="http://schemas.microsoft.com/office/drawing/2014/main" id="{A33A7FE9-7467-414A-A855-1B2EB14EC9A5}"/>
              </a:ext>
            </a:extLst>
          </p:cNvPr>
          <p:cNvSpPr/>
          <p:nvPr/>
        </p:nvSpPr>
        <p:spPr bwMode="auto">
          <a:xfrm>
            <a:off x="990600" y="2800350"/>
            <a:ext cx="6435839" cy="1219200"/>
          </a:xfrm>
          <a:prstGeom prst="donut">
            <a:avLst/>
          </a:prstGeom>
          <a:solidFill>
            <a:srgbClr val="FFFF00">
              <a:alpha val="50000"/>
            </a:srgbClr>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0000"/>
              </a:solidFill>
              <a:effectLst/>
              <a:latin typeface="Times" charset="0"/>
              <a:ea typeface="ＭＳ Ｐゴシック" charset="0"/>
            </a:endParaRPr>
          </a:p>
        </p:txBody>
      </p:sp>
    </p:spTree>
    <p:extLst>
      <p:ext uri="{BB962C8B-B14F-4D97-AF65-F5344CB8AC3E}">
        <p14:creationId xmlns:p14="http://schemas.microsoft.com/office/powerpoint/2010/main" val="562905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Date Placeholder 3">
            <a:extLst>
              <a:ext uri="{FF2B5EF4-FFF2-40B4-BE49-F238E27FC236}">
                <a16:creationId xmlns:a16="http://schemas.microsoft.com/office/drawing/2014/main" id="{B74CCB0F-2B8C-DA48-B9B6-5D5DC8FE1CD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470441A8-5C41-BD4D-9B61-FF018AA5E2C5}"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17410" name="Footer Placeholder 4">
            <a:extLst>
              <a:ext uri="{FF2B5EF4-FFF2-40B4-BE49-F238E27FC236}">
                <a16:creationId xmlns:a16="http://schemas.microsoft.com/office/drawing/2014/main" id="{D09DAB0C-30EB-E242-85E6-0F46531077A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17411" name="Rectangle 2">
            <a:extLst>
              <a:ext uri="{FF2B5EF4-FFF2-40B4-BE49-F238E27FC236}">
                <a16:creationId xmlns:a16="http://schemas.microsoft.com/office/drawing/2014/main" id="{6C6D466D-6675-C747-854A-F701DCEA0C14}"/>
              </a:ext>
            </a:extLst>
          </p:cNvPr>
          <p:cNvSpPr>
            <a:spLocks noGrp="1" noChangeArrowheads="1"/>
          </p:cNvSpPr>
          <p:nvPr>
            <p:ph type="title"/>
          </p:nvPr>
        </p:nvSpPr>
        <p:spPr/>
        <p:txBody>
          <a:bodyPr/>
          <a:lstStyle/>
          <a:p>
            <a:r>
              <a:rPr lang="en-US" altLang="en-US">
                <a:ea typeface="ＭＳ Ｐゴシック" panose="020B0600070205080204" pitchFamily="34" charset="-128"/>
              </a:rPr>
              <a:t>Overview</a:t>
            </a:r>
          </a:p>
        </p:txBody>
      </p:sp>
      <p:sp>
        <p:nvSpPr>
          <p:cNvPr id="17412" name="Rectangle 3">
            <a:extLst>
              <a:ext uri="{FF2B5EF4-FFF2-40B4-BE49-F238E27FC236}">
                <a16:creationId xmlns:a16="http://schemas.microsoft.com/office/drawing/2014/main" id="{2C52D3D0-74DF-FF4B-8816-1AC2324BD10A}"/>
              </a:ext>
            </a:extLst>
          </p:cNvPr>
          <p:cNvSpPr>
            <a:spLocks noGrp="1" noChangeArrowheads="1"/>
          </p:cNvSpPr>
          <p:nvPr>
            <p:ph type="body" idx="1"/>
          </p:nvPr>
        </p:nvSpPr>
        <p:spPr>
          <a:xfrm>
            <a:off x="838200" y="685800"/>
            <a:ext cx="8001000" cy="4171950"/>
          </a:xfrm>
        </p:spPr>
        <p:txBody>
          <a:bodyPr/>
          <a:lstStyle/>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Brain as center of perception</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Brain Structure</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Transduction &amp; Transmission</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Neural Signals</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Coding</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Upcoming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Date Placeholder 3">
            <a:extLst>
              <a:ext uri="{FF2B5EF4-FFF2-40B4-BE49-F238E27FC236}">
                <a16:creationId xmlns:a16="http://schemas.microsoft.com/office/drawing/2014/main" id="{6AD73A8B-38CB-2B4B-AE3D-22BE07F653D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D976380-119C-3F48-A59C-E46077F21BE3}"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19458" name="Footer Placeholder 4">
            <a:extLst>
              <a:ext uri="{FF2B5EF4-FFF2-40B4-BE49-F238E27FC236}">
                <a16:creationId xmlns:a16="http://schemas.microsoft.com/office/drawing/2014/main" id="{1754684D-BE54-724D-A2D8-0667E8A537A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19459" name="Rectangle 2">
            <a:extLst>
              <a:ext uri="{FF2B5EF4-FFF2-40B4-BE49-F238E27FC236}">
                <a16:creationId xmlns:a16="http://schemas.microsoft.com/office/drawing/2014/main" id="{01C17CEB-3A9B-3148-A9AD-54A0BD4AB9A9}"/>
              </a:ext>
            </a:extLst>
          </p:cNvPr>
          <p:cNvSpPr>
            <a:spLocks noGrp="1" noChangeArrowheads="1"/>
          </p:cNvSpPr>
          <p:nvPr>
            <p:ph type="title"/>
          </p:nvPr>
        </p:nvSpPr>
        <p:spPr/>
        <p:txBody>
          <a:bodyPr/>
          <a:lstStyle/>
          <a:p>
            <a:r>
              <a:rPr lang="en-US" altLang="en-US">
                <a:ea typeface="ＭＳ Ｐゴシック" panose="020B0600070205080204" pitchFamily="34" charset="-128"/>
              </a:rPr>
              <a:t>Brain as Center of Perception</a:t>
            </a:r>
          </a:p>
        </p:txBody>
      </p:sp>
      <p:sp>
        <p:nvSpPr>
          <p:cNvPr id="19460" name="Rectangle 3">
            <a:extLst>
              <a:ext uri="{FF2B5EF4-FFF2-40B4-BE49-F238E27FC236}">
                <a16:creationId xmlns:a16="http://schemas.microsoft.com/office/drawing/2014/main" id="{B93E2BB2-C3D4-F84E-906F-7CC29E13E327}"/>
              </a:ext>
            </a:extLst>
          </p:cNvPr>
          <p:cNvSpPr>
            <a:spLocks noGrp="1" noChangeArrowheads="1"/>
          </p:cNvSpPr>
          <p:nvPr>
            <p:ph type="body" idx="1"/>
          </p:nvPr>
        </p:nvSpPr>
        <p:spPr>
          <a:xfrm>
            <a:off x="838200" y="762000"/>
            <a:ext cx="5486400" cy="4171950"/>
          </a:xfrm>
        </p:spPr>
        <p:txBody>
          <a:bodyPr/>
          <a:lstStyle/>
          <a:p>
            <a:pPr>
              <a:lnSpc>
                <a:spcPct val="90000"/>
              </a:lnSpc>
            </a:pPr>
            <a:r>
              <a:rPr lang="en-US" altLang="en-US" sz="2000" dirty="0">
                <a:ea typeface="ＭＳ Ｐゴシック" panose="020B0600070205080204" pitchFamily="34" charset="-128"/>
              </a:rPr>
              <a:t>Study of the human as a perceiving “machine” led to the conclusion that the brain was center of thought and perception</a:t>
            </a:r>
          </a:p>
          <a:p>
            <a:pPr>
              <a:lnSpc>
                <a:spcPct val="90000"/>
              </a:lnSpc>
            </a:pPr>
            <a:endParaRPr lang="en-US" altLang="en-US" sz="2000" dirty="0">
              <a:ea typeface="ＭＳ Ｐゴシック" panose="020B0600070205080204" pitchFamily="34" charset="-128"/>
            </a:endParaRPr>
          </a:p>
          <a:p>
            <a:pPr>
              <a:lnSpc>
                <a:spcPct val="90000"/>
              </a:lnSpc>
            </a:pPr>
            <a:r>
              <a:rPr lang="en-US" altLang="en-US" sz="2000" dirty="0">
                <a:ea typeface="ＭＳ Ｐゴシック" panose="020B0600070205080204" pitchFamily="34" charset="-128"/>
              </a:rPr>
              <a:t>Early anatomists tried dissection to determine (1) structure, then (2) function</a:t>
            </a:r>
          </a:p>
          <a:p>
            <a:pPr>
              <a:lnSpc>
                <a:spcPct val="90000"/>
              </a:lnSpc>
            </a:pPr>
            <a:endParaRPr lang="en-US" altLang="en-US" sz="2000" dirty="0">
              <a:ea typeface="ＭＳ Ｐゴシック" panose="020B0600070205080204" pitchFamily="34" charset="-128"/>
            </a:endParaRPr>
          </a:p>
          <a:p>
            <a:pPr>
              <a:lnSpc>
                <a:spcPct val="90000"/>
              </a:lnSpc>
            </a:pPr>
            <a:r>
              <a:rPr lang="en-US" altLang="en-US" sz="2000" dirty="0">
                <a:ea typeface="ＭＳ Ｐゴシック" panose="020B0600070205080204" pitchFamily="34" charset="-128"/>
              </a:rPr>
              <a:t>Modern efforts much more effective !</a:t>
            </a:r>
          </a:p>
        </p:txBody>
      </p:sp>
      <p:pic>
        <p:nvPicPr>
          <p:cNvPr id="19461" name="Picture 4" descr="A superior view of a human brain is presented against a black background. The top half of the image features the brain split down the longitudinal fissure into two distinct hemispheres, showcasing the intricate gyri (folds) and sulci (grooves) of the cerebral cortex, with visible dark blue veins threading through the tissue. The bottom half of the image displays a whole, intact brain viewed from the top, emphasizing the same complex, folded surface with prominent vasculature. The overall color palette consists of earthy browns and tans for the brain tissue, contrasted with the dark veins and the stark black background. This visual representation aligns with the context of a lecture on the brain as the center of perception, likely used to illustrate the physical structure responsible for sensory processing and cognitive functions.">
            <a:extLst>
              <a:ext uri="{FF2B5EF4-FFF2-40B4-BE49-F238E27FC236}">
                <a16:creationId xmlns:a16="http://schemas.microsoft.com/office/drawing/2014/main" id="{8363DA79-3720-1F41-8661-DA78AEDDA2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742950"/>
            <a:ext cx="2396067" cy="3620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Date Placeholder 3">
            <a:extLst>
              <a:ext uri="{FF2B5EF4-FFF2-40B4-BE49-F238E27FC236}">
                <a16:creationId xmlns:a16="http://schemas.microsoft.com/office/drawing/2014/main" id="{D497DFB1-0648-0F41-85C5-7831C637BCB8}"/>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85F0751-AA33-8041-A0B1-3573A6CC8921}"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21506" name="Footer Placeholder 4">
            <a:extLst>
              <a:ext uri="{FF2B5EF4-FFF2-40B4-BE49-F238E27FC236}">
                <a16:creationId xmlns:a16="http://schemas.microsoft.com/office/drawing/2014/main" id="{464259C6-498D-BE49-A278-D6ED9302585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21507" name="Rectangle 2">
            <a:extLst>
              <a:ext uri="{FF2B5EF4-FFF2-40B4-BE49-F238E27FC236}">
                <a16:creationId xmlns:a16="http://schemas.microsoft.com/office/drawing/2014/main" id="{4A649948-3311-754F-BAFA-B2BA18EFBB85}"/>
              </a:ext>
            </a:extLst>
          </p:cNvPr>
          <p:cNvSpPr>
            <a:spLocks noGrp="1" noChangeArrowheads="1"/>
          </p:cNvSpPr>
          <p:nvPr>
            <p:ph type="title"/>
          </p:nvPr>
        </p:nvSpPr>
        <p:spPr/>
        <p:txBody>
          <a:bodyPr/>
          <a:lstStyle/>
          <a:p>
            <a:r>
              <a:rPr lang="en-US" altLang="en-US">
                <a:ea typeface="ＭＳ Ｐゴシック" panose="020B0600070205080204" pitchFamily="34" charset="-128"/>
              </a:rPr>
              <a:t>Made Up of Neurons…</a:t>
            </a:r>
          </a:p>
        </p:txBody>
      </p:sp>
      <p:sp>
        <p:nvSpPr>
          <p:cNvPr id="21508" name="Rectangle 3">
            <a:extLst>
              <a:ext uri="{FF2B5EF4-FFF2-40B4-BE49-F238E27FC236}">
                <a16:creationId xmlns:a16="http://schemas.microsoft.com/office/drawing/2014/main" id="{0FA59155-5373-5A40-A771-48C3313E5410}"/>
              </a:ext>
            </a:extLst>
          </p:cNvPr>
          <p:cNvSpPr>
            <a:spLocks noGrp="1" noChangeArrowheads="1"/>
          </p:cNvSpPr>
          <p:nvPr>
            <p:ph type="body" idx="1"/>
          </p:nvPr>
        </p:nvSpPr>
        <p:spPr>
          <a:xfrm>
            <a:off x="838200" y="762000"/>
            <a:ext cx="5486400" cy="4171950"/>
          </a:xfrm>
        </p:spPr>
        <p:txBody>
          <a:bodyPr/>
          <a:lstStyle/>
          <a:p>
            <a:pPr>
              <a:lnSpc>
                <a:spcPct val="90000"/>
              </a:lnSpc>
            </a:pPr>
            <a:r>
              <a:rPr lang="en-US" altLang="en-US" sz="2200" dirty="0">
                <a:ea typeface="ＭＳ Ｐゴシック" panose="020B0600070205080204" pitchFamily="34" charset="-128"/>
              </a:rPr>
              <a:t>The Neuron Doctrine</a:t>
            </a:r>
          </a:p>
          <a:p>
            <a:pPr lvl="1">
              <a:lnSpc>
                <a:spcPct val="90000"/>
              </a:lnSpc>
            </a:pPr>
            <a:r>
              <a:rPr lang="en-US" altLang="en-US" sz="2200" dirty="0">
                <a:ea typeface="ＭＳ Ｐゴシック" panose="020B0600070205080204" pitchFamily="34" charset="-128"/>
              </a:rPr>
              <a:t>Neurons &amp; their synapses are the fundamental entities in brain functions, including the mind and consciousness</a:t>
            </a:r>
          </a:p>
          <a:p>
            <a:pPr lvl="1">
              <a:lnSpc>
                <a:spcPct val="90000"/>
              </a:lnSpc>
            </a:pPr>
            <a:r>
              <a:rPr lang="en-US" altLang="en-US" sz="2200" dirty="0">
                <a:ea typeface="ＭＳ Ｐゴシック" panose="020B0600070205080204" pitchFamily="34" charset="-128"/>
              </a:rPr>
              <a:t>All the functions of the brain must ultimately be understood in terms of neurons and their interactions</a:t>
            </a:r>
          </a:p>
          <a:p>
            <a:pPr lvl="1">
              <a:lnSpc>
                <a:spcPct val="90000"/>
              </a:lnSpc>
            </a:pPr>
            <a:r>
              <a:rPr lang="en-US" altLang="en-US" sz="2200" dirty="0">
                <a:ea typeface="ＭＳ Ｐゴシック" panose="020B0600070205080204" pitchFamily="34" charset="-128"/>
              </a:rPr>
              <a:t>Note: Neurons are electric</a:t>
            </a:r>
          </a:p>
        </p:txBody>
      </p:sp>
      <p:pic>
        <p:nvPicPr>
          <p:cNvPr id="21509" name="Picture 5" descr="A close-up microscopic image shows several dark red, triangular-shaped neurons against a bright orange background. The neurons have long, branching dendrites extending outwards, creating a complex, interconnected network. The image appears to be a stained tissue sample, likely from the brain, given the context of &quot;Made Up of Neurons&quot; and &quot;PSYCH 4041 / 6014&quot;. The detail and color suggest a histological or biological preparation.">
            <a:extLst>
              <a:ext uri="{FF2B5EF4-FFF2-40B4-BE49-F238E27FC236}">
                <a16:creationId xmlns:a16="http://schemas.microsoft.com/office/drawing/2014/main" id="{6B7C7D7C-FCFE-814F-A42C-1E07937956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4391" y="819150"/>
            <a:ext cx="2132409"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7DEA07D7-B863-D74C-853E-B17B753A0463}"/>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Basic Brain Structure</a:t>
            </a:r>
          </a:p>
        </p:txBody>
      </p:sp>
      <p:sp>
        <p:nvSpPr>
          <p:cNvPr id="23554" name="Rectangle 3">
            <a:extLst>
              <a:ext uri="{FF2B5EF4-FFF2-40B4-BE49-F238E27FC236}">
                <a16:creationId xmlns:a16="http://schemas.microsoft.com/office/drawing/2014/main" id="{D8C615DF-A988-584B-959D-8AA00A71291F}"/>
              </a:ext>
            </a:extLst>
          </p:cNvPr>
          <p:cNvSpPr>
            <a:spLocks noGrp="1" noChangeArrowheads="1"/>
          </p:cNvSpPr>
          <p:nvPr>
            <p:ph type="body" idx="1"/>
          </p:nvPr>
        </p:nvSpPr>
        <p:spPr>
          <a:xfrm>
            <a:off x="838200" y="857250"/>
            <a:ext cx="6648450" cy="365760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The brain has modular organization</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The sensory modalities have primary receiving areas</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Audition - temporal lobe</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Tactile senses - parietal lobe</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Vision - occipital lobe</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Etc.</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Frontal lobe coordinates information received from two or more senses</a:t>
            </a:r>
          </a:p>
        </p:txBody>
      </p:sp>
      <p:sp>
        <p:nvSpPr>
          <p:cNvPr id="23555" name="Date Placeholder 1">
            <a:extLst>
              <a:ext uri="{FF2B5EF4-FFF2-40B4-BE49-F238E27FC236}">
                <a16:creationId xmlns:a16="http://schemas.microsoft.com/office/drawing/2014/main" id="{2F967521-A193-1843-B9FF-883539FCD86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1DA6B711-F320-CA47-8965-BE2A034C453B}"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23556" name="Footer Placeholder 2">
            <a:extLst>
              <a:ext uri="{FF2B5EF4-FFF2-40B4-BE49-F238E27FC236}">
                <a16:creationId xmlns:a16="http://schemas.microsoft.com/office/drawing/2014/main" id="{DA381CA7-7BFC-F844-8009-72C9FF712F0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7FD46BCF-354D-C84D-9640-D842959E13C7}"/>
              </a:ext>
            </a:extLst>
          </p:cNvPr>
          <p:cNvSpPr>
            <a:spLocks noGrp="1" noChangeArrowheads="1"/>
          </p:cNvSpPr>
          <p:nvPr>
            <p:ph type="body" idx="1"/>
          </p:nvPr>
        </p:nvSpPr>
        <p:spPr>
          <a:xfrm>
            <a:off x="2019300" y="3943350"/>
            <a:ext cx="6057900" cy="1028700"/>
          </a:xfrm>
          <a:solidFill>
            <a:schemeClr val="bg1"/>
          </a:solidFill>
        </p:spPr>
        <p:txBody>
          <a:bodyPr anchor="b"/>
          <a:lstStyle/>
          <a:p>
            <a:pPr marL="0" indent="0">
              <a:lnSpc>
                <a:spcPct val="80000"/>
              </a:lnSpc>
              <a:buNone/>
            </a:pPr>
            <a:r>
              <a:rPr lang="en-US" altLang="en-US" sz="975" dirty="0">
                <a:latin typeface="Arial" panose="020B0604020202020204" pitchFamily="34" charset="0"/>
                <a:ea typeface="ＭＳ Ｐゴシック" panose="020B0600070205080204" pitchFamily="34" charset="-128"/>
              </a:rPr>
              <a:t>Figure 2.3 The human brain, showing the locations of the primary receiving areas for the senses in the temporal, occipital, and parietal lobes, and the frontal lobe, which is involved with integrating sensory functions.</a:t>
            </a:r>
          </a:p>
        </p:txBody>
      </p:sp>
      <p:pic>
        <p:nvPicPr>
          <p:cNvPr id="25602" name="Picture 4" descr="The diagram displays a lateral view of the human brain, with labels indicating the locations and primary functions of four major lobes. The frontal lobe is shown at the front, and although its primary function is not explicitly stated as a sensory receiving area, the accompanying text indicates it's involved in integrating sensory functions. The parietal lobe, located superiorly and posteriorly, is labeled as the area for &quot;skin senses.&quot; The temporal lobe, situated below the parietal lobe, is identified with &quot;hearing.&quot; Finally, the occipital lobe is positioned at the posterior part of the brain and is labeled for &quot;vision.&quot; The cerebellum is visible at the base of the brain, below the occipital and temporal lobes. The overall image uses realistic rendering of the brain's structure with distinct colors for the cerebellum (grey ribbed texture) and brainstem (yellow), contrasting with the wrinkled, pinkish-brown surface of the cerebral cortex.">
            <a:extLst>
              <a:ext uri="{FF2B5EF4-FFF2-40B4-BE49-F238E27FC236}">
                <a16:creationId xmlns:a16="http://schemas.microsoft.com/office/drawing/2014/main" id="{84859B0F-B8DC-1F44-A0AB-0A0877E81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04807"/>
            <a:ext cx="6477000" cy="4448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3" name="Date Placeholder 1">
            <a:extLst>
              <a:ext uri="{FF2B5EF4-FFF2-40B4-BE49-F238E27FC236}">
                <a16:creationId xmlns:a16="http://schemas.microsoft.com/office/drawing/2014/main" id="{7BEF6A66-4D97-474A-8328-B4B3B64BFBE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9A86305-13EB-E149-8B7F-A8AC79AE81A2}"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268F3162-86D0-9E4B-A4A1-EDE1465DF482}"/>
              </a:ext>
            </a:extLst>
          </p:cNvPr>
          <p:cNvSpPr>
            <a:spLocks noGrp="1" noChangeArrowheads="1"/>
          </p:cNvSpPr>
          <p:nvPr>
            <p:ph type="title"/>
          </p:nvPr>
        </p:nvSpPr>
        <p:spPr>
          <a:xfrm>
            <a:off x="1143000" y="0"/>
            <a:ext cx="7543800" cy="628650"/>
          </a:xfrm>
        </p:spPr>
        <p:txBody>
          <a:bodyPr/>
          <a:lstStyle/>
          <a:p>
            <a:r>
              <a:rPr lang="en-US" altLang="en-US" sz="2700" dirty="0">
                <a:ea typeface="ＭＳ Ｐゴシック" panose="020B0600070205080204" pitchFamily="34" charset="-128"/>
              </a:rPr>
              <a:t>Neurons: Transduction &amp; Transmission</a:t>
            </a:r>
          </a:p>
        </p:txBody>
      </p:sp>
      <p:sp>
        <p:nvSpPr>
          <p:cNvPr id="27650" name="Rectangle 3">
            <a:extLst>
              <a:ext uri="{FF2B5EF4-FFF2-40B4-BE49-F238E27FC236}">
                <a16:creationId xmlns:a16="http://schemas.microsoft.com/office/drawing/2014/main" id="{E04CE557-18BC-2B4E-97EC-E93FCA4EB628}"/>
              </a:ext>
            </a:extLst>
          </p:cNvPr>
          <p:cNvSpPr>
            <a:spLocks noGrp="1" noChangeArrowheads="1"/>
          </p:cNvSpPr>
          <p:nvPr>
            <p:ph type="body" idx="1"/>
          </p:nvPr>
        </p:nvSpPr>
        <p:spPr>
          <a:xfrm>
            <a:off x="838200" y="685800"/>
            <a:ext cx="6648450" cy="3829050"/>
          </a:xfrm>
        </p:spPr>
        <p:txBody>
          <a:bodyPr/>
          <a:lstStyle/>
          <a:p>
            <a:pPr>
              <a:spcBef>
                <a:spcPct val="30000"/>
              </a:spcBef>
            </a:pPr>
            <a:r>
              <a:rPr lang="en-US" altLang="en-US" sz="2100" dirty="0">
                <a:latin typeface="Arial" panose="020B0604020202020204" pitchFamily="34" charset="0"/>
                <a:ea typeface="ＭＳ Ｐゴシック" panose="020B0600070205080204" pitchFamily="34" charset="-128"/>
              </a:rPr>
              <a:t>Receptors - specialized neurons that respond to specific kinds of energy</a:t>
            </a:r>
            <a:endParaRPr lang="en-US" altLang="en-US" dirty="0">
              <a:latin typeface="Arial" panose="020B0604020202020204" pitchFamily="34" charset="0"/>
              <a:ea typeface="ＭＳ Ｐゴシック" panose="020B0600070205080204" pitchFamily="34" charset="-128"/>
            </a:endParaRPr>
          </a:p>
        </p:txBody>
      </p:sp>
      <p:pic>
        <p:nvPicPr>
          <p:cNvPr id="27651" name="Picture 4" descr="The diagram, titled &quot;Neurons: Transduction &amp; Transmission,&quot; displays five distinct types of sensory receptor cells, each labeled with a letter from (a) to (e) and corresponding to a different sense. All five illustrations are isolated against a light blue background and each features a black asterisk (*) next to it.&#10;&#10;Image (a) depicts a vertically oriented rod-shaped cell labeled &quot;Vision.&quot; It has a segmented outer segment at the top, resembling stacked discs, and a nucleus visible in the wider central portion.&#10;&#10;Image (b) shows a roughly oval-shaped cell labeled &quot;Hearing.&quot; It is cut in half to reveal internal structures, including a nucleus and what appear to be hair-like projections within its cavity. The outer layer is light yellow and green, with internal red and purple elements.&#10;&#10;Image (c) presents a complex, folded structure labeled &quot;Touch.&quot; This organelle-like shape is a deep purple with lighter blue internal folds and appears vascularized.&#10;&#10;Image (d), labeled &quot;Smell,&quot; shows a cross-section of tissue containing two types of neurons. One neuron is a reddish-orange, and the other is green. Both have cell bodies with nuclei and nerve fibers extending downwards and outwards. The surrounding tissue is light yellow and pink, with purple nuclei visible in smaller cells.&#10;&#10;Finally, image (e) illustrates a tear-drop shaped cell labeled &quot;Taste.&quot; This reddish cell has a distinct nucleus in its wider, upper portion and a yellow nerve fiber extending from its tapered base. The top of this cell features several cilia-like projections. The overall presentation is a comparative visual catalog of sensory receptor cell morphologies.">
            <a:extLst>
              <a:ext uri="{FF2B5EF4-FFF2-40B4-BE49-F238E27FC236}">
                <a16:creationId xmlns:a16="http://schemas.microsoft.com/office/drawing/2014/main" id="{EDC8230E-1E0A-5844-B2FC-597149D206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785" y="1581150"/>
            <a:ext cx="8327615" cy="2947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2" name="Date Placeholder 1">
            <a:extLst>
              <a:ext uri="{FF2B5EF4-FFF2-40B4-BE49-F238E27FC236}">
                <a16:creationId xmlns:a16="http://schemas.microsoft.com/office/drawing/2014/main" id="{416B7D9C-3591-114C-835B-7A772AB9DF1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39373439-8050-094F-AA91-928198248D79}"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27653" name="Footer Placeholder 2">
            <a:extLst>
              <a:ext uri="{FF2B5EF4-FFF2-40B4-BE49-F238E27FC236}">
                <a16:creationId xmlns:a16="http://schemas.microsoft.com/office/drawing/2014/main" id="{5853A928-1411-5447-A2C9-A417A56972A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3E241A2D-2707-D549-8D5F-DBB2AAD12487}"/>
              </a:ext>
            </a:extLst>
          </p:cNvPr>
          <p:cNvSpPr>
            <a:spLocks noGrp="1" noChangeArrowheads="1"/>
          </p:cNvSpPr>
          <p:nvPr>
            <p:ph type="title"/>
          </p:nvPr>
        </p:nvSpPr>
        <p:spPr>
          <a:xfrm>
            <a:off x="1143000" y="0"/>
            <a:ext cx="7543800" cy="628650"/>
          </a:xfrm>
        </p:spPr>
        <p:txBody>
          <a:bodyPr/>
          <a:lstStyle/>
          <a:p>
            <a:r>
              <a:rPr lang="en-US" altLang="en-US" sz="2700" dirty="0">
                <a:ea typeface="ＭＳ Ｐゴシック" panose="020B0600070205080204" pitchFamily="34" charset="-128"/>
              </a:rPr>
              <a:t>Neurons: Transduction &amp; Transmission</a:t>
            </a:r>
          </a:p>
        </p:txBody>
      </p:sp>
      <p:sp>
        <p:nvSpPr>
          <p:cNvPr id="29698" name="Rectangle 3">
            <a:extLst>
              <a:ext uri="{FF2B5EF4-FFF2-40B4-BE49-F238E27FC236}">
                <a16:creationId xmlns:a16="http://schemas.microsoft.com/office/drawing/2014/main" id="{FFFB08A7-53EC-254D-AC7E-F67645324D6B}"/>
              </a:ext>
            </a:extLst>
          </p:cNvPr>
          <p:cNvSpPr>
            <a:spLocks noGrp="1" noChangeArrowheads="1"/>
          </p:cNvSpPr>
          <p:nvPr>
            <p:ph type="body" idx="1"/>
          </p:nvPr>
        </p:nvSpPr>
        <p:spPr>
          <a:xfrm>
            <a:off x="838200" y="685800"/>
            <a:ext cx="6648450" cy="382905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Key components of neurons: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Cell body</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Dendrites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Axon or nerve fiber</a:t>
            </a:r>
          </a:p>
        </p:txBody>
      </p:sp>
      <p:pic>
        <p:nvPicPr>
          <p:cNvPr id="29699" name="Picture 4" descr="The diagram illustrates the process of neural transduction and transmission. It depicts a touch receptor on the left, receiving a &quot;Stimulus from environment&quot; indicated by a red arrow. This stimulus is then transmitted along a &quot;Nerve fiber&quot; as an &quot;Electrical signal&quot; (shown by red arrows). The nerve fiber connects to a neuron's dendrites, which then relay the signal to the &quot;Cell body.&quot; From the cell body, the signal travels down the &quot;Axon or nerve fiber,&quot; ultimately reaching the synapse, where it can be transmitted to another neuron. The neuron itself is visualized with a central cell body containing a nucleus, surrounded by branching dendrites and a long axon. Labels clearly identify &quot;Touch receptor,&quot; &quot;Stimulus from environment,&quot; &quot;Nerve fiber,&quot; &quot;Electrical signal,&quot; &quot;Synapse,&quot; &quot;Dendrite,&quot; &quot;Cell body,&quot; and &quot;Axon or nerve fiber.&quot; The overall visual flow represents the journey of a sensory signal from detection to transmission within the nervous system.">
            <a:extLst>
              <a:ext uri="{FF2B5EF4-FFF2-40B4-BE49-F238E27FC236}">
                <a16:creationId xmlns:a16="http://schemas.microsoft.com/office/drawing/2014/main" id="{69ACFB55-B8E3-314B-B581-5E5B86F79B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395495"/>
            <a:ext cx="8067897" cy="2081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0" name="Rectangle 2">
            <a:extLst>
              <a:ext uri="{FF2B5EF4-FFF2-40B4-BE49-F238E27FC236}">
                <a16:creationId xmlns:a16="http://schemas.microsoft.com/office/drawing/2014/main" id="{94A4D5F1-EEFA-7F42-973D-7198A94416D0}"/>
              </a:ext>
            </a:extLst>
          </p:cNvPr>
          <p:cNvSpPr txBox="1">
            <a:spLocks noChangeArrowheads="1"/>
          </p:cNvSpPr>
          <p:nvPr/>
        </p:nvSpPr>
        <p:spPr bwMode="auto">
          <a:xfrm>
            <a:off x="2247900" y="4476750"/>
            <a:ext cx="6057900" cy="471488"/>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975" dirty="0">
                <a:latin typeface="Arial" panose="020B0604020202020204" pitchFamily="34" charset="0"/>
              </a:rPr>
              <a:t>Figure 2.4 The neuron on the right consists of a cell body, dendrites, and an axon, or nerve fiber.  The neuron on the left that receives stimuli from the environment has a receptor in place of the cell body.</a:t>
            </a:r>
          </a:p>
        </p:txBody>
      </p:sp>
      <p:sp>
        <p:nvSpPr>
          <p:cNvPr id="29701" name="Date Placeholder 1">
            <a:extLst>
              <a:ext uri="{FF2B5EF4-FFF2-40B4-BE49-F238E27FC236}">
                <a16:creationId xmlns:a16="http://schemas.microsoft.com/office/drawing/2014/main" id="{0FB608D1-8E1B-E149-906C-1951EDFEB1EF}"/>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B63C21AA-C9E3-5D42-B571-1B128C2FCBB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242D317F-DF76-8043-AD69-87BC5CB5EA6E}"/>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Neural Signals</a:t>
            </a:r>
          </a:p>
        </p:txBody>
      </p:sp>
      <p:sp>
        <p:nvSpPr>
          <p:cNvPr id="31746" name="Rectangle 3">
            <a:extLst>
              <a:ext uri="{FF2B5EF4-FFF2-40B4-BE49-F238E27FC236}">
                <a16:creationId xmlns:a16="http://schemas.microsoft.com/office/drawing/2014/main" id="{5A1FAB20-FBA6-9842-ADB3-431636B93808}"/>
              </a:ext>
            </a:extLst>
          </p:cNvPr>
          <p:cNvSpPr>
            <a:spLocks noGrp="1" noChangeArrowheads="1"/>
          </p:cNvSpPr>
          <p:nvPr>
            <p:ph type="body" idx="1"/>
          </p:nvPr>
        </p:nvSpPr>
        <p:spPr>
          <a:xfrm>
            <a:off x="866775" y="792956"/>
            <a:ext cx="4514850" cy="3714750"/>
          </a:xfrm>
        </p:spPr>
        <p:txBody>
          <a:bodyPr/>
          <a:lstStyle/>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Electrical signals or action potentials</a:t>
            </a:r>
            <a:br>
              <a:rPr lang="en-US" altLang="en-US" sz="2000" dirty="0">
                <a:latin typeface="Tahoma" panose="020B0604030504040204" pitchFamily="34" charset="0"/>
                <a:ea typeface="Tahoma" panose="020B0604030504040204" pitchFamily="34" charset="0"/>
                <a:cs typeface="Tahoma" panose="020B0604030504040204" pitchFamily="34" charset="0"/>
              </a:rPr>
            </a:br>
            <a:r>
              <a:rPr lang="en-US" altLang="en-US" sz="2000" dirty="0">
                <a:latin typeface="Tahoma" panose="020B0604030504040204" pitchFamily="34" charset="0"/>
                <a:ea typeface="Tahoma" panose="020B0604030504040204" pitchFamily="34" charset="0"/>
                <a:cs typeface="Tahoma" panose="020B0604030504040204" pitchFamily="34" charset="0"/>
              </a:rPr>
              <a:t> occur when:</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permeability of the membrane changes</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Na+ flows into the fiber making </a:t>
            </a:r>
            <a:br>
              <a:rPr lang="en-US" altLang="en-US" sz="2000" dirty="0">
                <a:latin typeface="Tahoma" panose="020B0604030504040204" pitchFamily="34" charset="0"/>
                <a:ea typeface="Tahoma" panose="020B0604030504040204" pitchFamily="34" charset="0"/>
                <a:cs typeface="Tahoma" panose="020B0604030504040204" pitchFamily="34" charset="0"/>
              </a:rPr>
            </a:br>
            <a:r>
              <a:rPr lang="en-US" altLang="en-US" sz="2000" dirty="0">
                <a:latin typeface="Tahoma" panose="020B0604030504040204" pitchFamily="34" charset="0"/>
                <a:ea typeface="Tahoma" panose="020B0604030504040204" pitchFamily="34" charset="0"/>
                <a:cs typeface="Tahoma" panose="020B0604030504040204" pitchFamily="34" charset="0"/>
              </a:rPr>
              <a:t>the neuron more positive </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K+ flows out of the fiber making </a:t>
            </a:r>
            <a:br>
              <a:rPr lang="en-US" altLang="en-US" sz="2000" dirty="0">
                <a:latin typeface="Tahoma" panose="020B0604030504040204" pitchFamily="34" charset="0"/>
                <a:ea typeface="Tahoma" panose="020B0604030504040204" pitchFamily="34" charset="0"/>
                <a:cs typeface="Tahoma" panose="020B0604030504040204" pitchFamily="34" charset="0"/>
              </a:rPr>
            </a:br>
            <a:r>
              <a:rPr lang="en-US" altLang="en-US" sz="2000" dirty="0">
                <a:latin typeface="Tahoma" panose="020B0604030504040204" pitchFamily="34" charset="0"/>
                <a:ea typeface="Tahoma" panose="020B0604030504040204" pitchFamily="34" charset="0"/>
                <a:cs typeface="Tahoma" panose="020B0604030504040204" pitchFamily="34" charset="0"/>
              </a:rPr>
              <a:t>the neuron more negative</a:t>
            </a:r>
          </a:p>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This process travels down the axon in a propagated response</a:t>
            </a:r>
          </a:p>
          <a:p>
            <a:pPr lvl="1">
              <a:lnSpc>
                <a:spcPct val="90000"/>
              </a:lnSpc>
              <a:spcBef>
                <a:spcPct val="30000"/>
              </a:spcBef>
            </a:pPr>
            <a:endParaRPr lang="en-US" altLang="en-US" sz="2000" dirty="0">
              <a:latin typeface="Tahoma" panose="020B0604030504040204" pitchFamily="34" charset="0"/>
              <a:ea typeface="Tahoma" panose="020B0604030504040204" pitchFamily="34" charset="0"/>
              <a:cs typeface="Tahoma" panose="020B0604030504040204" pitchFamily="34" charset="0"/>
            </a:endParaRPr>
          </a:p>
        </p:txBody>
      </p:sp>
      <p:pic>
        <p:nvPicPr>
          <p:cNvPr id="31747" name="Picture 4" descr="1. **Main trend:** The graphs show a rapid increase in electrical charge inside the neuron followed by a return to the resting charge. This represents the propagation of an action potential along a nerve fiber.&#10;&#10;2. **Axes:** The vertical axis represents the electrical charge inside the fiber relative to the outside, measured in millivolts (mV). The horizontal axis represents time.">
            <a:extLst>
              <a:ext uri="{FF2B5EF4-FFF2-40B4-BE49-F238E27FC236}">
                <a16:creationId xmlns:a16="http://schemas.microsoft.com/office/drawing/2014/main" id="{2B2EA2DA-F5F3-D241-8C7D-A0EA4FF038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6166" y="800100"/>
            <a:ext cx="3170634" cy="3500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8" name="Date Placeholder 1">
            <a:extLst>
              <a:ext uri="{FF2B5EF4-FFF2-40B4-BE49-F238E27FC236}">
                <a16:creationId xmlns:a16="http://schemas.microsoft.com/office/drawing/2014/main" id="{6CC403BE-2CF1-634E-99A5-930E7B60E07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A56E3F5E-46BE-0C4A-9B48-7A0757E0168F}"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1749" name="Footer Placeholder 2">
            <a:extLst>
              <a:ext uri="{FF2B5EF4-FFF2-40B4-BE49-F238E27FC236}">
                <a16:creationId xmlns:a16="http://schemas.microsoft.com/office/drawing/2014/main" id="{E7BD3A59-C96D-0342-8BA4-E2CFE59413E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0D084AA8-0E46-0B41-BA15-3867FDBF548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Properties of Action Potentials</a:t>
            </a:r>
          </a:p>
        </p:txBody>
      </p:sp>
      <p:sp>
        <p:nvSpPr>
          <p:cNvPr id="33794" name="Rectangle 3">
            <a:extLst>
              <a:ext uri="{FF2B5EF4-FFF2-40B4-BE49-F238E27FC236}">
                <a16:creationId xmlns:a16="http://schemas.microsoft.com/office/drawing/2014/main" id="{D26D8A89-1DF6-6641-BB7E-B3F5CF742404}"/>
              </a:ext>
            </a:extLst>
          </p:cNvPr>
          <p:cNvSpPr>
            <a:spLocks noGrp="1" noChangeArrowheads="1"/>
          </p:cNvSpPr>
          <p:nvPr>
            <p:ph type="body" idx="1"/>
          </p:nvPr>
        </p:nvSpPr>
        <p:spPr>
          <a:xfrm>
            <a:off x="838200" y="800100"/>
            <a:ext cx="7162800" cy="371475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Action potentials: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show propagated response.</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remain the same size regardless of stimulus intensity.</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increase in </a:t>
            </a:r>
            <a:r>
              <a:rPr lang="en-US" altLang="en-US" sz="2000" b="1" dirty="0">
                <a:latin typeface="Tahoma" panose="020B0604030504040204" pitchFamily="34" charset="0"/>
                <a:ea typeface="Tahoma" panose="020B0604030504040204" pitchFamily="34" charset="0"/>
                <a:cs typeface="Tahoma" panose="020B0604030504040204" pitchFamily="34" charset="0"/>
              </a:rPr>
              <a:t>rate </a:t>
            </a:r>
            <a:r>
              <a:rPr lang="en-US" altLang="en-US" sz="2000" dirty="0">
                <a:latin typeface="Tahoma" panose="020B0604030504040204" pitchFamily="34" charset="0"/>
                <a:ea typeface="Tahoma" panose="020B0604030504040204" pitchFamily="34" charset="0"/>
                <a:cs typeface="Tahoma" panose="020B0604030504040204" pitchFamily="34" charset="0"/>
              </a:rPr>
              <a:t>to increase in stimulus intensity.</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have a refractory period of 1 </a:t>
            </a:r>
            <a:r>
              <a:rPr lang="en-US" altLang="en-US" sz="2000" dirty="0" err="1">
                <a:latin typeface="Tahoma" panose="020B0604030504040204" pitchFamily="34" charset="0"/>
                <a:ea typeface="Tahoma" panose="020B0604030504040204" pitchFamily="34" charset="0"/>
                <a:cs typeface="Tahoma" panose="020B0604030504040204" pitchFamily="34" charset="0"/>
              </a:rPr>
              <a:t>ms</a:t>
            </a:r>
            <a:r>
              <a:rPr lang="en-US" altLang="en-US" sz="2000" dirty="0">
                <a:latin typeface="Tahoma" panose="020B0604030504040204" pitchFamily="34" charset="0"/>
                <a:ea typeface="Tahoma" panose="020B0604030504040204" pitchFamily="34" charset="0"/>
                <a:cs typeface="Tahoma" panose="020B0604030504040204" pitchFamily="34" charset="0"/>
              </a:rPr>
              <a:t> - </a:t>
            </a:r>
            <a:r>
              <a:rPr lang="en-US" altLang="en-US" sz="2000" b="1" dirty="0">
                <a:latin typeface="Tahoma" panose="020B0604030504040204" pitchFamily="34" charset="0"/>
                <a:ea typeface="Tahoma" panose="020B0604030504040204" pitchFamily="34" charset="0"/>
                <a:cs typeface="Tahoma" panose="020B0604030504040204" pitchFamily="34" charset="0"/>
              </a:rPr>
              <a:t>upper firing rate </a:t>
            </a:r>
            <a:r>
              <a:rPr lang="en-US" altLang="en-US" sz="2000" dirty="0">
                <a:latin typeface="Tahoma" panose="020B0604030504040204" pitchFamily="34" charset="0"/>
                <a:ea typeface="Tahoma" panose="020B0604030504040204" pitchFamily="34" charset="0"/>
                <a:cs typeface="Tahoma" panose="020B0604030504040204" pitchFamily="34" charset="0"/>
              </a:rPr>
              <a:t>is 500 to 800 impulses per second.</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show spontaneous activity that occurs without stimulation (neuronal noise).</a:t>
            </a:r>
          </a:p>
        </p:txBody>
      </p:sp>
      <p:sp>
        <p:nvSpPr>
          <p:cNvPr id="33795" name="Date Placeholder 1">
            <a:extLst>
              <a:ext uri="{FF2B5EF4-FFF2-40B4-BE49-F238E27FC236}">
                <a16:creationId xmlns:a16="http://schemas.microsoft.com/office/drawing/2014/main" id="{EE05B481-9AF4-F94C-B6FF-1FDCCFEBD9E3}"/>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7D9888F8-8F4A-144E-B4DC-BCCEBEB728F9}"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3796" name="Footer Placeholder 2">
            <a:extLst>
              <a:ext uri="{FF2B5EF4-FFF2-40B4-BE49-F238E27FC236}">
                <a16:creationId xmlns:a16="http://schemas.microsoft.com/office/drawing/2014/main" id="{90590B3B-5A73-3C45-A8FF-88E166A2C45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0B5D2456-7F45-814E-BEA2-67251C9F7F88}"/>
              </a:ext>
            </a:extLst>
          </p:cNvPr>
          <p:cNvSpPr>
            <a:spLocks noGrp="1" noChangeArrowheads="1"/>
          </p:cNvSpPr>
          <p:nvPr>
            <p:ph type="body" idx="1"/>
          </p:nvPr>
        </p:nvSpPr>
        <p:spPr>
          <a:xfrm>
            <a:off x="1543050" y="3886200"/>
            <a:ext cx="6057900" cy="1028700"/>
          </a:xfrm>
        </p:spPr>
        <p:txBody>
          <a:bodyPr anchor="b"/>
          <a:lstStyle/>
          <a:p>
            <a:pPr marL="0" indent="0">
              <a:lnSpc>
                <a:spcPct val="80000"/>
              </a:lnSpc>
              <a:buNone/>
            </a:pPr>
            <a:r>
              <a:rPr lang="en-US" altLang="en-US" sz="975" dirty="0">
                <a:latin typeface="Arial" panose="020B0604020202020204" pitchFamily="34" charset="0"/>
                <a:ea typeface="ＭＳ Ｐゴシック" panose="020B0600070205080204" pitchFamily="34" charset="-128"/>
              </a:rPr>
              <a:t>Figure 2.10 Response of a nerve fiber to (a) soft, (b) medium, and (c) strong stimulation. Increasing the stimulus strength increases both the rate and the regularity of nerve firing in this fiber.</a:t>
            </a:r>
          </a:p>
        </p:txBody>
      </p:sp>
      <p:pic>
        <p:nvPicPr>
          <p:cNvPr id="35842" name="Picture 4" descr="1.  The main trend shown is that increasing stimulus intensity leads to a higher and more regular rate of nerve fiber firing.&#10;2.  The horizontal axis represents time, indicated by the red arrow and the label &quot;Time&quot;. The vertical axis represents the firing of a nerve fiber, depicted by vertical spikes.&#10;3.  The diagram displays three conditions labeled (a), (b), and (c), representing soft, medium, and strong stimulation, respectively. Each condition shows a series of vertical lines (nerve impulses) over time. Two dashed vertical lines indicate the onset (&quot;Pressure on&quot;) and offset (&quot;Pressure off&quot;) of the stimulus. As the stimulus strength increases from (a) to (b) to (c), the frequency and regularity of the vertical lines increase, meaning the nerve fiber fires more rapidly and consistently in response to stronger stimulation.">
            <a:extLst>
              <a:ext uri="{FF2B5EF4-FFF2-40B4-BE49-F238E27FC236}">
                <a16:creationId xmlns:a16="http://schemas.microsoft.com/office/drawing/2014/main" id="{2F5D69F8-E115-DF42-8F8C-889AC5310B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3100" y="742950"/>
            <a:ext cx="5257800" cy="352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3" name="Rectangle 2">
            <a:extLst>
              <a:ext uri="{FF2B5EF4-FFF2-40B4-BE49-F238E27FC236}">
                <a16:creationId xmlns:a16="http://schemas.microsoft.com/office/drawing/2014/main" id="{CDB2805F-6060-B840-BA6B-688A2A823E6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Stimulus Intensity &amp; Firing Rate</a:t>
            </a:r>
          </a:p>
        </p:txBody>
      </p:sp>
      <p:sp>
        <p:nvSpPr>
          <p:cNvPr id="35844" name="Date Placeholder 1">
            <a:extLst>
              <a:ext uri="{FF2B5EF4-FFF2-40B4-BE49-F238E27FC236}">
                <a16:creationId xmlns:a16="http://schemas.microsoft.com/office/drawing/2014/main" id="{4CA4627A-B8F5-0E4F-8B43-924A60A46B1F}"/>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39AC1371-0779-BB4C-A035-9E911F29B3A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5846" name="TextBox 1">
            <a:extLst>
              <a:ext uri="{FF2B5EF4-FFF2-40B4-BE49-F238E27FC236}">
                <a16:creationId xmlns:a16="http://schemas.microsoft.com/office/drawing/2014/main" id="{03E9264F-A3F5-6F47-80E2-F661537094A4}"/>
              </a:ext>
            </a:extLst>
          </p:cNvPr>
          <p:cNvSpPr txBox="1">
            <a:spLocks noChangeArrowheads="1"/>
          </p:cNvSpPr>
          <p:nvPr/>
        </p:nvSpPr>
        <p:spPr bwMode="auto">
          <a:xfrm>
            <a:off x="1314450" y="971551"/>
            <a:ext cx="9715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r>
              <a:rPr lang="en-US" altLang="en-US" sz="1800"/>
              <a:t>Soft pressure</a:t>
            </a:r>
          </a:p>
        </p:txBody>
      </p:sp>
      <p:sp>
        <p:nvSpPr>
          <p:cNvPr id="35847" name="TextBox 7">
            <a:extLst>
              <a:ext uri="{FF2B5EF4-FFF2-40B4-BE49-F238E27FC236}">
                <a16:creationId xmlns:a16="http://schemas.microsoft.com/office/drawing/2014/main" id="{050A81E7-E8C5-CC46-B259-77B662C198B9}"/>
              </a:ext>
            </a:extLst>
          </p:cNvPr>
          <p:cNvSpPr txBox="1">
            <a:spLocks noChangeArrowheads="1"/>
          </p:cNvSpPr>
          <p:nvPr/>
        </p:nvSpPr>
        <p:spPr bwMode="auto">
          <a:xfrm>
            <a:off x="1275160" y="1947863"/>
            <a:ext cx="9715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r>
              <a:rPr lang="en-US" altLang="en-US" sz="1800"/>
              <a:t>Medium pressure</a:t>
            </a:r>
          </a:p>
        </p:txBody>
      </p:sp>
      <p:sp>
        <p:nvSpPr>
          <p:cNvPr id="35848" name="TextBox 8">
            <a:extLst>
              <a:ext uri="{FF2B5EF4-FFF2-40B4-BE49-F238E27FC236}">
                <a16:creationId xmlns:a16="http://schemas.microsoft.com/office/drawing/2014/main" id="{D3CF4D5A-592D-464E-AC35-7656D17F328E}"/>
              </a:ext>
            </a:extLst>
          </p:cNvPr>
          <p:cNvSpPr txBox="1">
            <a:spLocks noChangeArrowheads="1"/>
          </p:cNvSpPr>
          <p:nvPr/>
        </p:nvSpPr>
        <p:spPr bwMode="auto">
          <a:xfrm>
            <a:off x="1328738" y="3063479"/>
            <a:ext cx="9715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r>
              <a:rPr lang="en-US" altLang="en-US" sz="1800"/>
              <a:t>Strong pressure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89" name="Picture 4" descr="The diagram illustrates the process of synaptic transmission of nerve impulses. Panel (a) shows a sensory receptor receiving a stimulus, which generates a nerve impulse that travels along an axon towards a receiving neuron. An enlarged view in panel (b) focuses on the synapse, the junction between the axon of a sending neuron and the dendrites of a receiving neuron. Here, synaptic vesicles within the sending neuron's axon terminal release neurotransmitter molecules into the synaptic cleft. Panel (c), further magnified, depicts neurotransmitter molecules (shown as red spheres) binding to specific receptor sites on the membrane of the receiving neuron, initiating a response in that neuron. The visual progression from a general overview of neuronal communication to a detailed microscopic view of neurotransmitter-receptor interaction effectively explains the mechanism of synaptic transmission.">
            <a:extLst>
              <a:ext uri="{FF2B5EF4-FFF2-40B4-BE49-F238E27FC236}">
                <a16:creationId xmlns:a16="http://schemas.microsoft.com/office/drawing/2014/main" id="{BA59CB00-07A8-A54E-81D3-225A2084DF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2650" y="685800"/>
            <a:ext cx="2419350" cy="433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0" name="Rectangle 2">
            <a:extLst>
              <a:ext uri="{FF2B5EF4-FFF2-40B4-BE49-F238E27FC236}">
                <a16:creationId xmlns:a16="http://schemas.microsoft.com/office/drawing/2014/main" id="{C3D6827B-86A0-D54A-8598-57D6E402C09E}"/>
              </a:ext>
            </a:extLst>
          </p:cNvPr>
          <p:cNvSpPr>
            <a:spLocks noGrp="1" noChangeArrowheads="1"/>
          </p:cNvSpPr>
          <p:nvPr>
            <p:ph type="title"/>
          </p:nvPr>
        </p:nvSpPr>
        <p:spPr>
          <a:xfrm>
            <a:off x="1143000" y="0"/>
            <a:ext cx="7543800" cy="628650"/>
          </a:xfrm>
        </p:spPr>
        <p:txBody>
          <a:bodyPr/>
          <a:lstStyle/>
          <a:p>
            <a:r>
              <a:rPr lang="en-US" altLang="en-US" dirty="0">
                <a:ea typeface="ＭＳ Ｐゴシック" panose="020B0600070205080204" pitchFamily="34" charset="-128"/>
              </a:rPr>
              <a:t>Synaptic Transmission of Impulses </a:t>
            </a:r>
          </a:p>
        </p:txBody>
      </p:sp>
      <p:sp>
        <p:nvSpPr>
          <p:cNvPr id="37891" name="Rectangle 3">
            <a:extLst>
              <a:ext uri="{FF2B5EF4-FFF2-40B4-BE49-F238E27FC236}">
                <a16:creationId xmlns:a16="http://schemas.microsoft.com/office/drawing/2014/main" id="{8DB2E0CE-6C0C-4D4C-9A99-A72D9976CA4E}"/>
              </a:ext>
            </a:extLst>
          </p:cNvPr>
          <p:cNvSpPr>
            <a:spLocks noGrp="1" noChangeArrowheads="1"/>
          </p:cNvSpPr>
          <p:nvPr>
            <p:ph type="body" idx="1"/>
          </p:nvPr>
        </p:nvSpPr>
        <p:spPr>
          <a:xfrm>
            <a:off x="838200" y="800100"/>
            <a:ext cx="4933950" cy="371475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Neurotransmitters are:</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released by the presynaptic neuron from vesicles.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received by the postsynaptic neuron on receptor sites.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matched like a key to a lock into specific receptor sites.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used as triggers for voltage change in the postsynaptic neuron. </a:t>
            </a:r>
          </a:p>
        </p:txBody>
      </p:sp>
      <p:sp>
        <p:nvSpPr>
          <p:cNvPr id="37892" name="Date Placeholder 1">
            <a:extLst>
              <a:ext uri="{FF2B5EF4-FFF2-40B4-BE49-F238E27FC236}">
                <a16:creationId xmlns:a16="http://schemas.microsoft.com/office/drawing/2014/main" id="{1A67EFEC-74DE-7943-8D65-9A3A7E7BC430}"/>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BAA026FD-8174-A943-8DC8-503C1A0776A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7893" name="Footer Placeholder 2">
            <a:extLst>
              <a:ext uri="{FF2B5EF4-FFF2-40B4-BE49-F238E27FC236}">
                <a16:creationId xmlns:a16="http://schemas.microsoft.com/office/drawing/2014/main" id="{846D9E54-4F23-D64D-BC34-4290BAFE5B7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7" name="Picture 5" descr="The diagram displays an artistic, 3D representation of a synapse, the junction between two nerve cells. In the foreground, prominent, bulbous, peach-colored structures curve and twist, suggesting nerve terminals or dendrites. These are set against a dark, almost black background. Superimposed on these structures, in a flowing, golden-yellow script, are the words &quot;Synaptic Transmission.&quot; To the right of the central mass, a small, stylized neuron is depicted. It has a bright orange, spherical cell body from which a network of delicate, reddish-brown branches extends. A thin, glowing line descends from the cell body towards the larger structures in the foreground, indicating the transmission of a signal. The overall aesthetic is futuristic and somewhat abstract, aiming to illustrate the concept of synaptic transmission visually.">
            <a:extLst>
              <a:ext uri="{FF2B5EF4-FFF2-40B4-BE49-F238E27FC236}">
                <a16:creationId xmlns:a16="http://schemas.microsoft.com/office/drawing/2014/main" id="{1DE6042D-1442-B946-9E36-76566AB57E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0838" y="1323975"/>
            <a:ext cx="3362325" cy="2494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38" name="Rectangle 2">
            <a:extLst>
              <a:ext uri="{FF2B5EF4-FFF2-40B4-BE49-F238E27FC236}">
                <a16:creationId xmlns:a16="http://schemas.microsoft.com/office/drawing/2014/main" id="{243AF993-D135-BF4A-A470-8F98CC1B5A78}"/>
              </a:ext>
            </a:extLst>
          </p:cNvPr>
          <p:cNvSpPr>
            <a:spLocks noGrp="1" noChangeArrowheads="1"/>
          </p:cNvSpPr>
          <p:nvPr>
            <p:ph type="title"/>
          </p:nvPr>
        </p:nvSpPr>
        <p:spPr>
          <a:xfrm>
            <a:off x="1143000" y="0"/>
            <a:ext cx="7543800" cy="628650"/>
          </a:xfrm>
        </p:spPr>
        <p:txBody>
          <a:bodyPr/>
          <a:lstStyle/>
          <a:p>
            <a:r>
              <a:rPr lang="en-US" altLang="en-US" dirty="0">
                <a:ea typeface="ＭＳ Ｐゴシック" panose="020B0600070205080204" pitchFamily="34" charset="-128"/>
              </a:rPr>
              <a:t>Video: Synaptic Transmission</a:t>
            </a:r>
          </a:p>
        </p:txBody>
      </p:sp>
      <p:sp>
        <p:nvSpPr>
          <p:cNvPr id="39939" name="Date Placeholder 1">
            <a:extLst>
              <a:ext uri="{FF2B5EF4-FFF2-40B4-BE49-F238E27FC236}">
                <a16:creationId xmlns:a16="http://schemas.microsoft.com/office/drawing/2014/main" id="{0E06D05A-9384-A44A-820F-185B0499EACA}"/>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A276D481-585E-C044-BF9C-683D2527731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9940" name="Footer Placeholder 2">
            <a:extLst>
              <a:ext uri="{FF2B5EF4-FFF2-40B4-BE49-F238E27FC236}">
                <a16:creationId xmlns:a16="http://schemas.microsoft.com/office/drawing/2014/main" id="{21B925D6-0888-864C-BF30-D9A58E43C6F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B541A588-BDDC-8D40-AC6C-42FBB1101FE8}"/>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Types of Neurotransmitters</a:t>
            </a:r>
          </a:p>
        </p:txBody>
      </p:sp>
      <p:sp>
        <p:nvSpPr>
          <p:cNvPr id="41986" name="Rectangle 3">
            <a:extLst>
              <a:ext uri="{FF2B5EF4-FFF2-40B4-BE49-F238E27FC236}">
                <a16:creationId xmlns:a16="http://schemas.microsoft.com/office/drawing/2014/main" id="{A38AEB4D-F70C-1943-B6C1-490BB67F288E}"/>
              </a:ext>
            </a:extLst>
          </p:cNvPr>
          <p:cNvSpPr>
            <a:spLocks noGrp="1" noChangeArrowheads="1"/>
          </p:cNvSpPr>
          <p:nvPr>
            <p:ph type="body" idx="1"/>
          </p:nvPr>
        </p:nvSpPr>
        <p:spPr>
          <a:xfrm>
            <a:off x="838200" y="800100"/>
            <a:ext cx="4476750" cy="3714750"/>
          </a:xfrm>
        </p:spPr>
        <p:txBody>
          <a:bodyPr/>
          <a:lstStyle/>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Excitatory transmitters - cause depolarization</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Neuron becomes more positive</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Increases the likelihood of an action potential</a:t>
            </a:r>
          </a:p>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Inhibitory transmitters - cause hyperpolarization</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Neuron becomes more negative</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Decreases the likelihood of an action potential</a:t>
            </a:r>
          </a:p>
        </p:txBody>
      </p:sp>
      <p:pic>
        <p:nvPicPr>
          <p:cNvPr id="41988" name="Picture 4" descr="1. The main trend shows how the charge inside a neuron changes in response to excitatory and inhibitory neurotransmitters, and how these changes relate to the threshold for triggering an action potential.&#10;2. The vertical axis represents the electrical charge inside the nerve fiber, measured in arbitrary units (likely millivolts, with -70 indicating a resting potential). The horizontal axis represents time or the progression of the neurotransmitter's effect.&#10;3. The top graph depicts a temporary increase in the positive charge inside the neuron, moving it closer to the threshold required for an action potential. The bottom graph shows a temporary decrease in the positive charge inside the neuron, moving it further away from the threshold required for an action potential. Both graphs indicate a dashed line representing the level of charge needed to trigger an action potential.">
            <a:extLst>
              <a:ext uri="{FF2B5EF4-FFF2-40B4-BE49-F238E27FC236}">
                <a16:creationId xmlns:a16="http://schemas.microsoft.com/office/drawing/2014/main" id="{2A4870DD-9E4C-2949-B837-14A1B98BA0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2087" y="742950"/>
            <a:ext cx="2968886"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9" name="Date Placeholder 1">
            <a:extLst>
              <a:ext uri="{FF2B5EF4-FFF2-40B4-BE49-F238E27FC236}">
                <a16:creationId xmlns:a16="http://schemas.microsoft.com/office/drawing/2014/main" id="{A9CC91C4-FFD9-C94D-972B-9F653DE2C69D}"/>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88661226-C6A5-3C48-B740-EDFE3FC5402F}"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1990" name="Footer Placeholder 2">
            <a:extLst>
              <a:ext uri="{FF2B5EF4-FFF2-40B4-BE49-F238E27FC236}">
                <a16:creationId xmlns:a16="http://schemas.microsoft.com/office/drawing/2014/main" id="{8A7C94E4-4EFF-1B42-9929-3CC056F01CB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41987" name="Rectangle 2">
            <a:extLst>
              <a:ext uri="{FF2B5EF4-FFF2-40B4-BE49-F238E27FC236}">
                <a16:creationId xmlns:a16="http://schemas.microsoft.com/office/drawing/2014/main" id="{98AE3C26-6566-7442-8CE7-1478B61147AF}"/>
              </a:ext>
            </a:extLst>
          </p:cNvPr>
          <p:cNvSpPr txBox="1">
            <a:spLocks noChangeArrowheads="1"/>
          </p:cNvSpPr>
          <p:nvPr/>
        </p:nvSpPr>
        <p:spPr bwMode="auto">
          <a:xfrm>
            <a:off x="3086100" y="4552950"/>
            <a:ext cx="6057900" cy="51435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975" dirty="0">
                <a:latin typeface="Arial" panose="020B0604020202020204" pitchFamily="34" charset="0"/>
              </a:rPr>
              <a:t>Figure 2.12 (a) Excitatory transmitters cause depolarization, an increased positive charge inside the neuron. (b) Inhibitory transmitters cause </a:t>
            </a:r>
            <a:r>
              <a:rPr lang="en-US" altLang="en-US" sz="975" dirty="0" err="1">
                <a:latin typeface="Arial" panose="020B0604020202020204" pitchFamily="34" charset="0"/>
              </a:rPr>
              <a:t>hyperpolization</a:t>
            </a:r>
            <a:r>
              <a:rPr lang="en-US" altLang="en-US" sz="975" dirty="0">
                <a:latin typeface="Arial" panose="020B0604020202020204" pitchFamily="34" charset="0"/>
              </a:rPr>
              <a:t>, an increased negative charge inside the axon. The charge inside the axon must reach the dashed line to trigger an action potential.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459BB17C-9678-4D44-87CF-CA7550244BF5}"/>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Neural Circuits</a:t>
            </a:r>
          </a:p>
        </p:txBody>
      </p:sp>
      <p:sp>
        <p:nvSpPr>
          <p:cNvPr id="44034" name="Rectangle 3">
            <a:extLst>
              <a:ext uri="{FF2B5EF4-FFF2-40B4-BE49-F238E27FC236}">
                <a16:creationId xmlns:a16="http://schemas.microsoft.com/office/drawing/2014/main" id="{B13179A6-3E42-6048-BA00-22A9D9723CDC}"/>
              </a:ext>
            </a:extLst>
          </p:cNvPr>
          <p:cNvSpPr>
            <a:spLocks noGrp="1" noChangeArrowheads="1"/>
          </p:cNvSpPr>
          <p:nvPr>
            <p:ph type="body" idx="1"/>
          </p:nvPr>
        </p:nvSpPr>
        <p:spPr>
          <a:xfrm>
            <a:off x="838200" y="742950"/>
            <a:ext cx="7543800" cy="3314700"/>
          </a:xfrm>
        </p:spPr>
        <p:txBody>
          <a:bodyPr/>
          <a:lstStyle/>
          <a:p>
            <a:r>
              <a:rPr lang="en-US" altLang="en-US" sz="2200" dirty="0">
                <a:latin typeface="Tahoma" panose="020B0604030504040204" pitchFamily="34" charset="0"/>
                <a:ea typeface="Tahoma" panose="020B0604030504040204" pitchFamily="34" charset="0"/>
                <a:cs typeface="Tahoma" panose="020B0604030504040204" pitchFamily="34" charset="0"/>
              </a:rPr>
              <a:t>Groups of neurons connected by excitatory and inhibitory synapses</a:t>
            </a:r>
          </a:p>
          <a:p>
            <a:r>
              <a:rPr lang="en-US" altLang="en-US" sz="2200" dirty="0">
                <a:latin typeface="Tahoma" panose="020B0604030504040204" pitchFamily="34" charset="0"/>
                <a:ea typeface="Tahoma" panose="020B0604030504040204" pitchFamily="34" charset="0"/>
                <a:cs typeface="Tahoma" panose="020B0604030504040204" pitchFamily="34" charset="0"/>
              </a:rPr>
              <a:t>A simple circuit has no convergence and only excitatory inputs.</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Input into each receptor has no effect on the output of neighboring circuits.</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Each circuit can only indicate single spot of stimulation. </a:t>
            </a:r>
          </a:p>
          <a:p>
            <a:pPr>
              <a:spcBef>
                <a:spcPct val="30000"/>
              </a:spcBef>
            </a:pPr>
            <a:endParaRPr lang="en-US" altLang="en-US" sz="2200" dirty="0">
              <a:latin typeface="Tahoma" panose="020B0604030504040204" pitchFamily="34" charset="0"/>
              <a:ea typeface="Tahoma" panose="020B0604030504040204" pitchFamily="34" charset="0"/>
              <a:cs typeface="Tahoma" panose="020B0604030504040204" pitchFamily="34" charset="0"/>
            </a:endParaRPr>
          </a:p>
        </p:txBody>
      </p:sp>
      <p:sp>
        <p:nvSpPr>
          <p:cNvPr id="44035" name="Date Placeholder 1">
            <a:extLst>
              <a:ext uri="{FF2B5EF4-FFF2-40B4-BE49-F238E27FC236}">
                <a16:creationId xmlns:a16="http://schemas.microsoft.com/office/drawing/2014/main" id="{EC46ED55-ADE4-E445-B9D9-67CB104E62D2}"/>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D8623FCF-D56F-F940-94FE-25FED5B8C843}"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4036" name="Footer Placeholder 2">
            <a:extLst>
              <a:ext uri="{FF2B5EF4-FFF2-40B4-BE49-F238E27FC236}">
                <a16:creationId xmlns:a16="http://schemas.microsoft.com/office/drawing/2014/main" id="{B1A50123-1258-FB45-BA11-529557439C6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4" descr="The graph shows a constant firing rate of receptor &quot;B&quot; across different stimulation patterns. The x-axis represents the receptors stimulated, with categories like &quot;4&quot;, &quot;3-5&quot;, &quot;2-6&quot;, and &quot;1-7&quot;. The y-axis indicates the firing rate of receptor &quot;B&quot;, ranging from 0 to 7. The main trend is that the firing rate of receptor &quot;B&quot; remains at a consistent level of approximately 1, regardless of which receptors are stimulated or the number of receptors stimulated.">
            <a:extLst>
              <a:ext uri="{FF2B5EF4-FFF2-40B4-BE49-F238E27FC236}">
                <a16:creationId xmlns:a16="http://schemas.microsoft.com/office/drawing/2014/main" id="{C70ED361-EFB2-2F41-9530-9E97A0EBCC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927498"/>
            <a:ext cx="6724650" cy="3288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3" name="Rectangle 2">
            <a:extLst>
              <a:ext uri="{FF2B5EF4-FFF2-40B4-BE49-F238E27FC236}">
                <a16:creationId xmlns:a16="http://schemas.microsoft.com/office/drawing/2014/main" id="{287FE222-E070-EC4B-8845-46E14C8282B7}"/>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Simple Circuit</a:t>
            </a:r>
          </a:p>
        </p:txBody>
      </p:sp>
      <p:sp>
        <p:nvSpPr>
          <p:cNvPr id="46084" name="Date Placeholder 1">
            <a:extLst>
              <a:ext uri="{FF2B5EF4-FFF2-40B4-BE49-F238E27FC236}">
                <a16:creationId xmlns:a16="http://schemas.microsoft.com/office/drawing/2014/main" id="{7ECAD3A6-2397-B342-9809-8AFFDDF27B07}"/>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84DF197-13D8-814D-B686-7C57BD2C838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6085" name="Footer Placeholder 2">
            <a:extLst>
              <a:ext uri="{FF2B5EF4-FFF2-40B4-BE49-F238E27FC236}">
                <a16:creationId xmlns:a16="http://schemas.microsoft.com/office/drawing/2014/main" id="{6480D1FE-63CC-144E-A32C-3E997D24B1C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46081" name="Rectangle 2">
            <a:extLst>
              <a:ext uri="{FF2B5EF4-FFF2-40B4-BE49-F238E27FC236}">
                <a16:creationId xmlns:a16="http://schemas.microsoft.com/office/drawing/2014/main" id="{1937F5B3-15AF-F14A-9C16-E91A37DA7548}"/>
              </a:ext>
            </a:extLst>
          </p:cNvPr>
          <p:cNvSpPr>
            <a:spLocks noGrp="1" noChangeArrowheads="1"/>
          </p:cNvSpPr>
          <p:nvPr>
            <p:ph type="body" idx="1"/>
          </p:nvPr>
        </p:nvSpPr>
        <p:spPr>
          <a:xfrm>
            <a:off x="1752600" y="3929659"/>
            <a:ext cx="6057900" cy="1028700"/>
          </a:xfrm>
          <a:solidFill>
            <a:schemeClr val="bg1"/>
          </a:solidFill>
        </p:spPr>
        <p:txBody>
          <a:bodyPr anchor="b"/>
          <a:lstStyle/>
          <a:p>
            <a:pPr marL="0" indent="0">
              <a:lnSpc>
                <a:spcPct val="80000"/>
              </a:lnSpc>
              <a:buNone/>
            </a:pPr>
            <a:r>
              <a:rPr lang="en-US" altLang="en-US" sz="1100" dirty="0">
                <a:latin typeface="Arial" panose="020B0604020202020204" pitchFamily="34" charset="0"/>
                <a:ea typeface="ＭＳ Ｐゴシック" panose="020B0600070205080204" pitchFamily="34" charset="-128"/>
              </a:rPr>
              <a:t>Figure 2.14  Left: A circuit with no convergence. Right: Response of neuron B as we increase the number of receptors stimulated. </a:t>
            </a:r>
          </a:p>
          <a:p>
            <a:pPr marL="0" indent="0">
              <a:lnSpc>
                <a:spcPct val="80000"/>
              </a:lnSpc>
              <a:buNone/>
            </a:pPr>
            <a:endParaRPr lang="en-US" altLang="en-US" sz="1100" dirty="0">
              <a:latin typeface="Arial" panose="020B0604020202020204" pitchFamily="34" charset="0"/>
              <a:ea typeface="ＭＳ Ｐゴシック" panose="020B0600070205080204" pitchFamily="34" charset="-128"/>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852728C6-1D04-884C-BC1E-29229FC72568}"/>
              </a:ext>
            </a:extLst>
          </p:cNvPr>
          <p:cNvSpPr>
            <a:spLocks noGrp="1" noChangeArrowheads="1"/>
          </p:cNvSpPr>
          <p:nvPr>
            <p:ph type="title"/>
          </p:nvPr>
        </p:nvSpPr>
        <p:spPr>
          <a:xfrm>
            <a:off x="2819400" y="0"/>
            <a:ext cx="5829300" cy="628650"/>
          </a:xfrm>
        </p:spPr>
        <p:txBody>
          <a:bodyPr/>
          <a:lstStyle/>
          <a:p>
            <a:r>
              <a:rPr lang="en-US" altLang="en-US" dirty="0">
                <a:ea typeface="ＭＳ Ｐゴシック" panose="020B0600070205080204" pitchFamily="34" charset="-128"/>
              </a:rPr>
              <a:t>Neural Circuits - continued</a:t>
            </a:r>
          </a:p>
        </p:txBody>
      </p:sp>
      <p:sp>
        <p:nvSpPr>
          <p:cNvPr id="48130" name="Rectangle 3">
            <a:extLst>
              <a:ext uri="{FF2B5EF4-FFF2-40B4-BE49-F238E27FC236}">
                <a16:creationId xmlns:a16="http://schemas.microsoft.com/office/drawing/2014/main" id="{2BEBEFA9-968C-ED41-A622-D6A6B2FDEFCB}"/>
              </a:ext>
            </a:extLst>
          </p:cNvPr>
          <p:cNvSpPr>
            <a:spLocks noGrp="1" noChangeArrowheads="1"/>
          </p:cNvSpPr>
          <p:nvPr>
            <p:ph type="body" idx="1"/>
          </p:nvPr>
        </p:nvSpPr>
        <p:spPr>
          <a:xfrm>
            <a:off x="838200" y="800100"/>
            <a:ext cx="7162800" cy="3714750"/>
          </a:xfrm>
        </p:spPr>
        <p:txBody>
          <a:bodyPr/>
          <a:lstStyle/>
          <a:p>
            <a:pPr>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Convergent circuit with only excitatory connections</a:t>
            </a:r>
          </a:p>
          <a:p>
            <a:pPr lvl="1">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Input from each receptor summates into the next neuron in the circuit.</a:t>
            </a:r>
          </a:p>
          <a:p>
            <a:pPr lvl="1">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Output from convergent system varies based on input. </a:t>
            </a:r>
          </a:p>
          <a:p>
            <a:pPr lvl="1">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Output of circuit can indicate single input and increases output as length of stimulus increases.</a:t>
            </a:r>
          </a:p>
          <a:p>
            <a:pPr>
              <a:lnSpc>
                <a:spcPct val="90000"/>
              </a:lnSpc>
              <a:spcBef>
                <a:spcPct val="30000"/>
              </a:spcBef>
            </a:pPr>
            <a:endParaRPr lang="en-US" altLang="en-US" sz="2200" dirty="0">
              <a:latin typeface="Tahoma" panose="020B0604030504040204" pitchFamily="34" charset="0"/>
              <a:ea typeface="Tahoma" panose="020B0604030504040204" pitchFamily="34" charset="0"/>
              <a:cs typeface="Tahoma" panose="020B0604030504040204" pitchFamily="34" charset="0"/>
            </a:endParaRPr>
          </a:p>
        </p:txBody>
      </p:sp>
      <p:sp>
        <p:nvSpPr>
          <p:cNvPr id="48131" name="Date Placeholder 1">
            <a:extLst>
              <a:ext uri="{FF2B5EF4-FFF2-40B4-BE49-F238E27FC236}">
                <a16:creationId xmlns:a16="http://schemas.microsoft.com/office/drawing/2014/main" id="{4F713B7E-6B3C-F740-8791-73360FAAD4E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26E8EA8A-C5ED-3D42-835A-8DDD24CC3EF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8132" name="Footer Placeholder 2">
            <a:extLst>
              <a:ext uri="{FF2B5EF4-FFF2-40B4-BE49-F238E27FC236}">
                <a16:creationId xmlns:a16="http://schemas.microsoft.com/office/drawing/2014/main" id="{249F881E-B95F-904C-BCBC-0DD5F95CC7B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4" descr="1. **Main Trend:** The firing rate of neuron &quot;B&quot; increases as the number of stimulated receptors increases.&#10;2. **Axes:** The y-axis represents the firing rate of neuron &quot;B,&quot; and the x-axis represents the number of receptors stimulated, indicated by groupings of receptor numbers.&#10;3. **Explanation of Axes Labels:** The labels on the x-axis (e.g., &quot;4&quot;, &quot;3-5&quot;, &quot;2-6&quot;, &quot;1-7&quot;) indicate different combinations or ranges of the numbered receptors that are being stimulated. The y-axis label &quot;Firing rate of 'B'&quot; refers to how frequently neuron &quot;B&quot; is generating electrical impulses.">
            <a:extLst>
              <a:ext uri="{FF2B5EF4-FFF2-40B4-BE49-F238E27FC236}">
                <a16:creationId xmlns:a16="http://schemas.microsoft.com/office/drawing/2014/main" id="{FB714A6D-0A97-914F-A674-D4C6885F3D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964406"/>
            <a:ext cx="6724650" cy="321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79" name="Rectangle 2">
            <a:extLst>
              <a:ext uri="{FF2B5EF4-FFF2-40B4-BE49-F238E27FC236}">
                <a16:creationId xmlns:a16="http://schemas.microsoft.com/office/drawing/2014/main" id="{F7F0ECFB-379D-8B47-BA76-1D7331E42C39}"/>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Convergent Circuits (+ only)</a:t>
            </a:r>
          </a:p>
        </p:txBody>
      </p:sp>
      <p:sp>
        <p:nvSpPr>
          <p:cNvPr id="50180" name="Date Placeholder 1">
            <a:extLst>
              <a:ext uri="{FF2B5EF4-FFF2-40B4-BE49-F238E27FC236}">
                <a16:creationId xmlns:a16="http://schemas.microsoft.com/office/drawing/2014/main" id="{6D3BA7C0-4043-2E4C-AA4F-9FC663244EF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853A7F3-7BBF-C84B-B546-6681C34CB9D4}"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0181" name="Footer Placeholder 2">
            <a:extLst>
              <a:ext uri="{FF2B5EF4-FFF2-40B4-BE49-F238E27FC236}">
                <a16:creationId xmlns:a16="http://schemas.microsoft.com/office/drawing/2014/main" id="{2CA4D844-FEED-C64A-9202-6742A47DB37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dirty="0">
                <a:solidFill>
                  <a:schemeClr val="bg2"/>
                </a:solidFill>
              </a:rPr>
              <a:t>PSYCH 4041 / 6014</a:t>
            </a:r>
            <a:endParaRPr kumimoji="0" lang="en-US" altLang="en-US" sz="1050" dirty="0">
              <a:solidFill>
                <a:schemeClr val="bg2"/>
              </a:solidFill>
              <a:latin typeface="Comic Sans MS" panose="030F0902030302020204" pitchFamily="66" charset="0"/>
            </a:endParaRPr>
          </a:p>
        </p:txBody>
      </p:sp>
      <p:sp>
        <p:nvSpPr>
          <p:cNvPr id="50177" name="Rectangle 2">
            <a:extLst>
              <a:ext uri="{FF2B5EF4-FFF2-40B4-BE49-F238E27FC236}">
                <a16:creationId xmlns:a16="http://schemas.microsoft.com/office/drawing/2014/main" id="{BA750772-B1FC-1D42-83F8-5C8A2A66EEF4}"/>
              </a:ext>
            </a:extLst>
          </p:cNvPr>
          <p:cNvSpPr>
            <a:spLocks noGrp="1" noChangeArrowheads="1"/>
          </p:cNvSpPr>
          <p:nvPr>
            <p:ph type="body" idx="1"/>
          </p:nvPr>
        </p:nvSpPr>
        <p:spPr>
          <a:xfrm>
            <a:off x="1543050" y="3981450"/>
            <a:ext cx="6057900" cy="1028700"/>
          </a:xfrm>
          <a:solidFill>
            <a:schemeClr val="bg1"/>
          </a:solidFill>
        </p:spPr>
        <p:txBody>
          <a:bodyPr anchor="b"/>
          <a:lstStyle/>
          <a:p>
            <a:pPr marL="0" indent="0">
              <a:lnSpc>
                <a:spcPct val="80000"/>
              </a:lnSpc>
              <a:buNone/>
            </a:pPr>
            <a:r>
              <a:rPr lang="en-US" altLang="en-US" sz="1050" dirty="0">
                <a:latin typeface="Arial" panose="020B0604020202020204" pitchFamily="34" charset="0"/>
                <a:ea typeface="ＭＳ Ｐゴシック" panose="020B0600070205080204" pitchFamily="34" charset="-128"/>
              </a:rPr>
              <a:t>Figure 2.15 Circuit with convergence added.  Neuron B now receives inputs form all of the receptors, so increasing the size of the stimulus increases the size of neuron B’s response. </a:t>
            </a:r>
          </a:p>
          <a:p>
            <a:pPr marL="0" indent="0">
              <a:lnSpc>
                <a:spcPct val="80000"/>
              </a:lnSpc>
              <a:buNone/>
            </a:pPr>
            <a:endParaRPr lang="en-US" altLang="en-US" sz="1050" dirty="0">
              <a:latin typeface="Arial" panose="020B0604020202020204" pitchFamily="34" charset="0"/>
              <a:ea typeface="ＭＳ Ｐゴシック" panose="020B0600070205080204" pitchFamily="34" charset="-128"/>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2EF97950-B022-5641-8CCB-2A33BB852E8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Neural Circuits - continued</a:t>
            </a:r>
          </a:p>
        </p:txBody>
      </p:sp>
      <p:sp>
        <p:nvSpPr>
          <p:cNvPr id="52226" name="Rectangle 3">
            <a:extLst>
              <a:ext uri="{FF2B5EF4-FFF2-40B4-BE49-F238E27FC236}">
                <a16:creationId xmlns:a16="http://schemas.microsoft.com/office/drawing/2014/main" id="{A3842CE8-0A07-C843-9F27-78BDDA32D80E}"/>
              </a:ext>
            </a:extLst>
          </p:cNvPr>
          <p:cNvSpPr>
            <a:spLocks noGrp="1" noChangeArrowheads="1"/>
          </p:cNvSpPr>
          <p:nvPr>
            <p:ph type="body" idx="1"/>
          </p:nvPr>
        </p:nvSpPr>
        <p:spPr>
          <a:xfrm>
            <a:off x="838200" y="857250"/>
            <a:ext cx="7315200" cy="3657600"/>
          </a:xfrm>
        </p:spPr>
        <p:txBody>
          <a:bodyPr/>
          <a:lstStyle/>
          <a:p>
            <a:r>
              <a:rPr lang="en-US" altLang="en-US" sz="2200" dirty="0">
                <a:latin typeface="Tahoma" panose="020B0604030504040204" pitchFamily="34" charset="0"/>
                <a:ea typeface="Tahoma" panose="020B0604030504040204" pitchFamily="34" charset="0"/>
                <a:cs typeface="Tahoma" panose="020B0604030504040204" pitchFamily="34" charset="0"/>
              </a:rPr>
              <a:t>Convergent circuit with excitatory and inhibitory connections</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Inputs from receptors summate to determine output of circuit.</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Summation of inputs result in:</a:t>
            </a:r>
          </a:p>
          <a:p>
            <a:pPr lvl="2"/>
            <a:r>
              <a:rPr lang="en-US" altLang="en-US" sz="2200" dirty="0">
                <a:latin typeface="Tahoma" panose="020B0604030504040204" pitchFamily="34" charset="0"/>
                <a:ea typeface="Tahoma" panose="020B0604030504040204" pitchFamily="34" charset="0"/>
                <a:cs typeface="Tahoma" panose="020B0604030504040204" pitchFamily="34" charset="0"/>
              </a:rPr>
              <a:t>weak response for single inputs and long stimuli.</a:t>
            </a:r>
          </a:p>
          <a:p>
            <a:pPr lvl="2"/>
            <a:r>
              <a:rPr lang="en-US" altLang="en-US" sz="2200" dirty="0">
                <a:latin typeface="Tahoma" panose="020B0604030504040204" pitchFamily="34" charset="0"/>
                <a:ea typeface="Tahoma" panose="020B0604030504040204" pitchFamily="34" charset="0"/>
                <a:cs typeface="Tahoma" panose="020B0604030504040204" pitchFamily="34" charset="0"/>
              </a:rPr>
              <a:t>maximum firing rate for medium length stimulus.</a:t>
            </a:r>
          </a:p>
        </p:txBody>
      </p:sp>
      <p:sp>
        <p:nvSpPr>
          <p:cNvPr id="52227" name="Date Placeholder 1">
            <a:extLst>
              <a:ext uri="{FF2B5EF4-FFF2-40B4-BE49-F238E27FC236}">
                <a16:creationId xmlns:a16="http://schemas.microsoft.com/office/drawing/2014/main" id="{E92AF40F-F759-7143-B9AA-BE62D5E47AB3}"/>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787D3394-5D47-E347-AB22-B4D673BB959C}"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2228" name="Footer Placeholder 2">
            <a:extLst>
              <a:ext uri="{FF2B5EF4-FFF2-40B4-BE49-F238E27FC236}">
                <a16:creationId xmlns:a16="http://schemas.microsoft.com/office/drawing/2014/main" id="{CC9CF3DC-8D34-7444-B61C-BBD59BF6E59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4" descr="Here's the alt text for the image:&#10;&#10;The image displays a diagram of neural convergence and a graph illustrating the firing rate of a central neuron. The diagram shows seven receptors labeled 1 through 7. Receptors 1, 2, and 3 converge onto neuron A. Receptors 4, 5, and 6 converge onto neuron B, with an additional input from neuron C. Neuron C receives input from receptors 5, 6, and 7. Neuron B also has an inhibitory synapse shown. The graph plots the firing rate of neuron &quot;B&quot; on the y-axis against the combination of receptors stimulated on the x-axis. The firing rate of neuron B increases as receptors 3-5 are stimulated, reaching a peak in this range, and then decreases as fewer or more peripheral receptors are stimulated. The x-axis labels represent combinations of stimulated receptors, such as &quot;4&quot;, &quot;3-5&quot;, &quot;2-6&quot;, and &quot;1-7&quot;, indicating varying patterns of input.">
            <a:extLst>
              <a:ext uri="{FF2B5EF4-FFF2-40B4-BE49-F238E27FC236}">
                <a16:creationId xmlns:a16="http://schemas.microsoft.com/office/drawing/2014/main" id="{714F309C-8D1D-EA4E-867C-CDD00459E8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967979"/>
            <a:ext cx="6724650" cy="3207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5" name="Rectangle 2">
            <a:extLst>
              <a:ext uri="{FF2B5EF4-FFF2-40B4-BE49-F238E27FC236}">
                <a16:creationId xmlns:a16="http://schemas.microsoft.com/office/drawing/2014/main" id="{A180A7FD-9A3A-BB4A-9740-9339A34B46DE}"/>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Convergent Circuits (+ and -)</a:t>
            </a:r>
          </a:p>
        </p:txBody>
      </p:sp>
      <p:sp>
        <p:nvSpPr>
          <p:cNvPr id="54276" name="Date Placeholder 1">
            <a:extLst>
              <a:ext uri="{FF2B5EF4-FFF2-40B4-BE49-F238E27FC236}">
                <a16:creationId xmlns:a16="http://schemas.microsoft.com/office/drawing/2014/main" id="{8C065D47-ACB1-A24C-8CDC-BC72394E4B9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FAE63AC-C0BB-F840-8EA9-02B6CDB2AEFA}"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4277" name="Footer Placeholder 2">
            <a:extLst>
              <a:ext uri="{FF2B5EF4-FFF2-40B4-BE49-F238E27FC236}">
                <a16:creationId xmlns:a16="http://schemas.microsoft.com/office/drawing/2014/main" id="{90D03CF9-D342-E64E-AB7D-C062862EEE9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dirty="0">
                <a:solidFill>
                  <a:schemeClr val="bg2"/>
                </a:solidFill>
              </a:rPr>
              <a:t>PSYCH 4041 / 6014</a:t>
            </a:r>
            <a:endParaRPr kumimoji="0" lang="en-US" altLang="en-US" sz="1050" dirty="0">
              <a:solidFill>
                <a:schemeClr val="bg2"/>
              </a:solidFill>
              <a:latin typeface="Comic Sans MS" panose="030F0902030302020204" pitchFamily="66" charset="0"/>
            </a:endParaRPr>
          </a:p>
        </p:txBody>
      </p:sp>
      <p:sp>
        <p:nvSpPr>
          <p:cNvPr id="54273" name="Rectangle 2">
            <a:extLst>
              <a:ext uri="{FF2B5EF4-FFF2-40B4-BE49-F238E27FC236}">
                <a16:creationId xmlns:a16="http://schemas.microsoft.com/office/drawing/2014/main" id="{42B53E02-15EA-2744-8B4C-569F94091F3E}"/>
              </a:ext>
            </a:extLst>
          </p:cNvPr>
          <p:cNvSpPr>
            <a:spLocks noGrp="1" noChangeArrowheads="1"/>
          </p:cNvSpPr>
          <p:nvPr>
            <p:ph type="body" idx="1"/>
          </p:nvPr>
        </p:nvSpPr>
        <p:spPr>
          <a:xfrm>
            <a:off x="1562100" y="3981450"/>
            <a:ext cx="6057900" cy="1028700"/>
          </a:xfrm>
          <a:solidFill>
            <a:schemeClr val="bg1"/>
          </a:solidFill>
        </p:spPr>
        <p:txBody>
          <a:bodyPr anchor="b"/>
          <a:lstStyle/>
          <a:p>
            <a:pPr marL="0" indent="0">
              <a:lnSpc>
                <a:spcPct val="80000"/>
              </a:lnSpc>
              <a:buNone/>
            </a:pPr>
            <a:r>
              <a:rPr lang="en-US" altLang="en-US" sz="1050" dirty="0">
                <a:latin typeface="Arial" panose="020B0604020202020204" pitchFamily="34" charset="0"/>
                <a:ea typeface="ＭＳ Ｐゴシック" panose="020B0600070205080204" pitchFamily="34" charset="-128"/>
              </a:rPr>
              <a:t>Figure 2.16 Circuit with convergence and inhibition.  Because stimulation of the receptors on the side (1, 2, 6, and 7) sends inhibition to neuron B, neuron B responds best when just the center (3 - 5) are stimulated.</a:t>
            </a:r>
          </a:p>
          <a:p>
            <a:pPr marL="0" indent="0">
              <a:lnSpc>
                <a:spcPct val="80000"/>
              </a:lnSpc>
              <a:buNone/>
            </a:pPr>
            <a:endParaRPr lang="en-US" altLang="en-US" sz="1050" dirty="0">
              <a:latin typeface="Arial" panose="020B0604020202020204" pitchFamily="34" charset="0"/>
              <a:ea typeface="ＭＳ Ｐゴシック" panose="020B0600070205080204" pitchFamily="34" charset="-128"/>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88937661-DA07-5A44-BFE1-A8D7B8E0FB7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Receptive Fields</a:t>
            </a:r>
          </a:p>
        </p:txBody>
      </p:sp>
      <p:sp>
        <p:nvSpPr>
          <p:cNvPr id="56322" name="Rectangle 3">
            <a:extLst>
              <a:ext uri="{FF2B5EF4-FFF2-40B4-BE49-F238E27FC236}">
                <a16:creationId xmlns:a16="http://schemas.microsoft.com/office/drawing/2014/main" id="{8DF77118-826D-634D-89C5-4281FBB2C9CE}"/>
              </a:ext>
            </a:extLst>
          </p:cNvPr>
          <p:cNvSpPr>
            <a:spLocks noGrp="1" noChangeArrowheads="1"/>
          </p:cNvSpPr>
          <p:nvPr>
            <p:ph type="body" idx="1"/>
          </p:nvPr>
        </p:nvSpPr>
        <p:spPr>
          <a:xfrm>
            <a:off x="838200" y="857250"/>
            <a:ext cx="6648450" cy="3657600"/>
          </a:xfrm>
        </p:spPr>
        <p:txBody>
          <a:bodyPr/>
          <a:lstStyle/>
          <a:p>
            <a:r>
              <a:rPr lang="en-US" altLang="en-US" sz="2200" dirty="0">
                <a:latin typeface="Tahoma" panose="020B0604030504040204" pitchFamily="34" charset="0"/>
                <a:ea typeface="Tahoma" panose="020B0604030504040204" pitchFamily="34" charset="0"/>
                <a:cs typeface="Tahoma" panose="020B0604030504040204" pitchFamily="34" charset="0"/>
              </a:rPr>
              <a:t>Area of receptors that affects firing rate of a given neuron in the circuit</a:t>
            </a:r>
          </a:p>
          <a:p>
            <a:r>
              <a:rPr lang="en-US" altLang="en-US" sz="2200" dirty="0">
                <a:latin typeface="Tahoma" panose="020B0604030504040204" pitchFamily="34" charset="0"/>
                <a:ea typeface="Tahoma" panose="020B0604030504040204" pitchFamily="34" charset="0"/>
                <a:cs typeface="Tahoma" panose="020B0604030504040204" pitchFamily="34" charset="0"/>
              </a:rPr>
              <a:t>Receptive fields are determined by monitoring single cell responses.</a:t>
            </a:r>
          </a:p>
          <a:p>
            <a:r>
              <a:rPr lang="en-US" altLang="en-US" sz="2200" dirty="0">
                <a:latin typeface="Tahoma" panose="020B0604030504040204" pitchFamily="34" charset="0"/>
                <a:ea typeface="Tahoma" panose="020B0604030504040204" pitchFamily="34" charset="0"/>
                <a:cs typeface="Tahoma" panose="020B0604030504040204" pitchFamily="34" charset="0"/>
              </a:rPr>
              <a:t>Research example for vision</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Stimulus is presented to retina and response of cell is measured by an electrode.</a:t>
            </a:r>
          </a:p>
          <a:p>
            <a:pPr>
              <a:spcBef>
                <a:spcPct val="30000"/>
              </a:spcBef>
            </a:pPr>
            <a:endParaRPr lang="en-US" altLang="en-US" sz="2200" dirty="0">
              <a:latin typeface="Tahoma" panose="020B0604030504040204" pitchFamily="34" charset="0"/>
              <a:ea typeface="Tahoma" panose="020B0604030504040204" pitchFamily="34" charset="0"/>
              <a:cs typeface="Tahoma" panose="020B0604030504040204" pitchFamily="34" charset="0"/>
            </a:endParaRPr>
          </a:p>
        </p:txBody>
      </p:sp>
      <p:sp>
        <p:nvSpPr>
          <p:cNvPr id="56323" name="Date Placeholder 1">
            <a:extLst>
              <a:ext uri="{FF2B5EF4-FFF2-40B4-BE49-F238E27FC236}">
                <a16:creationId xmlns:a16="http://schemas.microsoft.com/office/drawing/2014/main" id="{956906F3-2F83-E646-9BE8-D15A32EF22C8}"/>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663A2362-48F3-BD45-92E8-E73CA65DEB0C}"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6324" name="Footer Placeholder 2">
            <a:extLst>
              <a:ext uri="{FF2B5EF4-FFF2-40B4-BE49-F238E27FC236}">
                <a16:creationId xmlns:a16="http://schemas.microsoft.com/office/drawing/2014/main" id="{B50FD2F6-6045-2B4A-B8DD-2C384CC28BE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a:extLst>
              <a:ext uri="{FF2B5EF4-FFF2-40B4-BE49-F238E27FC236}">
                <a16:creationId xmlns:a16="http://schemas.microsoft.com/office/drawing/2014/main" id="{E805CBD8-F62E-4A47-A08D-28F696590563}"/>
              </a:ext>
            </a:extLst>
          </p:cNvPr>
          <p:cNvSpPr>
            <a:spLocks noGrp="1" noChangeArrowheads="1"/>
          </p:cNvSpPr>
          <p:nvPr>
            <p:ph type="title"/>
          </p:nvPr>
        </p:nvSpPr>
        <p:spPr>
          <a:xfrm>
            <a:off x="1143000" y="0"/>
            <a:ext cx="7543800" cy="628650"/>
          </a:xfrm>
        </p:spPr>
        <p:txBody>
          <a:bodyPr/>
          <a:lstStyle/>
          <a:p>
            <a:r>
              <a:rPr lang="en-US" altLang="en-US" dirty="0">
                <a:ea typeface="ＭＳ Ｐゴシック" panose="020B0600070205080204" pitchFamily="34" charset="-128"/>
              </a:rPr>
              <a:t>Center-Surround Receptive Fields</a:t>
            </a:r>
          </a:p>
        </p:txBody>
      </p:sp>
      <p:sp>
        <p:nvSpPr>
          <p:cNvPr id="58370" name="Rectangle 3">
            <a:extLst>
              <a:ext uri="{FF2B5EF4-FFF2-40B4-BE49-F238E27FC236}">
                <a16:creationId xmlns:a16="http://schemas.microsoft.com/office/drawing/2014/main" id="{A100A91A-EA16-0A4D-9252-905E8921CAC9}"/>
              </a:ext>
            </a:extLst>
          </p:cNvPr>
          <p:cNvSpPr>
            <a:spLocks noGrp="1" noChangeArrowheads="1"/>
          </p:cNvSpPr>
          <p:nvPr>
            <p:ph type="body" idx="1"/>
          </p:nvPr>
        </p:nvSpPr>
        <p:spPr>
          <a:xfrm>
            <a:off x="838200" y="800100"/>
            <a:ext cx="4305300" cy="3714750"/>
          </a:xfrm>
        </p:spPr>
        <p:txBody>
          <a:bodyPr/>
          <a:lstStyle/>
          <a:p>
            <a:r>
              <a:rPr lang="en-US" altLang="en-US" sz="1800" dirty="0">
                <a:latin typeface="Arial" panose="020B0604020202020204" pitchFamily="34" charset="0"/>
                <a:ea typeface="ＭＳ Ｐゴシック" panose="020B0600070205080204" pitchFamily="34" charset="-128"/>
              </a:rPr>
              <a:t>Excitatory and inhibitory effects are found in receptive fields.</a:t>
            </a:r>
          </a:p>
          <a:p>
            <a:r>
              <a:rPr lang="en-US" altLang="en-US" sz="1800" dirty="0">
                <a:latin typeface="Arial" panose="020B0604020202020204" pitchFamily="34" charset="0"/>
                <a:ea typeface="ＭＳ Ｐゴシック" panose="020B0600070205080204" pitchFamily="34" charset="-128"/>
              </a:rPr>
              <a:t>Center and surround areas of receptive fields result in:</a:t>
            </a:r>
          </a:p>
          <a:p>
            <a:pPr lvl="1"/>
            <a:r>
              <a:rPr lang="en-US" altLang="en-US" sz="1800" dirty="0">
                <a:latin typeface="Arial" panose="020B0604020202020204" pitchFamily="34" charset="0"/>
                <a:ea typeface="ＭＳ Ｐゴシック" panose="020B0600070205080204" pitchFamily="34" charset="-128"/>
              </a:rPr>
              <a:t>Excitatory-center-inhibitory surround</a:t>
            </a:r>
          </a:p>
          <a:p>
            <a:pPr lvl="1"/>
            <a:r>
              <a:rPr lang="en-US" altLang="en-US" sz="1800" dirty="0">
                <a:latin typeface="Arial" panose="020B0604020202020204" pitchFamily="34" charset="0"/>
                <a:ea typeface="ＭＳ Ｐゴシック" panose="020B0600070205080204" pitchFamily="34" charset="-128"/>
              </a:rPr>
              <a:t>Inhibitory-center-excitatory surround</a:t>
            </a:r>
          </a:p>
          <a:p>
            <a:pPr>
              <a:spcBef>
                <a:spcPct val="30000"/>
              </a:spcBef>
            </a:pPr>
            <a:endParaRPr lang="en-US" altLang="en-US" sz="1800" dirty="0">
              <a:latin typeface="Arial" panose="020B0604020202020204" pitchFamily="34" charset="0"/>
              <a:ea typeface="ＭＳ Ｐゴシック" panose="020B0600070205080204" pitchFamily="34" charset="-128"/>
            </a:endParaRPr>
          </a:p>
        </p:txBody>
      </p:sp>
      <p:pic>
        <p:nvPicPr>
          <p:cNvPr id="58372" name="Picture 4" descr="The diagram illustrates the concept of center-surround receptive fields, with part (a) depicting a visual field with regions labeled A, B, and C, and corresponding neural response plots. Region A, representing the general visual field, shows sporadic neural firing. Region B, a central area within a larger oval, elicits a strong, sustained firing of action potentials when stimulated (labeled &quot;On&quot;). This suggests an excitatory response in the center. Region C, the area surrounding B, exhibits a delayed firing pattern, specifically an &quot;Off&quot; response, indicating inhibition when stimulated. The overall effect is an excitatory-center, inhibitory-surround receptive field. Part (b) provides a simplified, two-dimensional representation of such a receptive field, clearly showing a central area marked with &quot;+&quot; signs (excitatory) and an outer ring with &quot;-&quot; signs (inhibitory).">
            <a:extLst>
              <a:ext uri="{FF2B5EF4-FFF2-40B4-BE49-F238E27FC236}">
                <a16:creationId xmlns:a16="http://schemas.microsoft.com/office/drawing/2014/main" id="{37F877B3-1280-AF4E-AAB5-48F08D3083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3501" y="800100"/>
            <a:ext cx="2755106" cy="2996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3" name="Date Placeholder 1">
            <a:extLst>
              <a:ext uri="{FF2B5EF4-FFF2-40B4-BE49-F238E27FC236}">
                <a16:creationId xmlns:a16="http://schemas.microsoft.com/office/drawing/2014/main" id="{30FE83BA-2906-7045-BA97-3586B89444FA}"/>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CBF63094-845F-214C-B38E-564E2883750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8374" name="Footer Placeholder 2">
            <a:extLst>
              <a:ext uri="{FF2B5EF4-FFF2-40B4-BE49-F238E27FC236}">
                <a16:creationId xmlns:a16="http://schemas.microsoft.com/office/drawing/2014/main" id="{373BE9A4-F0C0-1942-ACA3-AFC5A516162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58371" name="Rectangle 2">
            <a:extLst>
              <a:ext uri="{FF2B5EF4-FFF2-40B4-BE49-F238E27FC236}">
                <a16:creationId xmlns:a16="http://schemas.microsoft.com/office/drawing/2014/main" id="{710E4F6F-FCFA-C541-8DE6-1D6A95EAD5DE}"/>
              </a:ext>
            </a:extLst>
          </p:cNvPr>
          <p:cNvSpPr txBox="1">
            <a:spLocks noChangeArrowheads="1"/>
          </p:cNvSpPr>
          <p:nvPr/>
        </p:nvSpPr>
        <p:spPr bwMode="auto">
          <a:xfrm>
            <a:off x="2781300" y="4069555"/>
            <a:ext cx="6057900" cy="945357"/>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1050" dirty="0">
                <a:latin typeface="Arial" panose="020B0604020202020204" pitchFamily="34" charset="0"/>
              </a:rPr>
              <a:t>Figure 2.18  (a) Response of a ganglion cell in the cat’s retina to stimulation: outside the cell’s receptive field (area A on the screen); inside the excitatory area of the cell’s receptive field (area B); and inside the inhibitory area of the cell’s receptive field (area C).  (b) The receptive field is shown without the screen.</a:t>
            </a:r>
          </a:p>
          <a:p>
            <a:pPr>
              <a:lnSpc>
                <a:spcPct val="80000"/>
              </a:lnSpc>
              <a:buFontTx/>
              <a:buNone/>
            </a:pPr>
            <a:endParaRPr lang="en-US" altLang="en-US" sz="1050" dirty="0">
              <a:latin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250E0A04-7880-1949-95A0-19350CFDB1FF}"/>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Center-Surround Antagonism</a:t>
            </a:r>
          </a:p>
        </p:txBody>
      </p:sp>
      <p:sp>
        <p:nvSpPr>
          <p:cNvPr id="60418" name="Rectangle 3">
            <a:extLst>
              <a:ext uri="{FF2B5EF4-FFF2-40B4-BE49-F238E27FC236}">
                <a16:creationId xmlns:a16="http://schemas.microsoft.com/office/drawing/2014/main" id="{0C0529C7-2EF1-0E49-A11E-2E2F54953DB4}"/>
              </a:ext>
            </a:extLst>
          </p:cNvPr>
          <p:cNvSpPr>
            <a:spLocks noGrp="1" noChangeArrowheads="1"/>
          </p:cNvSpPr>
          <p:nvPr>
            <p:ph type="body" idx="1"/>
          </p:nvPr>
        </p:nvSpPr>
        <p:spPr>
          <a:xfrm>
            <a:off x="838200" y="742950"/>
            <a:ext cx="7162800" cy="3657600"/>
          </a:xfrm>
        </p:spPr>
        <p:txBody>
          <a:bodyPr/>
          <a:lstStyle/>
          <a:p>
            <a:r>
              <a:rPr lang="en-US" altLang="en-US" sz="2100" dirty="0">
                <a:latin typeface="Arial" panose="020B0604020202020204" pitchFamily="34" charset="0"/>
                <a:ea typeface="ＭＳ Ｐゴシック" panose="020B0600070205080204" pitchFamily="34" charset="-128"/>
              </a:rPr>
              <a:t>Output of center-surround receptive fields changes depending on area stimulated:</a:t>
            </a:r>
          </a:p>
          <a:p>
            <a:pPr lvl="1"/>
            <a:r>
              <a:rPr lang="en-US" altLang="en-US" sz="1800" dirty="0">
                <a:latin typeface="Arial" panose="020B0604020202020204" pitchFamily="34" charset="0"/>
                <a:ea typeface="ＭＳ Ｐゴシック" panose="020B0600070205080204" pitchFamily="34" charset="-128"/>
              </a:rPr>
              <a:t>Highest response when only the excitatory area is stimulated </a:t>
            </a:r>
          </a:p>
          <a:p>
            <a:pPr lvl="1"/>
            <a:r>
              <a:rPr lang="en-US" altLang="en-US" sz="1800" dirty="0">
                <a:latin typeface="Arial" panose="020B0604020202020204" pitchFamily="34" charset="0"/>
                <a:ea typeface="ＭＳ Ｐゴシック" panose="020B0600070205080204" pitchFamily="34" charset="-128"/>
              </a:rPr>
              <a:t>Lowest response when only the inhibitory area is stimulated</a:t>
            </a:r>
          </a:p>
          <a:p>
            <a:pPr lvl="1"/>
            <a:r>
              <a:rPr lang="en-US" altLang="en-US" sz="1800" dirty="0">
                <a:latin typeface="Arial" panose="020B0604020202020204" pitchFamily="34" charset="0"/>
                <a:ea typeface="ＭＳ Ｐゴシック" panose="020B0600070205080204" pitchFamily="34" charset="-128"/>
              </a:rPr>
              <a:t>Intermediate responses when both areas are stimulated</a:t>
            </a:r>
            <a:r>
              <a:rPr lang="en-US" altLang="en-US" sz="1800" dirty="0">
                <a:ea typeface="ＭＳ Ｐゴシック" panose="020B0600070205080204" pitchFamily="34" charset="-128"/>
              </a:rPr>
              <a:t> </a:t>
            </a:r>
          </a:p>
          <a:p>
            <a:pPr>
              <a:spcBef>
                <a:spcPct val="30000"/>
              </a:spcBef>
            </a:pPr>
            <a:endParaRPr lang="en-US" altLang="en-US" sz="2100" dirty="0">
              <a:latin typeface="Arial" panose="020B0604020202020204" pitchFamily="34" charset="0"/>
              <a:ea typeface="ＭＳ Ｐゴシック" panose="020B0600070205080204" pitchFamily="34" charset="-128"/>
            </a:endParaRPr>
          </a:p>
        </p:txBody>
      </p:sp>
      <p:pic>
        <p:nvPicPr>
          <p:cNvPr id="60420" name="Picture 4" descr="The diagram illustrates the concept of center-surround antagonism in receptive fields, with four scenarios labeled (a) through (d). Each scenario depicts a circular receptive field above a corresponding bar graph representing neural output. The receptive fields are characterized by distinct central and surrounding regions, indicated by plus (+) and minus (-) signs in scenario (a), and by colored areas in scenarios (b), (c), and (d). The bar graphs show the firing rate of neurons, with the &quot;On&quot; arrow indicating the onset of stimulation.&#10;&#10;Scenario (a) shows a receptive field with an excitatory center (indicated by &quot;+&quot;) and an inhibitory surround (indicated by &quot;-&quot;). When only the excitatory center is stimulated, the output is high, as shown by a dense cluster of vertical bars in the graph below.&#10;&#10;Scenario (b) shows a receptive field with only an excitatory center, presented as a solid orange circle. Stimulating this area leads to a very high neural response, depicted by a dense pattern of vertical bars.&#10;&#10;Scenario (c) illustrates a receptive field with both an excitatory center (inner orange circle) and an inhibitory surround (outer, uncolored ring within the dashed circle). When both areas are stimulated, the response is intermediate, with a moderate number of vertical bars.&#10;&#10;Scenario (d) shows a receptive field where the entire area, including the center and surround, is stimulated and appears as a large, solid orange circle. This represents a condition where the inhibitory surround counteracts the excitatory center, resulting in a low neural response, indicated by very few vertical bars. The dashed circle in all diagrams likely represents the boundary of the receptive field. The overall presentation visually correlates the extent and type of stimulation within a receptive field with the resulting neural activity.">
            <a:extLst>
              <a:ext uri="{FF2B5EF4-FFF2-40B4-BE49-F238E27FC236}">
                <a16:creationId xmlns:a16="http://schemas.microsoft.com/office/drawing/2014/main" id="{F1FFBC5B-DBB9-5B4C-A158-741842E37B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2488073"/>
            <a:ext cx="4495800" cy="1969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1" name="Date Placeholder 1">
            <a:extLst>
              <a:ext uri="{FF2B5EF4-FFF2-40B4-BE49-F238E27FC236}">
                <a16:creationId xmlns:a16="http://schemas.microsoft.com/office/drawing/2014/main" id="{E5C61688-2CFC-9149-BFAC-42F4DD271F96}"/>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E7C537CA-840A-2542-9048-3F7167C6FE70}"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0422" name="Footer Placeholder 2">
            <a:extLst>
              <a:ext uri="{FF2B5EF4-FFF2-40B4-BE49-F238E27FC236}">
                <a16:creationId xmlns:a16="http://schemas.microsoft.com/office/drawing/2014/main" id="{27F08951-E2EE-5444-AF8D-877C780E32A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0419" name="Rectangle 2">
            <a:extLst>
              <a:ext uri="{FF2B5EF4-FFF2-40B4-BE49-F238E27FC236}">
                <a16:creationId xmlns:a16="http://schemas.microsoft.com/office/drawing/2014/main" id="{31221572-0423-B94C-AAE5-546C2798D218}"/>
              </a:ext>
            </a:extLst>
          </p:cNvPr>
          <p:cNvSpPr txBox="1">
            <a:spLocks noChangeArrowheads="1"/>
          </p:cNvSpPr>
          <p:nvPr/>
        </p:nvSpPr>
        <p:spPr bwMode="auto">
          <a:xfrm>
            <a:off x="1676400" y="4343400"/>
            <a:ext cx="6057900" cy="80010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975" dirty="0">
                <a:latin typeface="Arial" panose="020B0604020202020204" pitchFamily="34" charset="0"/>
              </a:rPr>
              <a:t>Figure 2.19  Response of an excitatory-center-inhibitory-surround receptive field as stimulus size is increased. Shading indicates the area stimulated with light. The response to the stimulus is indicated below each receptive field. The largest response occurs when the entire excitatory area is illuminated, as in (b).  Increasing stimulus size further causes a decrease in firing due to center-surround antagonism. </a:t>
            </a:r>
            <a:r>
              <a:rPr lang="en-US" altLang="en-US" sz="975" i="1" dirty="0">
                <a:latin typeface="Arial" panose="020B0604020202020204" pitchFamily="34" charset="0"/>
              </a:rPr>
              <a:t>(Adapted from Hubel and Wiesel, 1961.)</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3C3B9707-35E6-654B-878B-1F40216E5360}"/>
              </a:ext>
            </a:extLst>
          </p:cNvPr>
          <p:cNvSpPr>
            <a:spLocks noGrp="1" noChangeArrowheads="1"/>
          </p:cNvSpPr>
          <p:nvPr>
            <p:ph type="title"/>
          </p:nvPr>
        </p:nvSpPr>
        <p:spPr>
          <a:xfrm>
            <a:off x="1143000" y="0"/>
            <a:ext cx="7543800" cy="628650"/>
          </a:xfrm>
        </p:spPr>
        <p:txBody>
          <a:bodyPr/>
          <a:lstStyle/>
          <a:p>
            <a:r>
              <a:rPr lang="en-US" altLang="en-US" sz="2850" dirty="0">
                <a:ea typeface="ＭＳ Ｐゴシック" panose="020B0600070205080204" pitchFamily="34" charset="-128"/>
              </a:rPr>
              <a:t>Sensory Code: Specificity Encoding</a:t>
            </a:r>
          </a:p>
        </p:txBody>
      </p:sp>
      <p:sp>
        <p:nvSpPr>
          <p:cNvPr id="62466" name="Rectangle 3">
            <a:extLst>
              <a:ext uri="{FF2B5EF4-FFF2-40B4-BE49-F238E27FC236}">
                <a16:creationId xmlns:a16="http://schemas.microsoft.com/office/drawing/2014/main" id="{6077F66F-2E9A-8D42-BA91-E68903C0DDA5}"/>
              </a:ext>
            </a:extLst>
          </p:cNvPr>
          <p:cNvSpPr>
            <a:spLocks noGrp="1" noChangeArrowheads="1"/>
          </p:cNvSpPr>
          <p:nvPr>
            <p:ph type="body" idx="1"/>
          </p:nvPr>
        </p:nvSpPr>
        <p:spPr>
          <a:xfrm>
            <a:off x="838200" y="742950"/>
            <a:ext cx="5791200" cy="3771900"/>
          </a:xfrm>
        </p:spPr>
        <p:txBody>
          <a:bodyPr/>
          <a:lstStyle/>
          <a:p>
            <a:pPr>
              <a:spcBef>
                <a:spcPct val="30000"/>
              </a:spcBef>
            </a:pPr>
            <a:r>
              <a:rPr lang="en-US" altLang="en-US" b="1" dirty="0">
                <a:latin typeface="Arial" panose="020B0604020202020204" pitchFamily="34" charset="0"/>
                <a:ea typeface="ＭＳ Ｐゴシック" panose="020B0600070205080204" pitchFamily="34" charset="-128"/>
              </a:rPr>
              <a:t>Specificity coding </a:t>
            </a:r>
            <a:r>
              <a:rPr lang="en-US" altLang="en-US" dirty="0">
                <a:latin typeface="Arial" panose="020B0604020202020204" pitchFamily="34" charset="0"/>
                <a:ea typeface="ＭＳ Ｐゴシック" panose="020B0600070205080204" pitchFamily="34" charset="-128"/>
              </a:rPr>
              <a:t>- specific </a:t>
            </a:r>
            <a:br>
              <a:rPr lang="en-US" altLang="en-US" dirty="0">
                <a:latin typeface="Arial" panose="020B0604020202020204" pitchFamily="34" charset="0"/>
                <a:ea typeface="ＭＳ Ｐゴシック" panose="020B0600070205080204" pitchFamily="34" charset="-128"/>
              </a:rPr>
            </a:br>
            <a:r>
              <a:rPr lang="en-US" altLang="en-US" dirty="0">
                <a:latin typeface="Arial" panose="020B0604020202020204" pitchFamily="34" charset="0"/>
                <a:ea typeface="ＭＳ Ｐゴシック" panose="020B0600070205080204" pitchFamily="34" charset="-128"/>
              </a:rPr>
              <a:t>neurons responding to specific</a:t>
            </a:r>
            <a:br>
              <a:rPr lang="en-US" altLang="en-US" dirty="0">
                <a:latin typeface="Arial" panose="020B0604020202020204" pitchFamily="34" charset="0"/>
                <a:ea typeface="ＭＳ Ｐゴシック" panose="020B0600070205080204" pitchFamily="34" charset="-128"/>
              </a:rPr>
            </a:br>
            <a:r>
              <a:rPr lang="en-US" altLang="en-US" dirty="0">
                <a:latin typeface="Arial" panose="020B0604020202020204" pitchFamily="34" charset="0"/>
                <a:ea typeface="ＭＳ Ｐゴシック" panose="020B0600070205080204" pitchFamily="34" charset="-128"/>
              </a:rPr>
              <a:t>stimuli</a:t>
            </a:r>
          </a:p>
          <a:p>
            <a:pPr lvl="1">
              <a:spcBef>
                <a:spcPct val="30000"/>
              </a:spcBef>
            </a:pPr>
            <a:r>
              <a:rPr lang="en-US" altLang="en-US" sz="1500" dirty="0">
                <a:latin typeface="Arial" panose="020B0604020202020204" pitchFamily="34" charset="0"/>
                <a:ea typeface="ＭＳ Ｐゴシック" panose="020B0600070205080204" pitchFamily="34" charset="-128"/>
              </a:rPr>
              <a:t>Leads to the “grandmother cell” hypothesis</a:t>
            </a:r>
          </a:p>
          <a:p>
            <a:pPr lvl="1">
              <a:spcBef>
                <a:spcPct val="30000"/>
              </a:spcBef>
            </a:pPr>
            <a:r>
              <a:rPr lang="en-US" altLang="en-US" sz="1500" dirty="0">
                <a:latin typeface="Arial" panose="020B0604020202020204" pitchFamily="34" charset="0"/>
                <a:ea typeface="ＭＳ Ｐゴシック" panose="020B0600070205080204" pitchFamily="34" charset="-128"/>
              </a:rPr>
              <a:t>Cells in the hippocampus that respond to </a:t>
            </a:r>
            <a:br>
              <a:rPr lang="en-US" altLang="en-US" sz="1500" dirty="0">
                <a:latin typeface="Arial" panose="020B0604020202020204" pitchFamily="34" charset="0"/>
                <a:ea typeface="ＭＳ Ｐゴシック" panose="020B0600070205080204" pitchFamily="34" charset="-128"/>
              </a:rPr>
            </a:br>
            <a:r>
              <a:rPr lang="en-US" altLang="en-US" sz="1500" dirty="0">
                <a:latin typeface="Arial" panose="020B0604020202020204" pitchFamily="34" charset="0"/>
                <a:ea typeface="ＭＳ Ｐゴシック" panose="020B0600070205080204" pitchFamily="34" charset="-128"/>
              </a:rPr>
              <a:t>concepts such as Halle Berry.</a:t>
            </a:r>
          </a:p>
          <a:p>
            <a:pPr lvl="1">
              <a:spcBef>
                <a:spcPct val="30000"/>
              </a:spcBef>
            </a:pPr>
            <a:endParaRPr lang="en-US" altLang="en-US" sz="1500" dirty="0">
              <a:latin typeface="Arial" panose="020B0604020202020204" pitchFamily="34" charset="0"/>
              <a:ea typeface="ＭＳ Ｐゴシック" panose="020B0600070205080204" pitchFamily="34" charset="-128"/>
            </a:endParaRPr>
          </a:p>
          <a:p>
            <a:pPr>
              <a:spcBef>
                <a:spcPct val="30000"/>
              </a:spcBef>
            </a:pPr>
            <a:r>
              <a:rPr lang="en-US" altLang="en-US" dirty="0">
                <a:latin typeface="Arial" panose="020B0604020202020204" pitchFamily="34" charset="0"/>
                <a:ea typeface="ＭＳ Ｐゴシック" panose="020B0600070205080204" pitchFamily="34" charset="-128"/>
              </a:rPr>
              <a:t>Problems with specificity coding:</a:t>
            </a:r>
          </a:p>
          <a:p>
            <a:pPr lvl="1">
              <a:spcBef>
                <a:spcPct val="30000"/>
              </a:spcBef>
            </a:pPr>
            <a:r>
              <a:rPr lang="en-US" altLang="en-US" sz="1500" dirty="0">
                <a:latin typeface="Arial" panose="020B0604020202020204" pitchFamily="34" charset="0"/>
                <a:ea typeface="ＭＳ Ｐゴシック" panose="020B0600070205080204" pitchFamily="34" charset="-128"/>
              </a:rPr>
              <a:t>Too many different stimuli to assign specific neurons</a:t>
            </a:r>
          </a:p>
          <a:p>
            <a:pPr lvl="1">
              <a:spcBef>
                <a:spcPct val="30000"/>
              </a:spcBef>
            </a:pPr>
            <a:r>
              <a:rPr lang="en-US" altLang="en-US" sz="1500" dirty="0">
                <a:latin typeface="Arial" panose="020B0604020202020204" pitchFamily="34" charset="0"/>
                <a:ea typeface="ＭＳ Ｐゴシック" panose="020B0600070205080204" pitchFamily="34" charset="-128"/>
              </a:rPr>
              <a:t>Most neurons respond to a number of different stimuli.</a:t>
            </a:r>
          </a:p>
        </p:txBody>
      </p:sp>
      <p:pic>
        <p:nvPicPr>
          <p:cNvPr id="62468" name="Picture 4" descr="**1. Main Trend:** The graph illustrates the concept of specificity coding in neurons, where distinct neurons respond to distinct stimuli. Specifically, each presented stimulus (a person's face) elicits a patterned response from only one out of the three neurons.&#10;&#10;**2. Axes Description:**&#10;*   **Vertical Axis:** Not explicitly labeled, but it represents the different stimuli presented, shown as portraits of individuals labeled (a) Bill, (b) Mary, and (c) Raphael.&#10;*   **Horizontal Axis:** Not explicitly labeled, but it depicts the activity of three different neurons (Neuron 1, Neuron 2, and Neuron 3) over time. The vertical bars represent neural firing events.&#10;&#10;**3. Explanation of Labels:**&#10;*   &quot;Stimulus&quot; indicates the visual input being presented, which are images of people's faces.&#10;*   &quot;Neuron 1,&quot; &quot;Neuron 2,&quot; and &quot;Neuron 3&quot; refer to individual neurons within the neural system being studied.&#10;*   The vertical bars shown along the horizontal lines represent instances of a neuron firing, or transmitting an electrical signal. The grouping and timing of these bars indicate a specific pattern of neural activity in response to a stimulus. The &quot;specificity coding&quot; concept suggests that each stimulus will activate a unique pattern of neural firing.">
            <a:extLst>
              <a:ext uri="{FF2B5EF4-FFF2-40B4-BE49-F238E27FC236}">
                <a16:creationId xmlns:a16="http://schemas.microsoft.com/office/drawing/2014/main" id="{7FB89131-5184-ED4D-9052-86DA64B90D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6950" y="742950"/>
            <a:ext cx="2686050" cy="2567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9" name="Date Placeholder 1">
            <a:extLst>
              <a:ext uri="{FF2B5EF4-FFF2-40B4-BE49-F238E27FC236}">
                <a16:creationId xmlns:a16="http://schemas.microsoft.com/office/drawing/2014/main" id="{D8B5F911-D511-714A-8763-50AF0F6920A9}"/>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079E9236-5184-CA4C-AEA4-0E73484E3320}"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2470" name="Footer Placeholder 2">
            <a:extLst>
              <a:ext uri="{FF2B5EF4-FFF2-40B4-BE49-F238E27FC236}">
                <a16:creationId xmlns:a16="http://schemas.microsoft.com/office/drawing/2014/main" id="{609A1AA8-8DB0-2D46-9777-3F6333270E8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2467" name="Rectangle 2">
            <a:extLst>
              <a:ext uri="{FF2B5EF4-FFF2-40B4-BE49-F238E27FC236}">
                <a16:creationId xmlns:a16="http://schemas.microsoft.com/office/drawing/2014/main" id="{79366FD2-89E8-8345-85CC-52310112EFB3}"/>
              </a:ext>
            </a:extLst>
          </p:cNvPr>
          <p:cNvSpPr txBox="1">
            <a:spLocks noChangeArrowheads="1"/>
          </p:cNvSpPr>
          <p:nvPr/>
        </p:nvSpPr>
        <p:spPr bwMode="auto">
          <a:xfrm>
            <a:off x="2857500" y="4495800"/>
            <a:ext cx="6057900" cy="51435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1050" dirty="0">
                <a:latin typeface="Arial" panose="020B0604020202020204" pitchFamily="34" charset="0"/>
              </a:rPr>
              <a:t>Figure 2.21 How faces could be coded by specificity coding. Each face causes one specialized neuron to respond.</a:t>
            </a:r>
          </a:p>
          <a:p>
            <a:pPr>
              <a:lnSpc>
                <a:spcPct val="80000"/>
              </a:lnSpc>
              <a:buFontTx/>
              <a:buNone/>
            </a:pPr>
            <a:endParaRPr lang="en-US" altLang="en-US" sz="1050" dirty="0">
              <a:latin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C97D915E-8B6E-F74C-84B9-898BAF951299}"/>
              </a:ext>
            </a:extLst>
          </p:cNvPr>
          <p:cNvSpPr>
            <a:spLocks noGrp="1" noChangeArrowheads="1"/>
          </p:cNvSpPr>
          <p:nvPr>
            <p:ph type="title"/>
          </p:nvPr>
        </p:nvSpPr>
        <p:spPr>
          <a:xfrm>
            <a:off x="1143000" y="0"/>
            <a:ext cx="7543800" cy="628650"/>
          </a:xfrm>
        </p:spPr>
        <p:txBody>
          <a:bodyPr/>
          <a:lstStyle/>
          <a:p>
            <a:r>
              <a:rPr lang="en-US" altLang="en-US" sz="2850" dirty="0">
                <a:ea typeface="ＭＳ Ｐゴシック" panose="020B0600070205080204" pitchFamily="34" charset="-128"/>
              </a:rPr>
              <a:t>Sensory Code: Distributed Encoding</a:t>
            </a:r>
          </a:p>
        </p:txBody>
      </p:sp>
      <p:sp>
        <p:nvSpPr>
          <p:cNvPr id="64514" name="Rectangle 3">
            <a:extLst>
              <a:ext uri="{FF2B5EF4-FFF2-40B4-BE49-F238E27FC236}">
                <a16:creationId xmlns:a16="http://schemas.microsoft.com/office/drawing/2014/main" id="{5BA3B80B-CC71-F245-B5EC-185BB5844F69}"/>
              </a:ext>
            </a:extLst>
          </p:cNvPr>
          <p:cNvSpPr>
            <a:spLocks noGrp="1" noChangeArrowheads="1"/>
          </p:cNvSpPr>
          <p:nvPr>
            <p:ph type="body" idx="1"/>
          </p:nvPr>
        </p:nvSpPr>
        <p:spPr>
          <a:xfrm>
            <a:off x="838200" y="742950"/>
            <a:ext cx="5391150" cy="3771900"/>
          </a:xfrm>
        </p:spPr>
        <p:txBody>
          <a:bodyPr/>
          <a:lstStyle/>
          <a:p>
            <a:pPr>
              <a:spcBef>
                <a:spcPct val="30000"/>
              </a:spcBef>
            </a:pPr>
            <a:r>
              <a:rPr lang="en-US" altLang="en-US" sz="2100" b="1" dirty="0">
                <a:latin typeface="Arial" panose="020B0604020202020204" pitchFamily="34" charset="0"/>
                <a:ea typeface="ＭＳ Ｐゴシック" panose="020B0600070205080204" pitchFamily="34" charset="-128"/>
              </a:rPr>
              <a:t>Distributed coding </a:t>
            </a:r>
            <a:r>
              <a:rPr lang="en-US" altLang="en-US" sz="2100" dirty="0">
                <a:latin typeface="Arial" panose="020B0604020202020204" pitchFamily="34" charset="0"/>
                <a:ea typeface="ＭＳ Ｐゴシック" panose="020B0600070205080204" pitchFamily="34" charset="-128"/>
              </a:rPr>
              <a:t>- pattern of firing across many neurons codes specific objects</a:t>
            </a:r>
          </a:p>
          <a:p>
            <a:pPr lvl="1">
              <a:spcBef>
                <a:spcPct val="30000"/>
              </a:spcBef>
            </a:pPr>
            <a:r>
              <a:rPr lang="en-US" altLang="en-US" dirty="0">
                <a:latin typeface="Arial" panose="020B0604020202020204" pitchFamily="34" charset="0"/>
                <a:ea typeface="ＭＳ Ｐゴシック" panose="020B0600070205080204" pitchFamily="34" charset="-128"/>
              </a:rPr>
              <a:t>Large number of stimuli can be coded by a few neurons.</a:t>
            </a:r>
            <a:endParaRPr lang="en-US" altLang="en-US" sz="2400" dirty="0">
              <a:latin typeface="Arial" panose="020B0604020202020204" pitchFamily="34" charset="0"/>
              <a:ea typeface="ＭＳ Ｐゴシック" panose="020B0600070205080204" pitchFamily="34" charset="-128"/>
            </a:endParaRPr>
          </a:p>
        </p:txBody>
      </p:sp>
      <p:pic>
        <p:nvPicPr>
          <p:cNvPr id="64516" name="Picture 4" descr="The diagram illustrates the concept of distributed coding in sensory perception, as suggested by the title &quot;Sensory Code: Distributed Encoding.&quot; The visual elements are arranged in a grid, with the left column labeled &quot;Stimulus&quot; and the subsequent columns representing &quot;Neuron 1,&quot; &quot;Neuron 2,&quot; and &quot;Neuron 3.&quot;&#10;&#10;The &quot;Stimulus&quot; column displays portraits of four individuals: (a) Bill, (b) Mary, (c) Raphael, and (d) Roger. Each portrait is presented against a light yellow background.&#10;&#10;To the right of each portrait, in the neuronal columns, are horizontal lines representing time. Vertical lines superimposed on these horizontal lines depict neural firing patterns, or action potentials. The arrangement suggests that each individual's stimulus elicits a unique pattern of firing across the three neurons.&#10;&#10;For instance, when presented with Bill, Neuron 1 exhibits a dense cluster of firings, while Neurons 2 and 3 show sparse firings. Mary's stimulus results in sparse firings in Neuron 1, a dense cluster in Neuron 2, and sparse firings in Neuron 3. Raphael's stimulus shows dense firings in Neuron 1, sparse firings in Neuron 2, and sparse firings in Neuron 3. Finally, Roger's stimulus results in sparse firings in Neuron 1, sparse firings in Neuron 2, and dense firings in Neuron 3.&#10;&#10;The overall visual structure, with distinct stimuli represented by individuals and their corresponding neural activity patterns across multiple neurons, directly supports the accompanying text's explanation that &quot;Distributed coding - pattern of firing across many neurons codes specific objects.&quot; The diagram visually demonstrates how different stimuli (the individuals) evoke unique combinations of neural responses, implying that these patterns, rather than the activity of a single neuron, encode the specific identity of the stimulus.">
            <a:extLst>
              <a:ext uri="{FF2B5EF4-FFF2-40B4-BE49-F238E27FC236}">
                <a16:creationId xmlns:a16="http://schemas.microsoft.com/office/drawing/2014/main" id="{607B50F4-BEC9-0048-A7C5-DDBE3CBBFB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846137"/>
            <a:ext cx="2743200" cy="340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7" name="Date Placeholder 1">
            <a:extLst>
              <a:ext uri="{FF2B5EF4-FFF2-40B4-BE49-F238E27FC236}">
                <a16:creationId xmlns:a16="http://schemas.microsoft.com/office/drawing/2014/main" id="{05719AE2-C87A-894B-9616-EBABFCB222C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B959C51-B313-E149-BF84-930006D54CF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4518" name="Footer Placeholder 2">
            <a:extLst>
              <a:ext uri="{FF2B5EF4-FFF2-40B4-BE49-F238E27FC236}">
                <a16:creationId xmlns:a16="http://schemas.microsoft.com/office/drawing/2014/main" id="{9FCB42F5-D118-5C4E-AA1F-4CCC6763623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4515" name="Rectangle 2">
            <a:extLst>
              <a:ext uri="{FF2B5EF4-FFF2-40B4-BE49-F238E27FC236}">
                <a16:creationId xmlns:a16="http://schemas.microsoft.com/office/drawing/2014/main" id="{38FC451D-1F6A-0B4A-B747-1A638D4138F9}"/>
              </a:ext>
            </a:extLst>
          </p:cNvPr>
          <p:cNvSpPr txBox="1">
            <a:spLocks noChangeArrowheads="1"/>
          </p:cNvSpPr>
          <p:nvPr/>
        </p:nvSpPr>
        <p:spPr bwMode="auto">
          <a:xfrm>
            <a:off x="2641895" y="4572000"/>
            <a:ext cx="6057900" cy="51435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1050" dirty="0">
                <a:latin typeface="Arial" panose="020B0604020202020204" pitchFamily="34" charset="0"/>
              </a:rPr>
              <a:t>Figure 2.23 How faces could be coded by distributed coding. Each face causes all the neurons to fire, but the pattern of firing is different for each face.  One advantage of this method of coding is that many faces could be represented by the firing of the three neurons.</a:t>
            </a:r>
          </a:p>
          <a:p>
            <a:pPr>
              <a:lnSpc>
                <a:spcPct val="80000"/>
              </a:lnSpc>
              <a:buFontTx/>
              <a:buNone/>
            </a:pPr>
            <a:endParaRPr lang="en-US" altLang="en-US" sz="1050" dirty="0">
              <a:latin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Date Placeholder 3">
            <a:extLst>
              <a:ext uri="{FF2B5EF4-FFF2-40B4-BE49-F238E27FC236}">
                <a16:creationId xmlns:a16="http://schemas.microsoft.com/office/drawing/2014/main" id="{D2F0672F-AB6B-404A-80BB-928A1AF57C91}"/>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88F77D5-90D3-0F4B-A09D-99FD626BD4CF}"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6562" name="Footer Placeholder 4">
            <a:extLst>
              <a:ext uri="{FF2B5EF4-FFF2-40B4-BE49-F238E27FC236}">
                <a16:creationId xmlns:a16="http://schemas.microsoft.com/office/drawing/2014/main" id="{EBF249F9-01DA-AF4E-8285-ABA44C3D28A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6563" name="Rectangle 2">
            <a:extLst>
              <a:ext uri="{FF2B5EF4-FFF2-40B4-BE49-F238E27FC236}">
                <a16:creationId xmlns:a16="http://schemas.microsoft.com/office/drawing/2014/main" id="{CAE3E9D9-27AC-0A42-A9EB-8E0BD44D64A0}"/>
              </a:ext>
            </a:extLst>
          </p:cNvPr>
          <p:cNvSpPr>
            <a:spLocks noGrp="1" noChangeArrowheads="1"/>
          </p:cNvSpPr>
          <p:nvPr>
            <p:ph type="title"/>
          </p:nvPr>
        </p:nvSpPr>
        <p:spPr/>
        <p:txBody>
          <a:bodyPr/>
          <a:lstStyle/>
          <a:p>
            <a:r>
              <a:rPr lang="en-US" altLang="en-US">
                <a:ea typeface="ＭＳ Ｐゴシック" panose="020B0600070205080204" pitchFamily="34" charset="-128"/>
              </a:rPr>
              <a:t>Upcoming</a:t>
            </a:r>
          </a:p>
        </p:txBody>
      </p:sp>
      <p:sp>
        <p:nvSpPr>
          <p:cNvPr id="66564" name="Rectangle 3">
            <a:extLst>
              <a:ext uri="{FF2B5EF4-FFF2-40B4-BE49-F238E27FC236}">
                <a16:creationId xmlns:a16="http://schemas.microsoft.com/office/drawing/2014/main" id="{593F7533-4B1D-7149-83E7-9B72C20ACC1E}"/>
              </a:ext>
            </a:extLst>
          </p:cNvPr>
          <p:cNvSpPr>
            <a:spLocks noGrp="1" noChangeArrowheads="1"/>
          </p:cNvSpPr>
          <p:nvPr>
            <p:ph type="body" idx="1"/>
          </p:nvPr>
        </p:nvSpPr>
        <p:spPr>
          <a:xfrm>
            <a:off x="838200" y="685800"/>
            <a:ext cx="8001000" cy="4171950"/>
          </a:xfrm>
        </p:spPr>
        <p:txBody>
          <a:bodyPr/>
          <a:lstStyle/>
          <a:p>
            <a:r>
              <a:rPr lang="en-US" altLang="en-US" dirty="0">
                <a:ea typeface="ＭＳ Ｐゴシック" panose="020B0600070205080204" pitchFamily="34" charset="-128"/>
              </a:rPr>
              <a:t>Neuroimaging</a:t>
            </a:r>
          </a:p>
          <a:p>
            <a:r>
              <a:rPr lang="en-US" altLang="en-US" dirty="0">
                <a:ea typeface="ＭＳ Ｐゴシック" panose="020B0600070205080204" pitchFamily="34" charset="-128"/>
              </a:rPr>
              <a:t>Bottom-up vs. Top-down Processing</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Extra Readings</a:t>
            </a:r>
          </a:p>
          <a:p>
            <a:pPr lvl="1"/>
            <a:r>
              <a:rPr lang="en-US" altLang="en-US" dirty="0">
                <a:ea typeface="ＭＳ Ｐゴシック" panose="020B0600070205080204" pitchFamily="34" charset="-128"/>
              </a:rPr>
              <a:t>Download from Web site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8A11D940-1180-984D-A7AF-5F76851C2D9E}"/>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Basics of Neural Signals</a:t>
            </a:r>
          </a:p>
        </p:txBody>
      </p:sp>
      <p:sp>
        <p:nvSpPr>
          <p:cNvPr id="68610" name="Rectangle 3">
            <a:extLst>
              <a:ext uri="{FF2B5EF4-FFF2-40B4-BE49-F238E27FC236}">
                <a16:creationId xmlns:a16="http://schemas.microsoft.com/office/drawing/2014/main" id="{48267FC9-2229-9A4C-93EE-650A4BA91DE6}"/>
              </a:ext>
            </a:extLst>
          </p:cNvPr>
          <p:cNvSpPr>
            <a:spLocks noGrp="1" noChangeArrowheads="1"/>
          </p:cNvSpPr>
          <p:nvPr>
            <p:ph type="body" idx="1"/>
          </p:nvPr>
        </p:nvSpPr>
        <p:spPr>
          <a:xfrm>
            <a:off x="838200" y="800100"/>
            <a:ext cx="6648450" cy="3714750"/>
          </a:xfrm>
        </p:spPr>
        <p:txBody>
          <a:bodyPr/>
          <a:lstStyle/>
          <a:p>
            <a:pPr>
              <a:lnSpc>
                <a:spcPct val="90000"/>
              </a:lnSpc>
              <a:spcBef>
                <a:spcPct val="30000"/>
              </a:spcBef>
            </a:pPr>
            <a:r>
              <a:rPr lang="en-US" altLang="en-US" sz="2100" dirty="0">
                <a:latin typeface="Arial" panose="020B0604020202020204" pitchFamily="34" charset="0"/>
                <a:ea typeface="ＭＳ Ｐゴシック" panose="020B0600070205080204" pitchFamily="34" charset="-128"/>
              </a:rPr>
              <a:t>Neurons are surrounded by a solution containing ions.</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Ions carry an electrical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Sodium ions (Na</a:t>
            </a:r>
            <a:r>
              <a:rPr lang="en-US" altLang="en-US" baseline="30000" dirty="0">
                <a:latin typeface="Arial" panose="020B0604020202020204" pitchFamily="34" charset="0"/>
                <a:ea typeface="ＭＳ Ｐゴシック" panose="020B0600070205080204" pitchFamily="34" charset="-128"/>
              </a:rPr>
              <a:t>+</a:t>
            </a:r>
            <a:r>
              <a:rPr lang="en-US" altLang="en-US" dirty="0">
                <a:latin typeface="Arial" panose="020B0604020202020204" pitchFamily="34" charset="0"/>
                <a:ea typeface="ＭＳ Ｐゴシック" panose="020B0600070205080204" pitchFamily="34" charset="-128"/>
              </a:rPr>
              <a:t>) - positive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Chlorine ions (Cl</a:t>
            </a:r>
            <a:r>
              <a:rPr lang="en-US" altLang="en-US" baseline="30000" dirty="0">
                <a:latin typeface="Arial" panose="020B0604020202020204" pitchFamily="34" charset="0"/>
                <a:ea typeface="ＭＳ Ｐゴシック" panose="020B0600070205080204" pitchFamily="34" charset="-128"/>
              </a:rPr>
              <a:t>-</a:t>
            </a:r>
            <a:r>
              <a:rPr lang="en-US" altLang="en-US" dirty="0">
                <a:latin typeface="Arial" panose="020B0604020202020204" pitchFamily="34" charset="0"/>
                <a:ea typeface="ＭＳ Ｐゴシック" panose="020B0600070205080204" pitchFamily="34" charset="-128"/>
              </a:rPr>
              <a:t>) - negative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Potassium ions (K</a:t>
            </a:r>
            <a:r>
              <a:rPr lang="en-US" altLang="en-US" baseline="30000" dirty="0">
                <a:latin typeface="Arial" panose="020B0604020202020204" pitchFamily="34" charset="0"/>
                <a:ea typeface="ＭＳ Ｐゴシック" panose="020B0600070205080204" pitchFamily="34" charset="-128"/>
              </a:rPr>
              <a:t>+</a:t>
            </a:r>
            <a:r>
              <a:rPr lang="en-US" altLang="en-US" dirty="0">
                <a:latin typeface="Arial" panose="020B0604020202020204" pitchFamily="34" charset="0"/>
                <a:ea typeface="ＭＳ Ｐゴシック" panose="020B0600070205080204" pitchFamily="34" charset="-128"/>
              </a:rPr>
              <a:t>) - positive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Electrical signals are generated when such ions cross the membranes of neurons.</a:t>
            </a:r>
          </a:p>
          <a:p>
            <a:pPr>
              <a:lnSpc>
                <a:spcPct val="90000"/>
              </a:lnSpc>
              <a:spcBef>
                <a:spcPct val="30000"/>
              </a:spcBef>
            </a:pPr>
            <a:r>
              <a:rPr lang="en-US" altLang="en-US" sz="2100" dirty="0">
                <a:latin typeface="Arial" panose="020B0604020202020204" pitchFamily="34" charset="0"/>
                <a:ea typeface="ＭＳ Ｐゴシック" panose="020B0600070205080204" pitchFamily="34" charset="-128"/>
              </a:rPr>
              <a:t>Membranes have selective permeability. </a:t>
            </a:r>
          </a:p>
        </p:txBody>
      </p:sp>
      <p:sp>
        <p:nvSpPr>
          <p:cNvPr id="68611" name="Date Placeholder 1">
            <a:extLst>
              <a:ext uri="{FF2B5EF4-FFF2-40B4-BE49-F238E27FC236}">
                <a16:creationId xmlns:a16="http://schemas.microsoft.com/office/drawing/2014/main" id="{0CF841D2-514E-524B-A64A-B4B7484FCE8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319DF38F-5532-6442-94AE-33CEAF1922FB}"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8612" name="Footer Placeholder 2">
            <a:extLst>
              <a:ext uri="{FF2B5EF4-FFF2-40B4-BE49-F238E27FC236}">
                <a16:creationId xmlns:a16="http://schemas.microsoft.com/office/drawing/2014/main" id="{B0427ED6-163E-BA48-AF21-C8A9EFBAED1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7" name="Picture 4" descr="The diagram shows a cross-section of a nerve fiber, represented by a hollow yellow tube with an orange interior. Several circular ions are depicted, both inside and outside the fiber. Blue circles labeled &quot;Na+&quot; represent sodium ions, and are primarily located outside the nerve fiber. Red circles labeled &quot;K+&quot; represent potassium ions, and are primarily located inside the nerve fiber. This illustrates the concentration gradient of sodium and potassium ions across the nerve cell membrane, a key concept in nerve impulse transmission.">
            <a:extLst>
              <a:ext uri="{FF2B5EF4-FFF2-40B4-BE49-F238E27FC236}">
                <a16:creationId xmlns:a16="http://schemas.microsoft.com/office/drawing/2014/main" id="{41B8919D-8B06-C742-91C9-DCC2CAC866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7862" y="1013223"/>
            <a:ext cx="5195888" cy="3107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58" name="Rectangle 2">
            <a:extLst>
              <a:ext uri="{FF2B5EF4-FFF2-40B4-BE49-F238E27FC236}">
                <a16:creationId xmlns:a16="http://schemas.microsoft.com/office/drawing/2014/main" id="{ADF337A6-DA9D-A04A-9C0D-8EC0007C4AF2}"/>
              </a:ext>
            </a:extLst>
          </p:cNvPr>
          <p:cNvSpPr>
            <a:spLocks noGrp="1" noChangeArrowheads="1"/>
          </p:cNvSpPr>
          <p:nvPr>
            <p:ph type="body" idx="1"/>
          </p:nvPr>
        </p:nvSpPr>
        <p:spPr>
          <a:xfrm>
            <a:off x="1543050" y="3886200"/>
            <a:ext cx="6057900" cy="1028700"/>
          </a:xfrm>
        </p:spPr>
        <p:txBody>
          <a:bodyPr anchor="b"/>
          <a:lstStyle/>
          <a:p>
            <a:pPr marL="0" indent="0">
              <a:lnSpc>
                <a:spcPct val="80000"/>
              </a:lnSpc>
              <a:buNone/>
            </a:pPr>
            <a:r>
              <a:rPr lang="en-US" altLang="en-US" sz="975">
                <a:latin typeface="Arial" panose="020B0604020202020204" pitchFamily="34" charset="0"/>
                <a:ea typeface="ＭＳ Ｐゴシック" panose="020B0600070205080204" pitchFamily="34" charset="-128"/>
              </a:rPr>
              <a:t>Figure 2.8 A nerve fiber, showing the high concentration of sodium outside the fiber and potassium inside the fiber.  Other ions, such as negatively charged chlorine, are not shown.</a:t>
            </a:r>
          </a:p>
        </p:txBody>
      </p:sp>
      <p:sp>
        <p:nvSpPr>
          <p:cNvPr id="70659" name="Date Placeholder 1">
            <a:extLst>
              <a:ext uri="{FF2B5EF4-FFF2-40B4-BE49-F238E27FC236}">
                <a16:creationId xmlns:a16="http://schemas.microsoft.com/office/drawing/2014/main" id="{904DD699-08DA-8D4F-AF76-BBB7E3A9A02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0021D0A5-06AD-4745-95DC-214FE699ED17}"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70660" name="Footer Placeholder 2">
            <a:extLst>
              <a:ext uri="{FF2B5EF4-FFF2-40B4-BE49-F238E27FC236}">
                <a16:creationId xmlns:a16="http://schemas.microsoft.com/office/drawing/2014/main" id="{CF8DC108-FD50-DD4F-B81C-629F0111284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theme/theme1.xml><?xml version="1.0" encoding="utf-8"?>
<a:theme xmlns:a="http://schemas.openxmlformats.org/drawingml/2006/main" name="35-audio">
  <a:themeElements>
    <a:clrScheme name="">
      <a:dk1>
        <a:srgbClr val="000000"/>
      </a:dk1>
      <a:lt1>
        <a:srgbClr val="FFFFFF"/>
      </a:lt1>
      <a:dk2>
        <a:srgbClr val="000000"/>
      </a:dk2>
      <a:lt2>
        <a:srgbClr val="5E574E"/>
      </a:lt2>
      <a:accent1>
        <a:srgbClr val="0080FF"/>
      </a:accent1>
      <a:accent2>
        <a:srgbClr val="FFCC00"/>
      </a:accent2>
      <a:accent3>
        <a:srgbClr val="FFFFFF"/>
      </a:accent3>
      <a:accent4>
        <a:srgbClr val="000000"/>
      </a:accent4>
      <a:accent5>
        <a:srgbClr val="AAC0FF"/>
      </a:accent5>
      <a:accent6>
        <a:srgbClr val="E7B900"/>
      </a:accent6>
      <a:hlink>
        <a:srgbClr val="3366CC"/>
      </a:hlink>
      <a:folHlink>
        <a:srgbClr val="808000"/>
      </a:folHlink>
    </a:clrScheme>
    <a:fontScheme name="35-audio">
      <a:majorFont>
        <a:latin typeface="Arial"/>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pitchFamily="-110"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pitchFamily="-110" charset="0"/>
          </a:defRPr>
        </a:defPPr>
      </a:lstStyle>
    </a:lnDef>
  </a:objectDefaults>
  <a:extraClrSchemeLst>
    <a:extraClrScheme>
      <a:clrScheme name="35-audio 1">
        <a:dk1>
          <a:srgbClr val="5E574E"/>
        </a:dk1>
        <a:lt1>
          <a:srgbClr val="FFFFCC"/>
        </a:lt1>
        <a:dk2>
          <a:srgbClr val="000000"/>
        </a:dk2>
        <a:lt2>
          <a:srgbClr val="FFCC00"/>
        </a:lt2>
        <a:accent1>
          <a:srgbClr val="CC9900"/>
        </a:accent1>
        <a:accent2>
          <a:srgbClr val="FF6600"/>
        </a:accent2>
        <a:accent3>
          <a:srgbClr val="AA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35-audio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clrMap bg1="lt1" tx1="dk1" bg2="lt2" tx2="dk2" accent1="accent1" accent2="accent2" accent3="accent3" accent4="accent4" accent5="accent5" accent6="accent6" hlink="hlink" folHlink="folHlink"/>
    </a:extraClrScheme>
    <a:extraClrScheme>
      <a:clrScheme name="35-audio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5-audio 4">
        <a:dk1>
          <a:srgbClr val="000000"/>
        </a:dk1>
        <a:lt1>
          <a:srgbClr val="FFFFFF"/>
        </a:lt1>
        <a:dk2>
          <a:srgbClr val="8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FF0000"/>
        </a:hlink>
        <a:folHlink>
          <a:srgbClr val="FFFFCC"/>
        </a:folHlink>
      </a:clrScheme>
      <a:clrMap bg1="lt1" tx1="dk1" bg2="lt2" tx2="dk2" accent1="accent1" accent2="accent2" accent3="accent3" accent4="accent4" accent5="accent5" accent6="accent6" hlink="hlink" folHlink="folHlink"/>
    </a:extraClrScheme>
    <a:extraClrScheme>
      <a:clrScheme name="35-audio 5">
        <a:dk1>
          <a:srgbClr val="000066"/>
        </a:dk1>
        <a:lt1>
          <a:srgbClr val="FFFFFF"/>
        </a:lt1>
        <a:dk2>
          <a:srgbClr val="0000FF"/>
        </a:dk2>
        <a:lt2>
          <a:srgbClr val="000000"/>
        </a:lt2>
        <a:accent1>
          <a:srgbClr val="0066FF"/>
        </a:accent1>
        <a:accent2>
          <a:srgbClr val="33CCCC"/>
        </a:accent2>
        <a:accent3>
          <a:srgbClr val="FFFFFF"/>
        </a:accent3>
        <a:accent4>
          <a:srgbClr val="000056"/>
        </a:accent4>
        <a:accent5>
          <a:srgbClr val="AAB8FF"/>
        </a:accent5>
        <a:accent6>
          <a:srgbClr val="2DB9B9"/>
        </a:accent6>
        <a:hlink>
          <a:srgbClr val="FF00FF"/>
        </a:hlink>
        <a:folHlink>
          <a:srgbClr val="9933FF"/>
        </a:folHlink>
      </a:clrScheme>
      <a:clrMap bg1="lt1" tx1="dk1" bg2="lt2" tx2="dk2" accent1="accent1" accent2="accent2" accent3="accent3" accent4="accent4" accent5="accent5" accent6="accent6" hlink="hlink" folHlink="folHlink"/>
    </a:extraClrScheme>
    <a:extraClrScheme>
      <a:clrScheme name="35-audio 6">
        <a:dk1>
          <a:srgbClr val="000000"/>
        </a:dk1>
        <a:lt1>
          <a:srgbClr val="FFFFFF"/>
        </a:lt1>
        <a:dk2>
          <a:srgbClr val="000066"/>
        </a:dk2>
        <a:lt2>
          <a:srgbClr val="FFCC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
      <a:clrScheme name="35-audio 7">
        <a:dk1>
          <a:srgbClr val="5E574E"/>
        </a:dk1>
        <a:lt1>
          <a:srgbClr val="FFFFCC"/>
        </a:lt1>
        <a:dk2>
          <a:srgbClr val="800000"/>
        </a:dk2>
        <a:lt2>
          <a:srgbClr val="FFCC00"/>
        </a:lt2>
        <a:accent1>
          <a:srgbClr val="CC9900"/>
        </a:accent1>
        <a:accent2>
          <a:srgbClr val="FF6600"/>
        </a:accent2>
        <a:accent3>
          <a:srgbClr val="C0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35-audio 8">
        <a:dk1>
          <a:srgbClr val="000000"/>
        </a:dk1>
        <a:lt1>
          <a:srgbClr val="FFFFFF"/>
        </a:lt1>
        <a:dk2>
          <a:srgbClr val="000066"/>
        </a:dk2>
        <a:lt2>
          <a:srgbClr val="FFFF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WalkerB HD:Users:walkerb:Bruce:Classes:6750-HCI:PPT Slides:35-audio.ppt</Template>
  <TotalTime>7158</TotalTime>
  <Words>1573</Words>
  <Application>Microsoft Macintosh PowerPoint</Application>
  <PresentationFormat>On-screen Show (16:9)</PresentationFormat>
  <Paragraphs>223</Paragraphs>
  <Slides>29</Slides>
  <Notes>28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Comic Sans MS</vt:lpstr>
      <vt:lpstr>Tahoma</vt:lpstr>
      <vt:lpstr>Times</vt:lpstr>
      <vt:lpstr>Wingdings</vt:lpstr>
      <vt:lpstr>35-audio</vt:lpstr>
      <vt:lpstr>Physiology of Perception</vt:lpstr>
      <vt:lpstr>Reminder: Outline of Topics</vt:lpstr>
      <vt:lpstr>Overview</vt:lpstr>
      <vt:lpstr>Brain as Center of Perception</vt:lpstr>
      <vt:lpstr>Made Up of Neurons…</vt:lpstr>
      <vt:lpstr>Basic Brain Structure</vt:lpstr>
      <vt:lpstr>PowerPoint Presentation</vt:lpstr>
      <vt:lpstr>Neurons: Transduction &amp; Transmission</vt:lpstr>
      <vt:lpstr>Neurons: Transduction &amp; Transmission</vt:lpstr>
      <vt:lpstr>Neural Signals</vt:lpstr>
      <vt:lpstr>Properties of Action Potentials</vt:lpstr>
      <vt:lpstr>Stimulus Intensity &amp; Firing Rate</vt:lpstr>
      <vt:lpstr>Synaptic Transmission of Impulses </vt:lpstr>
      <vt:lpstr>Video: Synaptic Transmission</vt:lpstr>
      <vt:lpstr>Types of Neurotransmitters</vt:lpstr>
      <vt:lpstr>Neural Circuits</vt:lpstr>
      <vt:lpstr>Simple Circuit</vt:lpstr>
      <vt:lpstr>Neural Circuits - continued</vt:lpstr>
      <vt:lpstr>Convergent Circuits (+ only)</vt:lpstr>
      <vt:lpstr>Neural Circuits - continued</vt:lpstr>
      <vt:lpstr>Convergent Circuits (+ and -)</vt:lpstr>
      <vt:lpstr>Receptive Fields</vt:lpstr>
      <vt:lpstr>Center-Surround Receptive Fields</vt:lpstr>
      <vt:lpstr>Center-Surround Antagonism</vt:lpstr>
      <vt:lpstr>Sensory Code: Specificity Encoding</vt:lpstr>
      <vt:lpstr>Sensory Code: Distributed Encoding</vt:lpstr>
      <vt:lpstr>Upcoming</vt:lpstr>
      <vt:lpstr>Basics of Neural Signals</vt:lpstr>
      <vt:lpstr>PowerPoint Presentation</vt:lpstr>
    </vt:vector>
  </TitlesOfParts>
  <Company>Georgia Tech Psychology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Sensation &amp; Perception</dc:title>
  <dc:creator>Bruce Walker</dc:creator>
  <cp:lastModifiedBy>Walker, Bruce N</cp:lastModifiedBy>
  <cp:revision>51</cp:revision>
  <cp:lastPrinted>2002-12-30T22:33:12Z</cp:lastPrinted>
  <dcterms:created xsi:type="dcterms:W3CDTF">2012-01-20T02:14:24Z</dcterms:created>
  <dcterms:modified xsi:type="dcterms:W3CDTF">2021-01-24T21:07:41Z</dcterms:modified>
</cp:coreProperties>
</file>