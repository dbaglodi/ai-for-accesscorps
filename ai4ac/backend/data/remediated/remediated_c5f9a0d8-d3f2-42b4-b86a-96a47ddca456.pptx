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1"/>
  </p:notesMasterIdLst>
  <p:handoutMasterIdLst>
    <p:handoutMasterId r:id="rId32"/>
  </p:handoutMasterIdLst>
  <p:sldIdLst>
    <p:sldId id="256" r:id="rId2"/>
    <p:sldId id="328" r:id="rId3"/>
    <p:sldId id="257" r:id="rId4"/>
    <p:sldId id="269" r:id="rId5"/>
    <p:sldId id="276" r:id="rId6"/>
    <p:sldId id="286" r:id="rId7"/>
    <p:sldId id="287" r:id="rId8"/>
    <p:sldId id="325" r:id="rId9"/>
    <p:sldId id="288" r:id="rId10"/>
    <p:sldId id="292" r:id="rId11"/>
    <p:sldId id="296" r:id="rId12"/>
    <p:sldId id="297" r:id="rId13"/>
    <p:sldId id="298" r:id="rId14"/>
    <p:sldId id="300" r:id="rId15"/>
    <p:sldId id="301" r:id="rId16"/>
    <p:sldId id="304" r:id="rId17"/>
    <p:sldId id="305" r:id="rId18"/>
    <p:sldId id="306" r:id="rId19"/>
    <p:sldId id="307" r:id="rId20"/>
    <p:sldId id="308" r:id="rId21"/>
    <p:sldId id="309" r:id="rId22"/>
    <p:sldId id="310" r:id="rId23"/>
    <p:sldId id="312" r:id="rId24"/>
    <p:sldId id="314" r:id="rId25"/>
    <p:sldId id="316" r:id="rId26"/>
    <p:sldId id="319" r:id="rId27"/>
    <p:sldId id="268" r:id="rId28"/>
    <p:sldId id="326" r:id="rId29"/>
    <p:sldId id="327"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p:cViewPr varScale="1">
        <p:scale>
          <a:sx n="151" d="100"/>
          <a:sy n="151" d="100"/>
        </p:scale>
        <p:origin x="520" y="176"/>
      </p:cViewPr>
      <p:guideLst>
        <p:guide orient="horz" pos="1620"/>
        <p:guide pos="2880"/>
      </p:guideLst>
    </p:cSldViewPr>
  </p:slideViewPr>
  <p:outlineViewPr>
    <p:cViewPr>
      <p:scale>
        <a:sx n="33" d="100"/>
        <a:sy n="33" d="100"/>
      </p:scale>
      <p:origin x="0" y="18536"/>
    </p:cViewPr>
  </p:outlin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F558A9-DA8C-0A4A-A9D6-28E17870D4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7" name="Rectangle 3">
            <a:extLst>
              <a:ext uri="{FF2B5EF4-FFF2-40B4-BE49-F238E27FC236}">
                <a16:creationId xmlns:a16="http://schemas.microsoft.com/office/drawing/2014/main" id="{600705CB-591E-D340-B556-AB4ACC36EBB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1268" name="Rectangle 4">
            <a:extLst>
              <a:ext uri="{FF2B5EF4-FFF2-40B4-BE49-F238E27FC236}">
                <a16:creationId xmlns:a16="http://schemas.microsoft.com/office/drawing/2014/main" id="{AF3A6860-2E4E-5C43-9346-C44984AD63E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9" name="Rectangle 5">
            <a:extLst>
              <a:ext uri="{FF2B5EF4-FFF2-40B4-BE49-F238E27FC236}">
                <a16:creationId xmlns:a16="http://schemas.microsoft.com/office/drawing/2014/main" id="{0CE811E3-AE1A-5A42-B453-E883C13CD3A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1326EE1-770B-5044-B269-2293F993D7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3F1E7CE-B704-5B46-9A09-9D8D78B6AE9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1" name="Rectangle 3">
            <a:extLst>
              <a:ext uri="{FF2B5EF4-FFF2-40B4-BE49-F238E27FC236}">
                <a16:creationId xmlns:a16="http://schemas.microsoft.com/office/drawing/2014/main" id="{08BBAAEB-51AC-5C4C-B0B0-F67056DD0FB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3316" name="Rectangle 4">
            <a:extLst>
              <a:ext uri="{FF2B5EF4-FFF2-40B4-BE49-F238E27FC236}">
                <a16:creationId xmlns:a16="http://schemas.microsoft.com/office/drawing/2014/main" id="{239BCA80-B535-0A4F-95BC-1F3B6D974DB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33C9E59B-4658-BE47-9963-4BB72D8AE61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1C0D8D2-8A4B-754B-A07D-6617721D8BE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5" name="Rectangle 7">
            <a:extLst>
              <a:ext uri="{FF2B5EF4-FFF2-40B4-BE49-F238E27FC236}">
                <a16:creationId xmlns:a16="http://schemas.microsoft.com/office/drawing/2014/main" id="{1B1B4E08-1B91-BE4E-A3F6-84192041261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BA2F6CF-D245-AE40-B035-DD9CA7F120A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0"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9BAB331-E797-3E44-BEBB-E17657056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CE2B21B-6094-064D-B292-99F66B598B11}" type="slidenum">
              <a:rPr lang="en-US" altLang="en-US" sz="1200" smtClean="0"/>
              <a:pPr/>
              <a:t>1</a:t>
            </a:fld>
            <a:endParaRPr lang="en-US" altLang="en-US" sz="1200"/>
          </a:p>
        </p:txBody>
      </p:sp>
      <p:sp>
        <p:nvSpPr>
          <p:cNvPr id="16386" name="Rectangle 2">
            <a:extLst>
              <a:ext uri="{FF2B5EF4-FFF2-40B4-BE49-F238E27FC236}">
                <a16:creationId xmlns:a16="http://schemas.microsoft.com/office/drawing/2014/main" id="{2CD11686-6F80-A444-AEE4-DCA41A984AFF}"/>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117B5C69-F248-B34F-BDE5-CEC38FF56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279E30D2-E615-954C-B0C9-2124F66A0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FC0F0B0-1D28-3D46-B8C1-8534A751C016}" type="slidenum">
              <a:rPr lang="en-US" altLang="en-US" sz="1200" smtClean="0"/>
              <a:pPr/>
              <a:t>3</a:t>
            </a:fld>
            <a:endParaRPr lang="en-US" altLang="en-US" sz="1200"/>
          </a:p>
        </p:txBody>
      </p:sp>
      <p:sp>
        <p:nvSpPr>
          <p:cNvPr id="18434" name="Rectangle 2">
            <a:extLst>
              <a:ext uri="{FF2B5EF4-FFF2-40B4-BE49-F238E27FC236}">
                <a16:creationId xmlns:a16="http://schemas.microsoft.com/office/drawing/2014/main" id="{FEE0D0F6-533B-2248-AD10-AB98B9AD9D16}"/>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D778F79E-8D22-C842-8B85-D3C7E3FA5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FB05557-4DD7-9241-9D3A-36B408B03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08289F4B-38A2-F443-BB95-7E2E014086A9}" type="slidenum">
              <a:rPr lang="en-US" altLang="en-US" sz="1200" smtClean="0"/>
              <a:pPr/>
              <a:t>4</a:t>
            </a:fld>
            <a:endParaRPr lang="en-US" altLang="en-US" sz="1200"/>
          </a:p>
        </p:txBody>
      </p:sp>
      <p:sp>
        <p:nvSpPr>
          <p:cNvPr id="20482" name="Rectangle 2">
            <a:extLst>
              <a:ext uri="{FF2B5EF4-FFF2-40B4-BE49-F238E27FC236}">
                <a16:creationId xmlns:a16="http://schemas.microsoft.com/office/drawing/2014/main" id="{03E90D78-ADCB-674B-85A8-C19868155A58}"/>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B0F22141-D9B4-044A-9F1B-59F8A077C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F5C0031-C48D-3446-B7AD-3B9171E54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C0A6925-F32A-5649-9A77-A1B5FCC1DF2F}" type="slidenum">
              <a:rPr lang="en-US" altLang="en-US" sz="1200" smtClean="0"/>
              <a:pPr/>
              <a:t>5</a:t>
            </a:fld>
            <a:endParaRPr lang="en-US" altLang="en-US" sz="1200"/>
          </a:p>
        </p:txBody>
      </p:sp>
      <p:sp>
        <p:nvSpPr>
          <p:cNvPr id="22530" name="Rectangle 2">
            <a:extLst>
              <a:ext uri="{FF2B5EF4-FFF2-40B4-BE49-F238E27FC236}">
                <a16:creationId xmlns:a16="http://schemas.microsoft.com/office/drawing/2014/main" id="{4482657A-98B1-9D43-9AF7-52D7102F8DF9}"/>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47B59028-2F3E-B049-95D4-304CEB956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C872A02-86E7-D349-971C-E4EFD26C5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B2B1064-FB65-C948-BB30-A23CFD71F264}" type="slidenum">
              <a:rPr lang="en-US" altLang="en-US" sz="1200" smtClean="0"/>
              <a:pPr/>
              <a:t>6</a:t>
            </a:fld>
            <a:endParaRPr lang="en-US" altLang="en-US" sz="1200"/>
          </a:p>
        </p:txBody>
      </p:sp>
      <p:sp>
        <p:nvSpPr>
          <p:cNvPr id="24578" name="Rectangle 2">
            <a:extLst>
              <a:ext uri="{FF2B5EF4-FFF2-40B4-BE49-F238E27FC236}">
                <a16:creationId xmlns:a16="http://schemas.microsoft.com/office/drawing/2014/main" id="{0284A813-4981-594F-B220-65DEC1F2733E}"/>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12863047-9B60-BD49-99AC-BB6E6F5F3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80459D58-1A5D-3947-B5D8-E34AE6FD2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3FEB8D92-5D75-4E41-9902-CBAE81064C62}" type="slidenum">
              <a:rPr lang="en-US" altLang="en-US" sz="1200" smtClean="0"/>
              <a:pPr/>
              <a:t>7</a:t>
            </a:fld>
            <a:endParaRPr lang="en-US" altLang="en-US" sz="1200"/>
          </a:p>
        </p:txBody>
      </p:sp>
      <p:sp>
        <p:nvSpPr>
          <p:cNvPr id="26626" name="Rectangle 2">
            <a:extLst>
              <a:ext uri="{FF2B5EF4-FFF2-40B4-BE49-F238E27FC236}">
                <a16:creationId xmlns:a16="http://schemas.microsoft.com/office/drawing/2014/main" id="{6E74BE94-D453-BE46-99BB-8F110FEB698D}"/>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6627" name="Rectangle 3">
            <a:extLst>
              <a:ext uri="{FF2B5EF4-FFF2-40B4-BE49-F238E27FC236}">
                <a16:creationId xmlns:a16="http://schemas.microsoft.com/office/drawing/2014/main" id="{E761AF3C-9833-CC4B-9C02-D9A3FCF90337}"/>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DB30AC7-22BA-314D-9FB1-28914E5D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BD3D8DE-791C-5347-9826-D10E8AFA3F13}" type="slidenum">
              <a:rPr lang="en-US" altLang="en-US" sz="1200" smtClean="0"/>
              <a:pPr/>
              <a:t>8</a:t>
            </a:fld>
            <a:endParaRPr lang="en-US" altLang="en-US" sz="1200"/>
          </a:p>
        </p:txBody>
      </p:sp>
      <p:sp>
        <p:nvSpPr>
          <p:cNvPr id="28674" name="Rectangle 2">
            <a:extLst>
              <a:ext uri="{FF2B5EF4-FFF2-40B4-BE49-F238E27FC236}">
                <a16:creationId xmlns:a16="http://schemas.microsoft.com/office/drawing/2014/main" id="{0CD75608-B2AB-734A-8BB0-789E1B71177D}"/>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50CD4570-DC87-7A4D-BA94-F394092EB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8C42032-8C53-4040-9734-2362D39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E034A6-42EB-2E45-B73E-C9DA2FBCBE24}" type="slidenum">
              <a:rPr lang="en-US" altLang="en-US" sz="1200" smtClean="0"/>
              <a:pPr/>
              <a:t>9</a:t>
            </a:fld>
            <a:endParaRPr lang="en-US" altLang="en-US" sz="1200"/>
          </a:p>
        </p:txBody>
      </p:sp>
      <p:sp>
        <p:nvSpPr>
          <p:cNvPr id="30722" name="Rectangle 2">
            <a:extLst>
              <a:ext uri="{FF2B5EF4-FFF2-40B4-BE49-F238E27FC236}">
                <a16:creationId xmlns:a16="http://schemas.microsoft.com/office/drawing/2014/main" id="{A560BA01-F890-5B41-BC3B-0BFDB8FE4EE3}"/>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E6E447F0-CDE8-8340-BDB0-82D92EEEF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E4B206B-4629-7940-AEDA-088CE17A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600EB2-3F10-7C49-B268-BFE0508D8167}" type="slidenum">
              <a:rPr lang="en-US" altLang="en-US" sz="1200" smtClean="0"/>
              <a:pPr/>
              <a:t>10</a:t>
            </a:fld>
            <a:endParaRPr lang="en-US" altLang="en-US" sz="1200"/>
          </a:p>
        </p:txBody>
      </p:sp>
      <p:sp>
        <p:nvSpPr>
          <p:cNvPr id="32770" name="Rectangle 2">
            <a:extLst>
              <a:ext uri="{FF2B5EF4-FFF2-40B4-BE49-F238E27FC236}">
                <a16:creationId xmlns:a16="http://schemas.microsoft.com/office/drawing/2014/main" id="{6DCD66F7-9241-6E42-88B5-349C60B8F686}"/>
              </a:ext>
            </a:extLst>
          </p:cNvPr>
          <p:cNvSpPr>
            <a:spLocks noGrp="1" noRot="1" noChangeAspect="1" noChangeArrowheads="1" noTextEdit="1"/>
          </p:cNvSpPr>
          <p:nvPr>
            <p:ph type="sldImg"/>
          </p:nvPr>
        </p:nvSpPr>
        <p:spPr>
          <a:xfrm>
            <a:off x="381000" y="685800"/>
            <a:ext cx="6096000" cy="3429000"/>
          </a:xfrm>
          <a:ln/>
        </p:spPr>
      </p:sp>
      <p:sp>
        <p:nvSpPr>
          <p:cNvPr id="32771" name="Rectangle 3">
            <a:extLst>
              <a:ext uri="{FF2B5EF4-FFF2-40B4-BE49-F238E27FC236}">
                <a16:creationId xmlns:a16="http://schemas.microsoft.com/office/drawing/2014/main" id="{E21ED039-0736-A045-ADC2-347AD1394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80FEE61-3EA3-2C49-A617-EEDD5FCDD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DC6572F-9CD6-3F4D-B656-ED08FB64CAB1}" type="slidenum">
              <a:rPr lang="en-US" altLang="en-US" sz="1200" smtClean="0"/>
              <a:pPr/>
              <a:t>11</a:t>
            </a:fld>
            <a:endParaRPr lang="en-US" altLang="en-US" sz="1200"/>
          </a:p>
        </p:txBody>
      </p:sp>
      <p:sp>
        <p:nvSpPr>
          <p:cNvPr id="34818" name="Rectangle 2">
            <a:extLst>
              <a:ext uri="{FF2B5EF4-FFF2-40B4-BE49-F238E27FC236}">
                <a16:creationId xmlns:a16="http://schemas.microsoft.com/office/drawing/2014/main" id="{5C01FEA8-76FA-A847-9BDA-5AE6C50923E9}"/>
              </a:ext>
            </a:extLst>
          </p:cNvPr>
          <p:cNvSpPr>
            <a:spLocks noGrp="1" noRot="1" noChangeAspect="1" noChangeArrowheads="1" noTextEdit="1"/>
          </p:cNvSpPr>
          <p:nvPr>
            <p:ph type="sldImg"/>
          </p:nvPr>
        </p:nvSpPr>
        <p:spPr>
          <a:xfrm>
            <a:off x="381000" y="685800"/>
            <a:ext cx="6096000" cy="3429000"/>
          </a:xfrm>
          <a:ln/>
        </p:spPr>
      </p:sp>
      <p:sp>
        <p:nvSpPr>
          <p:cNvPr id="34819" name="Rectangle 3">
            <a:extLst>
              <a:ext uri="{FF2B5EF4-FFF2-40B4-BE49-F238E27FC236}">
                <a16:creationId xmlns:a16="http://schemas.microsoft.com/office/drawing/2014/main" id="{5B219D65-454F-3D4A-9A56-78C2BF118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E4C6E6-56B4-0448-ADA6-FADE7997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59C21F5-AC1F-6C44-8225-0BBB2A221D3F}" type="slidenum">
              <a:rPr lang="en-US" altLang="en-US" sz="1200" smtClean="0"/>
              <a:pPr/>
              <a:t>12</a:t>
            </a:fld>
            <a:endParaRPr lang="en-US" altLang="en-US" sz="1200"/>
          </a:p>
        </p:txBody>
      </p:sp>
      <p:sp>
        <p:nvSpPr>
          <p:cNvPr id="36866" name="Rectangle 2">
            <a:extLst>
              <a:ext uri="{FF2B5EF4-FFF2-40B4-BE49-F238E27FC236}">
                <a16:creationId xmlns:a16="http://schemas.microsoft.com/office/drawing/2014/main" id="{1E0FC249-816C-F043-9175-3880D51C82D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6867" name="Rectangle 3">
            <a:extLst>
              <a:ext uri="{FF2B5EF4-FFF2-40B4-BE49-F238E27FC236}">
                <a16:creationId xmlns:a16="http://schemas.microsoft.com/office/drawing/2014/main" id="{4F645025-64D3-754B-93E9-D55DF99A47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4A89F74-16D8-5144-BCE6-872091A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C617417-CD43-3D4A-8ADE-1DCA8D9ABAF3}" type="slidenum">
              <a:rPr lang="en-US" altLang="en-US" sz="1200" smtClean="0"/>
              <a:pPr/>
              <a:t>13</a:t>
            </a:fld>
            <a:endParaRPr lang="en-US" altLang="en-US" sz="1200"/>
          </a:p>
        </p:txBody>
      </p:sp>
      <p:sp>
        <p:nvSpPr>
          <p:cNvPr id="38914" name="Rectangle 2">
            <a:extLst>
              <a:ext uri="{FF2B5EF4-FFF2-40B4-BE49-F238E27FC236}">
                <a16:creationId xmlns:a16="http://schemas.microsoft.com/office/drawing/2014/main" id="{12EC4778-71CC-D147-8F88-FB66169D6DFE}"/>
              </a:ext>
            </a:extLst>
          </p:cNvPr>
          <p:cNvSpPr>
            <a:spLocks noGrp="1" noRot="1" noChangeAspect="1" noChangeArrowheads="1" noTextEdit="1"/>
          </p:cNvSpPr>
          <p:nvPr>
            <p:ph type="sldImg"/>
          </p:nvPr>
        </p:nvSpPr>
        <p:spPr>
          <a:xfrm>
            <a:off x="381000" y="685800"/>
            <a:ext cx="6096000" cy="3429000"/>
          </a:xfrm>
          <a:ln/>
        </p:spPr>
      </p:sp>
      <p:sp>
        <p:nvSpPr>
          <p:cNvPr id="38915" name="Rectangle 3">
            <a:extLst>
              <a:ext uri="{FF2B5EF4-FFF2-40B4-BE49-F238E27FC236}">
                <a16:creationId xmlns:a16="http://schemas.microsoft.com/office/drawing/2014/main" id="{547664E5-2A3C-E346-ACAB-020C19D76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5A8C933-A186-BC43-8512-F36FEB8CF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CEDEAEA-D266-7840-8459-D90A0CDD0E1C}" type="slidenum">
              <a:rPr lang="en-US" altLang="en-US" sz="1200" smtClean="0"/>
              <a:pPr/>
              <a:t>14</a:t>
            </a:fld>
            <a:endParaRPr lang="en-US" altLang="en-US" sz="1200"/>
          </a:p>
        </p:txBody>
      </p:sp>
      <p:sp>
        <p:nvSpPr>
          <p:cNvPr id="40962" name="Rectangle 2">
            <a:extLst>
              <a:ext uri="{FF2B5EF4-FFF2-40B4-BE49-F238E27FC236}">
                <a16:creationId xmlns:a16="http://schemas.microsoft.com/office/drawing/2014/main" id="{5995B5E6-6177-5744-B156-E03ACF3A49CE}"/>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476EA1FD-8DBB-E04F-B72F-02AA31AD1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9B67EAC-17D0-484D-BE1C-9942CF7CE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1E98D6-6CFA-334E-903B-675863571BCB}" type="slidenum">
              <a:rPr lang="en-US" altLang="en-US" sz="1200" smtClean="0"/>
              <a:pPr/>
              <a:t>15</a:t>
            </a:fld>
            <a:endParaRPr lang="en-US" altLang="en-US" sz="1200"/>
          </a:p>
        </p:txBody>
      </p:sp>
      <p:sp>
        <p:nvSpPr>
          <p:cNvPr id="43010" name="Rectangle 2">
            <a:extLst>
              <a:ext uri="{FF2B5EF4-FFF2-40B4-BE49-F238E27FC236}">
                <a16:creationId xmlns:a16="http://schemas.microsoft.com/office/drawing/2014/main" id="{14CE1EEF-CD36-544F-BFFE-F2C906813B33}"/>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18A232AC-38D2-034A-8B2E-C15FD1F0F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80023FD-EEC4-6449-84F2-26EB6D368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4AEF171-57C5-154E-A80D-79188824DFCE}" type="slidenum">
              <a:rPr lang="en-US" altLang="en-US" sz="1200" smtClean="0"/>
              <a:pPr/>
              <a:t>16</a:t>
            </a:fld>
            <a:endParaRPr lang="en-US" altLang="en-US" sz="1200"/>
          </a:p>
        </p:txBody>
      </p:sp>
      <p:sp>
        <p:nvSpPr>
          <p:cNvPr id="45058" name="Rectangle 2">
            <a:extLst>
              <a:ext uri="{FF2B5EF4-FFF2-40B4-BE49-F238E27FC236}">
                <a16:creationId xmlns:a16="http://schemas.microsoft.com/office/drawing/2014/main" id="{95B831F9-0F6A-F04B-B831-1B27C94F3054}"/>
              </a:ext>
            </a:extLst>
          </p:cNvPr>
          <p:cNvSpPr>
            <a:spLocks noGrp="1" noRot="1" noChangeAspect="1" noChangeArrowheads="1" noTextEdit="1"/>
          </p:cNvSpPr>
          <p:nvPr>
            <p:ph type="sldImg"/>
          </p:nvPr>
        </p:nvSpPr>
        <p:spPr>
          <a:xfrm>
            <a:off x="381000" y="685800"/>
            <a:ext cx="6096000" cy="3429000"/>
          </a:xfrm>
          <a:ln/>
        </p:spPr>
      </p:sp>
      <p:sp>
        <p:nvSpPr>
          <p:cNvPr id="45059" name="Rectangle 3">
            <a:extLst>
              <a:ext uri="{FF2B5EF4-FFF2-40B4-BE49-F238E27FC236}">
                <a16:creationId xmlns:a16="http://schemas.microsoft.com/office/drawing/2014/main" id="{67FA9997-5E0D-5741-9607-A297E4E389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C5BA006-616D-354F-AB12-042D5790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53E1EF3-3263-DC47-A67D-A736E7ACF3D3}" type="slidenum">
              <a:rPr lang="en-US" altLang="en-US" sz="1200" smtClean="0"/>
              <a:pPr/>
              <a:t>17</a:t>
            </a:fld>
            <a:endParaRPr lang="en-US" altLang="en-US" sz="1200"/>
          </a:p>
        </p:txBody>
      </p:sp>
      <p:sp>
        <p:nvSpPr>
          <p:cNvPr id="47106" name="Rectangle 2">
            <a:extLst>
              <a:ext uri="{FF2B5EF4-FFF2-40B4-BE49-F238E27FC236}">
                <a16:creationId xmlns:a16="http://schemas.microsoft.com/office/drawing/2014/main" id="{6D666652-57C7-5340-9D11-C8E1EC8DF43A}"/>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7107" name="Rectangle 3">
            <a:extLst>
              <a:ext uri="{FF2B5EF4-FFF2-40B4-BE49-F238E27FC236}">
                <a16:creationId xmlns:a16="http://schemas.microsoft.com/office/drawing/2014/main" id="{BBCA6982-6CD2-6944-92FD-A2DA5BB528D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3927FD-A8F4-7645-8B49-8D2880584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39F931C-6838-6641-B9BD-C24F7F44BFD4}" type="slidenum">
              <a:rPr lang="en-US" altLang="en-US" sz="1200" smtClean="0"/>
              <a:pPr/>
              <a:t>18</a:t>
            </a:fld>
            <a:endParaRPr lang="en-US" altLang="en-US" sz="1200"/>
          </a:p>
        </p:txBody>
      </p:sp>
      <p:sp>
        <p:nvSpPr>
          <p:cNvPr id="49154" name="Rectangle 2">
            <a:extLst>
              <a:ext uri="{FF2B5EF4-FFF2-40B4-BE49-F238E27FC236}">
                <a16:creationId xmlns:a16="http://schemas.microsoft.com/office/drawing/2014/main" id="{4034AA3B-CE9B-C34F-A971-15F87039F1D0}"/>
              </a:ext>
            </a:extLst>
          </p:cNvPr>
          <p:cNvSpPr>
            <a:spLocks noGrp="1" noRot="1" noChangeAspect="1" noChangeArrowheads="1" noTextEdit="1"/>
          </p:cNvSpPr>
          <p:nvPr>
            <p:ph type="sldImg"/>
          </p:nvPr>
        </p:nvSpPr>
        <p:spPr>
          <a:xfrm>
            <a:off x="381000" y="685800"/>
            <a:ext cx="6096000" cy="3429000"/>
          </a:xfrm>
          <a:ln/>
        </p:spPr>
      </p:sp>
      <p:sp>
        <p:nvSpPr>
          <p:cNvPr id="49155" name="Rectangle 3">
            <a:extLst>
              <a:ext uri="{FF2B5EF4-FFF2-40B4-BE49-F238E27FC236}">
                <a16:creationId xmlns:a16="http://schemas.microsoft.com/office/drawing/2014/main" id="{15F73C26-3C08-2F4C-808C-004118B59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A4F6725-D5C7-9F49-AE23-2A21FDE19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0C47261-F674-104D-805A-82E1427A4F72}" type="slidenum">
              <a:rPr lang="en-US" altLang="en-US" sz="1200" smtClean="0"/>
              <a:pPr/>
              <a:t>19</a:t>
            </a:fld>
            <a:endParaRPr lang="en-US" altLang="en-US" sz="1200"/>
          </a:p>
        </p:txBody>
      </p:sp>
      <p:sp>
        <p:nvSpPr>
          <p:cNvPr id="51202" name="Rectangle 2">
            <a:extLst>
              <a:ext uri="{FF2B5EF4-FFF2-40B4-BE49-F238E27FC236}">
                <a16:creationId xmlns:a16="http://schemas.microsoft.com/office/drawing/2014/main" id="{A72B6142-9053-1A45-80E5-DCF57A70AA35}"/>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1203" name="Rectangle 3">
            <a:extLst>
              <a:ext uri="{FF2B5EF4-FFF2-40B4-BE49-F238E27FC236}">
                <a16:creationId xmlns:a16="http://schemas.microsoft.com/office/drawing/2014/main" id="{C07DA4DF-6E07-1344-81C2-4DB9F55D155D}"/>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3BBF598C-EFE3-CE43-BA72-A3EC38888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90CBC27-A2E0-624F-9177-135995E547A6}" type="slidenum">
              <a:rPr lang="en-US" altLang="en-US" sz="1200" smtClean="0"/>
              <a:pPr/>
              <a:t>20</a:t>
            </a:fld>
            <a:endParaRPr lang="en-US" altLang="en-US" sz="1200"/>
          </a:p>
        </p:txBody>
      </p:sp>
      <p:sp>
        <p:nvSpPr>
          <p:cNvPr id="53250" name="Rectangle 2">
            <a:extLst>
              <a:ext uri="{FF2B5EF4-FFF2-40B4-BE49-F238E27FC236}">
                <a16:creationId xmlns:a16="http://schemas.microsoft.com/office/drawing/2014/main" id="{DAE20997-D217-984E-AC19-C5247688C062}"/>
              </a:ext>
            </a:extLst>
          </p:cNvPr>
          <p:cNvSpPr>
            <a:spLocks noGrp="1" noRot="1" noChangeAspect="1" noChangeArrowheads="1" noTextEdit="1"/>
          </p:cNvSpPr>
          <p:nvPr>
            <p:ph type="sldImg"/>
          </p:nvPr>
        </p:nvSpPr>
        <p:spPr>
          <a:xfrm>
            <a:off x="381000" y="685800"/>
            <a:ext cx="6096000" cy="3429000"/>
          </a:xfrm>
          <a:ln/>
        </p:spPr>
      </p:sp>
      <p:sp>
        <p:nvSpPr>
          <p:cNvPr id="53251" name="Rectangle 3">
            <a:extLst>
              <a:ext uri="{FF2B5EF4-FFF2-40B4-BE49-F238E27FC236}">
                <a16:creationId xmlns:a16="http://schemas.microsoft.com/office/drawing/2014/main" id="{6208C768-C685-F745-B371-0411BB13B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1C21289-99D5-864C-9BA1-40D28DE3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CC6A1A8-D8B5-224E-800E-7E3FA83B9D06}" type="slidenum">
              <a:rPr lang="en-US" altLang="en-US" sz="1200" smtClean="0"/>
              <a:pPr/>
              <a:t>21</a:t>
            </a:fld>
            <a:endParaRPr lang="en-US" altLang="en-US" sz="1200"/>
          </a:p>
        </p:txBody>
      </p:sp>
      <p:sp>
        <p:nvSpPr>
          <p:cNvPr id="55298" name="Rectangle 2">
            <a:extLst>
              <a:ext uri="{FF2B5EF4-FFF2-40B4-BE49-F238E27FC236}">
                <a16:creationId xmlns:a16="http://schemas.microsoft.com/office/drawing/2014/main" id="{3615589A-5D37-E34B-9571-A922BAE4F031}"/>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5299" name="Rectangle 3">
            <a:extLst>
              <a:ext uri="{FF2B5EF4-FFF2-40B4-BE49-F238E27FC236}">
                <a16:creationId xmlns:a16="http://schemas.microsoft.com/office/drawing/2014/main" id="{E91332A6-274D-8740-87CE-D1E83163FDD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55B6762-CFC3-9F42-8537-BCBAF93B1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53050FE-8CA7-AE4B-A70F-D58A37BABE11}" type="slidenum">
              <a:rPr lang="en-US" altLang="en-US" sz="1200" smtClean="0"/>
              <a:pPr/>
              <a:t>22</a:t>
            </a:fld>
            <a:endParaRPr lang="en-US" altLang="en-US" sz="1200"/>
          </a:p>
        </p:txBody>
      </p:sp>
      <p:sp>
        <p:nvSpPr>
          <p:cNvPr id="57346" name="Rectangle 2">
            <a:extLst>
              <a:ext uri="{FF2B5EF4-FFF2-40B4-BE49-F238E27FC236}">
                <a16:creationId xmlns:a16="http://schemas.microsoft.com/office/drawing/2014/main" id="{2AA16590-9606-CF49-B7BA-117676016D4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7347" name="Rectangle 3">
            <a:extLst>
              <a:ext uri="{FF2B5EF4-FFF2-40B4-BE49-F238E27FC236}">
                <a16:creationId xmlns:a16="http://schemas.microsoft.com/office/drawing/2014/main" id="{D6F7C511-80BA-BE4C-B8B0-CEF0E95B4B1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pitchFamily="2" charset="0"/>
                <a:ea typeface="ＭＳ Ｐゴシック" panose="020B0600070205080204" pitchFamily="34" charset="-128"/>
              </a:rPr>
              <a:t>Important to emphasize that the receptive field is on the retina.  Students tend to forget this as you work your way through the explanation of more specifically tuned neurons further into the system.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63CEBBEC-F901-8B45-8AE6-4E0E75982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A98F82-EC9A-644A-B244-1CCB3A789304}" type="slidenum">
              <a:rPr lang="en-US" altLang="en-US" sz="1200" smtClean="0"/>
              <a:pPr/>
              <a:t>23</a:t>
            </a:fld>
            <a:endParaRPr lang="en-US" altLang="en-US" sz="1200"/>
          </a:p>
        </p:txBody>
      </p:sp>
      <p:sp>
        <p:nvSpPr>
          <p:cNvPr id="59394" name="Rectangle 2">
            <a:extLst>
              <a:ext uri="{FF2B5EF4-FFF2-40B4-BE49-F238E27FC236}">
                <a16:creationId xmlns:a16="http://schemas.microsoft.com/office/drawing/2014/main" id="{5A6EE83F-2666-AE45-9680-463949BC37FD}"/>
              </a:ext>
            </a:extLst>
          </p:cNvPr>
          <p:cNvSpPr>
            <a:spLocks noGrp="1" noRot="1" noChangeAspect="1" noChangeArrowheads="1" noTextEdit="1"/>
          </p:cNvSpPr>
          <p:nvPr>
            <p:ph type="sldImg"/>
          </p:nvPr>
        </p:nvSpPr>
        <p:spPr>
          <a:xfrm>
            <a:off x="381000" y="685800"/>
            <a:ext cx="6096000" cy="3429000"/>
          </a:xfrm>
          <a:ln/>
        </p:spPr>
      </p:sp>
      <p:sp>
        <p:nvSpPr>
          <p:cNvPr id="59395" name="Rectangle 3">
            <a:extLst>
              <a:ext uri="{FF2B5EF4-FFF2-40B4-BE49-F238E27FC236}">
                <a16:creationId xmlns:a16="http://schemas.microsoft.com/office/drawing/2014/main" id="{AFE381F7-7A23-914C-9D8D-EB61D8AD84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9ACFEA2-5C9E-CD40-B6DB-128D57BD4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533B43F3-259C-434E-A071-E40D362BAA33}" type="slidenum">
              <a:rPr lang="en-US" altLang="en-US" sz="1200" smtClean="0"/>
              <a:pPr/>
              <a:t>24</a:t>
            </a:fld>
            <a:endParaRPr lang="en-US" altLang="en-US" sz="1200"/>
          </a:p>
        </p:txBody>
      </p:sp>
      <p:sp>
        <p:nvSpPr>
          <p:cNvPr id="61442" name="Rectangle 2">
            <a:extLst>
              <a:ext uri="{FF2B5EF4-FFF2-40B4-BE49-F238E27FC236}">
                <a16:creationId xmlns:a16="http://schemas.microsoft.com/office/drawing/2014/main" id="{94AE4C3E-9FC3-6C41-BBA6-206708FD7E9F}"/>
              </a:ext>
            </a:extLst>
          </p:cNvPr>
          <p:cNvSpPr>
            <a:spLocks noGrp="1" noRot="1" noChangeAspect="1" noChangeArrowheads="1" noTextEdit="1"/>
          </p:cNvSpPr>
          <p:nvPr>
            <p:ph type="sldImg"/>
          </p:nvPr>
        </p:nvSpPr>
        <p:spPr>
          <a:xfrm>
            <a:off x="381000" y="685800"/>
            <a:ext cx="6096000" cy="3429000"/>
          </a:xfrm>
          <a:ln/>
        </p:spPr>
      </p:sp>
      <p:sp>
        <p:nvSpPr>
          <p:cNvPr id="61443" name="Rectangle 3">
            <a:extLst>
              <a:ext uri="{FF2B5EF4-FFF2-40B4-BE49-F238E27FC236}">
                <a16:creationId xmlns:a16="http://schemas.microsoft.com/office/drawing/2014/main" id="{90B90274-6809-6F42-B8C0-E905A66C2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A90AFE9-E38F-E94B-A4E5-421B68FD3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7DACD68-58F9-5045-84AA-F03D4C9421BB}" type="slidenum">
              <a:rPr lang="en-US" altLang="en-US" sz="1200" smtClean="0"/>
              <a:pPr/>
              <a:t>25</a:t>
            </a:fld>
            <a:endParaRPr lang="en-US" altLang="en-US" sz="1200"/>
          </a:p>
        </p:txBody>
      </p:sp>
      <p:sp>
        <p:nvSpPr>
          <p:cNvPr id="63490" name="Rectangle 2">
            <a:extLst>
              <a:ext uri="{FF2B5EF4-FFF2-40B4-BE49-F238E27FC236}">
                <a16:creationId xmlns:a16="http://schemas.microsoft.com/office/drawing/2014/main" id="{2A9924F6-22BF-3443-A9E3-88296A7AD0F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3491" name="Rectangle 3">
            <a:extLst>
              <a:ext uri="{FF2B5EF4-FFF2-40B4-BE49-F238E27FC236}">
                <a16:creationId xmlns:a16="http://schemas.microsoft.com/office/drawing/2014/main" id="{C4DC1D3A-E739-3C49-979D-C97D09EB465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55B23B04-DC00-8B4A-980E-8FF422F0C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7EAFE8A-11C4-564E-94A5-5141107C5F1E}" type="slidenum">
              <a:rPr lang="en-US" altLang="en-US" sz="1200" smtClean="0"/>
              <a:pPr/>
              <a:t>26</a:t>
            </a:fld>
            <a:endParaRPr lang="en-US" altLang="en-US" sz="1200"/>
          </a:p>
        </p:txBody>
      </p:sp>
      <p:sp>
        <p:nvSpPr>
          <p:cNvPr id="65538" name="Rectangle 2">
            <a:extLst>
              <a:ext uri="{FF2B5EF4-FFF2-40B4-BE49-F238E27FC236}">
                <a16:creationId xmlns:a16="http://schemas.microsoft.com/office/drawing/2014/main" id="{1DAF2432-E704-C341-A8B1-A3A9209D20A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5539" name="Rectangle 3">
            <a:extLst>
              <a:ext uri="{FF2B5EF4-FFF2-40B4-BE49-F238E27FC236}">
                <a16:creationId xmlns:a16="http://schemas.microsoft.com/office/drawing/2014/main" id="{D4DA86AD-77CA-3843-82D6-388D5D51E71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A92BE941-87AF-CA4F-97E0-45429FE87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E97CFD5-89F9-F34C-B2E3-5C18D4E96528}" type="slidenum">
              <a:rPr lang="en-US" altLang="en-US" sz="1200" smtClean="0"/>
              <a:pPr/>
              <a:t>27</a:t>
            </a:fld>
            <a:endParaRPr lang="en-US" altLang="en-US" sz="1200"/>
          </a:p>
        </p:txBody>
      </p:sp>
      <p:sp>
        <p:nvSpPr>
          <p:cNvPr id="67586" name="Rectangle 2">
            <a:extLst>
              <a:ext uri="{FF2B5EF4-FFF2-40B4-BE49-F238E27FC236}">
                <a16:creationId xmlns:a16="http://schemas.microsoft.com/office/drawing/2014/main" id="{54F3312B-0130-B640-A470-D61632AD39E9}"/>
              </a:ext>
            </a:extLst>
          </p:cNvPr>
          <p:cNvSpPr>
            <a:spLocks noGrp="1" noRot="1" noChangeAspect="1" noChangeArrowheads="1" noTextEdit="1"/>
          </p:cNvSpPr>
          <p:nvPr>
            <p:ph type="sldImg"/>
          </p:nvPr>
        </p:nvSpPr>
        <p:spPr>
          <a:xfrm>
            <a:off x="381000" y="685800"/>
            <a:ext cx="6096000" cy="3429000"/>
          </a:xfrm>
          <a:ln/>
        </p:spPr>
      </p:sp>
      <p:sp>
        <p:nvSpPr>
          <p:cNvPr id="67587" name="Rectangle 3">
            <a:extLst>
              <a:ext uri="{FF2B5EF4-FFF2-40B4-BE49-F238E27FC236}">
                <a16:creationId xmlns:a16="http://schemas.microsoft.com/office/drawing/2014/main" id="{A8C9C5BB-09C1-B544-8903-E1487D14A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03FC13F9-EAA9-1345-BEFC-77268DFD6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081C2A7-EF6D-9241-8164-0D99AFCAB934}" type="slidenum">
              <a:rPr lang="en-US" altLang="en-US" sz="1200" smtClean="0"/>
              <a:pPr/>
              <a:t>28</a:t>
            </a:fld>
            <a:endParaRPr lang="en-US" altLang="en-US" sz="1200"/>
          </a:p>
        </p:txBody>
      </p:sp>
      <p:sp>
        <p:nvSpPr>
          <p:cNvPr id="69634" name="Rectangle 2">
            <a:extLst>
              <a:ext uri="{FF2B5EF4-FFF2-40B4-BE49-F238E27FC236}">
                <a16:creationId xmlns:a16="http://schemas.microsoft.com/office/drawing/2014/main" id="{41AC8CE9-6CEC-8845-8C73-6799B8ED8E36}"/>
              </a:ext>
            </a:extLst>
          </p:cNvPr>
          <p:cNvSpPr>
            <a:spLocks noGrp="1" noRot="1" noChangeAspect="1" noChangeArrowheads="1" noTextEdit="1"/>
          </p:cNvSpPr>
          <p:nvPr>
            <p:ph type="sldImg"/>
          </p:nvPr>
        </p:nvSpPr>
        <p:spPr>
          <a:xfrm>
            <a:off x="381000" y="685800"/>
            <a:ext cx="6096000" cy="3429000"/>
          </a:xfrm>
          <a:ln/>
        </p:spPr>
      </p:sp>
      <p:sp>
        <p:nvSpPr>
          <p:cNvPr id="69635" name="Rectangle 3">
            <a:extLst>
              <a:ext uri="{FF2B5EF4-FFF2-40B4-BE49-F238E27FC236}">
                <a16:creationId xmlns:a16="http://schemas.microsoft.com/office/drawing/2014/main" id="{737ABBE3-6A34-5641-97C7-88174E6EE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A5D49CE-A171-6946-B365-DDADB6907A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9CFDE03A-E109-9B4A-9BA0-4428192B3339}" type="slidenum">
              <a:rPr lang="en-US" altLang="en-US" sz="1200" smtClean="0"/>
              <a:pPr/>
              <a:t>29</a:t>
            </a:fld>
            <a:endParaRPr lang="en-US" altLang="en-US" sz="1200"/>
          </a:p>
        </p:txBody>
      </p:sp>
      <p:sp>
        <p:nvSpPr>
          <p:cNvPr id="71682" name="Rectangle 2">
            <a:extLst>
              <a:ext uri="{FF2B5EF4-FFF2-40B4-BE49-F238E27FC236}">
                <a16:creationId xmlns:a16="http://schemas.microsoft.com/office/drawing/2014/main" id="{AAC72180-D57D-FC43-B13D-84E93E77BCA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71683" name="Rectangle 3">
            <a:extLst>
              <a:ext uri="{FF2B5EF4-FFF2-40B4-BE49-F238E27FC236}">
                <a16:creationId xmlns:a16="http://schemas.microsoft.com/office/drawing/2014/main" id="{232F6B42-0A32-EA46-88F2-83867B602A7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2BF0DFA3-6678-FE4F-9B23-A65370E613A3}"/>
              </a:ext>
            </a:extLst>
          </p:cNvPr>
          <p:cNvGrpSpPr>
            <a:grpSpLocks/>
          </p:cNvGrpSpPr>
          <p:nvPr/>
        </p:nvGrpSpPr>
        <p:grpSpPr bwMode="auto">
          <a:xfrm flipH="1">
            <a:off x="1447800" y="1714500"/>
            <a:ext cx="7010400" cy="57150"/>
            <a:chOff x="0" y="905"/>
            <a:chExt cx="5282" cy="103"/>
          </a:xfrm>
        </p:grpSpPr>
        <p:grpSp>
          <p:nvGrpSpPr>
            <p:cNvPr id="5" name="Group 9">
              <a:extLst>
                <a:ext uri="{FF2B5EF4-FFF2-40B4-BE49-F238E27FC236}">
                  <a16:creationId xmlns:a16="http://schemas.microsoft.com/office/drawing/2014/main" id="{4EECC484-F07B-D844-B96E-20DE1C623310}"/>
                </a:ext>
              </a:extLst>
            </p:cNvPr>
            <p:cNvGrpSpPr>
              <a:grpSpLocks/>
            </p:cNvGrpSpPr>
            <p:nvPr/>
          </p:nvGrpSpPr>
          <p:grpSpPr bwMode="auto">
            <a:xfrm>
              <a:off x="5158" y="905"/>
              <a:ext cx="124" cy="103"/>
              <a:chOff x="5158" y="905"/>
              <a:chExt cx="124" cy="103"/>
            </a:xfrm>
          </p:grpSpPr>
          <p:sp>
            <p:nvSpPr>
              <p:cNvPr id="20" name="Rectangle 10">
                <a:extLst>
                  <a:ext uri="{FF2B5EF4-FFF2-40B4-BE49-F238E27FC236}">
                    <a16:creationId xmlns:a16="http://schemas.microsoft.com/office/drawing/2014/main" id="{91626018-4216-C44E-935D-29470EB3D85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21" name="Rectangle 11">
                <a:extLst>
                  <a:ext uri="{FF2B5EF4-FFF2-40B4-BE49-F238E27FC236}">
                    <a16:creationId xmlns:a16="http://schemas.microsoft.com/office/drawing/2014/main" id="{2DD35798-8B32-104F-9D81-EB25BE868D6D}"/>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6" name="Group 12">
              <a:extLst>
                <a:ext uri="{FF2B5EF4-FFF2-40B4-BE49-F238E27FC236}">
                  <a16:creationId xmlns:a16="http://schemas.microsoft.com/office/drawing/2014/main" id="{410B0E2B-ED30-F148-9DF9-F82C0399D91F}"/>
                </a:ext>
              </a:extLst>
            </p:cNvPr>
            <p:cNvGrpSpPr>
              <a:grpSpLocks/>
            </p:cNvGrpSpPr>
            <p:nvPr/>
          </p:nvGrpSpPr>
          <p:grpSpPr bwMode="auto">
            <a:xfrm>
              <a:off x="4848" y="905"/>
              <a:ext cx="263" cy="103"/>
              <a:chOff x="4848" y="905"/>
              <a:chExt cx="263" cy="103"/>
            </a:xfrm>
          </p:grpSpPr>
          <p:sp>
            <p:nvSpPr>
              <p:cNvPr id="18" name="Rectangle 13">
                <a:extLst>
                  <a:ext uri="{FF2B5EF4-FFF2-40B4-BE49-F238E27FC236}">
                    <a16:creationId xmlns:a16="http://schemas.microsoft.com/office/drawing/2014/main" id="{0064018A-4062-D541-9C90-9063B79D7378}"/>
                  </a:ext>
                </a:extLst>
              </p:cNvPr>
              <p:cNvSpPr>
                <a:spLocks noChangeArrowheads="1"/>
              </p:cNvSpPr>
              <p:nvPr/>
            </p:nvSpPr>
            <p:spPr bwMode="auto">
              <a:xfrm>
                <a:off x="5018" y="905"/>
                <a:ext cx="93"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9" name="Rectangle 14">
                <a:extLst>
                  <a:ext uri="{FF2B5EF4-FFF2-40B4-BE49-F238E27FC236}">
                    <a16:creationId xmlns:a16="http://schemas.microsoft.com/office/drawing/2014/main" id="{7F9D76DE-956F-734E-B3D8-2AC8390BC9AB}"/>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7" name="Group 15">
              <a:extLst>
                <a:ext uri="{FF2B5EF4-FFF2-40B4-BE49-F238E27FC236}">
                  <a16:creationId xmlns:a16="http://schemas.microsoft.com/office/drawing/2014/main" id="{E63D0747-76BA-AD4F-B0D3-B9977085A9A8}"/>
                </a:ext>
              </a:extLst>
            </p:cNvPr>
            <p:cNvGrpSpPr>
              <a:grpSpLocks/>
            </p:cNvGrpSpPr>
            <p:nvPr/>
          </p:nvGrpSpPr>
          <p:grpSpPr bwMode="auto">
            <a:xfrm>
              <a:off x="4418" y="905"/>
              <a:ext cx="386" cy="103"/>
              <a:chOff x="4418" y="905"/>
              <a:chExt cx="386" cy="103"/>
            </a:xfrm>
          </p:grpSpPr>
          <p:sp>
            <p:nvSpPr>
              <p:cNvPr id="16" name="Rectangle 16">
                <a:extLst>
                  <a:ext uri="{FF2B5EF4-FFF2-40B4-BE49-F238E27FC236}">
                    <a16:creationId xmlns:a16="http://schemas.microsoft.com/office/drawing/2014/main" id="{A7BEA727-32DF-5D41-BD04-18AC55BBC120}"/>
                  </a:ext>
                </a:extLst>
              </p:cNvPr>
              <p:cNvSpPr>
                <a:spLocks noChangeArrowheads="1"/>
              </p:cNvSpPr>
              <p:nvPr/>
            </p:nvSpPr>
            <p:spPr bwMode="auto">
              <a:xfrm>
                <a:off x="4650" y="905"/>
                <a:ext cx="152"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7" name="Rectangle 17">
                <a:extLst>
                  <a:ext uri="{FF2B5EF4-FFF2-40B4-BE49-F238E27FC236}">
                    <a16:creationId xmlns:a16="http://schemas.microsoft.com/office/drawing/2014/main" id="{CD0D6B13-774D-6844-B9F6-B98E2595A059}"/>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8" name="Group 18">
              <a:extLst>
                <a:ext uri="{FF2B5EF4-FFF2-40B4-BE49-F238E27FC236}">
                  <a16:creationId xmlns:a16="http://schemas.microsoft.com/office/drawing/2014/main" id="{C59C22A7-8E31-2340-BC3C-DF1F2C5C8B20}"/>
                </a:ext>
              </a:extLst>
            </p:cNvPr>
            <p:cNvGrpSpPr>
              <a:grpSpLocks/>
            </p:cNvGrpSpPr>
            <p:nvPr/>
          </p:nvGrpSpPr>
          <p:grpSpPr bwMode="auto">
            <a:xfrm>
              <a:off x="3183" y="905"/>
              <a:ext cx="1191" cy="103"/>
              <a:chOff x="3183" y="905"/>
              <a:chExt cx="1191" cy="103"/>
            </a:xfrm>
          </p:grpSpPr>
          <p:sp>
            <p:nvSpPr>
              <p:cNvPr id="12" name="Rectangle 19">
                <a:extLst>
                  <a:ext uri="{FF2B5EF4-FFF2-40B4-BE49-F238E27FC236}">
                    <a16:creationId xmlns:a16="http://schemas.microsoft.com/office/drawing/2014/main" id="{F4A82BE1-108E-A340-B04E-65120D3FB645}"/>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3" name="Rectangle 20">
                <a:extLst>
                  <a:ext uri="{FF2B5EF4-FFF2-40B4-BE49-F238E27FC236}">
                    <a16:creationId xmlns:a16="http://schemas.microsoft.com/office/drawing/2014/main" id="{4E496FE5-9BA5-D240-A35F-6A71D6F3E093}"/>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4" name="Rectangle 21">
                <a:extLst>
                  <a:ext uri="{FF2B5EF4-FFF2-40B4-BE49-F238E27FC236}">
                    <a16:creationId xmlns:a16="http://schemas.microsoft.com/office/drawing/2014/main" id="{51E1E95F-AC64-5C49-A40D-9888C30135A7}"/>
                  </a:ext>
                </a:extLst>
              </p:cNvPr>
              <p:cNvSpPr>
                <a:spLocks noChangeArrowheads="1"/>
              </p:cNvSpPr>
              <p:nvPr/>
            </p:nvSpPr>
            <p:spPr bwMode="auto">
              <a:xfrm>
                <a:off x="3865"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5" name="Rectangle 22">
                <a:extLst>
                  <a:ext uri="{FF2B5EF4-FFF2-40B4-BE49-F238E27FC236}">
                    <a16:creationId xmlns:a16="http://schemas.microsoft.com/office/drawing/2014/main" id="{DD5CE1D7-1411-5A48-8C1B-A21B1E12BED5}"/>
                  </a:ext>
                </a:extLst>
              </p:cNvPr>
              <p:cNvSpPr>
                <a:spLocks noChangeArrowheads="1"/>
              </p:cNvSpPr>
              <p:nvPr/>
            </p:nvSpPr>
            <p:spPr bwMode="auto">
              <a:xfrm>
                <a:off x="3183" y="905"/>
                <a:ext cx="31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9" name="Group 23">
              <a:extLst>
                <a:ext uri="{FF2B5EF4-FFF2-40B4-BE49-F238E27FC236}">
                  <a16:creationId xmlns:a16="http://schemas.microsoft.com/office/drawing/2014/main" id="{44BF9323-685D-6D48-86F4-EADFA65249FB}"/>
                </a:ext>
              </a:extLst>
            </p:cNvPr>
            <p:cNvGrpSpPr>
              <a:grpSpLocks/>
            </p:cNvGrpSpPr>
            <p:nvPr/>
          </p:nvGrpSpPr>
          <p:grpSpPr bwMode="auto">
            <a:xfrm>
              <a:off x="0" y="905"/>
              <a:ext cx="3143" cy="103"/>
              <a:chOff x="0" y="905"/>
              <a:chExt cx="3143" cy="103"/>
            </a:xfrm>
          </p:grpSpPr>
          <p:sp>
            <p:nvSpPr>
              <p:cNvPr id="10" name="Rectangle 24">
                <a:extLst>
                  <a:ext uri="{FF2B5EF4-FFF2-40B4-BE49-F238E27FC236}">
                    <a16:creationId xmlns:a16="http://schemas.microsoft.com/office/drawing/2014/main" id="{73CE666A-E2B7-0346-ACEF-77FDCF4292F6}"/>
                  </a:ext>
                </a:extLst>
              </p:cNvPr>
              <p:cNvSpPr>
                <a:spLocks noChangeArrowheads="1"/>
              </p:cNvSpPr>
              <p:nvPr/>
            </p:nvSpPr>
            <p:spPr bwMode="auto">
              <a:xfrm>
                <a:off x="2799" y="905"/>
                <a:ext cx="34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1" name="Rectangle 25">
                <a:extLst>
                  <a:ext uri="{FF2B5EF4-FFF2-40B4-BE49-F238E27FC236}">
                    <a16:creationId xmlns:a16="http://schemas.microsoft.com/office/drawing/2014/main" id="{2D786B34-D524-7040-924C-E406A7911E51}"/>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pic>
        <p:nvPicPr>
          <p:cNvPr id="22" name="Picture 26">
            <a:extLst>
              <a:ext uri="{FF2B5EF4-FFF2-40B4-BE49-F238E27FC236}">
                <a16:creationId xmlns:a16="http://schemas.microsoft.com/office/drawing/2014/main" id="{F2741114-EEEA-164F-95B1-06D66670F5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0829" t="11624" r="16043" b="11624"/>
          <a:stretch>
            <a:fillRect/>
          </a:stretch>
        </p:blipFill>
        <p:spPr bwMode="auto">
          <a:xfrm>
            <a:off x="0" y="971550"/>
            <a:ext cx="1963738" cy="16002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1905000" y="914400"/>
            <a:ext cx="6578600" cy="685800"/>
          </a:xfrm>
        </p:spPr>
        <p:txBody>
          <a:bodyPr/>
          <a:lstStyle>
            <a:lvl1pPr>
              <a:defRPr/>
            </a:lvl1pPr>
          </a:lstStyle>
          <a:p>
            <a:r>
              <a:rPr lang="en-US"/>
              <a:t>Click to edit Master title style</a:t>
            </a:r>
          </a:p>
        </p:txBody>
      </p:sp>
      <p:sp>
        <p:nvSpPr>
          <p:cNvPr id="4100" name="Rectangle 4"/>
          <p:cNvSpPr>
            <a:spLocks noGrp="1" noChangeArrowheads="1"/>
          </p:cNvSpPr>
          <p:nvPr>
            <p:ph type="subTitle" idx="1"/>
          </p:nvPr>
        </p:nvSpPr>
        <p:spPr>
          <a:xfrm>
            <a:off x="1981200" y="2914650"/>
            <a:ext cx="5638800" cy="1328738"/>
          </a:xfrm>
        </p:spPr>
        <p:txBody>
          <a:bodyPr/>
          <a:lstStyle>
            <a:lvl1pPr marL="0" indent="0">
              <a:buFont typeface="Wingdings" pitchFamily="-110" charset="2"/>
              <a:buNone/>
              <a:defRPr>
                <a:solidFill>
                  <a:srgbClr val="666666"/>
                </a:solidFill>
              </a:defRPr>
            </a:lvl1pPr>
          </a:lstStyle>
          <a:p>
            <a:r>
              <a:rPr lang="en-US"/>
              <a:t>Click to edit Master subtitle style</a:t>
            </a:r>
          </a:p>
        </p:txBody>
      </p:sp>
      <p:sp>
        <p:nvSpPr>
          <p:cNvPr id="23" name="Rectangle 5">
            <a:extLst>
              <a:ext uri="{FF2B5EF4-FFF2-40B4-BE49-F238E27FC236}">
                <a16:creationId xmlns:a16="http://schemas.microsoft.com/office/drawing/2014/main" id="{55CCE881-A8D4-2040-A268-84EF420CCD66}"/>
              </a:ext>
            </a:extLst>
          </p:cNvPr>
          <p:cNvSpPr>
            <a:spLocks noGrp="1" noChangeArrowheads="1"/>
          </p:cNvSpPr>
          <p:nvPr>
            <p:ph type="dt" sz="half" idx="10"/>
          </p:nvPr>
        </p:nvSpPr>
        <p:spPr>
          <a:xfrm>
            <a:off x="711200" y="4672012"/>
            <a:ext cx="1930400" cy="385763"/>
          </a:xfrm>
        </p:spPr>
        <p:txBody>
          <a:bodyPr/>
          <a:lstStyle>
            <a:lvl1pPr>
              <a:defRPr sz="1050">
                <a:solidFill>
                  <a:srgbClr val="5E574E"/>
                </a:solidFill>
                <a:latin typeface="Comic Sans MS" pitchFamily="-110" charset="0"/>
                <a:ea typeface="+mn-ea"/>
              </a:defRPr>
            </a:lvl1pPr>
          </a:lstStyle>
          <a:p>
            <a:pPr>
              <a:defRPr/>
            </a:pPr>
            <a:fld id="{A73CB773-CEC5-D440-8B91-1E178CEBBA26}" type="datetime4">
              <a:rPr lang="en-US"/>
              <a:pPr>
                <a:defRPr/>
              </a:pPr>
              <a:t>January 24, 2021</a:t>
            </a:fld>
            <a:endParaRPr lang="en-US"/>
          </a:p>
        </p:txBody>
      </p:sp>
      <p:sp>
        <p:nvSpPr>
          <p:cNvPr id="24" name="Rectangle 6">
            <a:extLst>
              <a:ext uri="{FF2B5EF4-FFF2-40B4-BE49-F238E27FC236}">
                <a16:creationId xmlns:a16="http://schemas.microsoft.com/office/drawing/2014/main" id="{117EEFB0-05C2-274F-BBA9-E6882B11D70E}"/>
              </a:ext>
            </a:extLst>
          </p:cNvPr>
          <p:cNvSpPr>
            <a:spLocks noGrp="1" noChangeArrowheads="1"/>
          </p:cNvSpPr>
          <p:nvPr>
            <p:ph type="ftr" sz="quarter" idx="11"/>
          </p:nvPr>
        </p:nvSpPr>
        <p:spPr>
          <a:xfrm>
            <a:off x="3149600" y="4672012"/>
            <a:ext cx="2844800" cy="385763"/>
          </a:xfrm>
        </p:spPr>
        <p:txBody>
          <a:bodyPr/>
          <a:lstStyle>
            <a:lvl1pPr>
              <a:defRPr sz="1050">
                <a:solidFill>
                  <a:srgbClr val="5E574E"/>
                </a:solidFill>
                <a:latin typeface="Comic Sans MS" pitchFamily="-110" charset="0"/>
                <a:ea typeface="+mn-ea"/>
              </a:defRPr>
            </a:lvl1pPr>
          </a:lstStyle>
          <a:p>
            <a:pPr>
              <a:defRPr/>
            </a:pPr>
            <a:r>
              <a:rPr lang="tr-TR"/>
              <a:t>PSYCH 4041 / 6014</a:t>
            </a:r>
            <a:endParaRPr lang="en-US"/>
          </a:p>
        </p:txBody>
      </p:sp>
      <p:sp>
        <p:nvSpPr>
          <p:cNvPr id="25" name="Rectangle 7">
            <a:extLst>
              <a:ext uri="{FF2B5EF4-FFF2-40B4-BE49-F238E27FC236}">
                <a16:creationId xmlns:a16="http://schemas.microsoft.com/office/drawing/2014/main" id="{64845BCB-98EA-844C-94A6-FB365159E848}"/>
              </a:ext>
            </a:extLst>
          </p:cNvPr>
          <p:cNvSpPr>
            <a:spLocks noGrp="1" noChangeArrowheads="1"/>
          </p:cNvSpPr>
          <p:nvPr>
            <p:ph type="sldNum" sz="quarter" idx="12"/>
          </p:nvPr>
        </p:nvSpPr>
        <p:spPr>
          <a:xfrm>
            <a:off x="6604000" y="4672012"/>
            <a:ext cx="1828800" cy="385763"/>
          </a:xfrm>
        </p:spPr>
        <p:txBody>
          <a:bodyPr/>
          <a:lstStyle>
            <a:lvl1pPr>
              <a:defRPr sz="1050">
                <a:solidFill>
                  <a:srgbClr val="5E574E"/>
                </a:solidFill>
                <a:latin typeface="Comic Sans MS" charset="0"/>
              </a:defRPr>
            </a:lvl1pPr>
          </a:lstStyle>
          <a:p>
            <a:pPr>
              <a:defRPr/>
            </a:pPr>
            <a:fld id="{92DC4404-2F15-3F45-8888-95924375BD0C}" type="slidenum">
              <a:rPr lang="en-US" altLang="en-US"/>
              <a:pPr>
                <a:defRPr/>
              </a:pPr>
              <a:t>‹#›</a:t>
            </a:fld>
            <a:endParaRPr lang="en-US" altLang="en-US"/>
          </a:p>
        </p:txBody>
      </p:sp>
    </p:spTree>
    <p:extLst>
      <p:ext uri="{BB962C8B-B14F-4D97-AF65-F5344CB8AC3E}">
        <p14:creationId xmlns:p14="http://schemas.microsoft.com/office/powerpoint/2010/main" val="36053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707B4C-EF31-F647-A71D-AB9270757B77}"/>
              </a:ext>
            </a:extLst>
          </p:cNvPr>
          <p:cNvSpPr>
            <a:spLocks noGrp="1" noChangeArrowheads="1"/>
          </p:cNvSpPr>
          <p:nvPr>
            <p:ph type="dt" sz="half" idx="10"/>
          </p:nvPr>
        </p:nvSpPr>
        <p:spPr>
          <a:ln/>
        </p:spPr>
        <p:txBody>
          <a:bodyPr/>
          <a:lstStyle>
            <a:lvl1pPr>
              <a:defRPr/>
            </a:lvl1pPr>
          </a:lstStyle>
          <a:p>
            <a:pPr>
              <a:defRPr/>
            </a:pPr>
            <a:fld id="{112A986E-296C-E749-8F65-D992795A84A2}"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52C9EA-3740-1242-B25F-606A9B965FA4}"/>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DB0D6FD0-1E2B-B947-8AA4-2626311FAD57}"/>
              </a:ext>
            </a:extLst>
          </p:cNvPr>
          <p:cNvSpPr>
            <a:spLocks noGrp="1" noChangeArrowheads="1"/>
          </p:cNvSpPr>
          <p:nvPr>
            <p:ph type="sldNum" sz="quarter" idx="12"/>
          </p:nvPr>
        </p:nvSpPr>
        <p:spPr>
          <a:ln/>
        </p:spPr>
        <p:txBody>
          <a:bodyPr/>
          <a:lstStyle>
            <a:lvl1pPr>
              <a:defRPr/>
            </a:lvl1pPr>
          </a:lstStyle>
          <a:p>
            <a:pPr>
              <a:defRPr/>
            </a:pPr>
            <a:fld id="{4CA8C557-DD77-1748-8E31-6A889C9DF817}"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9753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2">
            <a:extLst>
              <a:ext uri="{FF2B5EF4-FFF2-40B4-BE49-F238E27FC236}">
                <a16:creationId xmlns:a16="http://schemas.microsoft.com/office/drawing/2014/main" id="{2AAD0317-70F0-B94C-BB39-0ABC55091889}"/>
              </a:ext>
            </a:extLst>
          </p:cNvPr>
          <p:cNvSpPr>
            <a:spLocks noGrp="1" noChangeArrowheads="1"/>
          </p:cNvSpPr>
          <p:nvPr>
            <p:ph type="dt" sz="half" idx="10"/>
          </p:nvPr>
        </p:nvSpPr>
        <p:spPr>
          <a:ln/>
        </p:spPr>
        <p:txBody>
          <a:bodyPr/>
          <a:lstStyle>
            <a:lvl1pPr>
              <a:defRPr/>
            </a:lvl1pPr>
          </a:lstStyle>
          <a:p>
            <a:pPr>
              <a:defRPr/>
            </a:pPr>
            <a:fld id="{3AEFB91E-E5BD-EE4D-A07A-55C24F14E2A0}"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8651DA-9710-F84C-A4F3-F020DF00D2C8}"/>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507A8183-A5F2-6242-BF9B-0B1220BE0006}"/>
              </a:ext>
            </a:extLst>
          </p:cNvPr>
          <p:cNvSpPr>
            <a:spLocks noGrp="1" noChangeArrowheads="1"/>
          </p:cNvSpPr>
          <p:nvPr>
            <p:ph type="sldNum" sz="quarter" idx="12"/>
          </p:nvPr>
        </p:nvSpPr>
        <p:spPr>
          <a:ln/>
        </p:spPr>
        <p:txBody>
          <a:bodyPr/>
          <a:lstStyle>
            <a:lvl1pPr>
              <a:defRPr/>
            </a:lvl1pPr>
          </a:lstStyle>
          <a:p>
            <a:pPr>
              <a:defRPr/>
            </a:pPr>
            <a:fld id="{CBB7A264-F09C-6F45-A315-515D1A577834}"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39708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2">
            <a:extLst>
              <a:ext uri="{FF2B5EF4-FFF2-40B4-BE49-F238E27FC236}">
                <a16:creationId xmlns:a16="http://schemas.microsoft.com/office/drawing/2014/main" id="{D983D188-7D1A-E241-87AB-E2B86283B338}"/>
              </a:ext>
            </a:extLst>
          </p:cNvPr>
          <p:cNvSpPr>
            <a:spLocks noGrp="1" noChangeArrowheads="1"/>
          </p:cNvSpPr>
          <p:nvPr>
            <p:ph type="dt" sz="half" idx="10"/>
          </p:nvPr>
        </p:nvSpPr>
        <p:spPr>
          <a:ln/>
        </p:spPr>
        <p:txBody>
          <a:bodyPr/>
          <a:lstStyle>
            <a:lvl1pPr>
              <a:defRPr/>
            </a:lvl1pPr>
          </a:lstStyle>
          <a:p>
            <a:pPr>
              <a:defRPr/>
            </a:pPr>
            <a:fld id="{5E4FAFA1-DCDB-CE44-B4D9-18A612C40F1D}"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4A0E4F64-8C63-0343-95FD-3EEC79C18542}"/>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65E5D3CE-E485-7646-A6AA-90EA12B0027B}"/>
              </a:ext>
            </a:extLst>
          </p:cNvPr>
          <p:cNvSpPr>
            <a:spLocks noGrp="1" noChangeArrowheads="1"/>
          </p:cNvSpPr>
          <p:nvPr>
            <p:ph type="sldNum" sz="quarter" idx="12"/>
          </p:nvPr>
        </p:nvSpPr>
        <p:spPr>
          <a:ln/>
        </p:spPr>
        <p:txBody>
          <a:bodyPr/>
          <a:lstStyle>
            <a:lvl1pPr>
              <a:defRPr/>
            </a:lvl1pPr>
          </a:lstStyle>
          <a:p>
            <a:pPr>
              <a:defRPr/>
            </a:pPr>
            <a:fld id="{7338305D-A1B6-6C4B-91E3-9F068766A850}"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402501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2">
            <a:extLst>
              <a:ext uri="{FF2B5EF4-FFF2-40B4-BE49-F238E27FC236}">
                <a16:creationId xmlns:a16="http://schemas.microsoft.com/office/drawing/2014/main" id="{5CB8646C-A46B-4E4E-8ADB-C8886DE1E675}"/>
              </a:ext>
            </a:extLst>
          </p:cNvPr>
          <p:cNvSpPr>
            <a:spLocks noGrp="1" noChangeArrowheads="1"/>
          </p:cNvSpPr>
          <p:nvPr>
            <p:ph type="dt" sz="half" idx="10"/>
          </p:nvPr>
        </p:nvSpPr>
        <p:spPr>
          <a:ln/>
        </p:spPr>
        <p:txBody>
          <a:bodyPr/>
          <a:lstStyle>
            <a:lvl1pPr>
              <a:defRPr/>
            </a:lvl1pPr>
          </a:lstStyle>
          <a:p>
            <a:pPr>
              <a:defRPr/>
            </a:pPr>
            <a:fld id="{27BCF400-0009-1649-9396-428E256E23C8}" type="datetime4">
              <a:rPr lang="en-US" altLang="en-US"/>
              <a:pPr>
                <a:defRPr/>
              </a:pPr>
              <a:t>January 24, 2021</a:t>
            </a:fld>
            <a:endParaRPr lang="en-US" altLang="en-US" sz="1050">
              <a:latin typeface="Comic Sans MS" charset="0"/>
            </a:endParaRPr>
          </a:p>
        </p:txBody>
      </p:sp>
      <p:sp>
        <p:nvSpPr>
          <p:cNvPr id="8" name="Rectangle 23">
            <a:extLst>
              <a:ext uri="{FF2B5EF4-FFF2-40B4-BE49-F238E27FC236}">
                <a16:creationId xmlns:a16="http://schemas.microsoft.com/office/drawing/2014/main" id="{1EB6EA0A-C801-7F4A-A4F0-132FAB3E5286}"/>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9" name="Rectangle 24">
            <a:extLst>
              <a:ext uri="{FF2B5EF4-FFF2-40B4-BE49-F238E27FC236}">
                <a16:creationId xmlns:a16="http://schemas.microsoft.com/office/drawing/2014/main" id="{5CAEAF65-A737-AB43-855D-6546D3A5ECB8}"/>
              </a:ext>
            </a:extLst>
          </p:cNvPr>
          <p:cNvSpPr>
            <a:spLocks noGrp="1" noChangeArrowheads="1"/>
          </p:cNvSpPr>
          <p:nvPr>
            <p:ph type="sldNum" sz="quarter" idx="12"/>
          </p:nvPr>
        </p:nvSpPr>
        <p:spPr>
          <a:ln/>
        </p:spPr>
        <p:txBody>
          <a:bodyPr/>
          <a:lstStyle>
            <a:lvl1pPr>
              <a:defRPr/>
            </a:lvl1pPr>
          </a:lstStyle>
          <a:p>
            <a:pPr>
              <a:defRPr/>
            </a:pPr>
            <a:fld id="{13D68A71-039B-5F4A-92F9-F08AA422A93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03592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2">
            <a:extLst>
              <a:ext uri="{FF2B5EF4-FFF2-40B4-BE49-F238E27FC236}">
                <a16:creationId xmlns:a16="http://schemas.microsoft.com/office/drawing/2014/main" id="{712B48F9-A9C4-6F4E-8616-FFF2506BD13B}"/>
              </a:ext>
            </a:extLst>
          </p:cNvPr>
          <p:cNvSpPr>
            <a:spLocks noGrp="1" noChangeArrowheads="1"/>
          </p:cNvSpPr>
          <p:nvPr>
            <p:ph type="dt" sz="half" idx="10"/>
          </p:nvPr>
        </p:nvSpPr>
        <p:spPr>
          <a:ln/>
        </p:spPr>
        <p:txBody>
          <a:bodyPr/>
          <a:lstStyle>
            <a:lvl1pPr>
              <a:defRPr/>
            </a:lvl1pPr>
          </a:lstStyle>
          <a:p>
            <a:pPr>
              <a:defRPr/>
            </a:pPr>
            <a:fld id="{05C1A236-52B5-6846-AA88-0CB948869D36}" type="datetime4">
              <a:rPr lang="en-US" altLang="en-US"/>
              <a:pPr>
                <a:defRPr/>
              </a:pPr>
              <a:t>January 24, 2021</a:t>
            </a:fld>
            <a:endParaRPr lang="en-US" altLang="en-US" sz="1050">
              <a:latin typeface="Comic Sans MS" charset="0"/>
            </a:endParaRPr>
          </a:p>
        </p:txBody>
      </p:sp>
      <p:sp>
        <p:nvSpPr>
          <p:cNvPr id="4" name="Rectangle 23">
            <a:extLst>
              <a:ext uri="{FF2B5EF4-FFF2-40B4-BE49-F238E27FC236}">
                <a16:creationId xmlns:a16="http://schemas.microsoft.com/office/drawing/2014/main" id="{11CF4B62-1BDB-894C-9B3A-CD634D1EC811}"/>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5" name="Rectangle 24">
            <a:extLst>
              <a:ext uri="{FF2B5EF4-FFF2-40B4-BE49-F238E27FC236}">
                <a16:creationId xmlns:a16="http://schemas.microsoft.com/office/drawing/2014/main" id="{DB2E37E2-13A0-6E49-8851-171E23617D61}"/>
              </a:ext>
            </a:extLst>
          </p:cNvPr>
          <p:cNvSpPr>
            <a:spLocks noGrp="1" noChangeArrowheads="1"/>
          </p:cNvSpPr>
          <p:nvPr>
            <p:ph type="sldNum" sz="quarter" idx="12"/>
          </p:nvPr>
        </p:nvSpPr>
        <p:spPr>
          <a:ln/>
        </p:spPr>
        <p:txBody>
          <a:bodyPr/>
          <a:lstStyle>
            <a:lvl1pPr>
              <a:defRPr/>
            </a:lvl1pPr>
          </a:lstStyle>
          <a:p>
            <a:pPr>
              <a:defRPr/>
            </a:pPr>
            <a:fld id="{3C9020D5-0362-AA4E-A109-44DF4CF31443}"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55699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D5874594-CEEE-744E-84B5-849E1F7AD8F4}"/>
              </a:ext>
            </a:extLst>
          </p:cNvPr>
          <p:cNvSpPr>
            <a:spLocks noGrp="1" noChangeArrowheads="1"/>
          </p:cNvSpPr>
          <p:nvPr>
            <p:ph type="dt" sz="half" idx="10"/>
          </p:nvPr>
        </p:nvSpPr>
        <p:spPr>
          <a:ln/>
        </p:spPr>
        <p:txBody>
          <a:bodyPr/>
          <a:lstStyle>
            <a:lvl1pPr>
              <a:defRPr/>
            </a:lvl1pPr>
          </a:lstStyle>
          <a:p>
            <a:pPr>
              <a:defRPr/>
            </a:pPr>
            <a:fld id="{23FFD736-DE5F-F749-B213-A8CE00861415}" type="datetime4">
              <a:rPr lang="en-US" altLang="en-US"/>
              <a:pPr>
                <a:defRPr/>
              </a:pPr>
              <a:t>January 24, 2021</a:t>
            </a:fld>
            <a:endParaRPr lang="en-US" altLang="en-US" sz="1050">
              <a:latin typeface="Comic Sans MS" charset="0"/>
            </a:endParaRPr>
          </a:p>
        </p:txBody>
      </p:sp>
      <p:sp>
        <p:nvSpPr>
          <p:cNvPr id="3" name="Rectangle 23">
            <a:extLst>
              <a:ext uri="{FF2B5EF4-FFF2-40B4-BE49-F238E27FC236}">
                <a16:creationId xmlns:a16="http://schemas.microsoft.com/office/drawing/2014/main" id="{9F97AA66-02E4-5649-9500-0292003CC56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4" name="Rectangle 24">
            <a:extLst>
              <a:ext uri="{FF2B5EF4-FFF2-40B4-BE49-F238E27FC236}">
                <a16:creationId xmlns:a16="http://schemas.microsoft.com/office/drawing/2014/main" id="{C311B7C1-252E-914D-8EE9-D1E9863162F9}"/>
              </a:ext>
            </a:extLst>
          </p:cNvPr>
          <p:cNvSpPr>
            <a:spLocks noGrp="1" noChangeArrowheads="1"/>
          </p:cNvSpPr>
          <p:nvPr>
            <p:ph type="sldNum" sz="quarter" idx="12"/>
          </p:nvPr>
        </p:nvSpPr>
        <p:spPr>
          <a:ln/>
        </p:spPr>
        <p:txBody>
          <a:bodyPr/>
          <a:lstStyle>
            <a:lvl1pPr>
              <a:defRPr/>
            </a:lvl1pPr>
          </a:lstStyle>
          <a:p>
            <a:pPr>
              <a:defRPr/>
            </a:pPr>
            <a:fld id="{D952FCBF-D95B-624A-BF6A-A7BAF479D36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92521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1354F707-12BB-744C-8FC8-2953E48FF621}"/>
              </a:ext>
            </a:extLst>
          </p:cNvPr>
          <p:cNvSpPr>
            <a:spLocks noGrp="1" noChangeArrowheads="1"/>
          </p:cNvSpPr>
          <p:nvPr>
            <p:ph type="dt" sz="half" idx="10"/>
          </p:nvPr>
        </p:nvSpPr>
        <p:spPr>
          <a:ln/>
        </p:spPr>
        <p:txBody>
          <a:bodyPr/>
          <a:lstStyle>
            <a:lvl1pPr>
              <a:defRPr/>
            </a:lvl1pPr>
          </a:lstStyle>
          <a:p>
            <a:pPr>
              <a:defRPr/>
            </a:pPr>
            <a:fld id="{CB2ADCE5-956F-834A-A409-407A72483B89}"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995A3012-1219-4446-A363-8328EACFBB8C}"/>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F42558D7-C9A2-854D-A8A1-2D0CA7EE8700}"/>
              </a:ext>
            </a:extLst>
          </p:cNvPr>
          <p:cNvSpPr>
            <a:spLocks noGrp="1" noChangeArrowheads="1"/>
          </p:cNvSpPr>
          <p:nvPr>
            <p:ph type="sldNum" sz="quarter" idx="12"/>
          </p:nvPr>
        </p:nvSpPr>
        <p:spPr>
          <a:ln/>
        </p:spPr>
        <p:txBody>
          <a:bodyPr/>
          <a:lstStyle>
            <a:lvl1pPr>
              <a:defRPr/>
            </a:lvl1pPr>
          </a:lstStyle>
          <a:p>
            <a:pPr>
              <a:defRPr/>
            </a:pPr>
            <a:fld id="{4FB1910A-2DF3-0043-9E2A-C089A6856FA8}"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7321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23E52F24-7910-2844-9315-F77D36D773B9}"/>
              </a:ext>
            </a:extLst>
          </p:cNvPr>
          <p:cNvSpPr>
            <a:spLocks noGrp="1" noChangeArrowheads="1"/>
          </p:cNvSpPr>
          <p:nvPr>
            <p:ph type="dt" sz="half" idx="10"/>
          </p:nvPr>
        </p:nvSpPr>
        <p:spPr>
          <a:ln/>
        </p:spPr>
        <p:txBody>
          <a:bodyPr/>
          <a:lstStyle>
            <a:lvl1pPr>
              <a:defRPr/>
            </a:lvl1pPr>
          </a:lstStyle>
          <a:p>
            <a:pPr>
              <a:defRPr/>
            </a:pPr>
            <a:fld id="{2FA057AB-C79C-1149-90DD-23BCF6A31DA5}"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CDED770D-6B48-A641-9A9A-7623117BDAB3}"/>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7F135474-D82E-D843-9996-03A10F4E08FA}"/>
              </a:ext>
            </a:extLst>
          </p:cNvPr>
          <p:cNvSpPr>
            <a:spLocks noGrp="1" noChangeArrowheads="1"/>
          </p:cNvSpPr>
          <p:nvPr>
            <p:ph type="sldNum" sz="quarter" idx="12"/>
          </p:nvPr>
        </p:nvSpPr>
        <p:spPr>
          <a:ln/>
        </p:spPr>
        <p:txBody>
          <a:bodyPr/>
          <a:lstStyle>
            <a:lvl1pPr>
              <a:defRPr/>
            </a:lvl1pPr>
          </a:lstStyle>
          <a:p>
            <a:pPr>
              <a:defRPr/>
            </a:pPr>
            <a:fld id="{5BBC07B4-ED15-8846-84F1-50A2C8EAFF4C}"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43367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D8296CF9-48A2-BA47-BEA0-79EF5672269B}"/>
              </a:ext>
            </a:extLst>
          </p:cNvPr>
          <p:cNvSpPr>
            <a:spLocks noGrp="1" noChangeArrowheads="1"/>
          </p:cNvSpPr>
          <p:nvPr>
            <p:ph type="dt" sz="half" idx="10"/>
          </p:nvPr>
        </p:nvSpPr>
        <p:spPr>
          <a:ln/>
        </p:spPr>
        <p:txBody>
          <a:bodyPr/>
          <a:lstStyle>
            <a:lvl1pPr>
              <a:defRPr/>
            </a:lvl1pPr>
          </a:lstStyle>
          <a:p>
            <a:pPr>
              <a:defRPr/>
            </a:pPr>
            <a:fld id="{C803F449-C714-D941-B131-367F9A6674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BA5724E5-A14D-B641-AD1D-2E783797776B}"/>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8A458193-BBFD-E04F-A687-2A5AE30A49ED}"/>
              </a:ext>
            </a:extLst>
          </p:cNvPr>
          <p:cNvSpPr>
            <a:spLocks noGrp="1" noChangeArrowheads="1"/>
          </p:cNvSpPr>
          <p:nvPr>
            <p:ph type="sldNum" sz="quarter" idx="12"/>
          </p:nvPr>
        </p:nvSpPr>
        <p:spPr>
          <a:ln/>
        </p:spPr>
        <p:txBody>
          <a:bodyPr/>
          <a:lstStyle>
            <a:lvl1pPr>
              <a:defRPr/>
            </a:lvl1pPr>
          </a:lstStyle>
          <a:p>
            <a:pPr>
              <a:defRPr/>
            </a:pPr>
            <a:fld id="{70FFA6F9-1418-8D47-8D0E-60C39D47D43A}"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7064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15265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57150"/>
            <a:ext cx="630555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16F2AB-B07D-C348-9891-3EAB4F4AF495}"/>
              </a:ext>
            </a:extLst>
          </p:cNvPr>
          <p:cNvSpPr>
            <a:spLocks noGrp="1" noChangeArrowheads="1"/>
          </p:cNvSpPr>
          <p:nvPr>
            <p:ph type="dt" sz="half" idx="10"/>
          </p:nvPr>
        </p:nvSpPr>
        <p:spPr>
          <a:ln/>
        </p:spPr>
        <p:txBody>
          <a:bodyPr/>
          <a:lstStyle>
            <a:lvl1pPr>
              <a:defRPr/>
            </a:lvl1pPr>
          </a:lstStyle>
          <a:p>
            <a:pPr>
              <a:defRPr/>
            </a:pPr>
            <a:fld id="{7C1FD5FC-7325-9548-916A-DB14BA5610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8AB9298A-C20E-9445-8B94-AC1D48A65A1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EA201A15-5BAB-674E-AF74-73666A6C1ECB}"/>
              </a:ext>
            </a:extLst>
          </p:cNvPr>
          <p:cNvSpPr>
            <a:spLocks noGrp="1" noChangeArrowheads="1"/>
          </p:cNvSpPr>
          <p:nvPr>
            <p:ph type="sldNum" sz="quarter" idx="12"/>
          </p:nvPr>
        </p:nvSpPr>
        <p:spPr>
          <a:ln/>
        </p:spPr>
        <p:txBody>
          <a:bodyPr/>
          <a:lstStyle>
            <a:lvl1pPr>
              <a:defRPr/>
            </a:lvl1pPr>
          </a:lstStyle>
          <a:p>
            <a:pPr>
              <a:defRPr/>
            </a:pPr>
            <a:fld id="{FDCE4DA0-AD44-E04D-8521-286DB415784D}"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4681561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DF1917-075B-F74E-8DF4-232714D60E1C}"/>
              </a:ext>
            </a:extLst>
          </p:cNvPr>
          <p:cNvGrpSpPr>
            <a:grpSpLocks/>
          </p:cNvGrpSpPr>
          <p:nvPr/>
        </p:nvGrpSpPr>
        <p:grpSpPr bwMode="auto">
          <a:xfrm flipH="1">
            <a:off x="0" y="628650"/>
            <a:ext cx="8686800" cy="57150"/>
            <a:chOff x="0" y="905"/>
            <a:chExt cx="5282" cy="103"/>
          </a:xfrm>
        </p:grpSpPr>
        <p:grpSp>
          <p:nvGrpSpPr>
            <p:cNvPr id="1034" name="Group 3">
              <a:extLst>
                <a:ext uri="{FF2B5EF4-FFF2-40B4-BE49-F238E27FC236}">
                  <a16:creationId xmlns:a16="http://schemas.microsoft.com/office/drawing/2014/main" id="{8E1007EE-E9AD-004F-80F3-FDB32ADF9000}"/>
                </a:ext>
              </a:extLst>
            </p:cNvPr>
            <p:cNvGrpSpPr>
              <a:grpSpLocks/>
            </p:cNvGrpSpPr>
            <p:nvPr/>
          </p:nvGrpSpPr>
          <p:grpSpPr bwMode="auto">
            <a:xfrm>
              <a:off x="5158" y="905"/>
              <a:ext cx="124" cy="103"/>
              <a:chOff x="5158" y="905"/>
              <a:chExt cx="124" cy="103"/>
            </a:xfrm>
          </p:grpSpPr>
          <p:sp>
            <p:nvSpPr>
              <p:cNvPr id="1049" name="Rectangle 4">
                <a:extLst>
                  <a:ext uri="{FF2B5EF4-FFF2-40B4-BE49-F238E27FC236}">
                    <a16:creationId xmlns:a16="http://schemas.microsoft.com/office/drawing/2014/main" id="{B40944D2-73B7-3A45-9BDC-A2B98BC446F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50" name="Rectangle 5">
                <a:extLst>
                  <a:ext uri="{FF2B5EF4-FFF2-40B4-BE49-F238E27FC236}">
                    <a16:creationId xmlns:a16="http://schemas.microsoft.com/office/drawing/2014/main" id="{EB75D277-517D-844A-BFBC-163D8B6AFBAB}"/>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5" name="Group 6">
              <a:extLst>
                <a:ext uri="{FF2B5EF4-FFF2-40B4-BE49-F238E27FC236}">
                  <a16:creationId xmlns:a16="http://schemas.microsoft.com/office/drawing/2014/main" id="{51A98CAD-F97A-8943-A055-2529CA1A56E3}"/>
                </a:ext>
              </a:extLst>
            </p:cNvPr>
            <p:cNvGrpSpPr>
              <a:grpSpLocks/>
            </p:cNvGrpSpPr>
            <p:nvPr/>
          </p:nvGrpSpPr>
          <p:grpSpPr bwMode="auto">
            <a:xfrm>
              <a:off x="4848" y="905"/>
              <a:ext cx="263" cy="103"/>
              <a:chOff x="4848" y="905"/>
              <a:chExt cx="263" cy="103"/>
            </a:xfrm>
          </p:grpSpPr>
          <p:sp>
            <p:nvSpPr>
              <p:cNvPr id="1047" name="Rectangle 7">
                <a:extLst>
                  <a:ext uri="{FF2B5EF4-FFF2-40B4-BE49-F238E27FC236}">
                    <a16:creationId xmlns:a16="http://schemas.microsoft.com/office/drawing/2014/main" id="{94D45677-E167-A04B-B7EA-536CDE7D0131}"/>
                  </a:ext>
                </a:extLst>
              </p:cNvPr>
              <p:cNvSpPr>
                <a:spLocks noChangeArrowheads="1"/>
              </p:cNvSpPr>
              <p:nvPr/>
            </p:nvSpPr>
            <p:spPr bwMode="auto">
              <a:xfrm>
                <a:off x="5018" y="905"/>
                <a:ext cx="9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8" name="Rectangle 8">
                <a:extLst>
                  <a:ext uri="{FF2B5EF4-FFF2-40B4-BE49-F238E27FC236}">
                    <a16:creationId xmlns:a16="http://schemas.microsoft.com/office/drawing/2014/main" id="{192533B0-711D-324C-A02D-09AB43CBC060}"/>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6" name="Group 9">
              <a:extLst>
                <a:ext uri="{FF2B5EF4-FFF2-40B4-BE49-F238E27FC236}">
                  <a16:creationId xmlns:a16="http://schemas.microsoft.com/office/drawing/2014/main" id="{2A1956D2-787D-4C42-8746-071E1B687CB5}"/>
                </a:ext>
              </a:extLst>
            </p:cNvPr>
            <p:cNvGrpSpPr>
              <a:grpSpLocks/>
            </p:cNvGrpSpPr>
            <p:nvPr/>
          </p:nvGrpSpPr>
          <p:grpSpPr bwMode="auto">
            <a:xfrm>
              <a:off x="4418" y="905"/>
              <a:ext cx="386" cy="103"/>
              <a:chOff x="4418" y="905"/>
              <a:chExt cx="386" cy="103"/>
            </a:xfrm>
          </p:grpSpPr>
          <p:sp>
            <p:nvSpPr>
              <p:cNvPr id="1045" name="Rectangle 10">
                <a:extLst>
                  <a:ext uri="{FF2B5EF4-FFF2-40B4-BE49-F238E27FC236}">
                    <a16:creationId xmlns:a16="http://schemas.microsoft.com/office/drawing/2014/main" id="{BE15E58A-2FD3-E447-8EE2-6C127DBF1A20}"/>
                  </a:ext>
                </a:extLst>
              </p:cNvPr>
              <p:cNvSpPr>
                <a:spLocks noChangeArrowheads="1"/>
              </p:cNvSpPr>
              <p:nvPr/>
            </p:nvSpPr>
            <p:spPr bwMode="auto">
              <a:xfrm>
                <a:off x="4650" y="905"/>
                <a:ext cx="15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6" name="Rectangle 11">
                <a:extLst>
                  <a:ext uri="{FF2B5EF4-FFF2-40B4-BE49-F238E27FC236}">
                    <a16:creationId xmlns:a16="http://schemas.microsoft.com/office/drawing/2014/main" id="{CF283281-FE4D-DD49-B04E-9413E3009D27}"/>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7" name="Group 12">
              <a:extLst>
                <a:ext uri="{FF2B5EF4-FFF2-40B4-BE49-F238E27FC236}">
                  <a16:creationId xmlns:a16="http://schemas.microsoft.com/office/drawing/2014/main" id="{646E7CE3-1E48-3E4C-A16A-75739FD75886}"/>
                </a:ext>
              </a:extLst>
            </p:cNvPr>
            <p:cNvGrpSpPr>
              <a:grpSpLocks/>
            </p:cNvGrpSpPr>
            <p:nvPr/>
          </p:nvGrpSpPr>
          <p:grpSpPr bwMode="auto">
            <a:xfrm>
              <a:off x="3183" y="905"/>
              <a:ext cx="1191" cy="103"/>
              <a:chOff x="3183" y="905"/>
              <a:chExt cx="1191" cy="103"/>
            </a:xfrm>
          </p:grpSpPr>
          <p:sp>
            <p:nvSpPr>
              <p:cNvPr id="1041" name="Rectangle 13">
                <a:extLst>
                  <a:ext uri="{FF2B5EF4-FFF2-40B4-BE49-F238E27FC236}">
                    <a16:creationId xmlns:a16="http://schemas.microsoft.com/office/drawing/2014/main" id="{049A07BA-125C-294A-A3B4-D89BBC9F00CC}"/>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2" name="Rectangle 14">
                <a:extLst>
                  <a:ext uri="{FF2B5EF4-FFF2-40B4-BE49-F238E27FC236}">
                    <a16:creationId xmlns:a16="http://schemas.microsoft.com/office/drawing/2014/main" id="{0FD03B68-7F9D-4D45-AD4E-68D760BBDB38}"/>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3" name="Rectangle 15">
                <a:extLst>
                  <a:ext uri="{FF2B5EF4-FFF2-40B4-BE49-F238E27FC236}">
                    <a16:creationId xmlns:a16="http://schemas.microsoft.com/office/drawing/2014/main" id="{081F8C45-EB4F-0042-BF17-8C6ACAA57CCC}"/>
                  </a:ext>
                </a:extLst>
              </p:cNvPr>
              <p:cNvSpPr>
                <a:spLocks noChangeArrowheads="1"/>
              </p:cNvSpPr>
              <p:nvPr/>
            </p:nvSpPr>
            <p:spPr bwMode="auto">
              <a:xfrm>
                <a:off x="3864"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4" name="Rectangle 16">
                <a:extLst>
                  <a:ext uri="{FF2B5EF4-FFF2-40B4-BE49-F238E27FC236}">
                    <a16:creationId xmlns:a16="http://schemas.microsoft.com/office/drawing/2014/main" id="{21F7B391-9D2B-D74A-8DE2-F8562177B339}"/>
                  </a:ext>
                </a:extLst>
              </p:cNvPr>
              <p:cNvSpPr>
                <a:spLocks noChangeArrowheads="1"/>
              </p:cNvSpPr>
              <p:nvPr/>
            </p:nvSpPr>
            <p:spPr bwMode="auto">
              <a:xfrm>
                <a:off x="3183" y="905"/>
                <a:ext cx="31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8" name="Group 17">
              <a:extLst>
                <a:ext uri="{FF2B5EF4-FFF2-40B4-BE49-F238E27FC236}">
                  <a16:creationId xmlns:a16="http://schemas.microsoft.com/office/drawing/2014/main" id="{2D7AF668-B334-A146-AA53-8DFA6CBF94F2}"/>
                </a:ext>
              </a:extLst>
            </p:cNvPr>
            <p:cNvGrpSpPr>
              <a:grpSpLocks/>
            </p:cNvGrpSpPr>
            <p:nvPr/>
          </p:nvGrpSpPr>
          <p:grpSpPr bwMode="auto">
            <a:xfrm>
              <a:off x="0" y="905"/>
              <a:ext cx="3143" cy="103"/>
              <a:chOff x="0" y="905"/>
              <a:chExt cx="3143" cy="103"/>
            </a:xfrm>
          </p:grpSpPr>
          <p:sp>
            <p:nvSpPr>
              <p:cNvPr id="1039" name="Rectangle 18">
                <a:extLst>
                  <a:ext uri="{FF2B5EF4-FFF2-40B4-BE49-F238E27FC236}">
                    <a16:creationId xmlns:a16="http://schemas.microsoft.com/office/drawing/2014/main" id="{712DCCE5-D50B-5F46-968A-138F0F148763}"/>
                  </a:ext>
                </a:extLst>
              </p:cNvPr>
              <p:cNvSpPr>
                <a:spLocks noChangeArrowheads="1"/>
              </p:cNvSpPr>
              <p:nvPr/>
            </p:nvSpPr>
            <p:spPr bwMode="auto">
              <a:xfrm>
                <a:off x="2798" y="905"/>
                <a:ext cx="34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0" name="Rectangle 19">
                <a:extLst>
                  <a:ext uri="{FF2B5EF4-FFF2-40B4-BE49-F238E27FC236}">
                    <a16:creationId xmlns:a16="http://schemas.microsoft.com/office/drawing/2014/main" id="{E25710D3-F13F-6048-BEEC-03DCB0EBB0FA}"/>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sp>
        <p:nvSpPr>
          <p:cNvPr id="1027" name="Rectangle 20">
            <a:extLst>
              <a:ext uri="{FF2B5EF4-FFF2-40B4-BE49-F238E27FC236}">
                <a16:creationId xmlns:a16="http://schemas.microsoft.com/office/drawing/2014/main" id="{00BAB7E5-4DDE-6F4B-9664-E20F29B174F5}"/>
              </a:ext>
            </a:extLst>
          </p:cNvPr>
          <p:cNvSpPr>
            <a:spLocks noGrp="1" noChangeArrowheads="1"/>
          </p:cNvSpPr>
          <p:nvPr>
            <p:ph type="title"/>
          </p:nvPr>
        </p:nvSpPr>
        <p:spPr bwMode="auto">
          <a:xfrm>
            <a:off x="990600" y="57150"/>
            <a:ext cx="7696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21">
            <a:extLst>
              <a:ext uri="{FF2B5EF4-FFF2-40B4-BE49-F238E27FC236}">
                <a16:creationId xmlns:a16="http://schemas.microsoft.com/office/drawing/2014/main" id="{8F4F1CA7-1C7F-6F4A-81AC-D0443903995C}"/>
              </a:ext>
            </a:extLst>
          </p:cNvPr>
          <p:cNvSpPr>
            <a:spLocks noGrp="1" noChangeArrowheads="1"/>
          </p:cNvSpPr>
          <p:nvPr>
            <p:ph type="body" idx="1"/>
          </p:nvPr>
        </p:nvSpPr>
        <p:spPr bwMode="auto">
          <a:xfrm>
            <a:off x="228600" y="685800"/>
            <a:ext cx="8610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94" name="Rectangle 22">
            <a:extLst>
              <a:ext uri="{FF2B5EF4-FFF2-40B4-BE49-F238E27FC236}">
                <a16:creationId xmlns:a16="http://schemas.microsoft.com/office/drawing/2014/main" id="{562FC42B-43D6-4F4A-934D-67109AD4B0F3}"/>
              </a:ext>
            </a:extLst>
          </p:cNvPr>
          <p:cNvSpPr>
            <a:spLocks noGrp="1" noChangeArrowheads="1"/>
          </p:cNvSpPr>
          <p:nvPr>
            <p:ph type="dt" sz="half" idx="2"/>
          </p:nvPr>
        </p:nvSpPr>
        <p:spPr bwMode="auto">
          <a:xfrm>
            <a:off x="4318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defRPr sz="900">
                <a:solidFill>
                  <a:schemeClr val="bg2"/>
                </a:solidFill>
                <a:latin typeface="Tahoma" charset="0"/>
                <a:ea typeface="ＭＳ Ｐゴシック" charset="-128"/>
              </a:defRPr>
            </a:lvl1pPr>
          </a:lstStyle>
          <a:p>
            <a:pPr>
              <a:defRPr/>
            </a:pPr>
            <a:fld id="{92E8E100-ADEF-EB4E-AB02-A2AF1A2FC806}" type="datetime4">
              <a:rPr lang="en-US" altLang="en-US"/>
              <a:pPr>
                <a:defRPr/>
              </a:pPr>
              <a:t>January 24, 2021</a:t>
            </a:fld>
            <a:endParaRPr lang="en-US" altLang="en-US" sz="1050">
              <a:latin typeface="Comic Sans MS" charset="0"/>
            </a:endParaRPr>
          </a:p>
        </p:txBody>
      </p:sp>
      <p:sp>
        <p:nvSpPr>
          <p:cNvPr id="3095" name="Rectangle 23">
            <a:extLst>
              <a:ext uri="{FF2B5EF4-FFF2-40B4-BE49-F238E27FC236}">
                <a16:creationId xmlns:a16="http://schemas.microsoft.com/office/drawing/2014/main" id="{EB3FA688-6455-9D4A-961A-9B2118FFD62D}"/>
              </a:ext>
            </a:extLst>
          </p:cNvPr>
          <p:cNvSpPr>
            <a:spLocks noGrp="1" noChangeArrowheads="1"/>
          </p:cNvSpPr>
          <p:nvPr>
            <p:ph type="ftr" sz="quarter" idx="3"/>
          </p:nvPr>
        </p:nvSpPr>
        <p:spPr bwMode="auto">
          <a:xfrm>
            <a:off x="3124200" y="4672013"/>
            <a:ext cx="28956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900">
                <a:solidFill>
                  <a:schemeClr val="bg2"/>
                </a:solidFill>
                <a:latin typeface="Tahoma" charset="0"/>
                <a:ea typeface="ＭＳ Ｐゴシック" charset="-128"/>
              </a:defRPr>
            </a:lvl1pPr>
          </a:lstStyle>
          <a:p>
            <a:pPr>
              <a:defRPr/>
            </a:pPr>
            <a:r>
              <a:rPr lang="tr-TR" altLang="en-US"/>
              <a:t>PSYCH 4041 / 6014</a:t>
            </a:r>
            <a:endParaRPr lang="en-US" altLang="en-US" sz="1050">
              <a:latin typeface="Comic Sans MS" charset="0"/>
            </a:endParaRPr>
          </a:p>
        </p:txBody>
      </p:sp>
      <p:sp>
        <p:nvSpPr>
          <p:cNvPr id="3096" name="Rectangle 24">
            <a:extLst>
              <a:ext uri="{FF2B5EF4-FFF2-40B4-BE49-F238E27FC236}">
                <a16:creationId xmlns:a16="http://schemas.microsoft.com/office/drawing/2014/main" id="{CCC79CAA-D180-B549-B80B-93952BD15DD4}"/>
              </a:ext>
            </a:extLst>
          </p:cNvPr>
          <p:cNvSpPr>
            <a:spLocks noGrp="1" noChangeArrowheads="1"/>
          </p:cNvSpPr>
          <p:nvPr>
            <p:ph type="sldNum" sz="quarter" idx="4"/>
          </p:nvPr>
        </p:nvSpPr>
        <p:spPr bwMode="auto">
          <a:xfrm>
            <a:off x="67310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900">
                <a:solidFill>
                  <a:schemeClr val="bg2"/>
                </a:solidFill>
                <a:latin typeface="Tahoma" charset="0"/>
                <a:ea typeface="ＭＳ Ｐゴシック" charset="-128"/>
              </a:defRPr>
            </a:lvl1pPr>
          </a:lstStyle>
          <a:p>
            <a:pPr>
              <a:defRPr/>
            </a:pPr>
            <a:fld id="{EECB6731-2E5B-344F-BE2F-3B33DB3B9655}" type="slidenum">
              <a:rPr lang="en-US" altLang="en-US"/>
              <a:pPr>
                <a:defRPr/>
              </a:pPr>
              <a:t>‹#›</a:t>
            </a:fld>
            <a:endParaRPr lang="en-US" altLang="en-US">
              <a:latin typeface="Comic Sans MS" charset="0"/>
            </a:endParaRPr>
          </a:p>
        </p:txBody>
      </p:sp>
      <p:pic>
        <p:nvPicPr>
          <p:cNvPr id="1032" name="Picture 29">
            <a:extLst>
              <a:ext uri="{FF2B5EF4-FFF2-40B4-BE49-F238E27FC236}">
                <a16:creationId xmlns:a16="http://schemas.microsoft.com/office/drawing/2014/main" id="{83123BE1-9355-6245-9EF0-E4061A5C781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10829" t="11624" r="16043" b="11624"/>
          <a:stretch>
            <a:fillRect/>
          </a:stretch>
        </p:blipFill>
        <p:spPr bwMode="auto">
          <a:xfrm>
            <a:off x="1" y="0"/>
            <a:ext cx="841375" cy="6858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30">
            <a:extLst>
              <a:ext uri="{FF2B5EF4-FFF2-40B4-BE49-F238E27FC236}">
                <a16:creationId xmlns:a16="http://schemas.microsoft.com/office/drawing/2014/main" id="{8BF227DC-2A0E-614B-BEC2-33B81721D7E4}"/>
              </a:ext>
            </a:extLst>
          </p:cNvPr>
          <p:cNvSpPr txBox="1">
            <a:spLocks noChangeArrowheads="1"/>
          </p:cNvSpPr>
          <p:nvPr userDrawn="1"/>
        </p:nvSpPr>
        <p:spPr bwMode="auto">
          <a:xfrm>
            <a:off x="1355726" y="46743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p:txStyles>
    <p:titleStyle>
      <a:lvl1pPr algn="r" rtl="0" eaLnBrk="0" fontAlgn="base" hangingPunct="0">
        <a:spcBef>
          <a:spcPct val="0"/>
        </a:spcBef>
        <a:spcAft>
          <a:spcPct val="0"/>
        </a:spcAft>
        <a:defRPr kumimoji="1" sz="3000" b="1">
          <a:solidFill>
            <a:srgbClr val="666666"/>
          </a:solidFill>
          <a:latin typeface="+mj-lt"/>
          <a:ea typeface="ＭＳ Ｐゴシック" charset="-128"/>
          <a:cs typeface="+mj-cs"/>
        </a:defRPr>
      </a:lvl1pPr>
      <a:lvl2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2pPr>
      <a:lvl3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3pPr>
      <a:lvl4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4pPr>
      <a:lvl5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5pPr>
      <a:lvl6pPr marL="342900" algn="r" rtl="0" eaLnBrk="0" fontAlgn="base" hangingPunct="0">
        <a:spcBef>
          <a:spcPct val="0"/>
        </a:spcBef>
        <a:spcAft>
          <a:spcPct val="0"/>
        </a:spcAft>
        <a:defRPr kumimoji="1" sz="3000" b="1">
          <a:solidFill>
            <a:srgbClr val="666666"/>
          </a:solidFill>
          <a:latin typeface="Arial" pitchFamily="-110" charset="0"/>
        </a:defRPr>
      </a:lvl6pPr>
      <a:lvl7pPr marL="685800" algn="r" rtl="0" eaLnBrk="0" fontAlgn="base" hangingPunct="0">
        <a:spcBef>
          <a:spcPct val="0"/>
        </a:spcBef>
        <a:spcAft>
          <a:spcPct val="0"/>
        </a:spcAft>
        <a:defRPr kumimoji="1" sz="3000" b="1">
          <a:solidFill>
            <a:srgbClr val="666666"/>
          </a:solidFill>
          <a:latin typeface="Arial" pitchFamily="-110" charset="0"/>
        </a:defRPr>
      </a:lvl7pPr>
      <a:lvl8pPr marL="1028700" algn="r" rtl="0" eaLnBrk="0" fontAlgn="base" hangingPunct="0">
        <a:spcBef>
          <a:spcPct val="0"/>
        </a:spcBef>
        <a:spcAft>
          <a:spcPct val="0"/>
        </a:spcAft>
        <a:defRPr kumimoji="1" sz="3000" b="1">
          <a:solidFill>
            <a:srgbClr val="666666"/>
          </a:solidFill>
          <a:latin typeface="Arial" pitchFamily="-110" charset="0"/>
        </a:defRPr>
      </a:lvl8pPr>
      <a:lvl9pPr marL="1371600" algn="r" rtl="0" eaLnBrk="0" fontAlgn="base" hangingPunct="0">
        <a:spcBef>
          <a:spcPct val="0"/>
        </a:spcBef>
        <a:spcAft>
          <a:spcPct val="0"/>
        </a:spcAft>
        <a:defRPr kumimoji="1" sz="3000" b="1">
          <a:solidFill>
            <a:srgbClr val="666666"/>
          </a:solidFill>
          <a:latin typeface="Arial" pitchFamily="-110" charset="0"/>
        </a:defRPr>
      </a:lvl9pPr>
    </p:titleStyle>
    <p:bodyStyle>
      <a:lvl1pPr marL="257175" indent="-257175" algn="l" rtl="0" eaLnBrk="0" fontAlgn="base" hangingPunct="0">
        <a:spcBef>
          <a:spcPct val="20000"/>
        </a:spcBef>
        <a:spcAft>
          <a:spcPct val="0"/>
        </a:spcAft>
        <a:buClr>
          <a:srgbClr val="193399"/>
        </a:buClr>
        <a:buFont typeface="Wingdings" pitchFamily="2" charset="2"/>
        <a:buChar char="Ø"/>
        <a:defRPr kumimoji="1" sz="2400">
          <a:solidFill>
            <a:schemeClr val="tx1"/>
          </a:solidFill>
          <a:latin typeface="+mn-lt"/>
          <a:ea typeface="ＭＳ Ｐゴシック" charset="-128"/>
          <a:cs typeface="+mn-cs"/>
        </a:defRPr>
      </a:lvl1pPr>
      <a:lvl2pPr marL="557213" indent="-214313" algn="l" rtl="0" eaLnBrk="0" fontAlgn="base" hangingPunct="0">
        <a:spcBef>
          <a:spcPct val="20000"/>
        </a:spcBef>
        <a:spcAft>
          <a:spcPct val="0"/>
        </a:spcAft>
        <a:buClr>
          <a:srgbClr val="193399"/>
        </a:buClr>
        <a:buSzPct val="70000"/>
        <a:buFont typeface="Wingdings" pitchFamily="2" charset="2"/>
        <a:buChar char="v"/>
        <a:defRPr kumimoji="1" sz="2100">
          <a:solidFill>
            <a:schemeClr val="tx1"/>
          </a:solidFill>
          <a:latin typeface="+mn-lt"/>
          <a:ea typeface="ＭＳ Ｐゴシック" pitchFamily="-110" charset="-128"/>
        </a:defRPr>
      </a:lvl2pPr>
      <a:lvl3pPr marL="857250" indent="-171450" algn="l" rtl="0" eaLnBrk="0" fontAlgn="base" hangingPunct="0">
        <a:spcBef>
          <a:spcPct val="20000"/>
        </a:spcBef>
        <a:spcAft>
          <a:spcPct val="0"/>
        </a:spcAft>
        <a:buClr>
          <a:srgbClr val="193399"/>
        </a:buClr>
        <a:buFont typeface="Times" pitchFamily="2" charset="0"/>
        <a:buChar char="•"/>
        <a:defRPr kumimoji="1" sz="1800">
          <a:solidFill>
            <a:schemeClr val="tx1"/>
          </a:solidFill>
          <a:latin typeface="+mn-lt"/>
          <a:ea typeface="ＭＳ Ｐゴシック" pitchFamily="-110" charset="-128"/>
        </a:defRPr>
      </a:lvl3pPr>
      <a:lvl4pPr marL="12001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4pPr>
      <a:lvl5pPr marL="15430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5pPr>
      <a:lvl6pPr marL="18859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6pPr>
      <a:lvl7pPr marL="22288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7pPr>
      <a:lvl8pPr marL="25717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8pPr>
      <a:lvl9pPr marL="29146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0EC7E1-70F5-B944-A6B9-9729D9C5766D}"/>
              </a:ext>
            </a:extLst>
          </p:cNvPr>
          <p:cNvSpPr>
            <a:spLocks noGrp="1" noChangeArrowheads="1"/>
          </p:cNvSpPr>
          <p:nvPr>
            <p:ph type="ctrTitle"/>
          </p:nvPr>
        </p:nvSpPr>
        <p:spPr/>
        <p:txBody>
          <a:bodyPr/>
          <a:lstStyle/>
          <a:p>
            <a:r>
              <a:rPr kumimoji="0" lang="en-US" altLang="en-US">
                <a:ea typeface="ＭＳ Ｐゴシック" panose="020B0600070205080204" pitchFamily="34" charset="-128"/>
              </a:rPr>
              <a:t>Physiology of Perception</a:t>
            </a:r>
          </a:p>
        </p:txBody>
      </p:sp>
      <p:sp>
        <p:nvSpPr>
          <p:cNvPr id="15362" name="Rectangle 3">
            <a:extLst>
              <a:ext uri="{FF2B5EF4-FFF2-40B4-BE49-F238E27FC236}">
                <a16:creationId xmlns:a16="http://schemas.microsoft.com/office/drawing/2014/main" id="{20FBDE40-A6DE-8D4F-B6AD-C5842F4DFA5E}"/>
              </a:ext>
            </a:extLst>
          </p:cNvPr>
          <p:cNvSpPr>
            <a:spLocks noGrp="1" noChangeArrowheads="1"/>
          </p:cNvSpPr>
          <p:nvPr>
            <p:ph type="subTitle" idx="1"/>
          </p:nvPr>
        </p:nvSpPr>
        <p:spPr/>
        <p:txBody>
          <a:bodyPr/>
          <a:lstStyle/>
          <a:p>
            <a:pPr>
              <a:buFont typeface="Wingdings" pitchFamily="2" charset="2"/>
              <a:buNone/>
            </a:pPr>
            <a:r>
              <a:rPr kumimoji="0" lang="en-US" altLang="en-US">
                <a:ea typeface="ＭＳ Ｐゴシック" panose="020B0600070205080204" pitchFamily="34" charset="-128"/>
              </a:rPr>
              <a:t>Fire in the brain</a:t>
            </a:r>
          </a:p>
        </p:txBody>
      </p:sp>
      <p:sp>
        <p:nvSpPr>
          <p:cNvPr id="2" name="Date Placeholder 1">
            <a:extLst>
              <a:ext uri="{FF2B5EF4-FFF2-40B4-BE49-F238E27FC236}">
                <a16:creationId xmlns:a16="http://schemas.microsoft.com/office/drawing/2014/main" id="{9723107C-33DB-3F40-BFA8-48DB5164EB7F}"/>
              </a:ext>
            </a:extLst>
          </p:cNvPr>
          <p:cNvSpPr>
            <a:spLocks noGrp="1"/>
          </p:cNvSpPr>
          <p:nvPr>
            <p:ph type="dt" sz="quarter" idx="10"/>
          </p:nvPr>
        </p:nvSpPr>
        <p:spPr/>
        <p:txBody>
          <a:bodyPr/>
          <a:lstStyle/>
          <a:p>
            <a:pPr>
              <a:defRPr/>
            </a:pPr>
            <a:fld id="{902962C5-4225-8049-BE34-7F57878BE24B}" type="datetime4">
              <a:rPr lang="en-US"/>
              <a:pPr>
                <a:defRPr/>
              </a:pPr>
              <a:t>January 24, 2021</a:t>
            </a:fld>
            <a:endParaRPr lang="en-US"/>
          </a:p>
        </p:txBody>
      </p:sp>
      <p:sp>
        <p:nvSpPr>
          <p:cNvPr id="3" name="Footer Placeholder 2">
            <a:extLst>
              <a:ext uri="{FF2B5EF4-FFF2-40B4-BE49-F238E27FC236}">
                <a16:creationId xmlns:a16="http://schemas.microsoft.com/office/drawing/2014/main" id="{445664FD-1ADA-174D-8A96-0EC32EF0A1E7}"/>
              </a:ext>
            </a:extLst>
          </p:cNvPr>
          <p:cNvSpPr>
            <a:spLocks noGrp="1"/>
          </p:cNvSpPr>
          <p:nvPr>
            <p:ph type="ftr" sz="quarter" idx="11"/>
          </p:nvPr>
        </p:nvSpPr>
        <p:spPr/>
        <p:txBody>
          <a:bodyPr/>
          <a:lstStyle/>
          <a:p>
            <a:pPr>
              <a:defRPr/>
            </a:pPr>
            <a:r>
              <a:rPr lang="tr-TR"/>
              <a:t>PSYCH 4041 / 6014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6A63-FDE1-1B42-99C6-A07A8B1817EB}"/>
              </a:ext>
            </a:extLst>
          </p:cNvPr>
          <p:cNvSpPr>
            <a:spLocks noGrp="1"/>
          </p:cNvSpPr>
          <p:nvPr>
            <p:ph type="title"/>
          </p:nvPr>
        </p:nvSpPr>
        <p:spPr/>
        <p:txBody>
          <a:bodyPr/>
          <a:lstStyle/>
          <a:p>
            <a:r>
              <a:rPr lang="en-US" dirty="0"/>
              <a:t>Reminder: Outline of Topics</a:t>
            </a:r>
          </a:p>
        </p:txBody>
      </p:sp>
      <p:sp>
        <p:nvSpPr>
          <p:cNvPr id="3" name="Content Placeholder 2">
            <a:extLst>
              <a:ext uri="{FF2B5EF4-FFF2-40B4-BE49-F238E27FC236}">
                <a16:creationId xmlns:a16="http://schemas.microsoft.com/office/drawing/2014/main" id="{8FCCD038-AE73-4547-816E-773CDEB735FC}"/>
              </a:ext>
            </a:extLst>
          </p:cNvPr>
          <p:cNvSpPr>
            <a:spLocks noGrp="1"/>
          </p:cNvSpPr>
          <p:nvPr>
            <p:ph idx="1"/>
          </p:nvPr>
        </p:nvSpPr>
        <p:spPr/>
        <p:txBody>
          <a:bodyPr/>
          <a:lstStyle/>
          <a:p>
            <a:pPr marL="0" indent="0">
              <a:buNone/>
            </a:pPr>
            <a:r>
              <a:rPr lang="en-US" sz="1600" dirty="0"/>
              <a:t>https://</a:t>
            </a:r>
            <a:r>
              <a:rPr lang="en-US" sz="1600" dirty="0" err="1"/>
              <a:t>gatech.instructure.com</a:t>
            </a:r>
            <a:r>
              <a:rPr lang="en-US" sz="1600" dirty="0"/>
              <a:t>/courses/181190/pages/schedule-of-lecture-topics-2021</a:t>
            </a:r>
          </a:p>
        </p:txBody>
      </p:sp>
      <p:sp>
        <p:nvSpPr>
          <p:cNvPr id="4" name="Date Placeholder 3">
            <a:extLst>
              <a:ext uri="{FF2B5EF4-FFF2-40B4-BE49-F238E27FC236}">
                <a16:creationId xmlns:a16="http://schemas.microsoft.com/office/drawing/2014/main" id="{59A11876-3039-DF49-BBBB-520DF66A311D}"/>
              </a:ext>
            </a:extLst>
          </p:cNvPr>
          <p:cNvSpPr>
            <a:spLocks noGrp="1"/>
          </p:cNvSpPr>
          <p:nvPr>
            <p:ph type="dt" sz="half" idx="10"/>
          </p:nvPr>
        </p:nvSpPr>
        <p:spPr/>
        <p:txBody>
          <a:bodyPr/>
          <a:lstStyle/>
          <a:p>
            <a:pPr>
              <a:defRPr/>
            </a:pPr>
            <a:r>
              <a:rPr lang="en-US"/>
              <a:t>Spring 2021</a:t>
            </a:r>
          </a:p>
        </p:txBody>
      </p:sp>
      <p:sp>
        <p:nvSpPr>
          <p:cNvPr id="5" name="Footer Placeholder 4">
            <a:extLst>
              <a:ext uri="{FF2B5EF4-FFF2-40B4-BE49-F238E27FC236}">
                <a16:creationId xmlns:a16="http://schemas.microsoft.com/office/drawing/2014/main" id="{EF36CFD3-57DD-1A4C-9BDA-B4204C4298AB}"/>
              </a:ext>
            </a:extLst>
          </p:cNvPr>
          <p:cNvSpPr>
            <a:spLocks noGrp="1"/>
          </p:cNvSpPr>
          <p:nvPr>
            <p:ph type="ftr" sz="quarter" idx="11"/>
          </p:nvPr>
        </p:nvSpPr>
        <p:spPr/>
        <p:txBody>
          <a:bodyPr/>
          <a:lstStyle/>
          <a:p>
            <a:pPr>
              <a:defRPr/>
            </a:pPr>
            <a:r>
              <a:rPr lang="tr-TR"/>
              <a:t>PSYCH 4041 / 6014</a:t>
            </a:r>
            <a:endParaRPr lang="en-US" sz="1050">
              <a:latin typeface="Comic Sans MS" charset="0"/>
            </a:endParaRPr>
          </a:p>
        </p:txBody>
      </p:sp>
      <p:pic>
        <p:nvPicPr>
          <p:cNvPr id="8" name="Picture 7" descr="The image shows a webpage displaying a schedule of lecture topics for a course in 2021. The main title, &quot;Schedule of Lecture Topics (2021)&quot;, is displayed in a large, grey, sans-serif font at the top of the page. Below this, a smaller heading &quot;Schedule of Classes&quot; is present. The content is organized into a table with columns for &quot;Wk Date&quot;, &quot;Topic&quot;, &quot;Reading(s)*&quot;, and &quot;Notes&quot;. The table lists various topics such as &quot;Introduction to Course&quot;, &quot;History &amp; Philosophy&quot;, and &quot;Physiology of Perception&quot;, along with associated readings and dates. The content is presented in a clean, organized, and digital format, typical of an online learning platform. At the bottom of the schedule, a thumbnail of a video player is visible, suggesting supplemental video content is available for one of the topics.">
            <a:extLst>
              <a:ext uri="{FF2B5EF4-FFF2-40B4-BE49-F238E27FC236}">
                <a16:creationId xmlns:a16="http://schemas.microsoft.com/office/drawing/2014/main" id="{84D41207-A92B-6C4E-8A65-B666869A9333}"/>
              </a:ext>
            </a:extLst>
          </p:cNvPr>
          <p:cNvPicPr>
            <a:picLocks noChangeAspect="1"/>
          </p:cNvPicPr>
          <p:nvPr/>
        </p:nvPicPr>
        <p:blipFill rotWithShape="1">
          <a:blip r:embed="rId2"/>
          <a:srcRect t="13526"/>
          <a:stretch/>
        </p:blipFill>
        <p:spPr>
          <a:xfrm>
            <a:off x="1600200" y="1123016"/>
            <a:ext cx="6207239" cy="3887134"/>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Donut 5">
            <a:extLst>
              <a:ext uri="{FF2B5EF4-FFF2-40B4-BE49-F238E27FC236}">
                <a16:creationId xmlns:a16="http://schemas.microsoft.com/office/drawing/2014/main" id="{A33A7FE9-7467-414A-A855-1B2EB14EC9A5}"/>
              </a:ext>
            </a:extLst>
          </p:cNvPr>
          <p:cNvSpPr/>
          <p:nvPr/>
        </p:nvSpPr>
        <p:spPr bwMode="auto">
          <a:xfrm>
            <a:off x="990600" y="2800350"/>
            <a:ext cx="6435839" cy="1219200"/>
          </a:xfrm>
          <a:prstGeom prst="donut">
            <a:avLst/>
          </a:prstGeom>
          <a:solidFill>
            <a:srgbClr val="FFFF00">
              <a:alpha val="50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charset="0"/>
              <a:ea typeface="ＭＳ Ｐゴシック" charset="0"/>
            </a:endParaRPr>
          </a:p>
        </p:txBody>
      </p:sp>
    </p:spTree>
    <p:extLst>
      <p:ext uri="{BB962C8B-B14F-4D97-AF65-F5344CB8AC3E}">
        <p14:creationId xmlns:p14="http://schemas.microsoft.com/office/powerpoint/2010/main" val="56290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B74CCB0F-2B8C-DA48-B9B6-5D5DC8FE1CD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470441A8-5C41-BD4D-9B61-FF018AA5E2C5}"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7410" name="Footer Placeholder 4">
            <a:extLst>
              <a:ext uri="{FF2B5EF4-FFF2-40B4-BE49-F238E27FC236}">
                <a16:creationId xmlns:a16="http://schemas.microsoft.com/office/drawing/2014/main" id="{D09DAB0C-30EB-E242-85E6-0F46531077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7411" name="Rectangle 2">
            <a:extLst>
              <a:ext uri="{FF2B5EF4-FFF2-40B4-BE49-F238E27FC236}">
                <a16:creationId xmlns:a16="http://schemas.microsoft.com/office/drawing/2014/main" id="{6C6D466D-6675-C747-854A-F701DCEA0C14}"/>
              </a:ext>
            </a:extLst>
          </p:cNvPr>
          <p:cNvSpPr>
            <a:spLocks noGrp="1" noChangeArrowheads="1"/>
          </p:cNvSpPr>
          <p:nvPr>
            <p:ph type="title"/>
          </p:nvPr>
        </p:nvSpPr>
        <p:spPr/>
        <p:txBody>
          <a:bodyPr/>
          <a:lstStyle/>
          <a:p>
            <a:r>
              <a:rPr lang="en-US" altLang="en-US">
                <a:ea typeface="ＭＳ Ｐゴシック" panose="020B0600070205080204" pitchFamily="34" charset="-128"/>
              </a:rPr>
              <a:t>Overview</a:t>
            </a:r>
          </a:p>
        </p:txBody>
      </p:sp>
      <p:sp>
        <p:nvSpPr>
          <p:cNvPr id="17412" name="Rectangle 3">
            <a:extLst>
              <a:ext uri="{FF2B5EF4-FFF2-40B4-BE49-F238E27FC236}">
                <a16:creationId xmlns:a16="http://schemas.microsoft.com/office/drawing/2014/main" id="{2C52D3D0-74DF-FF4B-8816-1AC2324BD10A}"/>
              </a:ext>
            </a:extLst>
          </p:cNvPr>
          <p:cNvSpPr>
            <a:spLocks noGrp="1" noChangeArrowheads="1"/>
          </p:cNvSpPr>
          <p:nvPr>
            <p:ph type="body" idx="1"/>
          </p:nvPr>
        </p:nvSpPr>
        <p:spPr>
          <a:xfrm>
            <a:off x="838200" y="685800"/>
            <a:ext cx="8001000" cy="4171950"/>
          </a:xfrm>
        </p:spPr>
        <p:txBody>
          <a:bodyPr/>
          <a:lstStyle/>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as center of perception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Structure</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Transduction &amp; Transmission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Neural Signals</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Coding</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Upcoming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3">
            <a:extLst>
              <a:ext uri="{FF2B5EF4-FFF2-40B4-BE49-F238E27FC236}">
                <a16:creationId xmlns:a16="http://schemas.microsoft.com/office/drawing/2014/main" id="{6AD73A8B-38CB-2B4B-AE3D-22BE07F653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D976380-119C-3F48-A59C-E46077F21BE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9458" name="Footer Placeholder 4">
            <a:extLst>
              <a:ext uri="{FF2B5EF4-FFF2-40B4-BE49-F238E27FC236}">
                <a16:creationId xmlns:a16="http://schemas.microsoft.com/office/drawing/2014/main" id="{1754684D-BE54-724D-A2D8-0667E8A537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9459" name="Rectangle 2">
            <a:extLst>
              <a:ext uri="{FF2B5EF4-FFF2-40B4-BE49-F238E27FC236}">
                <a16:creationId xmlns:a16="http://schemas.microsoft.com/office/drawing/2014/main" id="{01C17CEB-3A9B-3148-A9AD-54A0BD4AB9A9}"/>
              </a:ext>
            </a:extLst>
          </p:cNvPr>
          <p:cNvSpPr>
            <a:spLocks noGrp="1" noChangeArrowheads="1"/>
          </p:cNvSpPr>
          <p:nvPr>
            <p:ph type="title"/>
          </p:nvPr>
        </p:nvSpPr>
        <p:spPr/>
        <p:txBody>
          <a:bodyPr/>
          <a:lstStyle/>
          <a:p>
            <a:r>
              <a:rPr lang="en-US" altLang="en-US">
                <a:ea typeface="ＭＳ Ｐゴシック" panose="020B0600070205080204" pitchFamily="34" charset="-128"/>
              </a:rPr>
              <a:t>Brain as Center of Perception</a:t>
            </a:r>
          </a:p>
        </p:txBody>
      </p:sp>
      <p:sp>
        <p:nvSpPr>
          <p:cNvPr id="19460" name="Rectangle 3">
            <a:extLst>
              <a:ext uri="{FF2B5EF4-FFF2-40B4-BE49-F238E27FC236}">
                <a16:creationId xmlns:a16="http://schemas.microsoft.com/office/drawing/2014/main" id="{B93E2BB2-C3D4-F84E-906F-7CC29E13E327}"/>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000" dirty="0">
                <a:ea typeface="ＭＳ Ｐゴシック" panose="020B0600070205080204" pitchFamily="34" charset="-128"/>
              </a:rPr>
              <a:t>Study of the human as a perceiving “machine” led to the conclusion that the brain was center of thought and perception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Early anatomists tried dissection to determine (1) structure, then (2) function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Modern efforts much more effective !</a:t>
            </a:r>
          </a:p>
        </p:txBody>
      </p:sp>
      <p:pic>
        <p:nvPicPr>
          <p:cNvPr id="19461" name="Picture 4" descr="A photograph shows a human brain from a top-down perspective. The top half of the image displays the superior view of the brain, split down the longitudinal fissure into two hemispheres. The bottom half of the image shows a whole brain, also from a superior view. Both brains are a light brown to beige color, with a network of dark blue veins visible within the gyri and sulci. The surface is highly convoluted, with deep grooves (sulci) separating the wrinkled folds (gyri). The context of the image is &quot;Brain as Center of Perception&quot; and a course date of January 24, 2021.">
            <a:extLst>
              <a:ext uri="{FF2B5EF4-FFF2-40B4-BE49-F238E27FC236}">
                <a16:creationId xmlns:a16="http://schemas.microsoft.com/office/drawing/2014/main" id="{8363DA79-3720-1F41-8661-DA78AEDD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742950"/>
            <a:ext cx="2396067" cy="362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3">
            <a:extLst>
              <a:ext uri="{FF2B5EF4-FFF2-40B4-BE49-F238E27FC236}">
                <a16:creationId xmlns:a16="http://schemas.microsoft.com/office/drawing/2014/main" id="{D497DFB1-0648-0F41-85C5-7831C637BC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5F0751-AA33-8041-A0B1-3573A6CC8921}"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1506" name="Footer Placeholder 4">
            <a:extLst>
              <a:ext uri="{FF2B5EF4-FFF2-40B4-BE49-F238E27FC236}">
                <a16:creationId xmlns:a16="http://schemas.microsoft.com/office/drawing/2014/main" id="{464259C6-498D-BE49-A278-D6ED930258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21507" name="Rectangle 2">
            <a:extLst>
              <a:ext uri="{FF2B5EF4-FFF2-40B4-BE49-F238E27FC236}">
                <a16:creationId xmlns:a16="http://schemas.microsoft.com/office/drawing/2014/main" id="{4A649948-3311-754F-BAFA-B2BA18EFBB85}"/>
              </a:ext>
            </a:extLst>
          </p:cNvPr>
          <p:cNvSpPr>
            <a:spLocks noGrp="1" noChangeArrowheads="1"/>
          </p:cNvSpPr>
          <p:nvPr>
            <p:ph type="title"/>
          </p:nvPr>
        </p:nvSpPr>
        <p:spPr/>
        <p:txBody>
          <a:bodyPr/>
          <a:lstStyle/>
          <a:p>
            <a:r>
              <a:rPr lang="en-US" altLang="en-US">
                <a:ea typeface="ＭＳ Ｐゴシック" panose="020B0600070205080204" pitchFamily="34" charset="-128"/>
              </a:rPr>
              <a:t>Made Up of Neurons…</a:t>
            </a:r>
          </a:p>
        </p:txBody>
      </p:sp>
      <p:sp>
        <p:nvSpPr>
          <p:cNvPr id="21508" name="Rectangle 3">
            <a:extLst>
              <a:ext uri="{FF2B5EF4-FFF2-40B4-BE49-F238E27FC236}">
                <a16:creationId xmlns:a16="http://schemas.microsoft.com/office/drawing/2014/main" id="{0FA59155-5373-5A40-A771-48C3313E5410}"/>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200" dirty="0">
                <a:ea typeface="ＭＳ Ｐゴシック" panose="020B0600070205080204" pitchFamily="34" charset="-128"/>
              </a:rPr>
              <a:t>The Neuron Doctrine</a:t>
            </a:r>
          </a:p>
          <a:p>
            <a:pPr lvl="1">
              <a:lnSpc>
                <a:spcPct val="90000"/>
              </a:lnSpc>
            </a:pPr>
            <a:r>
              <a:rPr lang="en-US" altLang="en-US" sz="2200" dirty="0">
                <a:ea typeface="ＭＳ Ｐゴシック" panose="020B0600070205080204" pitchFamily="34" charset="-128"/>
              </a:rPr>
              <a:t>Neurons &amp; their synapses are the fundamental entities in brain functions, including the mind and consciousness</a:t>
            </a:r>
          </a:p>
          <a:p>
            <a:pPr lvl="1">
              <a:lnSpc>
                <a:spcPct val="90000"/>
              </a:lnSpc>
            </a:pPr>
            <a:r>
              <a:rPr lang="en-US" altLang="en-US" sz="2200" dirty="0">
                <a:ea typeface="ＭＳ Ｐゴシック" panose="020B0600070205080204" pitchFamily="34" charset="-128"/>
              </a:rPr>
              <a:t>All the functions of the brain must ultimately be understood in terms of neurons and their interactions</a:t>
            </a:r>
          </a:p>
          <a:p>
            <a:pPr lvl="1">
              <a:lnSpc>
                <a:spcPct val="90000"/>
              </a:lnSpc>
            </a:pPr>
            <a:r>
              <a:rPr lang="en-US" altLang="en-US" sz="2200" dirty="0">
                <a:ea typeface="ＭＳ Ｐゴシック" panose="020B0600070205080204" pitchFamily="34" charset="-128"/>
              </a:rPr>
              <a:t>Note: Neurons are electric</a:t>
            </a:r>
          </a:p>
        </p:txBody>
      </p:sp>
      <p:pic>
        <p:nvPicPr>
          <p:cNvPr id="21509" name="Picture 5" descr="The image is a close-up, brightly lit, overhead view of dark red neurons against a warm, yellow-orange background. The neurons have distinct triangular or pyramidal-shaped cell bodies, with numerous fine, branching dendrites extending outwards, resembling intricate tree branches. The image appears to be a micrograph, likely of brain tissue, given the context of &quot;Made Up of Neurons&quot; and &quot;PSYCH 4041 / 6014,&quot; suggesting it's related to psychology or neuroscience studies. The overall impression is one of intricate biological complexity and a vibrant, almost abstract beauty.">
            <a:extLst>
              <a:ext uri="{FF2B5EF4-FFF2-40B4-BE49-F238E27FC236}">
                <a16:creationId xmlns:a16="http://schemas.microsoft.com/office/drawing/2014/main" id="{6B7C7D7C-FCFE-814F-A42C-1E079379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91" y="819150"/>
            <a:ext cx="2132409"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DEA07D7-B863-D74C-853E-B17B753A0463}"/>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 Brain Structure</a:t>
            </a:r>
          </a:p>
        </p:txBody>
      </p:sp>
      <p:sp>
        <p:nvSpPr>
          <p:cNvPr id="23554" name="Rectangle 3">
            <a:extLst>
              <a:ext uri="{FF2B5EF4-FFF2-40B4-BE49-F238E27FC236}">
                <a16:creationId xmlns:a16="http://schemas.microsoft.com/office/drawing/2014/main" id="{D8C615DF-A988-584B-959D-8AA00A71291F}"/>
              </a:ext>
            </a:extLst>
          </p:cNvPr>
          <p:cNvSpPr>
            <a:spLocks noGrp="1" noChangeArrowheads="1"/>
          </p:cNvSpPr>
          <p:nvPr>
            <p:ph type="body" idx="1"/>
          </p:nvPr>
        </p:nvSpPr>
        <p:spPr>
          <a:xfrm>
            <a:off x="838200" y="857250"/>
            <a:ext cx="6648450" cy="365760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brain has modular organization</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sensory modalities have primary receiving areas</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Audition - temporal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Tactile senses - parietal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Vision - occipital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Etc.</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Frontal lobe coordinates information received from two or more senses</a:t>
            </a:r>
          </a:p>
        </p:txBody>
      </p:sp>
      <p:sp>
        <p:nvSpPr>
          <p:cNvPr id="23555" name="Date Placeholder 1">
            <a:extLst>
              <a:ext uri="{FF2B5EF4-FFF2-40B4-BE49-F238E27FC236}">
                <a16:creationId xmlns:a16="http://schemas.microsoft.com/office/drawing/2014/main" id="{2F967521-A193-1843-B9FF-883539FCD86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1DA6B711-F320-CA47-8965-BE2A034C453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3556" name="Footer Placeholder 2">
            <a:extLst>
              <a:ext uri="{FF2B5EF4-FFF2-40B4-BE49-F238E27FC236}">
                <a16:creationId xmlns:a16="http://schemas.microsoft.com/office/drawing/2014/main" id="{DA381CA7-7BFC-F844-8009-72C9FF712F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7FD46BCF-354D-C84D-9640-D842959E13C7}"/>
              </a:ext>
            </a:extLst>
          </p:cNvPr>
          <p:cNvSpPr>
            <a:spLocks noGrp="1" noChangeArrowheads="1"/>
          </p:cNvSpPr>
          <p:nvPr>
            <p:ph type="body" idx="1"/>
          </p:nvPr>
        </p:nvSpPr>
        <p:spPr>
          <a:xfrm>
            <a:off x="2019300" y="3943350"/>
            <a:ext cx="6057900" cy="1028700"/>
          </a:xfrm>
          <a:solidFill>
            <a:schemeClr val="bg1"/>
          </a:solidFill>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2.3 The human brain, showing the locations of the primary receiving areas for the senses in the temporal, occipital, and parietal lobes, and the frontal lobe, which is involved with integrating sensory functions.</a:t>
            </a:r>
          </a:p>
        </p:txBody>
      </p:sp>
      <p:pic>
        <p:nvPicPr>
          <p:cNvPr id="25602" name="Picture 4" descr="The image is a diagram of the human brain, viewed from the left side. The brain is depicted in a reddish-brown color, with prominent folds and grooves. Labels are strategically placed, pointing to specific regions of the brain and indicating their primary functions related to senses.&#10;&#10;The **Frontal lobe** is labeled on the anterior (front) part of the brain, and the text indicates it is involved in integrating sensory functions.&#10;&#10;The **Parietal lobe (skin senses)** is labeled on the superior (top) and posterior (back) part of the cerebrum, suggesting its role in processing tactile sensations.&#10;&#10;The **Temporal lobe (hearing)** is labeled on the inferior (bottom) and anterior part of the cerebrum, identifying it as the primary area for auditory processing.&#10;&#10;The **Occipital lobe (vision)** is labeled at the posterior (back) of the cerebrum, denoting its connection to visual perception.&#10;&#10;Below the main cerebrum, a portion of the cerebellum is visible, appearing in a darker gray, ridged texture. A small section of the brainstem, colored yellow, is also visible. The diagram is designed to clearly illustrate the anatomical locations of these key brain regions and their associated sensory functions, as described in the accompanying text.">
            <a:extLst>
              <a:ext uri="{FF2B5EF4-FFF2-40B4-BE49-F238E27FC236}">
                <a16:creationId xmlns:a16="http://schemas.microsoft.com/office/drawing/2014/main" id="{84859B0F-B8DC-1F44-A0AB-0A0877E8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4807"/>
            <a:ext cx="6477000" cy="4448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Date Placeholder 1">
            <a:extLst>
              <a:ext uri="{FF2B5EF4-FFF2-40B4-BE49-F238E27FC236}">
                <a16:creationId xmlns:a16="http://schemas.microsoft.com/office/drawing/2014/main" id="{7BEF6A66-4D97-474A-8328-B4B3B64BFBE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9A86305-13EB-E149-8B7F-A8AC79AE81A2}"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68F3162-86D0-9E4B-A4A1-EDE1465DF482}"/>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7650" name="Rectangle 3">
            <a:extLst>
              <a:ext uri="{FF2B5EF4-FFF2-40B4-BE49-F238E27FC236}">
                <a16:creationId xmlns:a16="http://schemas.microsoft.com/office/drawing/2014/main" id="{E04CE557-18BC-2B4E-97EC-E93FCA4EB628}"/>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100" dirty="0">
                <a:latin typeface="Arial" panose="020B0604020202020204" pitchFamily="34" charset="0"/>
                <a:ea typeface="ＭＳ Ｐゴシック" panose="020B0600070205080204" pitchFamily="34" charset="-128"/>
              </a:rPr>
              <a:t>Receptors - specialized neurons that respond to specific kinds of energy</a:t>
            </a:r>
            <a:endParaRPr lang="en-US" altLang="en-US" dirty="0">
              <a:latin typeface="Arial" panose="020B0604020202020204" pitchFamily="34" charset="0"/>
              <a:ea typeface="ＭＳ Ｐゴシック" panose="020B0600070205080204" pitchFamily="34" charset="-128"/>
            </a:endParaRPr>
          </a:p>
        </p:txBody>
      </p:sp>
      <p:pic>
        <p:nvPicPr>
          <p:cNvPr id="27651" name="Picture 4" descr="The diagram displays five distinct types of sensory receptor cells, each labeled with a letter from (a) to (e) and corresponding to a different sense: vision, hearing, touch, smell, and taste. Each receptor cell is depicted in a simplified, stylized manner, with internal structures like the nucleus and cilia or other specialized projections highlighted. The cells vary in shape and complexity, reflecting their diverse functions. For example, the vision receptor (a) is elongated with stacked discs, while the taste receptor (e) is bulbous with a single axon. The diagram is presented against a light blue background, with each cell type separated by vertical lines, and the sense it represents is indicated below each illustration. An asterisk (*) is placed near the receptive end of each cell, drawing attention to the part of the neuron that interacts with the stimulus. The title &quot;Neurons: Transduction &amp; Transmission&quot; and the immediate text &quot;Receptors - specialized neurons that respond to specific kinds of energy&quot; provide the biological context for these illustrations, emphasizing their role in converting external stimuli into neural signals.">
            <a:extLst>
              <a:ext uri="{FF2B5EF4-FFF2-40B4-BE49-F238E27FC236}">
                <a16:creationId xmlns:a16="http://schemas.microsoft.com/office/drawing/2014/main" id="{EDC8230E-1E0A-5844-B2FC-597149D2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5" y="1581150"/>
            <a:ext cx="8327615" cy="2947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Date Placeholder 1">
            <a:extLst>
              <a:ext uri="{FF2B5EF4-FFF2-40B4-BE49-F238E27FC236}">
                <a16:creationId xmlns:a16="http://schemas.microsoft.com/office/drawing/2014/main" id="{416B7D9C-3591-114C-835B-7A772AB9DF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373439-8050-094F-AA91-928198248D7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7653" name="Footer Placeholder 2">
            <a:extLst>
              <a:ext uri="{FF2B5EF4-FFF2-40B4-BE49-F238E27FC236}">
                <a16:creationId xmlns:a16="http://schemas.microsoft.com/office/drawing/2014/main" id="{5853A928-1411-5447-A2C9-A417A56972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241A2D-2707-D549-8D5F-DBB2AAD12487}"/>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9698" name="Rectangle 3">
            <a:extLst>
              <a:ext uri="{FF2B5EF4-FFF2-40B4-BE49-F238E27FC236}">
                <a16:creationId xmlns:a16="http://schemas.microsoft.com/office/drawing/2014/main" id="{FFFB08A7-53EC-254D-AC7E-F67645324D6B}"/>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Key components of neurons: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Cell body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Dendrites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Axon or nerve fiber</a:t>
            </a:r>
          </a:p>
        </p:txBody>
      </p:sp>
      <p:pic>
        <p:nvPicPr>
          <p:cNvPr id="29699" name="Picture 4" descr="The diagram illustrates the process of neural transduction and transmission. On the left, a spherical &quot;touch receptor&quot; is shown with a red arrow indicating a &quot;Stimulus from environment&quot; impacting it. This stimulus is then transmitted through a &quot;Nerve fiber,&quot; which generates an &quot;Electrical signal&quot; depicted by red arrows moving along its length. This nerve fiber connects to a neuron, characterized by its star-shaped &quot;Cell body&quot; and numerous branching &quot;Dendrites.&quot; A gap labeled &quot;Synapse&quot; is shown between the nerve fiber and the dendrites, indicating where communication occurs. Extending from the cell body is a long &quot;Axon or nerve fiber,&quot; also showing segments, with red arrows indicating the direction of electrical signal transmission along its length. The diagram effectively visualizes how sensory input is received, transduced into an electrical signal, and then transmitted through the neural pathway.">
            <a:extLst>
              <a:ext uri="{FF2B5EF4-FFF2-40B4-BE49-F238E27FC236}">
                <a16:creationId xmlns:a16="http://schemas.microsoft.com/office/drawing/2014/main" id="{69ACFB55-B8E3-314B-B581-5E5B86F7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95495"/>
            <a:ext cx="8067897" cy="208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2">
            <a:extLst>
              <a:ext uri="{FF2B5EF4-FFF2-40B4-BE49-F238E27FC236}">
                <a16:creationId xmlns:a16="http://schemas.microsoft.com/office/drawing/2014/main" id="{94A4D5F1-EEFA-7F42-973D-7198A94416D0}"/>
              </a:ext>
            </a:extLst>
          </p:cNvPr>
          <p:cNvSpPr txBox="1">
            <a:spLocks noChangeArrowheads="1"/>
          </p:cNvSpPr>
          <p:nvPr/>
        </p:nvSpPr>
        <p:spPr bwMode="auto">
          <a:xfrm>
            <a:off x="2247900" y="4476750"/>
            <a:ext cx="6057900" cy="471488"/>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2.4 The neuron on the right consists of a cell body, dendrites, and an axon, or nerve fiber.  The neuron on the left that receives stimuli from the environment has a receptor in place of the cell body.</a:t>
            </a:r>
          </a:p>
        </p:txBody>
      </p:sp>
      <p:sp>
        <p:nvSpPr>
          <p:cNvPr id="29701" name="Date Placeholder 1">
            <a:extLst>
              <a:ext uri="{FF2B5EF4-FFF2-40B4-BE49-F238E27FC236}">
                <a16:creationId xmlns:a16="http://schemas.microsoft.com/office/drawing/2014/main" id="{0FB608D1-8E1B-E149-906C-1951EDFEB1E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63C21AA-C9E3-5D42-B571-1B128C2FCBB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42D317F-DF76-8043-AD69-87BC5CB5EA6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Signals</a:t>
            </a:r>
          </a:p>
        </p:txBody>
      </p:sp>
      <p:sp>
        <p:nvSpPr>
          <p:cNvPr id="31746" name="Rectangle 3">
            <a:extLst>
              <a:ext uri="{FF2B5EF4-FFF2-40B4-BE49-F238E27FC236}">
                <a16:creationId xmlns:a16="http://schemas.microsoft.com/office/drawing/2014/main" id="{5A1FAB20-FBA6-9842-ADB3-431636B93808}"/>
              </a:ext>
            </a:extLst>
          </p:cNvPr>
          <p:cNvSpPr>
            <a:spLocks noGrp="1" noChangeArrowheads="1"/>
          </p:cNvSpPr>
          <p:nvPr>
            <p:ph type="body" idx="1"/>
          </p:nvPr>
        </p:nvSpPr>
        <p:spPr>
          <a:xfrm>
            <a:off x="866775" y="792956"/>
            <a:ext cx="45148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Electrical signals or action potentials</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 occur when: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permeability of the membrane changes</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Na+ flows into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positive </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 flows out of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negative</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This process travels down the axon in a propagated response</a:t>
            </a:r>
          </a:p>
          <a:p>
            <a:pPr lvl="1">
              <a:lnSpc>
                <a:spcPct val="90000"/>
              </a:lnSpc>
              <a:spcBef>
                <a:spcPct val="30000"/>
              </a:spcBef>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1747" name="Picture 4" descr="1. **Main Trend:** The main trend shows that the charge inside the nerve fiber changes significantly and then returns to its resting state as an electrical signal propagates along the axon.&#10;&#10;2. **Axes:**&#10;    * The horizontal axis represents time, indicating the progression of the electrical event.&#10;    * The vertical axis represents the electrical charge inside the fiber relative to the outside, measured in millivolts (mV). This axis depicts the voltage difference across the nerve fiber membrane.">
            <a:extLst>
              <a:ext uri="{FF2B5EF4-FFF2-40B4-BE49-F238E27FC236}">
                <a16:creationId xmlns:a16="http://schemas.microsoft.com/office/drawing/2014/main" id="{2B2EA2DA-F5F3-D241-8C7D-A0EA4FF0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166" y="800100"/>
            <a:ext cx="3170634" cy="350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Date Placeholder 1">
            <a:extLst>
              <a:ext uri="{FF2B5EF4-FFF2-40B4-BE49-F238E27FC236}">
                <a16:creationId xmlns:a16="http://schemas.microsoft.com/office/drawing/2014/main" id="{6CC403BE-2CF1-634E-99A5-930E7B60E07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56E3F5E-46BE-0C4A-9B48-7A0757E0168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1749" name="Footer Placeholder 2">
            <a:extLst>
              <a:ext uri="{FF2B5EF4-FFF2-40B4-BE49-F238E27FC236}">
                <a16:creationId xmlns:a16="http://schemas.microsoft.com/office/drawing/2014/main" id="{E7BD3A59-C96D-0342-8BA4-E2CFE5941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0D084AA8-0E46-0B41-BA15-3867FDBF54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Properties of Action Potentials</a:t>
            </a:r>
          </a:p>
        </p:txBody>
      </p:sp>
      <p:sp>
        <p:nvSpPr>
          <p:cNvPr id="33794" name="Rectangle 3">
            <a:extLst>
              <a:ext uri="{FF2B5EF4-FFF2-40B4-BE49-F238E27FC236}">
                <a16:creationId xmlns:a16="http://schemas.microsoft.com/office/drawing/2014/main" id="{D26D8A89-1DF6-6641-BB7E-B3F5CF742404}"/>
              </a:ext>
            </a:extLst>
          </p:cNvPr>
          <p:cNvSpPr>
            <a:spLocks noGrp="1" noChangeArrowheads="1"/>
          </p:cNvSpPr>
          <p:nvPr>
            <p:ph type="body" idx="1"/>
          </p:nvPr>
        </p:nvSpPr>
        <p:spPr>
          <a:xfrm>
            <a:off x="838200" y="800100"/>
            <a:ext cx="716280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Action potentials: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propagated response.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remain the same size regardless of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 in </a:t>
            </a:r>
            <a:r>
              <a:rPr lang="en-US" altLang="en-US" sz="2000" b="1" dirty="0">
                <a:latin typeface="Tahoma" panose="020B0604030504040204" pitchFamily="34" charset="0"/>
                <a:ea typeface="Tahoma" panose="020B0604030504040204" pitchFamily="34" charset="0"/>
                <a:cs typeface="Tahoma" panose="020B0604030504040204" pitchFamily="34" charset="0"/>
              </a:rPr>
              <a:t>rate </a:t>
            </a:r>
            <a:r>
              <a:rPr lang="en-US" altLang="en-US" sz="2000" dirty="0">
                <a:latin typeface="Tahoma" panose="020B0604030504040204" pitchFamily="34" charset="0"/>
                <a:ea typeface="Tahoma" panose="020B0604030504040204" pitchFamily="34" charset="0"/>
                <a:cs typeface="Tahoma" panose="020B0604030504040204" pitchFamily="34" charset="0"/>
              </a:rPr>
              <a:t>to increase in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have a refractory period of 1 </a:t>
            </a:r>
            <a:r>
              <a:rPr lang="en-US" altLang="en-US" sz="2000" dirty="0" err="1">
                <a:latin typeface="Tahoma" panose="020B0604030504040204" pitchFamily="34" charset="0"/>
                <a:ea typeface="Tahoma" panose="020B0604030504040204" pitchFamily="34" charset="0"/>
                <a:cs typeface="Tahoma" panose="020B0604030504040204" pitchFamily="34" charset="0"/>
              </a:rPr>
              <a:t>ms</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b="1" dirty="0">
                <a:latin typeface="Tahoma" panose="020B0604030504040204" pitchFamily="34" charset="0"/>
                <a:ea typeface="Tahoma" panose="020B0604030504040204" pitchFamily="34" charset="0"/>
                <a:cs typeface="Tahoma" panose="020B0604030504040204" pitchFamily="34" charset="0"/>
              </a:rPr>
              <a:t>upper firing rate </a:t>
            </a:r>
            <a:r>
              <a:rPr lang="en-US" altLang="en-US" sz="2000" dirty="0">
                <a:latin typeface="Tahoma" panose="020B0604030504040204" pitchFamily="34" charset="0"/>
                <a:ea typeface="Tahoma" panose="020B0604030504040204" pitchFamily="34" charset="0"/>
                <a:cs typeface="Tahoma" panose="020B0604030504040204" pitchFamily="34" charset="0"/>
              </a:rPr>
              <a:t>is 500 to 800 impulses per second.</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spontaneous activity that occurs without stimulation (neuronal noise).</a:t>
            </a:r>
          </a:p>
        </p:txBody>
      </p:sp>
      <p:sp>
        <p:nvSpPr>
          <p:cNvPr id="33795" name="Date Placeholder 1">
            <a:extLst>
              <a:ext uri="{FF2B5EF4-FFF2-40B4-BE49-F238E27FC236}">
                <a16:creationId xmlns:a16="http://schemas.microsoft.com/office/drawing/2014/main" id="{EE05B481-9AF4-F94C-B6FF-1FDCCFEBD9E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D9888F8-8F4A-144E-B4DC-BCCEBEB728F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3796" name="Footer Placeholder 2">
            <a:extLst>
              <a:ext uri="{FF2B5EF4-FFF2-40B4-BE49-F238E27FC236}">
                <a16:creationId xmlns:a16="http://schemas.microsoft.com/office/drawing/2014/main" id="{90590B3B-5A73-3C45-A8FF-88E166A2C4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B5D2456-7F45-814E-BEA2-67251C9F7F88}"/>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2.10 Response of a nerve fiber to (a) soft, (b) medium, and (c) strong stimulation. Increasing the stimulus strength increases both the rate and the regularity of nerve firing in this fiber.</a:t>
            </a:r>
          </a:p>
        </p:txBody>
      </p:sp>
      <p:pic>
        <p:nvPicPr>
          <p:cNvPr id="35842" name="Picture 4" descr="1. **Main Trend:** The image illustrates that as stimulus intensity increases, the rate and regularity of nerve fiber firing increase.&#10;&#10;2. **Axes:** The horizontal axis represents **Time**. The vertical axis is not explicitly labeled but represents the occurrence of nerve impulses or &quot;firings.&quot;&#10;&#10;3. **Description:** The diagram shows three rows labeled (a), (b), and (c), each representing a different level of stimulation. Row (a) depicts the response to a soft stimulus, row (b) to a medium stimulus, and row (c) to a strong stimulus. Vertical lines represent nerve impulses. The period of stimulation is indicated by dashed vertical lines and labeled &quot;Pressure on&quot; and &quot;Pressure off.&quot; In row (a), impulses are sparse and somewhat irregular. In row (b), the impulses are more frequent and slightly more regular. In row (c), the impulses are the most frequent and regular, demonstrating a clear increase in firing rate and consistency with increasing stimulus intensity.">
            <a:extLst>
              <a:ext uri="{FF2B5EF4-FFF2-40B4-BE49-F238E27FC236}">
                <a16:creationId xmlns:a16="http://schemas.microsoft.com/office/drawing/2014/main" id="{2F5D69F8-E115-DF42-8F8C-889AC531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742950"/>
            <a:ext cx="525780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CDB2805F-6060-B840-BA6B-688A2A823E6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Stimulus Intensity &amp; Firing Rate</a:t>
            </a:r>
          </a:p>
        </p:txBody>
      </p:sp>
      <p:sp>
        <p:nvSpPr>
          <p:cNvPr id="35844" name="Date Placeholder 1">
            <a:extLst>
              <a:ext uri="{FF2B5EF4-FFF2-40B4-BE49-F238E27FC236}">
                <a16:creationId xmlns:a16="http://schemas.microsoft.com/office/drawing/2014/main" id="{4CA4627A-B8F5-0E4F-8B43-924A60A46B1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AC1371-0779-BB4C-A035-9E911F29B3A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5846" name="TextBox 1">
            <a:extLst>
              <a:ext uri="{FF2B5EF4-FFF2-40B4-BE49-F238E27FC236}">
                <a16:creationId xmlns:a16="http://schemas.microsoft.com/office/drawing/2014/main" id="{03E9264F-A3F5-6F47-80E2-F661537094A4}"/>
              </a:ext>
            </a:extLst>
          </p:cNvPr>
          <p:cNvSpPr txBox="1">
            <a:spLocks noChangeArrowheads="1"/>
          </p:cNvSpPr>
          <p:nvPr/>
        </p:nvSpPr>
        <p:spPr bwMode="auto">
          <a:xfrm>
            <a:off x="1314450" y="971551"/>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Soft pressure</a:t>
            </a:r>
          </a:p>
        </p:txBody>
      </p:sp>
      <p:sp>
        <p:nvSpPr>
          <p:cNvPr id="35847" name="TextBox 7">
            <a:extLst>
              <a:ext uri="{FF2B5EF4-FFF2-40B4-BE49-F238E27FC236}">
                <a16:creationId xmlns:a16="http://schemas.microsoft.com/office/drawing/2014/main" id="{050A81E7-E8C5-CC46-B259-77B662C198B9}"/>
              </a:ext>
            </a:extLst>
          </p:cNvPr>
          <p:cNvSpPr txBox="1">
            <a:spLocks noChangeArrowheads="1"/>
          </p:cNvSpPr>
          <p:nvPr/>
        </p:nvSpPr>
        <p:spPr bwMode="auto">
          <a:xfrm>
            <a:off x="1275160" y="1947863"/>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Medium pressure</a:t>
            </a:r>
          </a:p>
        </p:txBody>
      </p:sp>
      <p:sp>
        <p:nvSpPr>
          <p:cNvPr id="35848" name="TextBox 8">
            <a:extLst>
              <a:ext uri="{FF2B5EF4-FFF2-40B4-BE49-F238E27FC236}">
                <a16:creationId xmlns:a16="http://schemas.microsoft.com/office/drawing/2014/main" id="{D3CF4D5A-592D-464E-AC35-7656D17F328E}"/>
              </a:ext>
            </a:extLst>
          </p:cNvPr>
          <p:cNvSpPr txBox="1">
            <a:spLocks noChangeArrowheads="1"/>
          </p:cNvSpPr>
          <p:nvPr/>
        </p:nvSpPr>
        <p:spPr bwMode="auto">
          <a:xfrm>
            <a:off x="1328738" y="3063479"/>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Strong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4" descr="0211">
            <a:extLst>
              <a:ext uri="{FF2B5EF4-FFF2-40B4-BE49-F238E27FC236}">
                <a16:creationId xmlns:a16="http://schemas.microsoft.com/office/drawing/2014/main" id="{BA59CB00-07A8-A54E-81D3-225A2084D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685800"/>
            <a:ext cx="2419350" cy="433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C3D6827B-86A0-D54A-8598-57D6E402C09E}"/>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Synaptic Transmission of Impulses </a:t>
            </a:r>
          </a:p>
        </p:txBody>
      </p:sp>
      <p:sp>
        <p:nvSpPr>
          <p:cNvPr id="37891" name="Rectangle 3">
            <a:extLst>
              <a:ext uri="{FF2B5EF4-FFF2-40B4-BE49-F238E27FC236}">
                <a16:creationId xmlns:a16="http://schemas.microsoft.com/office/drawing/2014/main" id="{8DB2E0CE-6C0C-4D4C-9A99-A72D9976CA4E}"/>
              </a:ext>
            </a:extLst>
          </p:cNvPr>
          <p:cNvSpPr>
            <a:spLocks noGrp="1" noChangeArrowheads="1"/>
          </p:cNvSpPr>
          <p:nvPr>
            <p:ph type="body" idx="1"/>
          </p:nvPr>
        </p:nvSpPr>
        <p:spPr>
          <a:xfrm>
            <a:off x="838200" y="800100"/>
            <a:ext cx="493395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Neurotransmitters are: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released by the presynaptic neuron from vesicles.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received by the postsynaptic neuron on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matched like a key to a lock into specific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used as triggers for voltage change in the postsynaptic neuron. </a:t>
            </a:r>
          </a:p>
        </p:txBody>
      </p:sp>
      <p:sp>
        <p:nvSpPr>
          <p:cNvPr id="37892" name="Date Placeholder 1">
            <a:extLst>
              <a:ext uri="{FF2B5EF4-FFF2-40B4-BE49-F238E27FC236}">
                <a16:creationId xmlns:a16="http://schemas.microsoft.com/office/drawing/2014/main" id="{1A67EFEC-74DE-7943-8D65-9A3A7E7BC4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AA026FD-8174-A943-8DC8-503C1A0776A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7893" name="Footer Placeholder 2">
            <a:extLst>
              <a:ext uri="{FF2B5EF4-FFF2-40B4-BE49-F238E27FC236}">
                <a16:creationId xmlns:a16="http://schemas.microsoft.com/office/drawing/2014/main" id="{846D9E54-4F23-D64D-BC34-4290BAFE5B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5" descr="The image is a 3D rendering depicting two neurons in close proximity, likely at a synapse. The text &quot;Synaptic Transmission&quot; is overlaid in a stylized yellow script across the center of the image. The neuron on the left has bulbous, orange structures connected by a curved, fleshy tube. The neuron on the right is depicted with a brighter, orange cell body and a network of thin, red branching dendrites. A thin, glowing line extends from the right neuron's cell body towards the left, suggesting the transmission of a signal. The background is black, emphasizing the biological structures. The overall aesthetic is somewhat abstract and illustrative, fitting for a visual explanation of a biological process.">
            <a:extLst>
              <a:ext uri="{FF2B5EF4-FFF2-40B4-BE49-F238E27FC236}">
                <a16:creationId xmlns:a16="http://schemas.microsoft.com/office/drawing/2014/main" id="{1DE6042D-1442-B946-9E36-76566AB5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323975"/>
            <a:ext cx="3362325" cy="24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Rectangle 2">
            <a:extLst>
              <a:ext uri="{FF2B5EF4-FFF2-40B4-BE49-F238E27FC236}">
                <a16:creationId xmlns:a16="http://schemas.microsoft.com/office/drawing/2014/main" id="{243AF993-D135-BF4A-A470-8F98CC1B5A78}"/>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Video: Synaptic Transmission</a:t>
            </a:r>
          </a:p>
        </p:txBody>
      </p:sp>
      <p:sp>
        <p:nvSpPr>
          <p:cNvPr id="39939" name="Date Placeholder 1">
            <a:extLst>
              <a:ext uri="{FF2B5EF4-FFF2-40B4-BE49-F238E27FC236}">
                <a16:creationId xmlns:a16="http://schemas.microsoft.com/office/drawing/2014/main" id="{0E06D05A-9384-A44A-820F-185B0499EAC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276D481-585E-C044-BF9C-683D2527731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9940" name="Footer Placeholder 2">
            <a:extLst>
              <a:ext uri="{FF2B5EF4-FFF2-40B4-BE49-F238E27FC236}">
                <a16:creationId xmlns:a16="http://schemas.microsoft.com/office/drawing/2014/main" id="{21B925D6-0888-864C-BF30-D9A58E43C6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541A588-BDDC-8D40-AC6C-42FBB1101FE8}"/>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Types of Neurotransmitters</a:t>
            </a:r>
          </a:p>
        </p:txBody>
      </p:sp>
      <p:sp>
        <p:nvSpPr>
          <p:cNvPr id="41986" name="Rectangle 3">
            <a:extLst>
              <a:ext uri="{FF2B5EF4-FFF2-40B4-BE49-F238E27FC236}">
                <a16:creationId xmlns:a16="http://schemas.microsoft.com/office/drawing/2014/main" id="{A38AEB4D-F70C-1943-B6C1-490BB67F288E}"/>
              </a:ext>
            </a:extLst>
          </p:cNvPr>
          <p:cNvSpPr>
            <a:spLocks noGrp="1" noChangeArrowheads="1"/>
          </p:cNvSpPr>
          <p:nvPr>
            <p:ph type="body" idx="1"/>
          </p:nvPr>
        </p:nvSpPr>
        <p:spPr>
          <a:xfrm>
            <a:off x="838200" y="800100"/>
            <a:ext cx="44767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Excitatory transmitters - cause depolarization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positive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Increases the likelihood of an action potential</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Inhibitory transmitters - cause hyperpolarization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negative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Decreases the likelihood of an action potential</a:t>
            </a:r>
          </a:p>
        </p:txBody>
      </p:sp>
      <p:pic>
        <p:nvPicPr>
          <p:cNvPr id="41988" name="Picture 4" descr="1. **Main Trend:** The graphs illustrate how different types of neurotransmitters affect the electrical charge inside a neuron. The top graph shows a temporary increase in the positive charge (depolarization) caused by excitatory neurotransmitters, while the bottom graph shows a temporary decrease in the positive charge (hyperpolarization) caused by inhibitory neurotransmitters. Both graphs indicate a threshold level that, if reached, triggers an action potential.&#10;&#10;2. **Axes:**&#10;    *   The vertical axis represents the &quot;Charge inside fiber,&quot; measured in arbitrary units (implied by the scale from -70 to 0). This indicates the electrical potential difference across the neuron's membrane.&#10;    *   The horizontal axis represents the &quot;Depolarization (Excitatory)&quot; in graph (a) and &quot;Hyperpolarization (Inhibitory)&quot; in graph (b). These labels indicate the type of change in the neuron's charge and the effect of the respective neurotransmitters.&#10;&#10;3. **Labels:** The dashed line indicates the &quot;Level to trigger an action potential,&quot; which is a critical threshold for nerve signal transmission. The value &quot;-70&quot; on the vertical axis likely represents the resting membrane potential of the neuron.">
            <a:extLst>
              <a:ext uri="{FF2B5EF4-FFF2-40B4-BE49-F238E27FC236}">
                <a16:creationId xmlns:a16="http://schemas.microsoft.com/office/drawing/2014/main" id="{2A4870DD-9E4C-2949-B837-14A1B98BA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087" y="742950"/>
            <a:ext cx="296888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Date Placeholder 1">
            <a:extLst>
              <a:ext uri="{FF2B5EF4-FFF2-40B4-BE49-F238E27FC236}">
                <a16:creationId xmlns:a16="http://schemas.microsoft.com/office/drawing/2014/main" id="{A9CC91C4-FFD9-C94D-972B-9F653DE2C6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88661226-C6A5-3C48-B740-EDFE3FC5402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1990" name="Footer Placeholder 2">
            <a:extLst>
              <a:ext uri="{FF2B5EF4-FFF2-40B4-BE49-F238E27FC236}">
                <a16:creationId xmlns:a16="http://schemas.microsoft.com/office/drawing/2014/main" id="{8A7C94E4-4EFF-1B42-9929-3CC056F01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1987" name="Rectangle 2">
            <a:extLst>
              <a:ext uri="{FF2B5EF4-FFF2-40B4-BE49-F238E27FC236}">
                <a16:creationId xmlns:a16="http://schemas.microsoft.com/office/drawing/2014/main" id="{98AE3C26-6566-7442-8CE7-1478B61147AF}"/>
              </a:ext>
            </a:extLst>
          </p:cNvPr>
          <p:cNvSpPr txBox="1">
            <a:spLocks noChangeArrowheads="1"/>
          </p:cNvSpPr>
          <p:nvPr/>
        </p:nvSpPr>
        <p:spPr bwMode="auto">
          <a:xfrm>
            <a:off x="3086100" y="455295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2.12 (a) Excitatory transmitters cause depolarization, an increased positive charge inside the neuron. (b) Inhibitory transmitters cause </a:t>
            </a:r>
            <a:r>
              <a:rPr lang="en-US" altLang="en-US" sz="975" dirty="0" err="1">
                <a:latin typeface="Arial" panose="020B0604020202020204" pitchFamily="34" charset="0"/>
              </a:rPr>
              <a:t>hyperpolization</a:t>
            </a:r>
            <a:r>
              <a:rPr lang="en-US" altLang="en-US" sz="975" dirty="0">
                <a:latin typeface="Arial" panose="020B0604020202020204" pitchFamily="34" charset="0"/>
              </a:rPr>
              <a:t>, an increased negative charge inside the axon. The charge inside the axon must reach the dashed line to trigger an action potential.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59BB17C-9678-4D44-87CF-CA7550244BF5}"/>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Neural Circuits</a:t>
            </a:r>
          </a:p>
        </p:txBody>
      </p:sp>
      <p:sp>
        <p:nvSpPr>
          <p:cNvPr id="44034" name="Rectangle 3">
            <a:extLst>
              <a:ext uri="{FF2B5EF4-FFF2-40B4-BE49-F238E27FC236}">
                <a16:creationId xmlns:a16="http://schemas.microsoft.com/office/drawing/2014/main" id="{B13179A6-3E42-6048-BA00-22A9D9723CDC}"/>
              </a:ext>
            </a:extLst>
          </p:cNvPr>
          <p:cNvSpPr>
            <a:spLocks noGrp="1" noChangeArrowheads="1"/>
          </p:cNvSpPr>
          <p:nvPr>
            <p:ph type="body" idx="1"/>
          </p:nvPr>
        </p:nvSpPr>
        <p:spPr>
          <a:xfrm>
            <a:off x="838200" y="742950"/>
            <a:ext cx="7543800" cy="33147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Groups of neurons connected by excitatory and inhibitory synapses</a:t>
            </a:r>
          </a:p>
          <a:p>
            <a:r>
              <a:rPr lang="en-US" altLang="en-US" sz="2200" dirty="0">
                <a:latin typeface="Tahoma" panose="020B0604030504040204" pitchFamily="34" charset="0"/>
                <a:ea typeface="Tahoma" panose="020B0604030504040204" pitchFamily="34" charset="0"/>
                <a:cs typeface="Tahoma" panose="020B0604030504040204" pitchFamily="34" charset="0"/>
              </a:rPr>
              <a:t>A simple circuit has no convergence and only excitatory inputs.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 into each receptor has no effect on the output of neighboring circuits.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Each circuit can only indicate single spot of stimulation. </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4035" name="Date Placeholder 1">
            <a:extLst>
              <a:ext uri="{FF2B5EF4-FFF2-40B4-BE49-F238E27FC236}">
                <a16:creationId xmlns:a16="http://schemas.microsoft.com/office/drawing/2014/main" id="{EC46ED55-ADE4-E445-B9D9-67CB104E62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D8623FCF-D56F-F940-94FE-25FED5B8C84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4036" name="Footer Placeholder 2">
            <a:extLst>
              <a:ext uri="{FF2B5EF4-FFF2-40B4-BE49-F238E27FC236}">
                <a16:creationId xmlns:a16="http://schemas.microsoft.com/office/drawing/2014/main" id="{B1A50123-1258-FB45-BA11-529557439C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The graph shows that the firing rate of neuron &quot;B&quot; is consistently low regardless of which combination of receptors is stimulated. The x-axis represents different combinations of receptors being stimulated, and the y-axis represents the firing rate of neuron &quot;B&quot;.">
            <a:extLst>
              <a:ext uri="{FF2B5EF4-FFF2-40B4-BE49-F238E27FC236}">
                <a16:creationId xmlns:a16="http://schemas.microsoft.com/office/drawing/2014/main" id="{C70ED361-EFB2-2F41-9530-9E97A0EBC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27498"/>
            <a:ext cx="6724650" cy="328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287FE222-E070-EC4B-8845-46E14C8282B7}"/>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Simple Circuit</a:t>
            </a:r>
          </a:p>
        </p:txBody>
      </p:sp>
      <p:sp>
        <p:nvSpPr>
          <p:cNvPr id="46084" name="Date Placeholder 1">
            <a:extLst>
              <a:ext uri="{FF2B5EF4-FFF2-40B4-BE49-F238E27FC236}">
                <a16:creationId xmlns:a16="http://schemas.microsoft.com/office/drawing/2014/main" id="{7ECAD3A6-2397-B342-9809-8AFFDDF27B0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4DF197-13D8-814D-B686-7C57BD2C838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6085" name="Footer Placeholder 2">
            <a:extLst>
              <a:ext uri="{FF2B5EF4-FFF2-40B4-BE49-F238E27FC236}">
                <a16:creationId xmlns:a16="http://schemas.microsoft.com/office/drawing/2014/main" id="{6480D1FE-63CC-144E-A32C-3E997D24B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6081" name="Rectangle 2">
            <a:extLst>
              <a:ext uri="{FF2B5EF4-FFF2-40B4-BE49-F238E27FC236}">
                <a16:creationId xmlns:a16="http://schemas.microsoft.com/office/drawing/2014/main" id="{1937F5B3-15AF-F14A-9C16-E91A37DA7548}"/>
              </a:ext>
            </a:extLst>
          </p:cNvPr>
          <p:cNvSpPr>
            <a:spLocks noGrp="1" noChangeArrowheads="1"/>
          </p:cNvSpPr>
          <p:nvPr>
            <p:ph type="body" idx="1"/>
          </p:nvPr>
        </p:nvSpPr>
        <p:spPr>
          <a:xfrm>
            <a:off x="1752600" y="3929659"/>
            <a:ext cx="6057900" cy="1028700"/>
          </a:xfrm>
          <a:solidFill>
            <a:schemeClr val="bg1"/>
          </a:solidFill>
        </p:spPr>
        <p:txBody>
          <a:bodyPr anchor="b"/>
          <a:lstStyle/>
          <a:p>
            <a:pPr marL="0" indent="0">
              <a:lnSpc>
                <a:spcPct val="80000"/>
              </a:lnSpc>
              <a:buNone/>
            </a:pPr>
            <a:r>
              <a:rPr lang="en-US" altLang="en-US" sz="1100" dirty="0">
                <a:latin typeface="Arial" panose="020B0604020202020204" pitchFamily="34" charset="0"/>
                <a:ea typeface="ＭＳ Ｐゴシック" panose="020B0600070205080204" pitchFamily="34" charset="-128"/>
              </a:rPr>
              <a:t>Figure 2.14  Left: A circuit with no convergence. Right: Response of neuron B as we increase the number of receptors stimulated. </a:t>
            </a:r>
          </a:p>
          <a:p>
            <a:pPr marL="0" indent="0">
              <a:lnSpc>
                <a:spcPct val="80000"/>
              </a:lnSpc>
              <a:buNone/>
            </a:pPr>
            <a:endParaRPr lang="en-US" altLang="en-US" sz="110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52728C6-1D04-884C-BC1E-29229FC72568}"/>
              </a:ext>
            </a:extLst>
          </p:cNvPr>
          <p:cNvSpPr>
            <a:spLocks noGrp="1" noChangeArrowheads="1"/>
          </p:cNvSpPr>
          <p:nvPr>
            <p:ph type="title"/>
          </p:nvPr>
        </p:nvSpPr>
        <p:spPr>
          <a:xfrm>
            <a:off x="2819400" y="0"/>
            <a:ext cx="5829300" cy="628650"/>
          </a:xfrm>
        </p:spPr>
        <p:txBody>
          <a:bodyPr/>
          <a:lstStyle/>
          <a:p>
            <a:r>
              <a:rPr lang="en-US" altLang="en-US" dirty="0">
                <a:ea typeface="ＭＳ Ｐゴシック" panose="020B0600070205080204" pitchFamily="34" charset="-128"/>
              </a:rPr>
              <a:t>Neural Circuits - continued</a:t>
            </a:r>
          </a:p>
        </p:txBody>
      </p:sp>
      <p:sp>
        <p:nvSpPr>
          <p:cNvPr id="48130" name="Rectangle 3">
            <a:extLst>
              <a:ext uri="{FF2B5EF4-FFF2-40B4-BE49-F238E27FC236}">
                <a16:creationId xmlns:a16="http://schemas.microsoft.com/office/drawing/2014/main" id="{2BEBEFA9-968C-ED41-A622-D6A6B2FDEFCB}"/>
              </a:ext>
            </a:extLst>
          </p:cNvPr>
          <p:cNvSpPr>
            <a:spLocks noGrp="1" noChangeArrowheads="1"/>
          </p:cNvSpPr>
          <p:nvPr>
            <p:ph type="body" idx="1"/>
          </p:nvPr>
        </p:nvSpPr>
        <p:spPr>
          <a:xfrm>
            <a:off x="838200" y="800100"/>
            <a:ext cx="7162800" cy="3714750"/>
          </a:xfrm>
        </p:spPr>
        <p:txBody>
          <a:bodyPr/>
          <a:lstStyle/>
          <a:p>
            <a:pPr>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only excitatory connections</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Input from each receptor summates into the next neuron in the circuit.</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from convergent system varies based on input. </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of circuit can indicate single input and increases output as length of stimulus increases.</a:t>
            </a:r>
          </a:p>
          <a:p>
            <a:pPr>
              <a:lnSpc>
                <a:spcPct val="90000"/>
              </a:lnSpc>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8131" name="Date Placeholder 1">
            <a:extLst>
              <a:ext uri="{FF2B5EF4-FFF2-40B4-BE49-F238E27FC236}">
                <a16:creationId xmlns:a16="http://schemas.microsoft.com/office/drawing/2014/main" id="{4F713B7E-6B3C-F740-8791-73360FAAD4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26E8EA8A-C5ED-3D42-835A-8DDD24CC3EF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8132" name="Footer Placeholder 2">
            <a:extLst>
              <a:ext uri="{FF2B5EF4-FFF2-40B4-BE49-F238E27FC236}">
                <a16:creationId xmlns:a16="http://schemas.microsoft.com/office/drawing/2014/main" id="{249F881E-B95F-904C-BCBC-0DD5F95CC7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The graph shows a positive linear relationship between the number of receptors stimulated and the firing rate of neuron &quot;B&quot;. The x-axis represents the number of receptors stimulated, categorized into groups like &quot;4&quot;, &quot;3-5&quot;, &quot;2-6&quot;, and &quot;1-7&quot;. The y-axis represents the firing rate of neuron &quot;B&quot;, measured in units of firing rate. As the number of stimulated receptors increases, the firing rate of neuron &quot;B&quot; also increases proportionally.">
            <a:extLst>
              <a:ext uri="{FF2B5EF4-FFF2-40B4-BE49-F238E27FC236}">
                <a16:creationId xmlns:a16="http://schemas.microsoft.com/office/drawing/2014/main" id="{FB714A6D-0A97-914F-A674-D4C6885F3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4406"/>
            <a:ext cx="672465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a:extLst>
              <a:ext uri="{FF2B5EF4-FFF2-40B4-BE49-F238E27FC236}">
                <a16:creationId xmlns:a16="http://schemas.microsoft.com/office/drawing/2014/main" id="{F7F0ECFB-379D-8B47-BA76-1D7331E42C39}"/>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only)</a:t>
            </a:r>
          </a:p>
        </p:txBody>
      </p:sp>
      <p:sp>
        <p:nvSpPr>
          <p:cNvPr id="50180" name="Date Placeholder 1">
            <a:extLst>
              <a:ext uri="{FF2B5EF4-FFF2-40B4-BE49-F238E27FC236}">
                <a16:creationId xmlns:a16="http://schemas.microsoft.com/office/drawing/2014/main" id="{6D3BA7C0-4043-2E4C-AA4F-9FC663244E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53A7F3-7BBF-C84B-B546-6681C34CB9D4}"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0181" name="Footer Placeholder 2">
            <a:extLst>
              <a:ext uri="{FF2B5EF4-FFF2-40B4-BE49-F238E27FC236}">
                <a16:creationId xmlns:a16="http://schemas.microsoft.com/office/drawing/2014/main" id="{2CA4D844-FEED-C64A-9202-6742A47DB3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0177" name="Rectangle 2">
            <a:extLst>
              <a:ext uri="{FF2B5EF4-FFF2-40B4-BE49-F238E27FC236}">
                <a16:creationId xmlns:a16="http://schemas.microsoft.com/office/drawing/2014/main" id="{BA750772-B1FC-1D42-83F8-5C8A2A66EEF4}"/>
              </a:ext>
            </a:extLst>
          </p:cNvPr>
          <p:cNvSpPr>
            <a:spLocks noGrp="1" noChangeArrowheads="1"/>
          </p:cNvSpPr>
          <p:nvPr>
            <p:ph type="body" idx="1"/>
          </p:nvPr>
        </p:nvSpPr>
        <p:spPr>
          <a:xfrm>
            <a:off x="154305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2.15 Circuit with convergence added.  Neuron B now receives inputs form all of the receptors, so increasing the size of the stimulus increases the size of neuron B’s response. </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EF97950-B022-5641-8CCB-2A33BB852E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Circuits - continued</a:t>
            </a:r>
          </a:p>
        </p:txBody>
      </p:sp>
      <p:sp>
        <p:nvSpPr>
          <p:cNvPr id="52226" name="Rectangle 3">
            <a:extLst>
              <a:ext uri="{FF2B5EF4-FFF2-40B4-BE49-F238E27FC236}">
                <a16:creationId xmlns:a16="http://schemas.microsoft.com/office/drawing/2014/main" id="{A3842CE8-0A07-C843-9F27-78BDDA32D80E}"/>
              </a:ext>
            </a:extLst>
          </p:cNvPr>
          <p:cNvSpPr>
            <a:spLocks noGrp="1" noChangeArrowheads="1"/>
          </p:cNvSpPr>
          <p:nvPr>
            <p:ph type="body" idx="1"/>
          </p:nvPr>
        </p:nvSpPr>
        <p:spPr>
          <a:xfrm>
            <a:off x="838200" y="857250"/>
            <a:ext cx="731520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excitatory and inhibitory connections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Inputs from receptors summate to determine output of circuit.</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Summation of inputs result in:</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weak response for single inputs and long stimuli.</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maximum firing rate for medium length stimulus.</a:t>
            </a:r>
          </a:p>
        </p:txBody>
      </p:sp>
      <p:sp>
        <p:nvSpPr>
          <p:cNvPr id="52227" name="Date Placeholder 1">
            <a:extLst>
              <a:ext uri="{FF2B5EF4-FFF2-40B4-BE49-F238E27FC236}">
                <a16:creationId xmlns:a16="http://schemas.microsoft.com/office/drawing/2014/main" id="{E92AF40F-F759-7143-B9AA-BE62D5E47A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87D3394-5D47-E347-AB22-B4D673BB959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2228" name="Footer Placeholder 2">
            <a:extLst>
              <a:ext uri="{FF2B5EF4-FFF2-40B4-BE49-F238E27FC236}">
                <a16:creationId xmlns:a16="http://schemas.microsoft.com/office/drawing/2014/main" id="{CC9CF3DC-8D34-7444-B61C-BBD59BF6E5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descr="Here is the alt text for the image:&#10;&#10;1.  **Main trend:** The graph shows that the firing rate of neuron &quot;B&quot; is highest when receptors 3-5 are stimulated, and decreases as stimulation moves to receptors further away from this central group or to a broader range of receptors.&#10;2.  **Axes:** The y-axis represents the firing rate of neuron &quot;B&quot; (ranging from 0 to 7). The x-axis represents the stimulation of different receptors, indicated by specific receptor numbers or ranges (e.g., 4, 3-5, 2-6, 1-7).&#10;3.  **Critical:** The diagram illustrates how multiple sensory receptors (labeled 1 through 7) converge onto neurons (labeled A, B, and C). Neuron B receives input from receptors 2 through 6, with an inhibitory synapse shown. The graph quantifies the response of neuron B to different patterns of receptor stimulation, demonstrating a peak response when a central group of receptors is activated.">
            <a:extLst>
              <a:ext uri="{FF2B5EF4-FFF2-40B4-BE49-F238E27FC236}">
                <a16:creationId xmlns:a16="http://schemas.microsoft.com/office/drawing/2014/main" id="{714F309C-8D1D-EA4E-867C-CDD00459E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7979"/>
            <a:ext cx="6724650" cy="320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2">
            <a:extLst>
              <a:ext uri="{FF2B5EF4-FFF2-40B4-BE49-F238E27FC236}">
                <a16:creationId xmlns:a16="http://schemas.microsoft.com/office/drawing/2014/main" id="{A180A7FD-9A3A-BB4A-9740-9339A34B46DE}"/>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and -)</a:t>
            </a:r>
          </a:p>
        </p:txBody>
      </p:sp>
      <p:sp>
        <p:nvSpPr>
          <p:cNvPr id="54276" name="Date Placeholder 1">
            <a:extLst>
              <a:ext uri="{FF2B5EF4-FFF2-40B4-BE49-F238E27FC236}">
                <a16:creationId xmlns:a16="http://schemas.microsoft.com/office/drawing/2014/main" id="{8C065D47-ACB1-A24C-8CDC-BC72394E4B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FAE63AC-C0BB-F840-8EA9-02B6CDB2AEFA}"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4277" name="Footer Placeholder 2">
            <a:extLst>
              <a:ext uri="{FF2B5EF4-FFF2-40B4-BE49-F238E27FC236}">
                <a16:creationId xmlns:a16="http://schemas.microsoft.com/office/drawing/2014/main" id="{90D03CF9-D342-E64E-AB7D-C062862EEE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4273" name="Rectangle 2">
            <a:extLst>
              <a:ext uri="{FF2B5EF4-FFF2-40B4-BE49-F238E27FC236}">
                <a16:creationId xmlns:a16="http://schemas.microsoft.com/office/drawing/2014/main" id="{42B53E02-15EA-2744-8B4C-569F94091F3E}"/>
              </a:ext>
            </a:extLst>
          </p:cNvPr>
          <p:cNvSpPr>
            <a:spLocks noGrp="1" noChangeArrowheads="1"/>
          </p:cNvSpPr>
          <p:nvPr>
            <p:ph type="body" idx="1"/>
          </p:nvPr>
        </p:nvSpPr>
        <p:spPr>
          <a:xfrm>
            <a:off x="156210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2.16 Circuit with convergence and inhibition.  Because stimulation of the receptors on the side (1, 2, 6, and 7) sends inhibition to neuron B, neuron B responds best when just the center (3 - 5) are stimulated.</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8937661-DA07-5A44-BFE1-A8D7B8E0FB7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Receptive Fields</a:t>
            </a:r>
          </a:p>
        </p:txBody>
      </p:sp>
      <p:sp>
        <p:nvSpPr>
          <p:cNvPr id="56322" name="Rectangle 3">
            <a:extLst>
              <a:ext uri="{FF2B5EF4-FFF2-40B4-BE49-F238E27FC236}">
                <a16:creationId xmlns:a16="http://schemas.microsoft.com/office/drawing/2014/main" id="{8DF77118-826D-634D-89C5-4281FBB2C9CE}"/>
              </a:ext>
            </a:extLst>
          </p:cNvPr>
          <p:cNvSpPr>
            <a:spLocks noGrp="1" noChangeArrowheads="1"/>
          </p:cNvSpPr>
          <p:nvPr>
            <p:ph type="body" idx="1"/>
          </p:nvPr>
        </p:nvSpPr>
        <p:spPr>
          <a:xfrm>
            <a:off x="838200" y="857250"/>
            <a:ext cx="664845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Area of receptors that affects firing rate of a given neuron in the circuit</a:t>
            </a:r>
          </a:p>
          <a:p>
            <a:r>
              <a:rPr lang="en-US" altLang="en-US" sz="2200" dirty="0">
                <a:latin typeface="Tahoma" panose="020B0604030504040204" pitchFamily="34" charset="0"/>
                <a:ea typeface="Tahoma" panose="020B0604030504040204" pitchFamily="34" charset="0"/>
                <a:cs typeface="Tahoma" panose="020B0604030504040204" pitchFamily="34" charset="0"/>
              </a:rPr>
              <a:t>Receptive fields are determined by monitoring single cell responses.</a:t>
            </a:r>
          </a:p>
          <a:p>
            <a:r>
              <a:rPr lang="en-US" altLang="en-US" sz="2200" dirty="0">
                <a:latin typeface="Tahoma" panose="020B0604030504040204" pitchFamily="34" charset="0"/>
                <a:ea typeface="Tahoma" panose="020B0604030504040204" pitchFamily="34" charset="0"/>
                <a:cs typeface="Tahoma" panose="020B0604030504040204" pitchFamily="34" charset="0"/>
              </a:rPr>
              <a:t>Research example for vision</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Stimulus is presented to retina and response of cell is measured by an electrode.</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6323" name="Date Placeholder 1">
            <a:extLst>
              <a:ext uri="{FF2B5EF4-FFF2-40B4-BE49-F238E27FC236}">
                <a16:creationId xmlns:a16="http://schemas.microsoft.com/office/drawing/2014/main" id="{956906F3-2F83-E646-9BE8-D15A32EF22C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663A2362-48F3-BD45-92E8-E73CA65DEB0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6324" name="Footer Placeholder 2">
            <a:extLst>
              <a:ext uri="{FF2B5EF4-FFF2-40B4-BE49-F238E27FC236}">
                <a16:creationId xmlns:a16="http://schemas.microsoft.com/office/drawing/2014/main" id="{B50FD2F6-6045-2B4A-B8DD-2C384CC28B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805CBD8-F62E-4A47-A08D-28F696590563}"/>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Center-Surround Receptive Fields</a:t>
            </a:r>
          </a:p>
        </p:txBody>
      </p:sp>
      <p:sp>
        <p:nvSpPr>
          <p:cNvPr id="58370" name="Rectangle 3">
            <a:extLst>
              <a:ext uri="{FF2B5EF4-FFF2-40B4-BE49-F238E27FC236}">
                <a16:creationId xmlns:a16="http://schemas.microsoft.com/office/drawing/2014/main" id="{A100A91A-EA16-0A4D-9252-905E8921CAC9}"/>
              </a:ext>
            </a:extLst>
          </p:cNvPr>
          <p:cNvSpPr>
            <a:spLocks noGrp="1" noChangeArrowheads="1"/>
          </p:cNvSpPr>
          <p:nvPr>
            <p:ph type="body" idx="1"/>
          </p:nvPr>
        </p:nvSpPr>
        <p:spPr>
          <a:xfrm>
            <a:off x="838200" y="800100"/>
            <a:ext cx="4305300" cy="3714750"/>
          </a:xfrm>
        </p:spPr>
        <p:txBody>
          <a:bodyPr/>
          <a:lstStyle/>
          <a:p>
            <a:r>
              <a:rPr lang="en-US" altLang="en-US" sz="1800" dirty="0">
                <a:latin typeface="Arial" panose="020B0604020202020204" pitchFamily="34" charset="0"/>
                <a:ea typeface="ＭＳ Ｐゴシック" panose="020B0600070205080204" pitchFamily="34" charset="-128"/>
              </a:rPr>
              <a:t>Excitatory and inhibitory effects are found in receptive fields.</a:t>
            </a:r>
          </a:p>
          <a:p>
            <a:r>
              <a:rPr lang="en-US" altLang="en-US" sz="1800" dirty="0">
                <a:latin typeface="Arial" panose="020B0604020202020204" pitchFamily="34" charset="0"/>
                <a:ea typeface="ＭＳ Ｐゴシック" panose="020B0600070205080204" pitchFamily="34" charset="-128"/>
              </a:rPr>
              <a:t>Center and surround areas of receptive fields result in:</a:t>
            </a:r>
          </a:p>
          <a:p>
            <a:pPr lvl="1"/>
            <a:r>
              <a:rPr lang="en-US" altLang="en-US" sz="1800" dirty="0">
                <a:latin typeface="Arial" panose="020B0604020202020204" pitchFamily="34" charset="0"/>
                <a:ea typeface="ＭＳ Ｐゴシック" panose="020B0600070205080204" pitchFamily="34" charset="-128"/>
              </a:rPr>
              <a:t>Excitatory-center-inhibitory surround</a:t>
            </a:r>
          </a:p>
          <a:p>
            <a:pPr lvl="1"/>
            <a:r>
              <a:rPr lang="en-US" altLang="en-US" sz="1800" dirty="0">
                <a:latin typeface="Arial" panose="020B0604020202020204" pitchFamily="34" charset="0"/>
                <a:ea typeface="ＭＳ Ｐゴシック" panose="020B0600070205080204" pitchFamily="34" charset="-128"/>
              </a:rPr>
              <a:t>Inhibitory-center-excitatory surround</a:t>
            </a:r>
          </a:p>
          <a:p>
            <a:pPr>
              <a:spcBef>
                <a:spcPct val="30000"/>
              </a:spcBef>
            </a:pPr>
            <a:endParaRPr lang="en-US" altLang="en-US" sz="1800" dirty="0">
              <a:latin typeface="Arial" panose="020B0604020202020204" pitchFamily="34" charset="0"/>
              <a:ea typeface="ＭＳ Ｐゴシック" panose="020B0600070205080204" pitchFamily="34" charset="-128"/>
            </a:endParaRPr>
          </a:p>
        </p:txBody>
      </p:sp>
      <p:pic>
        <p:nvPicPr>
          <p:cNvPr id="58372" name="Picture 4" descr="">
            <a:extLst>
              <a:ext uri="{FF2B5EF4-FFF2-40B4-BE49-F238E27FC236}">
                <a16:creationId xmlns:a16="http://schemas.microsoft.com/office/drawing/2014/main" id="{37F877B3-1280-AF4E-AAB5-48F08D308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1" y="800100"/>
            <a:ext cx="2755106" cy="299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Date Placeholder 1">
            <a:extLst>
              <a:ext uri="{FF2B5EF4-FFF2-40B4-BE49-F238E27FC236}">
                <a16:creationId xmlns:a16="http://schemas.microsoft.com/office/drawing/2014/main" id="{30FE83BA-2906-7045-BA97-3586B89444F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CBF63094-845F-214C-B38E-564E2883750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8374" name="Footer Placeholder 2">
            <a:extLst>
              <a:ext uri="{FF2B5EF4-FFF2-40B4-BE49-F238E27FC236}">
                <a16:creationId xmlns:a16="http://schemas.microsoft.com/office/drawing/2014/main" id="{373BE9A4-F0C0-1942-ACA3-AFC5A51616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58371" name="Rectangle 2">
            <a:extLst>
              <a:ext uri="{FF2B5EF4-FFF2-40B4-BE49-F238E27FC236}">
                <a16:creationId xmlns:a16="http://schemas.microsoft.com/office/drawing/2014/main" id="{710E4F6F-FCFA-C541-8DE6-1D6A95EAD5DE}"/>
              </a:ext>
            </a:extLst>
          </p:cNvPr>
          <p:cNvSpPr txBox="1">
            <a:spLocks noChangeArrowheads="1"/>
          </p:cNvSpPr>
          <p:nvPr/>
        </p:nvSpPr>
        <p:spPr bwMode="auto">
          <a:xfrm>
            <a:off x="2781300" y="4069555"/>
            <a:ext cx="6057900" cy="945357"/>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2.18  (a) Response of a ganglion cell in the cat’s retina to stimulation: outside the cell’s receptive field (area A on the screen); inside the excitatory area of the cell’s receptive field (area B); and inside the inhibitory area of the cell’s receptive field (area C).  (b) The receptive field is shown without the screen.</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50E0A04-7880-1949-95A0-19350CFDB1FF}"/>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Center-Surround Antagonism</a:t>
            </a:r>
          </a:p>
        </p:txBody>
      </p:sp>
      <p:sp>
        <p:nvSpPr>
          <p:cNvPr id="60418" name="Rectangle 3">
            <a:extLst>
              <a:ext uri="{FF2B5EF4-FFF2-40B4-BE49-F238E27FC236}">
                <a16:creationId xmlns:a16="http://schemas.microsoft.com/office/drawing/2014/main" id="{0C0529C7-2EF1-0E49-A11E-2E2F54953DB4}"/>
              </a:ext>
            </a:extLst>
          </p:cNvPr>
          <p:cNvSpPr>
            <a:spLocks noGrp="1" noChangeArrowheads="1"/>
          </p:cNvSpPr>
          <p:nvPr>
            <p:ph type="body" idx="1"/>
          </p:nvPr>
        </p:nvSpPr>
        <p:spPr>
          <a:xfrm>
            <a:off x="838200" y="742950"/>
            <a:ext cx="7162800" cy="3657600"/>
          </a:xfrm>
        </p:spPr>
        <p:txBody>
          <a:bodyPr/>
          <a:lstStyle/>
          <a:p>
            <a:r>
              <a:rPr lang="en-US" altLang="en-US" sz="2100" dirty="0">
                <a:latin typeface="Arial" panose="020B0604020202020204" pitchFamily="34" charset="0"/>
                <a:ea typeface="ＭＳ Ｐゴシック" panose="020B0600070205080204" pitchFamily="34" charset="-128"/>
              </a:rPr>
              <a:t>Output of center-surround receptive fields changes depending on area stimulated:</a:t>
            </a:r>
          </a:p>
          <a:p>
            <a:pPr lvl="1"/>
            <a:r>
              <a:rPr lang="en-US" altLang="en-US" sz="1800" dirty="0">
                <a:latin typeface="Arial" panose="020B0604020202020204" pitchFamily="34" charset="0"/>
                <a:ea typeface="ＭＳ Ｐゴシック" panose="020B0600070205080204" pitchFamily="34" charset="-128"/>
              </a:rPr>
              <a:t>Highest response when only the excitatory area is stimulated </a:t>
            </a:r>
          </a:p>
          <a:p>
            <a:pPr lvl="1"/>
            <a:r>
              <a:rPr lang="en-US" altLang="en-US" sz="1800" dirty="0">
                <a:latin typeface="Arial" panose="020B0604020202020204" pitchFamily="34" charset="0"/>
                <a:ea typeface="ＭＳ Ｐゴシック" panose="020B0600070205080204" pitchFamily="34" charset="-128"/>
              </a:rPr>
              <a:t>Lowest response when only the inhibitory area is stimulated</a:t>
            </a:r>
          </a:p>
          <a:p>
            <a:pPr lvl="1"/>
            <a:r>
              <a:rPr lang="en-US" altLang="en-US" sz="1800" dirty="0">
                <a:latin typeface="Arial" panose="020B0604020202020204" pitchFamily="34" charset="0"/>
                <a:ea typeface="ＭＳ Ｐゴシック" panose="020B0600070205080204" pitchFamily="34" charset="-128"/>
              </a:rPr>
              <a:t>Intermediate responses when both areas are stimulated</a:t>
            </a:r>
            <a:r>
              <a:rPr lang="en-US" altLang="en-US" sz="1800" dirty="0">
                <a:ea typeface="ＭＳ Ｐゴシック" panose="020B0600070205080204" pitchFamily="34" charset="-128"/>
              </a:rPr>
              <a:t> </a:t>
            </a:r>
          </a:p>
          <a:p>
            <a:pPr>
              <a:spcBef>
                <a:spcPct val="30000"/>
              </a:spcBef>
            </a:pPr>
            <a:endParaRPr lang="en-US" altLang="en-US" sz="2100" dirty="0">
              <a:latin typeface="Arial" panose="020B0604020202020204" pitchFamily="34" charset="0"/>
              <a:ea typeface="ＭＳ Ｐゴシック" panose="020B0600070205080204" pitchFamily="34" charset="-128"/>
            </a:endParaRPr>
          </a:p>
        </p:txBody>
      </p:sp>
      <p:pic>
        <p:nvPicPr>
          <p:cNvPr id="60420" name="Picture 4" descr="1. **Main Trend:** The diagrams illustrate how stimulating different regions of a center-surround receptive field affects the neuron's response, with the response intensity varying based on the overlap between excitatory and inhibitory zones.&#10;2. **Axes:** The horizontal axis represents time, and the vertical axis represents the neural response, depicted as the frequency of action potentials (spikes). An &quot;On&quot; marker indicates the point in time when stimulation begins. The diagrams above the spike trains show the pattern of stimulation applied to the receptive field.">
            <a:extLst>
              <a:ext uri="{FF2B5EF4-FFF2-40B4-BE49-F238E27FC236}">
                <a16:creationId xmlns:a16="http://schemas.microsoft.com/office/drawing/2014/main" id="{F1FFBC5B-DBB9-5B4C-A158-741842E37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88073"/>
            <a:ext cx="4495800" cy="19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Date Placeholder 1">
            <a:extLst>
              <a:ext uri="{FF2B5EF4-FFF2-40B4-BE49-F238E27FC236}">
                <a16:creationId xmlns:a16="http://schemas.microsoft.com/office/drawing/2014/main" id="{E5C61688-2CFC-9149-BFAC-42F4DD271F9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E7C537CA-840A-2542-9048-3F7167C6FE7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0422" name="Footer Placeholder 2">
            <a:extLst>
              <a:ext uri="{FF2B5EF4-FFF2-40B4-BE49-F238E27FC236}">
                <a16:creationId xmlns:a16="http://schemas.microsoft.com/office/drawing/2014/main" id="{27F08951-E2EE-5444-AF8D-877C780E32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0419" name="Rectangle 2">
            <a:extLst>
              <a:ext uri="{FF2B5EF4-FFF2-40B4-BE49-F238E27FC236}">
                <a16:creationId xmlns:a16="http://schemas.microsoft.com/office/drawing/2014/main" id="{31221572-0423-B94C-AAE5-546C2798D218}"/>
              </a:ext>
            </a:extLst>
          </p:cNvPr>
          <p:cNvSpPr txBox="1">
            <a:spLocks noChangeArrowheads="1"/>
          </p:cNvSpPr>
          <p:nvPr/>
        </p:nvSpPr>
        <p:spPr bwMode="auto">
          <a:xfrm>
            <a:off x="1676400" y="4343400"/>
            <a:ext cx="6057900" cy="80010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2.19  Response of an excitatory-center-inhibitory-surround receptive field as stimulus size is increased. Shading indicates the area stimulated with light. The response to the stimulus is indicated below each receptive field. The largest response occurs when the entire excitatory area is illuminated, as in (b).  Increasing stimulus size further causes a decrease in firing due to center-surround antagonism. </a:t>
            </a:r>
            <a:r>
              <a:rPr lang="en-US" altLang="en-US" sz="975" i="1" dirty="0">
                <a:latin typeface="Arial" panose="020B0604020202020204" pitchFamily="34" charset="0"/>
              </a:rPr>
              <a:t>(Adapted from Hubel and Wiesel, 1961.)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C3B9707-35E6-654B-878B-1F40216E5360}"/>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Specificity Encoding</a:t>
            </a:r>
          </a:p>
        </p:txBody>
      </p:sp>
      <p:sp>
        <p:nvSpPr>
          <p:cNvPr id="62466" name="Rectangle 3">
            <a:extLst>
              <a:ext uri="{FF2B5EF4-FFF2-40B4-BE49-F238E27FC236}">
                <a16:creationId xmlns:a16="http://schemas.microsoft.com/office/drawing/2014/main" id="{6077F66F-2E9A-8D42-BA91-E68903C0DDA5}"/>
              </a:ext>
            </a:extLst>
          </p:cNvPr>
          <p:cNvSpPr>
            <a:spLocks noGrp="1" noChangeArrowheads="1"/>
          </p:cNvSpPr>
          <p:nvPr>
            <p:ph type="body" idx="1"/>
          </p:nvPr>
        </p:nvSpPr>
        <p:spPr>
          <a:xfrm>
            <a:off x="838200" y="742950"/>
            <a:ext cx="5791200" cy="3771900"/>
          </a:xfrm>
        </p:spPr>
        <p:txBody>
          <a:bodyPr/>
          <a:lstStyle/>
          <a:p>
            <a:pPr>
              <a:spcBef>
                <a:spcPct val="30000"/>
              </a:spcBef>
            </a:pPr>
            <a:r>
              <a:rPr lang="en-US" altLang="en-US" b="1" dirty="0">
                <a:latin typeface="Arial" panose="020B0604020202020204" pitchFamily="34" charset="0"/>
                <a:ea typeface="ＭＳ Ｐゴシック" panose="020B0600070205080204" pitchFamily="34" charset="-128"/>
              </a:rPr>
              <a:t>Specificity coding </a:t>
            </a:r>
            <a:r>
              <a:rPr lang="en-US" altLang="en-US" dirty="0">
                <a:latin typeface="Arial" panose="020B0604020202020204" pitchFamily="34" charset="0"/>
                <a:ea typeface="ＭＳ Ｐゴシック" panose="020B0600070205080204" pitchFamily="34" charset="-128"/>
              </a:rPr>
              <a:t>- specific </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neurons responding to specific</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stimuli</a:t>
            </a:r>
          </a:p>
          <a:p>
            <a:pPr lvl="1">
              <a:spcBef>
                <a:spcPct val="30000"/>
              </a:spcBef>
            </a:pPr>
            <a:r>
              <a:rPr lang="en-US" altLang="en-US" sz="1500" dirty="0">
                <a:latin typeface="Arial" panose="020B0604020202020204" pitchFamily="34" charset="0"/>
                <a:ea typeface="ＭＳ Ｐゴシック" panose="020B0600070205080204" pitchFamily="34" charset="-128"/>
              </a:rPr>
              <a:t>Leads to the “grandmother cell” hypothesis</a:t>
            </a:r>
          </a:p>
          <a:p>
            <a:pPr lvl="1">
              <a:spcBef>
                <a:spcPct val="30000"/>
              </a:spcBef>
            </a:pPr>
            <a:r>
              <a:rPr lang="en-US" altLang="en-US" sz="1500" dirty="0">
                <a:latin typeface="Arial" panose="020B0604020202020204" pitchFamily="34" charset="0"/>
                <a:ea typeface="ＭＳ Ｐゴシック" panose="020B0600070205080204" pitchFamily="34" charset="-128"/>
              </a:rPr>
              <a:t>Cells in the hippocampus that respond to </a:t>
            </a:r>
            <a:br>
              <a:rPr lang="en-US" altLang="en-US" sz="1500" dirty="0">
                <a:latin typeface="Arial" panose="020B0604020202020204" pitchFamily="34" charset="0"/>
                <a:ea typeface="ＭＳ Ｐゴシック" panose="020B0600070205080204" pitchFamily="34" charset="-128"/>
              </a:rPr>
            </a:br>
            <a:r>
              <a:rPr lang="en-US" altLang="en-US" sz="1500" dirty="0">
                <a:latin typeface="Arial" panose="020B0604020202020204" pitchFamily="34" charset="0"/>
                <a:ea typeface="ＭＳ Ｐゴシック" panose="020B0600070205080204" pitchFamily="34" charset="-128"/>
              </a:rPr>
              <a:t>concepts such as Halle Berry.</a:t>
            </a:r>
          </a:p>
          <a:p>
            <a:pPr lvl="1">
              <a:spcBef>
                <a:spcPct val="30000"/>
              </a:spcBef>
            </a:pPr>
            <a:endParaRPr lang="en-US" altLang="en-US" sz="1500" dirty="0">
              <a:latin typeface="Arial" panose="020B0604020202020204" pitchFamily="34" charset="0"/>
              <a:ea typeface="ＭＳ Ｐゴシック" panose="020B0600070205080204" pitchFamily="34" charset="-128"/>
            </a:endParaRPr>
          </a:p>
          <a:p>
            <a:pPr>
              <a:spcBef>
                <a:spcPct val="30000"/>
              </a:spcBef>
            </a:pPr>
            <a:r>
              <a:rPr lang="en-US" altLang="en-US" dirty="0">
                <a:latin typeface="Arial" panose="020B0604020202020204" pitchFamily="34" charset="0"/>
                <a:ea typeface="ＭＳ Ｐゴシック" panose="020B0600070205080204" pitchFamily="34" charset="-128"/>
              </a:rPr>
              <a:t>Problems with specificity coding:</a:t>
            </a:r>
          </a:p>
          <a:p>
            <a:pPr lvl="1">
              <a:spcBef>
                <a:spcPct val="30000"/>
              </a:spcBef>
            </a:pPr>
            <a:r>
              <a:rPr lang="en-US" altLang="en-US" sz="1500" dirty="0">
                <a:latin typeface="Arial" panose="020B0604020202020204" pitchFamily="34" charset="0"/>
                <a:ea typeface="ＭＳ Ｐゴシック" panose="020B0600070205080204" pitchFamily="34" charset="-128"/>
              </a:rPr>
              <a:t>Too many different stimuli to assign specific neurons</a:t>
            </a:r>
          </a:p>
          <a:p>
            <a:pPr lvl="1">
              <a:spcBef>
                <a:spcPct val="30000"/>
              </a:spcBef>
            </a:pPr>
            <a:r>
              <a:rPr lang="en-US" altLang="en-US" sz="1500" dirty="0">
                <a:latin typeface="Arial" panose="020B0604020202020204" pitchFamily="34" charset="0"/>
                <a:ea typeface="ＭＳ Ｐゴシック" panose="020B0600070205080204" pitchFamily="34" charset="-128"/>
              </a:rPr>
              <a:t>Most neurons respond to a number of different stimuli.</a:t>
            </a:r>
          </a:p>
        </p:txBody>
      </p:sp>
      <p:pic>
        <p:nvPicPr>
          <p:cNvPr id="62468" name="Picture 4" descr="The diagram illustrates the concept of specificity coding in neuroscience, where specific neurons respond to specific stimuli. The left side of the diagram displays three portraits labeled (a) Bill, (b) Mary, and (c) Raphael, representing different stimuli. The right side of the diagram shows three horizontal lines, each representing a neuron: Neuron 1, Neuron 2, and Neuron 3. Vertical bars on these lines depict neural firing.&#10;&#10;When the stimulus is &quot;Bill,&quot; Neuron 1 exhibits a cluster of firing events, while Neuron 2 and Neuron 3 remain inactive. Conversely, when the stimulus is &quot;Mary,&quot; Neuron 2 shows a burst of firing, and Neuron 1 and Neuron 3 are inactive. Finally, when the stimulus is &quot;Raphael,&quot; Neuron 3 shows a cluster of firing events, and Neuron 1 and Neuron 2 are inactive. This visual representation demonstrates that each neuron in this model is uniquely tuned to respond to a particular individual's face. This aligns with the &quot;grandmother cell&quot; hypothesis, which posits that specific neurons are responsible for recognizing specific concepts or individuals. The context provided explains that this hypothesis suggests specific neurons respond to specific stimuli, and the diagram visually supports this by showing a distinct neural response pattern for each individual stimulus.">
            <a:extLst>
              <a:ext uri="{FF2B5EF4-FFF2-40B4-BE49-F238E27FC236}">
                <a16:creationId xmlns:a16="http://schemas.microsoft.com/office/drawing/2014/main" id="{7FB89131-5184-ED4D-9052-86DA64B90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742950"/>
            <a:ext cx="2686050" cy="256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Date Placeholder 1">
            <a:extLst>
              <a:ext uri="{FF2B5EF4-FFF2-40B4-BE49-F238E27FC236}">
                <a16:creationId xmlns:a16="http://schemas.microsoft.com/office/drawing/2014/main" id="{D8B5F911-D511-714A-8763-50AF0F6920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79E9236-5184-CA4C-AEA4-0E73484E332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2470" name="Footer Placeholder 2">
            <a:extLst>
              <a:ext uri="{FF2B5EF4-FFF2-40B4-BE49-F238E27FC236}">
                <a16:creationId xmlns:a16="http://schemas.microsoft.com/office/drawing/2014/main" id="{609A1AA8-8DB0-2D46-9777-3F6333270E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2467" name="Rectangle 2">
            <a:extLst>
              <a:ext uri="{FF2B5EF4-FFF2-40B4-BE49-F238E27FC236}">
                <a16:creationId xmlns:a16="http://schemas.microsoft.com/office/drawing/2014/main" id="{79366FD2-89E8-8345-85CC-52310112EFB3}"/>
              </a:ext>
            </a:extLst>
          </p:cNvPr>
          <p:cNvSpPr txBox="1">
            <a:spLocks noChangeArrowheads="1"/>
          </p:cNvSpPr>
          <p:nvPr/>
        </p:nvSpPr>
        <p:spPr bwMode="auto">
          <a:xfrm>
            <a:off x="2857500" y="44958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2.21 How faces could be coded by specificity coding. Each face causes one specialized neuron to respond.</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C97D915E-8B6E-F74C-84B9-898BAF951299}"/>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Distributed Encoding</a:t>
            </a:r>
          </a:p>
        </p:txBody>
      </p:sp>
      <p:sp>
        <p:nvSpPr>
          <p:cNvPr id="64514" name="Rectangle 3">
            <a:extLst>
              <a:ext uri="{FF2B5EF4-FFF2-40B4-BE49-F238E27FC236}">
                <a16:creationId xmlns:a16="http://schemas.microsoft.com/office/drawing/2014/main" id="{5BA3B80B-CC71-F245-B5EC-185BB5844F69}"/>
              </a:ext>
            </a:extLst>
          </p:cNvPr>
          <p:cNvSpPr>
            <a:spLocks noGrp="1" noChangeArrowheads="1"/>
          </p:cNvSpPr>
          <p:nvPr>
            <p:ph type="body" idx="1"/>
          </p:nvPr>
        </p:nvSpPr>
        <p:spPr>
          <a:xfrm>
            <a:off x="838200" y="742950"/>
            <a:ext cx="5391150" cy="3771900"/>
          </a:xfrm>
        </p:spPr>
        <p:txBody>
          <a:bodyPr/>
          <a:lstStyle/>
          <a:p>
            <a:pPr>
              <a:spcBef>
                <a:spcPct val="30000"/>
              </a:spcBef>
            </a:pPr>
            <a:r>
              <a:rPr lang="en-US" altLang="en-US" sz="2100" b="1" dirty="0">
                <a:latin typeface="Arial" panose="020B0604020202020204" pitchFamily="34" charset="0"/>
                <a:ea typeface="ＭＳ Ｐゴシック" panose="020B0600070205080204" pitchFamily="34" charset="-128"/>
              </a:rPr>
              <a:t>Distributed coding </a:t>
            </a:r>
            <a:r>
              <a:rPr lang="en-US" altLang="en-US" sz="2100" dirty="0">
                <a:latin typeface="Arial" panose="020B0604020202020204" pitchFamily="34" charset="0"/>
                <a:ea typeface="ＭＳ Ｐゴシック" panose="020B0600070205080204" pitchFamily="34" charset="-128"/>
              </a:rPr>
              <a:t>- pattern of firing across many neurons codes specific objects</a:t>
            </a:r>
          </a:p>
          <a:p>
            <a:pPr lvl="1">
              <a:spcBef>
                <a:spcPct val="30000"/>
              </a:spcBef>
            </a:pPr>
            <a:r>
              <a:rPr lang="en-US" altLang="en-US" dirty="0">
                <a:latin typeface="Arial" panose="020B0604020202020204" pitchFamily="34" charset="0"/>
                <a:ea typeface="ＭＳ Ｐゴシック" panose="020B0600070205080204" pitchFamily="34" charset="-128"/>
              </a:rPr>
              <a:t>Large number of stimuli can be coded by a few neurons.</a:t>
            </a:r>
            <a:endParaRPr lang="en-US" altLang="en-US" sz="2400" dirty="0">
              <a:latin typeface="Arial" panose="020B0604020202020204" pitchFamily="34" charset="0"/>
              <a:ea typeface="ＭＳ Ｐゴシック" panose="020B0600070205080204" pitchFamily="34" charset="-128"/>
            </a:endParaRPr>
          </a:p>
        </p:txBody>
      </p:sp>
      <p:pic>
        <p:nvPicPr>
          <p:cNvPr id="64516" name="Picture 4" descr="people">
            <a:extLst>
              <a:ext uri="{FF2B5EF4-FFF2-40B4-BE49-F238E27FC236}">
                <a16:creationId xmlns:a16="http://schemas.microsoft.com/office/drawing/2014/main" id="{607B50F4-BEC9-0048-A7C5-DDBE3CBBF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46137"/>
            <a:ext cx="274320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1">
            <a:extLst>
              <a:ext uri="{FF2B5EF4-FFF2-40B4-BE49-F238E27FC236}">
                <a16:creationId xmlns:a16="http://schemas.microsoft.com/office/drawing/2014/main" id="{05719AE2-C87A-894B-9616-EBABFCB222C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B959C51-B313-E149-BF84-930006D54CF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4518" name="Footer Placeholder 2">
            <a:extLst>
              <a:ext uri="{FF2B5EF4-FFF2-40B4-BE49-F238E27FC236}">
                <a16:creationId xmlns:a16="http://schemas.microsoft.com/office/drawing/2014/main" id="{9FCB42F5-D118-5C4E-AA1F-4CCC67636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4515" name="Rectangle 2">
            <a:extLst>
              <a:ext uri="{FF2B5EF4-FFF2-40B4-BE49-F238E27FC236}">
                <a16:creationId xmlns:a16="http://schemas.microsoft.com/office/drawing/2014/main" id="{38FC451D-1F6A-0B4A-B747-1A638D4138F9}"/>
              </a:ext>
            </a:extLst>
          </p:cNvPr>
          <p:cNvSpPr txBox="1">
            <a:spLocks noChangeArrowheads="1"/>
          </p:cNvSpPr>
          <p:nvPr/>
        </p:nvSpPr>
        <p:spPr bwMode="auto">
          <a:xfrm>
            <a:off x="2641895" y="45720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2.23 How faces could be coded by distributed coding. Each face causes all the neurons to fire, but the pattern of firing is different for each face.  One advantage of this method of coding is that many faces could be represented by the firing of the three neurons.</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Date Placeholder 3">
            <a:extLst>
              <a:ext uri="{FF2B5EF4-FFF2-40B4-BE49-F238E27FC236}">
                <a16:creationId xmlns:a16="http://schemas.microsoft.com/office/drawing/2014/main" id="{D2F0672F-AB6B-404A-80BB-928A1AF57C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8F77D5-90D3-0F4B-A09D-99FD626BD4C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6562" name="Footer Placeholder 4">
            <a:extLst>
              <a:ext uri="{FF2B5EF4-FFF2-40B4-BE49-F238E27FC236}">
                <a16:creationId xmlns:a16="http://schemas.microsoft.com/office/drawing/2014/main" id="{EBF249F9-01DA-AF4E-8285-ABA44C3D28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6563" name="Rectangle 2">
            <a:extLst>
              <a:ext uri="{FF2B5EF4-FFF2-40B4-BE49-F238E27FC236}">
                <a16:creationId xmlns:a16="http://schemas.microsoft.com/office/drawing/2014/main" id="{CAE3E9D9-27AC-0A42-A9EB-8E0BD44D64A0}"/>
              </a:ext>
            </a:extLst>
          </p:cNvPr>
          <p:cNvSpPr>
            <a:spLocks noGrp="1" noChangeArrowheads="1"/>
          </p:cNvSpPr>
          <p:nvPr>
            <p:ph type="title"/>
          </p:nvPr>
        </p:nvSpPr>
        <p:spPr/>
        <p:txBody>
          <a:bodyPr/>
          <a:lstStyle/>
          <a:p>
            <a:r>
              <a:rPr lang="en-US" altLang="en-US">
                <a:ea typeface="ＭＳ Ｐゴシック" panose="020B0600070205080204" pitchFamily="34" charset="-128"/>
              </a:rPr>
              <a:t>Upcoming</a:t>
            </a:r>
          </a:p>
        </p:txBody>
      </p:sp>
      <p:sp>
        <p:nvSpPr>
          <p:cNvPr id="66564" name="Rectangle 3">
            <a:extLst>
              <a:ext uri="{FF2B5EF4-FFF2-40B4-BE49-F238E27FC236}">
                <a16:creationId xmlns:a16="http://schemas.microsoft.com/office/drawing/2014/main" id="{593F7533-4B1D-7149-83E7-9B72C20ACC1E}"/>
              </a:ext>
            </a:extLst>
          </p:cNvPr>
          <p:cNvSpPr>
            <a:spLocks noGrp="1" noChangeArrowheads="1"/>
          </p:cNvSpPr>
          <p:nvPr>
            <p:ph type="body" idx="1"/>
          </p:nvPr>
        </p:nvSpPr>
        <p:spPr>
          <a:xfrm>
            <a:off x="838200" y="685800"/>
            <a:ext cx="8001000" cy="4171950"/>
          </a:xfrm>
        </p:spPr>
        <p:txBody>
          <a:bodyPr/>
          <a:lstStyle/>
          <a:p>
            <a:r>
              <a:rPr lang="en-US" altLang="en-US" dirty="0">
                <a:ea typeface="ＭＳ Ｐゴシック" panose="020B0600070205080204" pitchFamily="34" charset="-128"/>
              </a:rPr>
              <a:t>Neuroimaging</a:t>
            </a:r>
          </a:p>
          <a:p>
            <a:r>
              <a:rPr lang="en-US" altLang="en-US" dirty="0">
                <a:ea typeface="ＭＳ Ｐゴシック" panose="020B0600070205080204" pitchFamily="34" charset="-128"/>
              </a:rPr>
              <a:t>Bottom-up vs. Top-down Processing</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Extra Readings</a:t>
            </a:r>
          </a:p>
          <a:p>
            <a:pPr lvl="1"/>
            <a:r>
              <a:rPr lang="en-US" altLang="en-US" dirty="0">
                <a:ea typeface="ＭＳ Ｐゴシック" panose="020B0600070205080204" pitchFamily="34" charset="-128"/>
              </a:rPr>
              <a:t>Download from Web site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A11D940-1180-984D-A7AF-5F76851C2D9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Basics of Neural Signals</a:t>
            </a:r>
          </a:p>
        </p:txBody>
      </p:sp>
      <p:sp>
        <p:nvSpPr>
          <p:cNvPr id="68610" name="Rectangle 3">
            <a:extLst>
              <a:ext uri="{FF2B5EF4-FFF2-40B4-BE49-F238E27FC236}">
                <a16:creationId xmlns:a16="http://schemas.microsoft.com/office/drawing/2014/main" id="{48267FC9-2229-9A4C-93EE-650A4BA91DE6}"/>
              </a:ext>
            </a:extLst>
          </p:cNvPr>
          <p:cNvSpPr>
            <a:spLocks noGrp="1" noChangeArrowheads="1"/>
          </p:cNvSpPr>
          <p:nvPr>
            <p:ph type="body" idx="1"/>
          </p:nvPr>
        </p:nvSpPr>
        <p:spPr>
          <a:xfrm>
            <a:off x="838200" y="800100"/>
            <a:ext cx="6648450" cy="3714750"/>
          </a:xfrm>
        </p:spPr>
        <p:txBody>
          <a:bodyPr/>
          <a:lstStyle/>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Neurons are surrounded by a solution containing ions.</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Ions carry an electrical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Sodium ions (Na</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Chlorine ions (Cl</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negative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Potassium ions (K</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Electrical signals are generated when such ions cross the membranes of neurons.</a:t>
            </a:r>
          </a:p>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Membranes have selective permeability. </a:t>
            </a:r>
          </a:p>
        </p:txBody>
      </p:sp>
      <p:sp>
        <p:nvSpPr>
          <p:cNvPr id="68611" name="Date Placeholder 1">
            <a:extLst>
              <a:ext uri="{FF2B5EF4-FFF2-40B4-BE49-F238E27FC236}">
                <a16:creationId xmlns:a16="http://schemas.microsoft.com/office/drawing/2014/main" id="{0CF841D2-514E-524B-A64A-B4B7484FCE8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19DF38F-5532-6442-94AE-33CEAF1922F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8612" name="Footer Placeholder 2">
            <a:extLst>
              <a:ext uri="{FF2B5EF4-FFF2-40B4-BE49-F238E27FC236}">
                <a16:creationId xmlns:a16="http://schemas.microsoft.com/office/drawing/2014/main" id="{B0427ED6-163E-BA48-AF21-C8A9EFBAED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4" descr="The diagram shows a cross-section of a nerve fiber, represented by a yellow tube with an orange interior. Small, colored spheres with labels are scattered both inside and outside the tube. Blue spheres labeled &quot;Na+&quot; represent sodium ions, and red spheres labeled &quot;K+&quot; represent potassium ions. Outside the nerve fiber, there are numerous blue &quot;Na+&quot; spheres, indicating a high concentration of sodium ions. Inside the nerve fiber, there are fewer blue &quot;Na+&quot; spheres but several red &quot;K+&quot; spheres, showing a higher concentration of potassium ions within the fiber. This distribution illustrates the ionic gradient across the nerve fiber membrane.">
            <a:extLst>
              <a:ext uri="{FF2B5EF4-FFF2-40B4-BE49-F238E27FC236}">
                <a16:creationId xmlns:a16="http://schemas.microsoft.com/office/drawing/2014/main" id="{41B8919D-8B06-C742-91C9-DCC2CAC8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862" y="1013223"/>
            <a:ext cx="5195888" cy="310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a:extLst>
              <a:ext uri="{FF2B5EF4-FFF2-40B4-BE49-F238E27FC236}">
                <a16:creationId xmlns:a16="http://schemas.microsoft.com/office/drawing/2014/main" id="{ADF337A6-DA9D-A04A-9C0D-8EC0007C4AF2}"/>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a:latin typeface="Arial" panose="020B0604020202020204" pitchFamily="34" charset="0"/>
                <a:ea typeface="ＭＳ Ｐゴシック" panose="020B0600070205080204" pitchFamily="34" charset="-128"/>
              </a:rPr>
              <a:t>Figure 2.8 A nerve fiber, showing the high concentration of sodium outside the fiber and potassium inside the fiber.  Other ions, such as negatively charged chlorine, are not shown.</a:t>
            </a:r>
          </a:p>
        </p:txBody>
      </p:sp>
      <p:sp>
        <p:nvSpPr>
          <p:cNvPr id="70659" name="Date Placeholder 1">
            <a:extLst>
              <a:ext uri="{FF2B5EF4-FFF2-40B4-BE49-F238E27FC236}">
                <a16:creationId xmlns:a16="http://schemas.microsoft.com/office/drawing/2014/main" id="{904DD699-08DA-8D4F-AF76-BBB7E3A9A0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021D0A5-06AD-4745-95DC-214FE699ED17}"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70660" name="Footer Placeholder 2">
            <a:extLst>
              <a:ext uri="{FF2B5EF4-FFF2-40B4-BE49-F238E27FC236}">
                <a16:creationId xmlns:a16="http://schemas.microsoft.com/office/drawing/2014/main" id="{CF8DC108-FD50-DD4F-B81C-629F01112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35-audio">
  <a:themeElements>
    <a:clrScheme name="">
      <a:dk1>
        <a:srgbClr val="000000"/>
      </a:dk1>
      <a:lt1>
        <a:srgbClr val="FFFFFF"/>
      </a:lt1>
      <a:dk2>
        <a:srgbClr val="000000"/>
      </a:dk2>
      <a:lt2>
        <a:srgbClr val="5E574E"/>
      </a:lt2>
      <a:accent1>
        <a:srgbClr val="0080FF"/>
      </a:accent1>
      <a:accent2>
        <a:srgbClr val="FFCC00"/>
      </a:accent2>
      <a:accent3>
        <a:srgbClr val="FFFFFF"/>
      </a:accent3>
      <a:accent4>
        <a:srgbClr val="000000"/>
      </a:accent4>
      <a:accent5>
        <a:srgbClr val="AAC0FF"/>
      </a:accent5>
      <a:accent6>
        <a:srgbClr val="E7B900"/>
      </a:accent6>
      <a:hlink>
        <a:srgbClr val="3366CC"/>
      </a:hlink>
      <a:folHlink>
        <a:srgbClr val="808000"/>
      </a:folHlink>
    </a:clrScheme>
    <a:fontScheme name="35-audio">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lnDef>
  </a:objectDefaults>
  <a:extraClrSchemeLst>
    <a:extraClrScheme>
      <a:clrScheme name="35-audio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35-audio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5-audio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35-audio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35-audio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35-audio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8">
        <a:dk1>
          <a:srgbClr val="000000"/>
        </a:dk1>
        <a:lt1>
          <a:srgbClr val="FFFFFF"/>
        </a:lt1>
        <a:dk2>
          <a:srgbClr val="000066"/>
        </a:dk2>
        <a:lt2>
          <a:srgbClr val="FFFF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WalkerB HD:Users:walkerb:Bruce:Classes:6750-HCI:PPT Slides:35-audio.ppt</Template>
  <TotalTime>7158</TotalTime>
  <Words>1573</Words>
  <Application>Microsoft Macintosh PowerPoint</Application>
  <PresentationFormat>On-screen Show (16:9)</PresentationFormat>
  <Paragraphs>223</Paragraphs>
  <Slides>29</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Comic Sans MS</vt:lpstr>
      <vt:lpstr>Tahoma</vt:lpstr>
      <vt:lpstr>Times</vt:lpstr>
      <vt:lpstr>Wingdings</vt:lpstr>
      <vt:lpstr>35-audio</vt:lpstr>
      <vt:lpstr>Physiology of Perception</vt:lpstr>
      <vt:lpstr>Reminder: Outline of Topics</vt:lpstr>
      <vt:lpstr>Overview</vt:lpstr>
      <vt:lpstr>Brain as Center of Perception</vt:lpstr>
      <vt:lpstr>Made Up of Neurons…</vt:lpstr>
      <vt:lpstr>Basic Brain Structure</vt:lpstr>
      <vt:lpstr>PowerPoint Presentation</vt:lpstr>
      <vt:lpstr>Neurons: Transduction &amp; Transmission</vt:lpstr>
      <vt:lpstr>Neurons: Transduction &amp; Transmission</vt:lpstr>
      <vt:lpstr>Neural Signals</vt:lpstr>
      <vt:lpstr>Properties of Action Potentials</vt:lpstr>
      <vt:lpstr>Stimulus Intensity &amp; Firing Rate</vt:lpstr>
      <vt:lpstr>Synaptic Transmission of Impulses </vt:lpstr>
      <vt:lpstr>Video: Synaptic Transmission</vt:lpstr>
      <vt:lpstr>Types of Neurotransmitters</vt:lpstr>
      <vt:lpstr>Neural Circuits</vt:lpstr>
      <vt:lpstr>Simple Circuit</vt:lpstr>
      <vt:lpstr>Neural Circuits - continued</vt:lpstr>
      <vt:lpstr>Convergent Circuits (+ only)</vt:lpstr>
      <vt:lpstr>Neural Circuits - continued</vt:lpstr>
      <vt:lpstr>Convergent Circuits (+ and -)</vt:lpstr>
      <vt:lpstr>Receptive Fields</vt:lpstr>
      <vt:lpstr>Center-Surround Receptive Fields</vt:lpstr>
      <vt:lpstr>Center-Surround Antagonism</vt:lpstr>
      <vt:lpstr>Sensory Code: Specificity Encoding</vt:lpstr>
      <vt:lpstr>Sensory Code: Distributed Encoding</vt:lpstr>
      <vt:lpstr>Upcoming</vt:lpstr>
      <vt:lpstr>Basics of Neural Signals</vt:lpstr>
      <vt:lpstr>PowerPoint Presentation</vt:lpstr>
    </vt:vector>
  </TitlesOfParts>
  <Company>Georgia Tech Psychology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&amp; Perception</dc:title>
  <dc:creator>Bruce Walker</dc:creator>
  <cp:lastModifiedBy>Walker, Bruce N</cp:lastModifiedBy>
  <cp:revision>51</cp:revision>
  <cp:lastPrinted>2002-12-30T22:33:12Z</cp:lastPrinted>
  <dcterms:created xsi:type="dcterms:W3CDTF">2012-01-20T02:14:24Z</dcterms:created>
  <dcterms:modified xsi:type="dcterms:W3CDTF">2021-01-24T21:07:41Z</dcterms:modified>
</cp:coreProperties>
</file>