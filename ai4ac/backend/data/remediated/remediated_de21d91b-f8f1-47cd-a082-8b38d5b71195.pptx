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graphicFrame>
        <p:nvGraphicFramePr>
          <p:cNvPr id="9" name="Table 8" descr="The image is a screenshot of a webpage showing a lecture schedule for a course in 2021. The schedule is presented in a table format with columns for Week and Date, Topic, Reading(s), and Notes. The topics covered include the introduction to the course, history and philosophy, methods and techniques, psychophysics, signal detection theory, physiology of perception, neuroimaging, cutaneous senses, and pain. The reading section provides links to the syllabus, extra readings, and specific articles and book chapters. The notes section includes a link to a video about pain."/>
          <p:cNvGraphicFramePr>
            <a:graphicFrameLocks noGrp="1"/>
          </p:cNvGraphicFramePr>
          <p:nvPr/>
        </p:nvGraphicFramePr>
        <p:xfrm>
          <a:off x="1600200" y="1123016"/>
          <a:ext cx="6207239" cy="3887134"/>
        </p:xfrm>
        <a:graphic>
          <a:graphicData uri="http://schemas.openxmlformats.org/drawingml/2006/table">
            <a:tbl>
              <a:tblPr firstRow="1" bandRow="1">
                <a:tableStyleId>{5C22544A-7EE6-4342-B048-85BDC9FD1C3A}</a:tableStyleId>
              </a:tblPr>
              <a:tblGrid>
                <a:gridCol w="2069079"/>
                <a:gridCol w="2069079"/>
                <a:gridCol w="2069081"/>
              </a:tblGrid>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r>
                        <a:rPr sz="1000"/>
                        <a:t>01 1/15</a:t>
                      </a:r>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2">
                <a:tc>
                  <a:txBody>
                    <a:bodyPr/>
                    <a:lstStyle/>
                    <a:p/>
                  </a:txBody>
                  <a:tcPr/>
                </a:tc>
                <a:tc>
                  <a:txBody>
                    <a:bodyPr/>
                    <a:lstStyle/>
                    <a:p/>
                  </a:txBody>
                  <a:tcPr/>
                </a:tc>
                <a:tc>
                  <a:txBody>
                    <a:bodyPr/>
                    <a:lstStyle/>
                    <a:p/>
                  </a:txBody>
                  <a:tcPr/>
                </a:tc>
              </a:tr>
              <a:tr h="259146">
                <a:tc>
                  <a:txBody>
                    <a:bodyPr/>
                    <a:lstStyle/>
                    <a:p/>
                  </a:txBody>
                  <a:tcPr/>
                </a:tc>
                <a:tc>
                  <a:txBody>
                    <a:bodyPr/>
                    <a:lstStyle/>
                    <a:p/>
                  </a:txBody>
                  <a:tcPr/>
                </a:tc>
                <a:tc>
                  <a:txBody>
                    <a:bodyPr/>
                    <a:lstStyle/>
                    <a:p/>
                  </a:txBody>
                  <a:tcPr/>
                </a:tc>
              </a:tr>
            </a:tbl>
          </a:graphicData>
        </a:graphic>
      </p:graphicFrame>
      <p:pic>
        <p:nvPicPr>
          <p:cNvPr id="8" name="Picture 7" descr="The image is a screenshot of a webpage showing a lecture schedule for a course in 2021. The schedule is presented in a table format with columns for Week and Date, Topic, Reading(s), and Notes. The topics covered include the introduction to the course, history and philosophy, methods and techniques, psychophysics, signal detection theory, physiology of perception, neuroimaging, cutaneous senses, and pain. The reading section provides links to the syllabus, extra readings, and specific articles and book chapters. The notes section includes a link to a video about pain.">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top-down, close-up, studio photograph displays two views of a human brain against a stark black background. The top view shows the superior aspect of the brain, bisected vertically down the midline. Each hemisphere, with its characteristic gyri and sulci, is visible. The cerebrum's surface is a mottled brown and tan, with prominent dark blue blood vessels snaking through the folds. The bottom view presents the inferior surface of a whole brain, also viewed from above. This brain exhibits a similar convoluted texture, with intricate patterns of gyri and sulci clearly defined. Dark blue vessels are also apparent across this surface. The lighting is even, highlighting the detailed texture and vascularity of the brain tissue. The context provided, &quot;Brain as Center of Perception. January 24, 2021 PSYCH 4041 / 6014,&quot; suggests this image is for educational purposes, likely related to a psychology or neuroscience course.">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microscopic view of stained neurons is shown against a vibrant orange-yellow background. The neurons, stained a deep red or dark brown, are clearly visible with their characteristic triangular cell bodies and extensive dendritic branching. The image captures a network of interconnected neurons, with some extending vertically and others branching out horizontally. The resolution suggests this is a high-magnification biological sample, likely from a neuroscience context given the course information.">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shows a lateral view of the human brain, highlighting its major lobes and their primary sensory functions. The wrinkled surface of the cerebrum is colored a reddish-brown. Labels point to the:&#10;- **Frontal lobe:** Located at the front of the brain, described as involved with integrating sensory functions.&#10;- **Parietal lobe (skin senses):** Situated behind the frontal lobe, labeled as the area responsible for skin senses.&#10;- **Temporal lobe (hearing):** Located below the parietal lobe, identified as the primary receiving area for hearing.&#10;- **Occipital lobe (vision):** Positioned at the back of the brain, indicated as the area for vision.&#10;Beneath the cerebrum, the cerebellum is visible, characterized by its pleated, gray structure. A portion of the brainstem, colored yellow, is also shown. The image effectively illustrates the spatial organization of these key brain regions and their association with specific sensory input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titled &quot;Neurons: Transduction &amp; Transmission,&quot; presents five distinct illustrations of sensory receptor cells, each labeled with a letter and a sensory modality. From left to right, these are: (a) Vision, (b) Hearing, (c) Touch, (d) Smell, and (e) Taste.&#10;&#10;Illustration (a) depicts a rod cell, characterized by its elongated, cylindrical outer segment stacked with discs, a nucleus in the inner segment, and a synaptic terminal at the bottom, representing a photoreceptor for vision.&#10;&#10;Illustration (b) shows a hair cell, with a prominent nucleus and cellular structures within a bulbous head, and fine, hair-like projections (stereocilia) extending from its apical surface, indicative of a mechanoreceptor for hearing.&#10;&#10;Illustration (c) features a highly convoluted structure resembling a cluster of intertwined tubules or lobes, colored in shades of blue and purple, with blood vessels running through it, likely representing a complex sensory organ for touch, perhaps a Pacinian corpuscle.&#10;&#10;Illustration (d) displays a cross-section of tissue containing several neurons. Two neurons, one red and one green, are prominently featured with their cell bodies containing nuclei and extending dendritic branches at the top, suggesting olfactory receptor neurons embedded in the nasal epithelium for smell.&#10;&#10;Illustration (e) illustrates a single taste receptor cell, shaped like a flask with a prominent nucleus in its central body and cilia-like projections at its apical end, extending into a surrounding epithelial tissue, representing a gustatory receptor cell for taste.&#10;&#10;Each illustration is marked with an asterisk (*), likely indicating the primary sensory surface or receptive part of the receptor cell. The overall presentation is a clear, stylized comparison of diverse sensory receptor cell structures involved in the initial step of sensory transduction.">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al transduction and transmission. It begins on the left with a round, striped structure labeled &quot;Touch receptor,&quot; which is depicted receiving a &quot;Stimulus from environment,&quot; indicated by a red arrow. This stimulus is then transmitted along a &quot;Nerve fiber.&quot; Adjacent to the nerve fiber, red arrows labeled &quot;Electrical signal&quot; show the direction of signal propagation. This signal appears to travel towards a synapse, a junction between two neurons. The diagram then shows a neuron with a prominent, orange &quot;Cell body&quot; at its center, from which numerous branched structures extend, labeled &quot;Dendrite.&quot; A long, cylindrical structure, the &quot;Axon or nerve fiber,&quot; extends from the cell body, also showing segments that are indicative of signal transmission. The overall visual depicts the conversion of an environmental stimulus into an electrical signal that is relayed through a neuron.">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 shows a transient depolarization of the neuron's membrane potential followed by repolarization and a return to the resting potential as a nerve impulse propagates along the axon.&#10;&#10;2. Axes: The vertical axis represents the electrical charge difference inside the nerve fiber relative to the outside, measured in millivolts (mV). The horizontal axis represents time, indicating the progression of the nerve impulse.&#10;&#10;3. Individual points: Not applicable as per instructions.&#10;&#10;4. Literal labels: The vertical axis label &quot;Charge inside fiber relative to outside (mV)&quot; indicates the electrical potential difference across the nerve cell membrane. The value &quot;-70&quot; represents the resting potential, which is the electrical state of the neuron when it is not actively transmitting a signal. The label &quot;+40&quot; indicates the peak positive charge reached inside the axon during an action potential. The phrase &quot;Back at resting level&quot; indicates the membrane potential returning to its baseline state after the impulse. The red arrow indicates the direction and passage of time or the propagation of the nerve impulse.">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shown is that as the stimulus intensity increases, the rate and regularity of nerve firing also increase. &#10;2. The horizontal axis represents time, and the vertical axis represents the firing of a nerve fiber, indicated by vertical lines (spikes).&#10;3. The diagram displays the response of a nerve fiber to three different levels of stimulation, labeled (a) soft, (b) medium, and (c) strong. The stimulation is applied between the &quot;Pressure on&quot; and &quot;Pressure off&quot; markers.">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the process of synaptic transmission. Panel (a) shows a simplified overview of a neuron receiving a stimulus and transmitting a nerve impulse along its axon towards another neuron. Panel (b) provides a magnified view of the synapse, the junction between two neurons. Here, the axon terminal of the sending neuron contains synaptic vesicles filled with neurotransmitter molecules. These vesicles release their contents into the synaptic cleft, the space between the neurons. Panel (c) shows a close-up of the receiving neuron's membrane, highlighting receptor sites. Neurotransmitter molecules are depicted binding to these specific receptor sites on the postsynaptic neuron, initiating a response. The text further clarifies that neurotransmitters are released from vesicles by the presynaptic neuron, received at specific receptor sites on the postsynaptic neuron, and act as triggers for voltage changes in the postsynaptic neur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 3D rendering depicting synaptic transmission, with the words &quot;Synaptic Transmission&quot; written in yellow, stylized script across the foreground. Behind the text, an abstract, organic structure in shades of purple and reddish-orange twists and curves. To the right, a stylized neuron is shown with a glowing orange cell body and branching dendrites, connected by a thin line to a small, bright white light, presumably representing the synaptic cleft or the release of neurotransmitters. The dark background emphasizes the illuminated elements. This visual is likely the title card or an introductory graphic for a video or presentation on the topic.">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s how excitatory and inhibitory neurotransmitters affect the charge inside a neuron relative to a threshold needed to trigger an action potential.&#10;2. The vertical axis represents the &quot;Charge inside fiber,&quot; indicating the electrical potential difference across the neuron's membrane. The horizontal axis represents changes in this charge, labeled as &quot;Depolarization (Excitatory)&quot; in the top graph and &quot;Hyperpolarization (Inhibitory)&quot; in the bottom graph.&#10;3. The top graph shows a temporary increase in the charge inside the fiber, moving it closer to the &quot;Level of depolarization needed to trigger an action potential.&quot; The bottom graph shows a temporary decrease in the charge inside the fiber, moving it further away from this trigger leve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main trend shown is that the firing rate of neuron &quot;B&quot; remains constant regardless of which set of receptors are stimulated. The y-axis represents the &quot;Firing rate of 'B'&quot;, indicating the neuronal activity. The x-axis represents the &quot;Receptors stimulated&quot;, categorized into different groups: &quot;4&quot;, &quot;3-5&quot;, &quot;2-6&quot;, and &quot;1-7&quot;, which likely correspond to the stimulation of specific receptors or combinations of receptors as depicted in the diagram on the left.">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1. **Main Trend:** The firing rate of neuron &quot;B&quot; increases as the number of stimulated receptors increases.&#10;2. **Axes:** The horizontal axis represents the number of receptors stimulated, categorized into groups (e.g., &quot;4&quot;, &quot;3-5&quot;, &quot;2-6&quot;, &quot;1-7&quot;). The vertical axis represents the firing rate of neuron &quot;B&quot;, measured in unspecified units.">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0216">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a fundamental aspect of visual processing. Part (a) presents a simplified representation of a receptive field overlaid on a blue background, implying a larger visual field. The receptive field itself is depicted as an oval shape with concentric regions: a central circular area labeled 'B' and a surrounding annular region labeled 'C'. The central area 'B' is marked with green plus signs (+), indicating excitatory influences, while the surrounding area 'C' is marked with red minus signs (-), indicating inhibitory influences. Two points labeled 'A' are located outside the receptive field, representing areas of the visual field. To the right of this representation, three corresponding bar graphs labeled 'A', 'B', and 'C' depict the neural firing rates in response to visual stimuli. Graph 'A' shows sporadic, low firing rates, while graphs 'B' and 'C' show distinct patterns of firing. Graph 'B' exhibits a high burst of activity when an &quot;On&quot; stimulus is presented, and graph 'C' shows a similar high burst of activity when an &quot;Off&quot; stimulus is presented. Part (b) provides a more abstract, top-down view of a circular receptive field, again showing a central area with green plus signs (excitatory) and a surrounding annular area with red minus signs (inhibitory). This diagram visually explains how different parts of a neuron's receptive field can have opposing effects on its firing rate depending on the presence and type of light stimulus. The context of &quot;Center-Surround Receptive Fields&quot; suggests this is an illustration of how the visual system processes light, with different regions of a neuron's field responding either by increasing or decreasing its neural output.">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diagram shows that the response of a receptive field varies with the area of stimulation, with the highest response occurring when only the central excitatory region is stimulated, and the lowest response when only the surrounding inhibitory region is stimulated. Intermediate responses are observed when both regions are stimulated.&#10;&#10;2. **Axes:** The top row of images represents different stimulation conditions of a center-surround receptive field. The bottom row represents the neural response to these stimulations. The vertical axis represents the rate of neural firing (indicated by the height and density of the vertical lines), and the horizontal axis represents time, with an &quot;On&quot; marker indicating the onset of stimulation.">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1. Main Trend:** The diagram illustrates how different stimuli activate specific neurons, supporting the concept of specificity coding. Each stimulus (a person's face) results in a distinct pattern of neural firing.&#10;&#10;**2. Axes:** The vertical axis represents different neurons (Neuron 1, Neuron 2, Neuron 3). The horizontal axis represents the neural activity, shown as a series of vertical lines (spikes) indicating neuronal firing over time for each stimulus.&#10;&#10;**3. Explanation of Context:**&#10;*   **Stimulus:** The left column shows images of three individuals: (a) Bill, (b) Mary, and (c) Raphael. These represent distinct visual stimuli.&#10;*   **Neuron 1, Neuron 2, Neuron 3:** These columns represent different neurons in the nervous system.&#10;*   **Spikes (Vertical Lines):** The groups of vertical lines indicate that a particular neuron is firing (transmitting signals) in response to the presented stimulus. The pattern and timing of these spikes are significant.&#10;&#10;The diagram demonstrates that when presented with the image of Bill, Neuron 1 shows a burst of activity. When presented with the image of Mary, Neuron 2 shows a burst of activity. When presented with the image of Raphael, Neuron 3 shows a burst of activity. This suggests that each specific neuron is selectively activated by a particular stimulus, aligning with the principle of specificity coding where unique neurons respond to unique stimuli.">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quot;Distributed Encoding&quot; in sensory coding, suggesting that specific objects or stimuli are represented by a pattern of firing across multiple neurons.&#10;&#10;**Visual Elements:**&#10;&#10;*   **Stimulus Column:** On the left, four different individuals are depicted, labeled (a) Bill, (b) Mary, (c) Raphael, and (d) Roger. These represent distinct stimuli or objects.&#10;*   **Neuron Columns:** To the right of the stimulus column, there are three columns labeled &quot;Neuron 1,&quot; &quot;Neuron 2,&quot; and &quot;Neuron 3.&quot;&#10;*   **Neuron Firing Patterns:** Within each neuron column, horizontal lines represent time, and vertical spikes represent neuron firing events (action potentials). Different stimuli are associated with unique patterns of spikes across the neurons.&#10;&#10;**Contextual Relationship:**&#10;&#10;The diagram aims to show how the same stimulus can elicit different firing patterns in different neurons, and how a combination of these patterns across neurons can uniquely identify a specific stimulus. For instance, if we look at &quot;Bill,&quot; Neuron 1 shows a high frequency of firing early on, followed by intermittent firing. Neuron 2 and Neuron 3 also exhibit specific firing patterns in response to Bill. This contrasts with the firing patterns observed for Mary, Raphael, and Roger, suggesting that each individual has a unique neural signature formed by the combined activity of these neurons.&#10;&#10;The accompanying text reinforces this by stating that &quot;Distributed coding - pattern of firing across many neurons codes specific objects&quot; and &quot;Large number of stimuli can be coded by a few neurons.&quot; This implies that the system is efficient, with a limited set of neurons capable of representing a vast array of different stimuli through their varied firing pattern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which is depicted as a hollow, tube-like structure with a yellow outer membrane and an orange interior. Scattered around the outside of the nerve fiber are several blue spheres labeled &quot;Na+&quot;, representing sodium ions. Inside the nerve fiber, there are several red spheres labeled &quot;K+&quot;, representing potassium ions, and also some blue spheres labeled &quot;Na+&quot;. The visual representation highlights a higher concentration of sodium ions outside the nerve fiber compared to inside, and a higher concentration of potassium ions inside the nerve fiber.">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