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31"/>
  </p:notesMasterIdLst>
  <p:handoutMasterIdLst>
    <p:handoutMasterId r:id="rId32"/>
  </p:handoutMasterIdLst>
  <p:sldIdLst>
    <p:sldId id="256" r:id="rId2"/>
    <p:sldId id="328" r:id="rId3"/>
    <p:sldId id="257" r:id="rId4"/>
    <p:sldId id="269" r:id="rId5"/>
    <p:sldId id="276" r:id="rId6"/>
    <p:sldId id="286" r:id="rId7"/>
    <p:sldId id="287" r:id="rId8"/>
    <p:sldId id="325" r:id="rId9"/>
    <p:sldId id="288" r:id="rId10"/>
    <p:sldId id="292" r:id="rId11"/>
    <p:sldId id="296" r:id="rId12"/>
    <p:sldId id="297" r:id="rId13"/>
    <p:sldId id="298" r:id="rId14"/>
    <p:sldId id="300" r:id="rId15"/>
    <p:sldId id="301" r:id="rId16"/>
    <p:sldId id="304" r:id="rId17"/>
    <p:sldId id="305" r:id="rId18"/>
    <p:sldId id="306" r:id="rId19"/>
    <p:sldId id="307" r:id="rId20"/>
    <p:sldId id="308" r:id="rId21"/>
    <p:sldId id="309" r:id="rId22"/>
    <p:sldId id="310" r:id="rId23"/>
    <p:sldId id="312" r:id="rId24"/>
    <p:sldId id="314" r:id="rId25"/>
    <p:sldId id="316" r:id="rId26"/>
    <p:sldId id="319" r:id="rId27"/>
    <p:sldId id="268" r:id="rId28"/>
    <p:sldId id="326" r:id="rId29"/>
    <p:sldId id="327" r:id="rId30"/>
  </p:sldIdLst>
  <p:sldSz cx="9144000" cy="5143500" type="screen16x9"/>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38"/>
  </p:normalViewPr>
  <p:slideViewPr>
    <p:cSldViewPr>
      <p:cViewPr varScale="1">
        <p:scale>
          <a:sx n="151" d="100"/>
          <a:sy n="151" d="100"/>
        </p:scale>
        <p:origin x="520" y="176"/>
      </p:cViewPr>
      <p:guideLst>
        <p:guide orient="horz" pos="1620"/>
        <p:guide pos="2880"/>
      </p:guideLst>
    </p:cSldViewPr>
  </p:slideViewPr>
  <p:outlineViewPr>
    <p:cViewPr>
      <p:scale>
        <a:sx n="33" d="100"/>
        <a:sy n="33" d="100"/>
      </p:scale>
      <p:origin x="0" y="18536"/>
    </p:cViewPr>
  </p:outlineViewPr>
  <p:notesTextViewPr>
    <p:cViewPr>
      <p:scale>
        <a:sx n="100" d="100"/>
        <a:sy n="100" d="100"/>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3F558A9-DA8C-0A4A-A9D6-28E17870D4B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7" name="Rectangle 3">
            <a:extLst>
              <a:ext uri="{FF2B5EF4-FFF2-40B4-BE49-F238E27FC236}">
                <a16:creationId xmlns:a16="http://schemas.microsoft.com/office/drawing/2014/main" id="{600705CB-591E-D340-B556-AB4ACC36EBB8}"/>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1268" name="Rectangle 4">
            <a:extLst>
              <a:ext uri="{FF2B5EF4-FFF2-40B4-BE49-F238E27FC236}">
                <a16:creationId xmlns:a16="http://schemas.microsoft.com/office/drawing/2014/main" id="{AF3A6860-2E4E-5C43-9346-C44984AD63E6}"/>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9" name="Rectangle 5">
            <a:extLst>
              <a:ext uri="{FF2B5EF4-FFF2-40B4-BE49-F238E27FC236}">
                <a16:creationId xmlns:a16="http://schemas.microsoft.com/office/drawing/2014/main" id="{0CE811E3-AE1A-5A42-B453-E883C13CD3A4}"/>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1326EE1-770B-5044-B269-2293F993D78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E3F1E7CE-B704-5B46-9A09-9D8D78B6AE9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1" name="Rectangle 3">
            <a:extLst>
              <a:ext uri="{FF2B5EF4-FFF2-40B4-BE49-F238E27FC236}">
                <a16:creationId xmlns:a16="http://schemas.microsoft.com/office/drawing/2014/main" id="{08BBAAEB-51AC-5C4C-B0B0-F67056DD0FB6}"/>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3316" name="Rectangle 4">
            <a:extLst>
              <a:ext uri="{FF2B5EF4-FFF2-40B4-BE49-F238E27FC236}">
                <a16:creationId xmlns:a16="http://schemas.microsoft.com/office/drawing/2014/main" id="{239BCA80-B535-0A4F-95BC-1F3B6D974DB8}"/>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a:extLst>
              <a:ext uri="{FF2B5EF4-FFF2-40B4-BE49-F238E27FC236}">
                <a16:creationId xmlns:a16="http://schemas.microsoft.com/office/drawing/2014/main" id="{33C9E59B-4658-BE47-9963-4BB72D8AE619}"/>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3014" name="Rectangle 6">
            <a:extLst>
              <a:ext uri="{FF2B5EF4-FFF2-40B4-BE49-F238E27FC236}">
                <a16:creationId xmlns:a16="http://schemas.microsoft.com/office/drawing/2014/main" id="{11C0D8D2-8A4B-754B-A07D-6617721D8BE3}"/>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5" name="Rectangle 7">
            <a:extLst>
              <a:ext uri="{FF2B5EF4-FFF2-40B4-BE49-F238E27FC236}">
                <a16:creationId xmlns:a16="http://schemas.microsoft.com/office/drawing/2014/main" id="{1B1B4E08-1B91-BE4E-A3F6-841920412614}"/>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BA2F6CF-D245-AE40-B035-DD9CA7F120A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10" charset="0"/>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2pPr>
    <a:lvl3pPr marL="9144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3pPr>
    <a:lvl4pPr marL="13716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4pPr>
    <a:lvl5pPr marL="18288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D9BAB331-E797-3E44-BEBB-E17657056E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CE2B21B-6094-064D-B292-99F66B598B11}" type="slidenum">
              <a:rPr lang="en-US" altLang="en-US" sz="1200" smtClean="0"/>
              <a:pPr/>
              <a:t>1</a:t>
            </a:fld>
            <a:endParaRPr lang="en-US" altLang="en-US" sz="1200"/>
          </a:p>
        </p:txBody>
      </p:sp>
      <p:sp>
        <p:nvSpPr>
          <p:cNvPr id="16386" name="Rectangle 2">
            <a:extLst>
              <a:ext uri="{FF2B5EF4-FFF2-40B4-BE49-F238E27FC236}">
                <a16:creationId xmlns:a16="http://schemas.microsoft.com/office/drawing/2014/main" id="{2CD11686-6F80-A444-AEE4-DCA41A984AFF}"/>
              </a:ext>
            </a:extLst>
          </p:cNvPr>
          <p:cNvSpPr>
            <a:spLocks noGrp="1" noRot="1" noChangeAspect="1" noChangeArrowheads="1" noTextEdit="1"/>
          </p:cNvSpPr>
          <p:nvPr>
            <p:ph type="sldImg"/>
          </p:nvPr>
        </p:nvSpPr>
        <p:spPr>
          <a:xfrm>
            <a:off x="381000" y="685800"/>
            <a:ext cx="6096000" cy="3429000"/>
          </a:xfrm>
          <a:ln/>
        </p:spPr>
      </p:sp>
      <p:sp>
        <p:nvSpPr>
          <p:cNvPr id="16387" name="Rectangle 3">
            <a:extLst>
              <a:ext uri="{FF2B5EF4-FFF2-40B4-BE49-F238E27FC236}">
                <a16:creationId xmlns:a16="http://schemas.microsoft.com/office/drawing/2014/main" id="{117B5C69-F248-B34F-BDE5-CEC38FF56A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279E30D2-E615-954C-B0C9-2124F66A04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FC0F0B0-1D28-3D46-B8C1-8534A751C016}" type="slidenum">
              <a:rPr lang="en-US" altLang="en-US" sz="1200" smtClean="0"/>
              <a:pPr/>
              <a:t>3</a:t>
            </a:fld>
            <a:endParaRPr lang="en-US" altLang="en-US" sz="1200"/>
          </a:p>
        </p:txBody>
      </p:sp>
      <p:sp>
        <p:nvSpPr>
          <p:cNvPr id="18434" name="Rectangle 2">
            <a:extLst>
              <a:ext uri="{FF2B5EF4-FFF2-40B4-BE49-F238E27FC236}">
                <a16:creationId xmlns:a16="http://schemas.microsoft.com/office/drawing/2014/main" id="{FEE0D0F6-533B-2248-AD10-AB98B9AD9D16}"/>
              </a:ext>
            </a:extLst>
          </p:cNvPr>
          <p:cNvSpPr>
            <a:spLocks noGrp="1" noRot="1" noChangeAspect="1" noChangeArrowheads="1" noTextEdit="1"/>
          </p:cNvSpPr>
          <p:nvPr>
            <p:ph type="sldImg"/>
          </p:nvPr>
        </p:nvSpPr>
        <p:spPr>
          <a:xfrm>
            <a:off x="381000" y="685800"/>
            <a:ext cx="6096000" cy="3429000"/>
          </a:xfrm>
          <a:ln/>
        </p:spPr>
      </p:sp>
      <p:sp>
        <p:nvSpPr>
          <p:cNvPr id="18435" name="Rectangle 3">
            <a:extLst>
              <a:ext uri="{FF2B5EF4-FFF2-40B4-BE49-F238E27FC236}">
                <a16:creationId xmlns:a16="http://schemas.microsoft.com/office/drawing/2014/main" id="{D778F79E-8D22-C842-8B85-D3C7E3FA5D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BFB05557-4DD7-9241-9D3A-36B408B032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08289F4B-38A2-F443-BB95-7E2E014086A9}" type="slidenum">
              <a:rPr lang="en-US" altLang="en-US" sz="1200" smtClean="0"/>
              <a:pPr/>
              <a:t>4</a:t>
            </a:fld>
            <a:endParaRPr lang="en-US" altLang="en-US" sz="1200"/>
          </a:p>
        </p:txBody>
      </p:sp>
      <p:sp>
        <p:nvSpPr>
          <p:cNvPr id="20482" name="Rectangle 2">
            <a:extLst>
              <a:ext uri="{FF2B5EF4-FFF2-40B4-BE49-F238E27FC236}">
                <a16:creationId xmlns:a16="http://schemas.microsoft.com/office/drawing/2014/main" id="{03E90D78-ADCB-674B-85A8-C19868155A58}"/>
              </a:ext>
            </a:extLst>
          </p:cNvPr>
          <p:cNvSpPr>
            <a:spLocks noGrp="1" noRot="1" noChangeAspect="1" noChangeArrowheads="1" noTextEdit="1"/>
          </p:cNvSpPr>
          <p:nvPr>
            <p:ph type="sldImg"/>
          </p:nvPr>
        </p:nvSpPr>
        <p:spPr>
          <a:xfrm>
            <a:off x="381000" y="685800"/>
            <a:ext cx="6096000" cy="3429000"/>
          </a:xfrm>
          <a:ln/>
        </p:spPr>
      </p:sp>
      <p:sp>
        <p:nvSpPr>
          <p:cNvPr id="20483" name="Rectangle 3">
            <a:extLst>
              <a:ext uri="{FF2B5EF4-FFF2-40B4-BE49-F238E27FC236}">
                <a16:creationId xmlns:a16="http://schemas.microsoft.com/office/drawing/2014/main" id="{B0F22141-D9B4-044A-9F1B-59F8A077CF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0F5C0031-C48D-3446-B7AD-3B9171E548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C0A6925-F32A-5649-9A77-A1B5FCC1DF2F}" type="slidenum">
              <a:rPr lang="en-US" altLang="en-US" sz="1200" smtClean="0"/>
              <a:pPr/>
              <a:t>5</a:t>
            </a:fld>
            <a:endParaRPr lang="en-US" altLang="en-US" sz="1200"/>
          </a:p>
        </p:txBody>
      </p:sp>
      <p:sp>
        <p:nvSpPr>
          <p:cNvPr id="22530" name="Rectangle 2">
            <a:extLst>
              <a:ext uri="{FF2B5EF4-FFF2-40B4-BE49-F238E27FC236}">
                <a16:creationId xmlns:a16="http://schemas.microsoft.com/office/drawing/2014/main" id="{4482657A-98B1-9D43-9AF7-52D7102F8DF9}"/>
              </a:ext>
            </a:extLst>
          </p:cNvPr>
          <p:cNvSpPr>
            <a:spLocks noGrp="1" noRot="1" noChangeAspect="1" noChangeArrowheads="1" noTextEdit="1"/>
          </p:cNvSpPr>
          <p:nvPr>
            <p:ph type="sldImg"/>
          </p:nvPr>
        </p:nvSpPr>
        <p:spPr>
          <a:xfrm>
            <a:off x="381000" y="685800"/>
            <a:ext cx="6096000" cy="3429000"/>
          </a:xfrm>
          <a:ln/>
        </p:spPr>
      </p:sp>
      <p:sp>
        <p:nvSpPr>
          <p:cNvPr id="22531" name="Rectangle 3">
            <a:extLst>
              <a:ext uri="{FF2B5EF4-FFF2-40B4-BE49-F238E27FC236}">
                <a16:creationId xmlns:a16="http://schemas.microsoft.com/office/drawing/2014/main" id="{47B59028-2F3E-B049-95D4-304CEB9565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9C872A02-86E7-D349-971C-E4EFD26C50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B2B1064-FB65-C948-BB30-A23CFD71F264}" type="slidenum">
              <a:rPr lang="en-US" altLang="en-US" sz="1200" smtClean="0"/>
              <a:pPr/>
              <a:t>6</a:t>
            </a:fld>
            <a:endParaRPr lang="en-US" altLang="en-US" sz="1200"/>
          </a:p>
        </p:txBody>
      </p:sp>
      <p:sp>
        <p:nvSpPr>
          <p:cNvPr id="24578" name="Rectangle 2">
            <a:extLst>
              <a:ext uri="{FF2B5EF4-FFF2-40B4-BE49-F238E27FC236}">
                <a16:creationId xmlns:a16="http://schemas.microsoft.com/office/drawing/2014/main" id="{0284A813-4981-594F-B220-65DEC1F2733E}"/>
              </a:ext>
            </a:extLst>
          </p:cNvPr>
          <p:cNvSpPr>
            <a:spLocks noGrp="1" noRot="1" noChangeAspect="1" noChangeArrowheads="1" noTextEdit="1"/>
          </p:cNvSpPr>
          <p:nvPr>
            <p:ph type="sldImg"/>
          </p:nvPr>
        </p:nvSpPr>
        <p:spPr>
          <a:xfrm>
            <a:off x="381000" y="685800"/>
            <a:ext cx="6096000" cy="3429000"/>
          </a:xfrm>
          <a:ln/>
        </p:spPr>
      </p:sp>
      <p:sp>
        <p:nvSpPr>
          <p:cNvPr id="24579" name="Rectangle 3">
            <a:extLst>
              <a:ext uri="{FF2B5EF4-FFF2-40B4-BE49-F238E27FC236}">
                <a16:creationId xmlns:a16="http://schemas.microsoft.com/office/drawing/2014/main" id="{12863047-9B60-BD49-99AC-BB6E6F5F34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80459D58-1A5D-3947-B5D8-E34AE6FD2E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3FEB8D92-5D75-4E41-9902-CBAE81064C62}" type="slidenum">
              <a:rPr lang="en-US" altLang="en-US" sz="1200" smtClean="0"/>
              <a:pPr/>
              <a:t>7</a:t>
            </a:fld>
            <a:endParaRPr lang="en-US" altLang="en-US" sz="1200"/>
          </a:p>
        </p:txBody>
      </p:sp>
      <p:sp>
        <p:nvSpPr>
          <p:cNvPr id="26626" name="Rectangle 2">
            <a:extLst>
              <a:ext uri="{FF2B5EF4-FFF2-40B4-BE49-F238E27FC236}">
                <a16:creationId xmlns:a16="http://schemas.microsoft.com/office/drawing/2014/main" id="{6E74BE94-D453-BE46-99BB-8F110FEB698D}"/>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26627" name="Rectangle 3">
            <a:extLst>
              <a:ext uri="{FF2B5EF4-FFF2-40B4-BE49-F238E27FC236}">
                <a16:creationId xmlns:a16="http://schemas.microsoft.com/office/drawing/2014/main" id="{E761AF3C-9833-CC4B-9C02-D9A3FCF90337}"/>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CDB30AC7-22BA-314D-9FB1-28914E5DB5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BD3D8DE-791C-5347-9826-D10E8AFA3F13}" type="slidenum">
              <a:rPr lang="en-US" altLang="en-US" sz="1200" smtClean="0"/>
              <a:pPr/>
              <a:t>8</a:t>
            </a:fld>
            <a:endParaRPr lang="en-US" altLang="en-US" sz="1200"/>
          </a:p>
        </p:txBody>
      </p:sp>
      <p:sp>
        <p:nvSpPr>
          <p:cNvPr id="28674" name="Rectangle 2">
            <a:extLst>
              <a:ext uri="{FF2B5EF4-FFF2-40B4-BE49-F238E27FC236}">
                <a16:creationId xmlns:a16="http://schemas.microsoft.com/office/drawing/2014/main" id="{0CD75608-B2AB-734A-8BB0-789E1B71177D}"/>
              </a:ext>
            </a:extLst>
          </p:cNvPr>
          <p:cNvSpPr>
            <a:spLocks noGrp="1" noRot="1" noChangeAspect="1" noChangeArrowheads="1" noTextEdit="1"/>
          </p:cNvSpPr>
          <p:nvPr>
            <p:ph type="sldImg"/>
          </p:nvPr>
        </p:nvSpPr>
        <p:spPr>
          <a:xfrm>
            <a:off x="381000" y="685800"/>
            <a:ext cx="6096000" cy="3429000"/>
          </a:xfrm>
          <a:ln/>
        </p:spPr>
      </p:sp>
      <p:sp>
        <p:nvSpPr>
          <p:cNvPr id="28675" name="Rectangle 3">
            <a:extLst>
              <a:ext uri="{FF2B5EF4-FFF2-40B4-BE49-F238E27FC236}">
                <a16:creationId xmlns:a16="http://schemas.microsoft.com/office/drawing/2014/main" id="{50CD4570-DC87-7A4D-BA94-F394092EB8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78C42032-8C53-4040-9734-2362D39328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E034A6-42EB-2E45-B73E-C9DA2FBCBE24}" type="slidenum">
              <a:rPr lang="en-US" altLang="en-US" sz="1200" smtClean="0"/>
              <a:pPr/>
              <a:t>9</a:t>
            </a:fld>
            <a:endParaRPr lang="en-US" altLang="en-US" sz="1200"/>
          </a:p>
        </p:txBody>
      </p:sp>
      <p:sp>
        <p:nvSpPr>
          <p:cNvPr id="30722" name="Rectangle 2">
            <a:extLst>
              <a:ext uri="{FF2B5EF4-FFF2-40B4-BE49-F238E27FC236}">
                <a16:creationId xmlns:a16="http://schemas.microsoft.com/office/drawing/2014/main" id="{A560BA01-F890-5B41-BC3B-0BFDB8FE4EE3}"/>
              </a:ext>
            </a:extLst>
          </p:cNvPr>
          <p:cNvSpPr>
            <a:spLocks noGrp="1" noRot="1" noChangeAspect="1" noChangeArrowheads="1" noTextEdit="1"/>
          </p:cNvSpPr>
          <p:nvPr>
            <p:ph type="sldImg"/>
          </p:nvPr>
        </p:nvSpPr>
        <p:spPr>
          <a:xfrm>
            <a:off x="381000" y="685800"/>
            <a:ext cx="6096000" cy="3429000"/>
          </a:xfrm>
          <a:ln/>
        </p:spPr>
      </p:sp>
      <p:sp>
        <p:nvSpPr>
          <p:cNvPr id="30723" name="Rectangle 3">
            <a:extLst>
              <a:ext uri="{FF2B5EF4-FFF2-40B4-BE49-F238E27FC236}">
                <a16:creationId xmlns:a16="http://schemas.microsoft.com/office/drawing/2014/main" id="{E6E447F0-CDE8-8340-BDB0-82D92EEEF7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0E4B206B-4629-7940-AEDA-088CE17AFA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600EB2-3F10-7C49-B268-BFE0508D8167}" type="slidenum">
              <a:rPr lang="en-US" altLang="en-US" sz="1200" smtClean="0"/>
              <a:pPr/>
              <a:t>10</a:t>
            </a:fld>
            <a:endParaRPr lang="en-US" altLang="en-US" sz="1200"/>
          </a:p>
        </p:txBody>
      </p:sp>
      <p:sp>
        <p:nvSpPr>
          <p:cNvPr id="32770" name="Rectangle 2">
            <a:extLst>
              <a:ext uri="{FF2B5EF4-FFF2-40B4-BE49-F238E27FC236}">
                <a16:creationId xmlns:a16="http://schemas.microsoft.com/office/drawing/2014/main" id="{6DCD66F7-9241-6E42-88B5-349C60B8F686}"/>
              </a:ext>
            </a:extLst>
          </p:cNvPr>
          <p:cNvSpPr>
            <a:spLocks noGrp="1" noRot="1" noChangeAspect="1" noChangeArrowheads="1" noTextEdit="1"/>
          </p:cNvSpPr>
          <p:nvPr>
            <p:ph type="sldImg"/>
          </p:nvPr>
        </p:nvSpPr>
        <p:spPr>
          <a:xfrm>
            <a:off x="381000" y="685800"/>
            <a:ext cx="6096000" cy="3429000"/>
          </a:xfrm>
          <a:ln/>
        </p:spPr>
      </p:sp>
      <p:sp>
        <p:nvSpPr>
          <p:cNvPr id="32771" name="Rectangle 3">
            <a:extLst>
              <a:ext uri="{FF2B5EF4-FFF2-40B4-BE49-F238E27FC236}">
                <a16:creationId xmlns:a16="http://schemas.microsoft.com/office/drawing/2014/main" id="{E21ED039-0736-A045-ADC2-347AD1394F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680FEE61-3EA3-2C49-A617-EEDD5FCDD5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DC6572F-9CD6-3F4D-B656-ED08FB64CAB1}" type="slidenum">
              <a:rPr lang="en-US" altLang="en-US" sz="1200" smtClean="0"/>
              <a:pPr/>
              <a:t>11</a:t>
            </a:fld>
            <a:endParaRPr lang="en-US" altLang="en-US" sz="1200"/>
          </a:p>
        </p:txBody>
      </p:sp>
      <p:sp>
        <p:nvSpPr>
          <p:cNvPr id="34818" name="Rectangle 2">
            <a:extLst>
              <a:ext uri="{FF2B5EF4-FFF2-40B4-BE49-F238E27FC236}">
                <a16:creationId xmlns:a16="http://schemas.microsoft.com/office/drawing/2014/main" id="{5C01FEA8-76FA-A847-9BDA-5AE6C50923E9}"/>
              </a:ext>
            </a:extLst>
          </p:cNvPr>
          <p:cNvSpPr>
            <a:spLocks noGrp="1" noRot="1" noChangeAspect="1" noChangeArrowheads="1" noTextEdit="1"/>
          </p:cNvSpPr>
          <p:nvPr>
            <p:ph type="sldImg"/>
          </p:nvPr>
        </p:nvSpPr>
        <p:spPr>
          <a:xfrm>
            <a:off x="381000" y="685800"/>
            <a:ext cx="6096000" cy="3429000"/>
          </a:xfrm>
          <a:ln/>
        </p:spPr>
      </p:sp>
      <p:sp>
        <p:nvSpPr>
          <p:cNvPr id="34819" name="Rectangle 3">
            <a:extLst>
              <a:ext uri="{FF2B5EF4-FFF2-40B4-BE49-F238E27FC236}">
                <a16:creationId xmlns:a16="http://schemas.microsoft.com/office/drawing/2014/main" id="{5B219D65-454F-3D4A-9A56-78C2BF1181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5CE4C6E6-56B4-0448-ADA6-FADE7997D9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59C21F5-AC1F-6C44-8225-0BBB2A221D3F}" type="slidenum">
              <a:rPr lang="en-US" altLang="en-US" sz="1200" smtClean="0"/>
              <a:pPr/>
              <a:t>12</a:t>
            </a:fld>
            <a:endParaRPr lang="en-US" altLang="en-US" sz="1200"/>
          </a:p>
        </p:txBody>
      </p:sp>
      <p:sp>
        <p:nvSpPr>
          <p:cNvPr id="36866" name="Rectangle 2">
            <a:extLst>
              <a:ext uri="{FF2B5EF4-FFF2-40B4-BE49-F238E27FC236}">
                <a16:creationId xmlns:a16="http://schemas.microsoft.com/office/drawing/2014/main" id="{1E0FC249-816C-F043-9175-3880D51C82DB}"/>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36867" name="Rectangle 3">
            <a:extLst>
              <a:ext uri="{FF2B5EF4-FFF2-40B4-BE49-F238E27FC236}">
                <a16:creationId xmlns:a16="http://schemas.microsoft.com/office/drawing/2014/main" id="{4F645025-64D3-754B-93E9-D55DF99A47B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54A89F74-16D8-5144-BCE6-872091AEF0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C617417-CD43-3D4A-8ADE-1DCA8D9ABAF3}" type="slidenum">
              <a:rPr lang="en-US" altLang="en-US" sz="1200" smtClean="0"/>
              <a:pPr/>
              <a:t>13</a:t>
            </a:fld>
            <a:endParaRPr lang="en-US" altLang="en-US" sz="1200"/>
          </a:p>
        </p:txBody>
      </p:sp>
      <p:sp>
        <p:nvSpPr>
          <p:cNvPr id="38914" name="Rectangle 2">
            <a:extLst>
              <a:ext uri="{FF2B5EF4-FFF2-40B4-BE49-F238E27FC236}">
                <a16:creationId xmlns:a16="http://schemas.microsoft.com/office/drawing/2014/main" id="{12EC4778-71CC-D147-8F88-FB66169D6DFE}"/>
              </a:ext>
            </a:extLst>
          </p:cNvPr>
          <p:cNvSpPr>
            <a:spLocks noGrp="1" noRot="1" noChangeAspect="1" noChangeArrowheads="1" noTextEdit="1"/>
          </p:cNvSpPr>
          <p:nvPr>
            <p:ph type="sldImg"/>
          </p:nvPr>
        </p:nvSpPr>
        <p:spPr>
          <a:xfrm>
            <a:off x="381000" y="685800"/>
            <a:ext cx="6096000" cy="3429000"/>
          </a:xfrm>
          <a:ln/>
        </p:spPr>
      </p:sp>
      <p:sp>
        <p:nvSpPr>
          <p:cNvPr id="38915" name="Rectangle 3">
            <a:extLst>
              <a:ext uri="{FF2B5EF4-FFF2-40B4-BE49-F238E27FC236}">
                <a16:creationId xmlns:a16="http://schemas.microsoft.com/office/drawing/2014/main" id="{547664E5-2A3C-E346-ACAB-020C19D760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F5A8C933-A186-BC43-8512-F36FEB8CFD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CEDEAEA-D266-7840-8459-D90A0CDD0E1C}" type="slidenum">
              <a:rPr lang="en-US" altLang="en-US" sz="1200" smtClean="0"/>
              <a:pPr/>
              <a:t>14</a:t>
            </a:fld>
            <a:endParaRPr lang="en-US" altLang="en-US" sz="1200"/>
          </a:p>
        </p:txBody>
      </p:sp>
      <p:sp>
        <p:nvSpPr>
          <p:cNvPr id="40962" name="Rectangle 2">
            <a:extLst>
              <a:ext uri="{FF2B5EF4-FFF2-40B4-BE49-F238E27FC236}">
                <a16:creationId xmlns:a16="http://schemas.microsoft.com/office/drawing/2014/main" id="{5995B5E6-6177-5744-B156-E03ACF3A49CE}"/>
              </a:ext>
            </a:extLst>
          </p:cNvPr>
          <p:cNvSpPr>
            <a:spLocks noGrp="1" noRot="1" noChangeAspect="1" noChangeArrowheads="1" noTextEdit="1"/>
          </p:cNvSpPr>
          <p:nvPr>
            <p:ph type="sldImg"/>
          </p:nvPr>
        </p:nvSpPr>
        <p:spPr>
          <a:xfrm>
            <a:off x="381000" y="685800"/>
            <a:ext cx="6096000" cy="3429000"/>
          </a:xfrm>
          <a:ln/>
        </p:spPr>
      </p:sp>
      <p:sp>
        <p:nvSpPr>
          <p:cNvPr id="40963" name="Rectangle 3">
            <a:extLst>
              <a:ext uri="{FF2B5EF4-FFF2-40B4-BE49-F238E27FC236}">
                <a16:creationId xmlns:a16="http://schemas.microsoft.com/office/drawing/2014/main" id="{476EA1FD-8DBB-E04F-B72F-02AA31AD15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C9B67EAC-17D0-484D-BE1C-9942CF7CE9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1E98D6-6CFA-334E-903B-675863571BCB}" type="slidenum">
              <a:rPr lang="en-US" altLang="en-US" sz="1200" smtClean="0"/>
              <a:pPr/>
              <a:t>15</a:t>
            </a:fld>
            <a:endParaRPr lang="en-US" altLang="en-US" sz="1200"/>
          </a:p>
        </p:txBody>
      </p:sp>
      <p:sp>
        <p:nvSpPr>
          <p:cNvPr id="43010" name="Rectangle 2">
            <a:extLst>
              <a:ext uri="{FF2B5EF4-FFF2-40B4-BE49-F238E27FC236}">
                <a16:creationId xmlns:a16="http://schemas.microsoft.com/office/drawing/2014/main" id="{14CE1EEF-CD36-544F-BFFE-F2C906813B33}"/>
              </a:ext>
            </a:extLst>
          </p:cNvPr>
          <p:cNvSpPr>
            <a:spLocks noGrp="1" noRot="1" noChangeAspect="1" noChangeArrowheads="1" noTextEdit="1"/>
          </p:cNvSpPr>
          <p:nvPr>
            <p:ph type="sldImg"/>
          </p:nvPr>
        </p:nvSpPr>
        <p:spPr>
          <a:xfrm>
            <a:off x="381000" y="685800"/>
            <a:ext cx="6096000" cy="3429000"/>
          </a:xfrm>
          <a:ln/>
        </p:spPr>
      </p:sp>
      <p:sp>
        <p:nvSpPr>
          <p:cNvPr id="43011" name="Rectangle 3">
            <a:extLst>
              <a:ext uri="{FF2B5EF4-FFF2-40B4-BE49-F238E27FC236}">
                <a16:creationId xmlns:a16="http://schemas.microsoft.com/office/drawing/2014/main" id="{18A232AC-38D2-034A-8B2E-C15FD1F0F7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580023FD-EEC4-6449-84F2-26EB6D3683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4AEF171-57C5-154E-A80D-79188824DFCE}" type="slidenum">
              <a:rPr lang="en-US" altLang="en-US" sz="1200" smtClean="0"/>
              <a:pPr/>
              <a:t>16</a:t>
            </a:fld>
            <a:endParaRPr lang="en-US" altLang="en-US" sz="1200"/>
          </a:p>
        </p:txBody>
      </p:sp>
      <p:sp>
        <p:nvSpPr>
          <p:cNvPr id="45058" name="Rectangle 2">
            <a:extLst>
              <a:ext uri="{FF2B5EF4-FFF2-40B4-BE49-F238E27FC236}">
                <a16:creationId xmlns:a16="http://schemas.microsoft.com/office/drawing/2014/main" id="{95B831F9-0F6A-F04B-B831-1B27C94F3054}"/>
              </a:ext>
            </a:extLst>
          </p:cNvPr>
          <p:cNvSpPr>
            <a:spLocks noGrp="1" noRot="1" noChangeAspect="1" noChangeArrowheads="1" noTextEdit="1"/>
          </p:cNvSpPr>
          <p:nvPr>
            <p:ph type="sldImg"/>
          </p:nvPr>
        </p:nvSpPr>
        <p:spPr>
          <a:xfrm>
            <a:off x="381000" y="685800"/>
            <a:ext cx="6096000" cy="3429000"/>
          </a:xfrm>
          <a:ln/>
        </p:spPr>
      </p:sp>
      <p:sp>
        <p:nvSpPr>
          <p:cNvPr id="45059" name="Rectangle 3">
            <a:extLst>
              <a:ext uri="{FF2B5EF4-FFF2-40B4-BE49-F238E27FC236}">
                <a16:creationId xmlns:a16="http://schemas.microsoft.com/office/drawing/2014/main" id="{67FA9997-5E0D-5741-9607-A297E4E389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BC5BA006-616D-354F-AB12-042D5790D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53E1EF3-3263-DC47-A67D-A736E7ACF3D3}" type="slidenum">
              <a:rPr lang="en-US" altLang="en-US" sz="1200" smtClean="0"/>
              <a:pPr/>
              <a:t>17</a:t>
            </a:fld>
            <a:endParaRPr lang="en-US" altLang="en-US" sz="1200"/>
          </a:p>
        </p:txBody>
      </p:sp>
      <p:sp>
        <p:nvSpPr>
          <p:cNvPr id="47106" name="Rectangle 2">
            <a:extLst>
              <a:ext uri="{FF2B5EF4-FFF2-40B4-BE49-F238E27FC236}">
                <a16:creationId xmlns:a16="http://schemas.microsoft.com/office/drawing/2014/main" id="{6D666652-57C7-5340-9D11-C8E1EC8DF43A}"/>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47107" name="Rectangle 3">
            <a:extLst>
              <a:ext uri="{FF2B5EF4-FFF2-40B4-BE49-F238E27FC236}">
                <a16:creationId xmlns:a16="http://schemas.microsoft.com/office/drawing/2014/main" id="{BBCA6982-6CD2-6944-92FD-A2DA5BB528D2}"/>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353927FD-A8F4-7645-8B49-8D28805845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39F931C-6838-6641-B9BD-C24F7F44BFD4}" type="slidenum">
              <a:rPr lang="en-US" altLang="en-US" sz="1200" smtClean="0"/>
              <a:pPr/>
              <a:t>18</a:t>
            </a:fld>
            <a:endParaRPr lang="en-US" altLang="en-US" sz="1200"/>
          </a:p>
        </p:txBody>
      </p:sp>
      <p:sp>
        <p:nvSpPr>
          <p:cNvPr id="49154" name="Rectangle 2">
            <a:extLst>
              <a:ext uri="{FF2B5EF4-FFF2-40B4-BE49-F238E27FC236}">
                <a16:creationId xmlns:a16="http://schemas.microsoft.com/office/drawing/2014/main" id="{4034AA3B-CE9B-C34F-A971-15F87039F1D0}"/>
              </a:ext>
            </a:extLst>
          </p:cNvPr>
          <p:cNvSpPr>
            <a:spLocks noGrp="1" noRot="1" noChangeAspect="1" noChangeArrowheads="1" noTextEdit="1"/>
          </p:cNvSpPr>
          <p:nvPr>
            <p:ph type="sldImg"/>
          </p:nvPr>
        </p:nvSpPr>
        <p:spPr>
          <a:xfrm>
            <a:off x="381000" y="685800"/>
            <a:ext cx="6096000" cy="3429000"/>
          </a:xfrm>
          <a:ln/>
        </p:spPr>
      </p:sp>
      <p:sp>
        <p:nvSpPr>
          <p:cNvPr id="49155" name="Rectangle 3">
            <a:extLst>
              <a:ext uri="{FF2B5EF4-FFF2-40B4-BE49-F238E27FC236}">
                <a16:creationId xmlns:a16="http://schemas.microsoft.com/office/drawing/2014/main" id="{15F73C26-3C08-2F4C-808C-004118B593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6A4F6725-D5C7-9F49-AE23-2A21FDE19E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0C47261-F674-104D-805A-82E1427A4F72}" type="slidenum">
              <a:rPr lang="en-US" altLang="en-US" sz="1200" smtClean="0"/>
              <a:pPr/>
              <a:t>19</a:t>
            </a:fld>
            <a:endParaRPr lang="en-US" altLang="en-US" sz="1200"/>
          </a:p>
        </p:txBody>
      </p:sp>
      <p:sp>
        <p:nvSpPr>
          <p:cNvPr id="51202" name="Rectangle 2">
            <a:extLst>
              <a:ext uri="{FF2B5EF4-FFF2-40B4-BE49-F238E27FC236}">
                <a16:creationId xmlns:a16="http://schemas.microsoft.com/office/drawing/2014/main" id="{A72B6142-9053-1A45-80E5-DCF57A70AA35}"/>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1203" name="Rectangle 3">
            <a:extLst>
              <a:ext uri="{FF2B5EF4-FFF2-40B4-BE49-F238E27FC236}">
                <a16:creationId xmlns:a16="http://schemas.microsoft.com/office/drawing/2014/main" id="{C07DA4DF-6E07-1344-81C2-4DB9F55D155D}"/>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3BBF598C-EFE3-CE43-BA72-A3EC38888B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90CBC27-A2E0-624F-9177-135995E547A6}" type="slidenum">
              <a:rPr lang="en-US" altLang="en-US" sz="1200" smtClean="0"/>
              <a:pPr/>
              <a:t>20</a:t>
            </a:fld>
            <a:endParaRPr lang="en-US" altLang="en-US" sz="1200"/>
          </a:p>
        </p:txBody>
      </p:sp>
      <p:sp>
        <p:nvSpPr>
          <p:cNvPr id="53250" name="Rectangle 2">
            <a:extLst>
              <a:ext uri="{FF2B5EF4-FFF2-40B4-BE49-F238E27FC236}">
                <a16:creationId xmlns:a16="http://schemas.microsoft.com/office/drawing/2014/main" id="{DAE20997-D217-984E-AC19-C5247688C062}"/>
              </a:ext>
            </a:extLst>
          </p:cNvPr>
          <p:cNvSpPr>
            <a:spLocks noGrp="1" noRot="1" noChangeAspect="1" noChangeArrowheads="1" noTextEdit="1"/>
          </p:cNvSpPr>
          <p:nvPr>
            <p:ph type="sldImg"/>
          </p:nvPr>
        </p:nvSpPr>
        <p:spPr>
          <a:xfrm>
            <a:off x="381000" y="685800"/>
            <a:ext cx="6096000" cy="3429000"/>
          </a:xfrm>
          <a:ln/>
        </p:spPr>
      </p:sp>
      <p:sp>
        <p:nvSpPr>
          <p:cNvPr id="53251" name="Rectangle 3">
            <a:extLst>
              <a:ext uri="{FF2B5EF4-FFF2-40B4-BE49-F238E27FC236}">
                <a16:creationId xmlns:a16="http://schemas.microsoft.com/office/drawing/2014/main" id="{6208C768-C685-F745-B371-0411BB13BD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91C21289-99D5-864C-9BA1-40D28DE3A2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CC6A1A8-D8B5-224E-800E-7E3FA83B9D06}" type="slidenum">
              <a:rPr lang="en-US" altLang="en-US" sz="1200" smtClean="0"/>
              <a:pPr/>
              <a:t>21</a:t>
            </a:fld>
            <a:endParaRPr lang="en-US" altLang="en-US" sz="1200"/>
          </a:p>
        </p:txBody>
      </p:sp>
      <p:sp>
        <p:nvSpPr>
          <p:cNvPr id="55298" name="Rectangle 2">
            <a:extLst>
              <a:ext uri="{FF2B5EF4-FFF2-40B4-BE49-F238E27FC236}">
                <a16:creationId xmlns:a16="http://schemas.microsoft.com/office/drawing/2014/main" id="{3615589A-5D37-E34B-9571-A922BAE4F031}"/>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5299" name="Rectangle 3">
            <a:extLst>
              <a:ext uri="{FF2B5EF4-FFF2-40B4-BE49-F238E27FC236}">
                <a16:creationId xmlns:a16="http://schemas.microsoft.com/office/drawing/2014/main" id="{E91332A6-274D-8740-87CE-D1E83163FDD5}"/>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855B6762-CFC3-9F42-8537-BCBAF93B1D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53050FE-8CA7-AE4B-A70F-D58A37BABE11}" type="slidenum">
              <a:rPr lang="en-US" altLang="en-US" sz="1200" smtClean="0"/>
              <a:pPr/>
              <a:t>22</a:t>
            </a:fld>
            <a:endParaRPr lang="en-US" altLang="en-US" sz="1200"/>
          </a:p>
        </p:txBody>
      </p:sp>
      <p:sp>
        <p:nvSpPr>
          <p:cNvPr id="57346" name="Rectangle 2">
            <a:extLst>
              <a:ext uri="{FF2B5EF4-FFF2-40B4-BE49-F238E27FC236}">
                <a16:creationId xmlns:a16="http://schemas.microsoft.com/office/drawing/2014/main" id="{2AA16590-9606-CF49-B7BA-117676016D4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7347" name="Rectangle 3">
            <a:extLst>
              <a:ext uri="{FF2B5EF4-FFF2-40B4-BE49-F238E27FC236}">
                <a16:creationId xmlns:a16="http://schemas.microsoft.com/office/drawing/2014/main" id="{D6F7C511-80BA-BE4C-B8B0-CEF0E95B4B13}"/>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 pitchFamily="2" charset="0"/>
                <a:ea typeface="ＭＳ Ｐゴシック" panose="020B0600070205080204" pitchFamily="34" charset="-128"/>
              </a:rPr>
              <a:t>Important to emphasize that the receptive field is on the retina.  Students tend to forget this as you work your way through the explanation of more specifically tuned neurons further into the system.</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63CEBBEC-F901-8B45-8AE6-4E0E759824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A98F82-EC9A-644A-B244-1CCB3A789304}" type="slidenum">
              <a:rPr lang="en-US" altLang="en-US" sz="1200" smtClean="0"/>
              <a:pPr/>
              <a:t>23</a:t>
            </a:fld>
            <a:endParaRPr lang="en-US" altLang="en-US" sz="1200"/>
          </a:p>
        </p:txBody>
      </p:sp>
      <p:sp>
        <p:nvSpPr>
          <p:cNvPr id="59394" name="Rectangle 2">
            <a:extLst>
              <a:ext uri="{FF2B5EF4-FFF2-40B4-BE49-F238E27FC236}">
                <a16:creationId xmlns:a16="http://schemas.microsoft.com/office/drawing/2014/main" id="{5A6EE83F-2666-AE45-9680-463949BC37FD}"/>
              </a:ext>
            </a:extLst>
          </p:cNvPr>
          <p:cNvSpPr>
            <a:spLocks noGrp="1" noRot="1" noChangeAspect="1" noChangeArrowheads="1" noTextEdit="1"/>
          </p:cNvSpPr>
          <p:nvPr>
            <p:ph type="sldImg"/>
          </p:nvPr>
        </p:nvSpPr>
        <p:spPr>
          <a:xfrm>
            <a:off x="381000" y="685800"/>
            <a:ext cx="6096000" cy="3429000"/>
          </a:xfrm>
          <a:ln/>
        </p:spPr>
      </p:sp>
      <p:sp>
        <p:nvSpPr>
          <p:cNvPr id="59395" name="Rectangle 3">
            <a:extLst>
              <a:ext uri="{FF2B5EF4-FFF2-40B4-BE49-F238E27FC236}">
                <a16:creationId xmlns:a16="http://schemas.microsoft.com/office/drawing/2014/main" id="{AFE381F7-7A23-914C-9D8D-EB61D8AD84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C9ACFEA2-5C9E-CD40-B6DB-128D57BD4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533B43F3-259C-434E-A071-E40D362BAA33}" type="slidenum">
              <a:rPr lang="en-US" altLang="en-US" sz="1200" smtClean="0"/>
              <a:pPr/>
              <a:t>24</a:t>
            </a:fld>
            <a:endParaRPr lang="en-US" altLang="en-US" sz="1200"/>
          </a:p>
        </p:txBody>
      </p:sp>
      <p:sp>
        <p:nvSpPr>
          <p:cNvPr id="61442" name="Rectangle 2">
            <a:extLst>
              <a:ext uri="{FF2B5EF4-FFF2-40B4-BE49-F238E27FC236}">
                <a16:creationId xmlns:a16="http://schemas.microsoft.com/office/drawing/2014/main" id="{94AE4C3E-9FC3-6C41-BBA6-206708FD7E9F}"/>
              </a:ext>
            </a:extLst>
          </p:cNvPr>
          <p:cNvSpPr>
            <a:spLocks noGrp="1" noRot="1" noChangeAspect="1" noChangeArrowheads="1" noTextEdit="1"/>
          </p:cNvSpPr>
          <p:nvPr>
            <p:ph type="sldImg"/>
          </p:nvPr>
        </p:nvSpPr>
        <p:spPr>
          <a:xfrm>
            <a:off x="381000" y="685800"/>
            <a:ext cx="6096000" cy="3429000"/>
          </a:xfrm>
          <a:ln/>
        </p:spPr>
      </p:sp>
      <p:sp>
        <p:nvSpPr>
          <p:cNvPr id="61443" name="Rectangle 3">
            <a:extLst>
              <a:ext uri="{FF2B5EF4-FFF2-40B4-BE49-F238E27FC236}">
                <a16:creationId xmlns:a16="http://schemas.microsoft.com/office/drawing/2014/main" id="{90B90274-6809-6F42-B8C0-E905A66C22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6A90AFE9-E38F-E94B-A4E5-421B68FD31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7DACD68-58F9-5045-84AA-F03D4C9421BB}" type="slidenum">
              <a:rPr lang="en-US" altLang="en-US" sz="1200" smtClean="0"/>
              <a:pPr/>
              <a:t>25</a:t>
            </a:fld>
            <a:endParaRPr lang="en-US" altLang="en-US" sz="1200"/>
          </a:p>
        </p:txBody>
      </p:sp>
      <p:sp>
        <p:nvSpPr>
          <p:cNvPr id="63490" name="Rectangle 2">
            <a:extLst>
              <a:ext uri="{FF2B5EF4-FFF2-40B4-BE49-F238E27FC236}">
                <a16:creationId xmlns:a16="http://schemas.microsoft.com/office/drawing/2014/main" id="{2A9924F6-22BF-3443-A9E3-88296A7AD0F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3491" name="Rectangle 3">
            <a:extLst>
              <a:ext uri="{FF2B5EF4-FFF2-40B4-BE49-F238E27FC236}">
                <a16:creationId xmlns:a16="http://schemas.microsoft.com/office/drawing/2014/main" id="{C4DC1D3A-E739-3C49-979D-C97D09EB465B}"/>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55B23B04-DC00-8B4A-980E-8FF422F0C1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7EAFE8A-11C4-564E-94A5-5141107C5F1E}" type="slidenum">
              <a:rPr lang="en-US" altLang="en-US" sz="1200" smtClean="0"/>
              <a:pPr/>
              <a:t>26</a:t>
            </a:fld>
            <a:endParaRPr lang="en-US" altLang="en-US" sz="1200"/>
          </a:p>
        </p:txBody>
      </p:sp>
      <p:sp>
        <p:nvSpPr>
          <p:cNvPr id="65538" name="Rectangle 2">
            <a:extLst>
              <a:ext uri="{FF2B5EF4-FFF2-40B4-BE49-F238E27FC236}">
                <a16:creationId xmlns:a16="http://schemas.microsoft.com/office/drawing/2014/main" id="{1DAF2432-E704-C341-A8B1-A3A9209D20A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5539" name="Rectangle 3">
            <a:extLst>
              <a:ext uri="{FF2B5EF4-FFF2-40B4-BE49-F238E27FC236}">
                <a16:creationId xmlns:a16="http://schemas.microsoft.com/office/drawing/2014/main" id="{D4DA86AD-77CA-3843-82D6-388D5D51E711}"/>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A92BE941-87AF-CA4F-97E0-45429FE879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E97CFD5-89F9-F34C-B2E3-5C18D4E96528}" type="slidenum">
              <a:rPr lang="en-US" altLang="en-US" sz="1200" smtClean="0"/>
              <a:pPr/>
              <a:t>27</a:t>
            </a:fld>
            <a:endParaRPr lang="en-US" altLang="en-US" sz="1200"/>
          </a:p>
        </p:txBody>
      </p:sp>
      <p:sp>
        <p:nvSpPr>
          <p:cNvPr id="67586" name="Rectangle 2">
            <a:extLst>
              <a:ext uri="{FF2B5EF4-FFF2-40B4-BE49-F238E27FC236}">
                <a16:creationId xmlns:a16="http://schemas.microsoft.com/office/drawing/2014/main" id="{54F3312B-0130-B640-A470-D61632AD39E9}"/>
              </a:ext>
            </a:extLst>
          </p:cNvPr>
          <p:cNvSpPr>
            <a:spLocks noGrp="1" noRot="1" noChangeAspect="1" noChangeArrowheads="1" noTextEdit="1"/>
          </p:cNvSpPr>
          <p:nvPr>
            <p:ph type="sldImg"/>
          </p:nvPr>
        </p:nvSpPr>
        <p:spPr>
          <a:xfrm>
            <a:off x="381000" y="685800"/>
            <a:ext cx="6096000" cy="3429000"/>
          </a:xfrm>
          <a:ln/>
        </p:spPr>
      </p:sp>
      <p:sp>
        <p:nvSpPr>
          <p:cNvPr id="67587" name="Rectangle 3">
            <a:extLst>
              <a:ext uri="{FF2B5EF4-FFF2-40B4-BE49-F238E27FC236}">
                <a16:creationId xmlns:a16="http://schemas.microsoft.com/office/drawing/2014/main" id="{A8C9C5BB-09C1-B544-8903-E1487D14A2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03FC13F9-EAA9-1345-BEFC-77268DFD6B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081C2A7-EF6D-9241-8164-0D99AFCAB934}" type="slidenum">
              <a:rPr lang="en-US" altLang="en-US" sz="1200" smtClean="0"/>
              <a:pPr/>
              <a:t>28</a:t>
            </a:fld>
            <a:endParaRPr lang="en-US" altLang="en-US" sz="1200"/>
          </a:p>
        </p:txBody>
      </p:sp>
      <p:sp>
        <p:nvSpPr>
          <p:cNvPr id="69634" name="Rectangle 2">
            <a:extLst>
              <a:ext uri="{FF2B5EF4-FFF2-40B4-BE49-F238E27FC236}">
                <a16:creationId xmlns:a16="http://schemas.microsoft.com/office/drawing/2014/main" id="{41AC8CE9-6CEC-8845-8C73-6799B8ED8E36}"/>
              </a:ext>
            </a:extLst>
          </p:cNvPr>
          <p:cNvSpPr>
            <a:spLocks noGrp="1" noRot="1" noChangeAspect="1" noChangeArrowheads="1" noTextEdit="1"/>
          </p:cNvSpPr>
          <p:nvPr>
            <p:ph type="sldImg"/>
          </p:nvPr>
        </p:nvSpPr>
        <p:spPr>
          <a:xfrm>
            <a:off x="381000" y="685800"/>
            <a:ext cx="6096000" cy="3429000"/>
          </a:xfrm>
          <a:ln/>
        </p:spPr>
      </p:sp>
      <p:sp>
        <p:nvSpPr>
          <p:cNvPr id="69635" name="Rectangle 3">
            <a:extLst>
              <a:ext uri="{FF2B5EF4-FFF2-40B4-BE49-F238E27FC236}">
                <a16:creationId xmlns:a16="http://schemas.microsoft.com/office/drawing/2014/main" id="{737ABBE3-6A34-5641-97C7-88174E6EE0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4A5D49CE-A171-6946-B365-DDADB6907A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9CFDE03A-E109-9B4A-9BA0-4428192B3339}" type="slidenum">
              <a:rPr lang="en-US" altLang="en-US" sz="1200" smtClean="0"/>
              <a:pPr/>
              <a:t>29</a:t>
            </a:fld>
            <a:endParaRPr lang="en-US" altLang="en-US" sz="1200"/>
          </a:p>
        </p:txBody>
      </p:sp>
      <p:sp>
        <p:nvSpPr>
          <p:cNvPr id="71682" name="Rectangle 2">
            <a:extLst>
              <a:ext uri="{FF2B5EF4-FFF2-40B4-BE49-F238E27FC236}">
                <a16:creationId xmlns:a16="http://schemas.microsoft.com/office/drawing/2014/main" id="{AAC72180-D57D-FC43-B13D-84E93E77BCA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71683" name="Rectangle 3">
            <a:extLst>
              <a:ext uri="{FF2B5EF4-FFF2-40B4-BE49-F238E27FC236}">
                <a16:creationId xmlns:a16="http://schemas.microsoft.com/office/drawing/2014/main" id="{232F6B42-0A32-EA46-88F2-83867B602A7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8">
            <a:extLst>
              <a:ext uri="{FF2B5EF4-FFF2-40B4-BE49-F238E27FC236}">
                <a16:creationId xmlns:a16="http://schemas.microsoft.com/office/drawing/2014/main" id="{2BF0DFA3-6678-FE4F-9B23-A65370E613A3}"/>
              </a:ext>
            </a:extLst>
          </p:cNvPr>
          <p:cNvGrpSpPr>
            <a:grpSpLocks/>
          </p:cNvGrpSpPr>
          <p:nvPr/>
        </p:nvGrpSpPr>
        <p:grpSpPr bwMode="auto">
          <a:xfrm flipH="1">
            <a:off x="1447800" y="1714500"/>
            <a:ext cx="7010400" cy="57150"/>
            <a:chOff x="0" y="905"/>
            <a:chExt cx="5282" cy="103"/>
          </a:xfrm>
        </p:grpSpPr>
        <p:grpSp>
          <p:nvGrpSpPr>
            <p:cNvPr id="5" name="Group 9">
              <a:extLst>
                <a:ext uri="{FF2B5EF4-FFF2-40B4-BE49-F238E27FC236}">
                  <a16:creationId xmlns:a16="http://schemas.microsoft.com/office/drawing/2014/main" id="{4EECC484-F07B-D844-B96E-20DE1C623310}"/>
                </a:ext>
              </a:extLst>
            </p:cNvPr>
            <p:cNvGrpSpPr>
              <a:grpSpLocks/>
            </p:cNvGrpSpPr>
            <p:nvPr/>
          </p:nvGrpSpPr>
          <p:grpSpPr bwMode="auto">
            <a:xfrm>
              <a:off x="5158" y="905"/>
              <a:ext cx="124" cy="103"/>
              <a:chOff x="5158" y="905"/>
              <a:chExt cx="124" cy="103"/>
            </a:xfrm>
          </p:grpSpPr>
          <p:sp>
            <p:nvSpPr>
              <p:cNvPr id="20" name="Rectangle 10">
                <a:extLst>
                  <a:ext uri="{FF2B5EF4-FFF2-40B4-BE49-F238E27FC236}">
                    <a16:creationId xmlns:a16="http://schemas.microsoft.com/office/drawing/2014/main" id="{91626018-4216-C44E-935D-29470EB3D85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21" name="Rectangle 11">
                <a:extLst>
                  <a:ext uri="{FF2B5EF4-FFF2-40B4-BE49-F238E27FC236}">
                    <a16:creationId xmlns:a16="http://schemas.microsoft.com/office/drawing/2014/main" id="{2DD35798-8B32-104F-9D81-EB25BE868D6D}"/>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6" name="Group 12">
              <a:extLst>
                <a:ext uri="{FF2B5EF4-FFF2-40B4-BE49-F238E27FC236}">
                  <a16:creationId xmlns:a16="http://schemas.microsoft.com/office/drawing/2014/main" id="{410B0E2B-ED30-F148-9DF9-F82C0399D91F}"/>
                </a:ext>
              </a:extLst>
            </p:cNvPr>
            <p:cNvGrpSpPr>
              <a:grpSpLocks/>
            </p:cNvGrpSpPr>
            <p:nvPr/>
          </p:nvGrpSpPr>
          <p:grpSpPr bwMode="auto">
            <a:xfrm>
              <a:off x="4848" y="905"/>
              <a:ext cx="263" cy="103"/>
              <a:chOff x="4848" y="905"/>
              <a:chExt cx="263" cy="103"/>
            </a:xfrm>
          </p:grpSpPr>
          <p:sp>
            <p:nvSpPr>
              <p:cNvPr id="18" name="Rectangle 13">
                <a:extLst>
                  <a:ext uri="{FF2B5EF4-FFF2-40B4-BE49-F238E27FC236}">
                    <a16:creationId xmlns:a16="http://schemas.microsoft.com/office/drawing/2014/main" id="{0064018A-4062-D541-9C90-9063B79D7378}"/>
                  </a:ext>
                </a:extLst>
              </p:cNvPr>
              <p:cNvSpPr>
                <a:spLocks noChangeArrowheads="1"/>
              </p:cNvSpPr>
              <p:nvPr/>
            </p:nvSpPr>
            <p:spPr bwMode="auto">
              <a:xfrm>
                <a:off x="5018" y="905"/>
                <a:ext cx="93"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9" name="Rectangle 14">
                <a:extLst>
                  <a:ext uri="{FF2B5EF4-FFF2-40B4-BE49-F238E27FC236}">
                    <a16:creationId xmlns:a16="http://schemas.microsoft.com/office/drawing/2014/main" id="{7F9D76DE-956F-734E-B3D8-2AC8390BC9AB}"/>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7" name="Group 15">
              <a:extLst>
                <a:ext uri="{FF2B5EF4-FFF2-40B4-BE49-F238E27FC236}">
                  <a16:creationId xmlns:a16="http://schemas.microsoft.com/office/drawing/2014/main" id="{E63D0747-76BA-AD4F-B0D3-B9977085A9A8}"/>
                </a:ext>
              </a:extLst>
            </p:cNvPr>
            <p:cNvGrpSpPr>
              <a:grpSpLocks/>
            </p:cNvGrpSpPr>
            <p:nvPr/>
          </p:nvGrpSpPr>
          <p:grpSpPr bwMode="auto">
            <a:xfrm>
              <a:off x="4418" y="905"/>
              <a:ext cx="386" cy="103"/>
              <a:chOff x="4418" y="905"/>
              <a:chExt cx="386" cy="103"/>
            </a:xfrm>
          </p:grpSpPr>
          <p:sp>
            <p:nvSpPr>
              <p:cNvPr id="16" name="Rectangle 16">
                <a:extLst>
                  <a:ext uri="{FF2B5EF4-FFF2-40B4-BE49-F238E27FC236}">
                    <a16:creationId xmlns:a16="http://schemas.microsoft.com/office/drawing/2014/main" id="{A7BEA727-32DF-5D41-BD04-18AC55BBC120}"/>
                  </a:ext>
                </a:extLst>
              </p:cNvPr>
              <p:cNvSpPr>
                <a:spLocks noChangeArrowheads="1"/>
              </p:cNvSpPr>
              <p:nvPr/>
            </p:nvSpPr>
            <p:spPr bwMode="auto">
              <a:xfrm>
                <a:off x="4650" y="905"/>
                <a:ext cx="152"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7" name="Rectangle 17">
                <a:extLst>
                  <a:ext uri="{FF2B5EF4-FFF2-40B4-BE49-F238E27FC236}">
                    <a16:creationId xmlns:a16="http://schemas.microsoft.com/office/drawing/2014/main" id="{CD0D6B13-774D-6844-B9F6-B98E2595A059}"/>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8" name="Group 18">
              <a:extLst>
                <a:ext uri="{FF2B5EF4-FFF2-40B4-BE49-F238E27FC236}">
                  <a16:creationId xmlns:a16="http://schemas.microsoft.com/office/drawing/2014/main" id="{C59C22A7-8E31-2340-BC3C-DF1F2C5C8B20}"/>
                </a:ext>
              </a:extLst>
            </p:cNvPr>
            <p:cNvGrpSpPr>
              <a:grpSpLocks/>
            </p:cNvGrpSpPr>
            <p:nvPr/>
          </p:nvGrpSpPr>
          <p:grpSpPr bwMode="auto">
            <a:xfrm>
              <a:off x="3183" y="905"/>
              <a:ext cx="1191" cy="103"/>
              <a:chOff x="3183" y="905"/>
              <a:chExt cx="1191" cy="103"/>
            </a:xfrm>
          </p:grpSpPr>
          <p:sp>
            <p:nvSpPr>
              <p:cNvPr id="12" name="Rectangle 19">
                <a:extLst>
                  <a:ext uri="{FF2B5EF4-FFF2-40B4-BE49-F238E27FC236}">
                    <a16:creationId xmlns:a16="http://schemas.microsoft.com/office/drawing/2014/main" id="{F4A82BE1-108E-A340-B04E-65120D3FB645}"/>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3" name="Rectangle 20">
                <a:extLst>
                  <a:ext uri="{FF2B5EF4-FFF2-40B4-BE49-F238E27FC236}">
                    <a16:creationId xmlns:a16="http://schemas.microsoft.com/office/drawing/2014/main" id="{4E496FE5-9BA5-D240-A35F-6A71D6F3E093}"/>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4" name="Rectangle 21">
                <a:extLst>
                  <a:ext uri="{FF2B5EF4-FFF2-40B4-BE49-F238E27FC236}">
                    <a16:creationId xmlns:a16="http://schemas.microsoft.com/office/drawing/2014/main" id="{51E1E95F-AC64-5C49-A40D-9888C30135A7}"/>
                  </a:ext>
                </a:extLst>
              </p:cNvPr>
              <p:cNvSpPr>
                <a:spLocks noChangeArrowheads="1"/>
              </p:cNvSpPr>
              <p:nvPr/>
            </p:nvSpPr>
            <p:spPr bwMode="auto">
              <a:xfrm>
                <a:off x="3865"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5" name="Rectangle 22">
                <a:extLst>
                  <a:ext uri="{FF2B5EF4-FFF2-40B4-BE49-F238E27FC236}">
                    <a16:creationId xmlns:a16="http://schemas.microsoft.com/office/drawing/2014/main" id="{DD5CE1D7-1411-5A48-8C1B-A21B1E12BED5}"/>
                  </a:ext>
                </a:extLst>
              </p:cNvPr>
              <p:cNvSpPr>
                <a:spLocks noChangeArrowheads="1"/>
              </p:cNvSpPr>
              <p:nvPr/>
            </p:nvSpPr>
            <p:spPr bwMode="auto">
              <a:xfrm>
                <a:off x="3183" y="905"/>
                <a:ext cx="31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9" name="Group 23">
              <a:extLst>
                <a:ext uri="{FF2B5EF4-FFF2-40B4-BE49-F238E27FC236}">
                  <a16:creationId xmlns:a16="http://schemas.microsoft.com/office/drawing/2014/main" id="{44BF9323-685D-6D48-86F4-EADFA65249FB}"/>
                </a:ext>
              </a:extLst>
            </p:cNvPr>
            <p:cNvGrpSpPr>
              <a:grpSpLocks/>
            </p:cNvGrpSpPr>
            <p:nvPr/>
          </p:nvGrpSpPr>
          <p:grpSpPr bwMode="auto">
            <a:xfrm>
              <a:off x="0" y="905"/>
              <a:ext cx="3143" cy="103"/>
              <a:chOff x="0" y="905"/>
              <a:chExt cx="3143" cy="103"/>
            </a:xfrm>
          </p:grpSpPr>
          <p:sp>
            <p:nvSpPr>
              <p:cNvPr id="10" name="Rectangle 24">
                <a:extLst>
                  <a:ext uri="{FF2B5EF4-FFF2-40B4-BE49-F238E27FC236}">
                    <a16:creationId xmlns:a16="http://schemas.microsoft.com/office/drawing/2014/main" id="{73CE666A-E2B7-0346-ACEF-77FDCF4292F6}"/>
                  </a:ext>
                </a:extLst>
              </p:cNvPr>
              <p:cNvSpPr>
                <a:spLocks noChangeArrowheads="1"/>
              </p:cNvSpPr>
              <p:nvPr/>
            </p:nvSpPr>
            <p:spPr bwMode="auto">
              <a:xfrm>
                <a:off x="2799" y="905"/>
                <a:ext cx="34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1" name="Rectangle 25">
                <a:extLst>
                  <a:ext uri="{FF2B5EF4-FFF2-40B4-BE49-F238E27FC236}">
                    <a16:creationId xmlns:a16="http://schemas.microsoft.com/office/drawing/2014/main" id="{2D786B34-D524-7040-924C-E406A7911E51}"/>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pic>
        <p:nvPicPr>
          <p:cNvPr id="22" name="Picture 26">
            <a:extLst>
              <a:ext uri="{FF2B5EF4-FFF2-40B4-BE49-F238E27FC236}">
                <a16:creationId xmlns:a16="http://schemas.microsoft.com/office/drawing/2014/main" id="{F2741114-EEEA-164F-95B1-06D66670F53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0829" t="11624" r="16043" b="11624"/>
          <a:stretch>
            <a:fillRect/>
          </a:stretch>
        </p:blipFill>
        <p:spPr bwMode="auto">
          <a:xfrm>
            <a:off x="0" y="971550"/>
            <a:ext cx="1963738" cy="16002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3"/>
          <p:cNvSpPr>
            <a:spLocks noGrp="1" noChangeArrowheads="1"/>
          </p:cNvSpPr>
          <p:nvPr>
            <p:ph type="ctrTitle"/>
          </p:nvPr>
        </p:nvSpPr>
        <p:spPr>
          <a:xfrm>
            <a:off x="1905000" y="914400"/>
            <a:ext cx="6578600" cy="685800"/>
          </a:xfrm>
        </p:spPr>
        <p:txBody>
          <a:bodyPr/>
          <a:lstStyle>
            <a:lvl1pPr>
              <a:defRPr/>
            </a:lvl1pPr>
          </a:lstStyle>
          <a:p>
            <a:r>
              <a:rPr lang="en-US"/>
              <a:t>Click to edit Master title style</a:t>
            </a:r>
          </a:p>
        </p:txBody>
      </p:sp>
      <p:sp>
        <p:nvSpPr>
          <p:cNvPr id="4100" name="Rectangle 4"/>
          <p:cNvSpPr>
            <a:spLocks noGrp="1" noChangeArrowheads="1"/>
          </p:cNvSpPr>
          <p:nvPr>
            <p:ph type="subTitle" idx="1"/>
          </p:nvPr>
        </p:nvSpPr>
        <p:spPr>
          <a:xfrm>
            <a:off x="1981200" y="2914650"/>
            <a:ext cx="5638800" cy="1328738"/>
          </a:xfrm>
        </p:spPr>
        <p:txBody>
          <a:bodyPr/>
          <a:lstStyle>
            <a:lvl1pPr marL="0" indent="0">
              <a:buFont typeface="Wingdings" pitchFamily="-110" charset="2"/>
              <a:buNone/>
              <a:defRPr>
                <a:solidFill>
                  <a:srgbClr val="666666"/>
                </a:solidFill>
              </a:defRPr>
            </a:lvl1pPr>
          </a:lstStyle>
          <a:p>
            <a:r>
              <a:rPr lang="en-US"/>
              <a:t>Click to edit Master subtitle style</a:t>
            </a:r>
          </a:p>
        </p:txBody>
      </p:sp>
      <p:sp>
        <p:nvSpPr>
          <p:cNvPr id="23" name="Rectangle 5">
            <a:extLst>
              <a:ext uri="{FF2B5EF4-FFF2-40B4-BE49-F238E27FC236}">
                <a16:creationId xmlns:a16="http://schemas.microsoft.com/office/drawing/2014/main" id="{55CCE881-A8D4-2040-A268-84EF420CCD66}"/>
              </a:ext>
            </a:extLst>
          </p:cNvPr>
          <p:cNvSpPr>
            <a:spLocks noGrp="1" noChangeArrowheads="1"/>
          </p:cNvSpPr>
          <p:nvPr>
            <p:ph type="dt" sz="half" idx="10"/>
          </p:nvPr>
        </p:nvSpPr>
        <p:spPr>
          <a:xfrm>
            <a:off x="711200" y="4672012"/>
            <a:ext cx="1930400" cy="385763"/>
          </a:xfrm>
        </p:spPr>
        <p:txBody>
          <a:bodyPr/>
          <a:lstStyle>
            <a:lvl1pPr>
              <a:defRPr sz="1050">
                <a:solidFill>
                  <a:srgbClr val="5E574E"/>
                </a:solidFill>
                <a:latin typeface="Comic Sans MS" pitchFamily="-110" charset="0"/>
                <a:ea typeface="+mn-ea"/>
              </a:defRPr>
            </a:lvl1pPr>
          </a:lstStyle>
          <a:p>
            <a:pPr>
              <a:defRPr/>
            </a:pPr>
            <a:fld id="{A73CB773-CEC5-D440-8B91-1E178CEBBA26}" type="datetime4">
              <a:rPr lang="en-US"/>
              <a:pPr>
                <a:defRPr/>
              </a:pPr>
              <a:t>January 24, 2021</a:t>
            </a:fld>
            <a:endParaRPr lang="en-US"/>
          </a:p>
        </p:txBody>
      </p:sp>
      <p:sp>
        <p:nvSpPr>
          <p:cNvPr id="24" name="Rectangle 6">
            <a:extLst>
              <a:ext uri="{FF2B5EF4-FFF2-40B4-BE49-F238E27FC236}">
                <a16:creationId xmlns:a16="http://schemas.microsoft.com/office/drawing/2014/main" id="{117EEFB0-05C2-274F-BBA9-E6882B11D70E}"/>
              </a:ext>
            </a:extLst>
          </p:cNvPr>
          <p:cNvSpPr>
            <a:spLocks noGrp="1" noChangeArrowheads="1"/>
          </p:cNvSpPr>
          <p:nvPr>
            <p:ph type="ftr" sz="quarter" idx="11"/>
          </p:nvPr>
        </p:nvSpPr>
        <p:spPr>
          <a:xfrm>
            <a:off x="3149600" y="4672012"/>
            <a:ext cx="2844800" cy="385763"/>
          </a:xfrm>
        </p:spPr>
        <p:txBody>
          <a:bodyPr/>
          <a:lstStyle>
            <a:lvl1pPr>
              <a:defRPr sz="1050">
                <a:solidFill>
                  <a:srgbClr val="5E574E"/>
                </a:solidFill>
                <a:latin typeface="Comic Sans MS" pitchFamily="-110" charset="0"/>
                <a:ea typeface="+mn-ea"/>
              </a:defRPr>
            </a:lvl1pPr>
          </a:lstStyle>
          <a:p>
            <a:pPr>
              <a:defRPr/>
            </a:pPr>
            <a:r>
              <a:rPr lang="tr-TR"/>
              <a:t>PSYCH 4041 / 6014</a:t>
            </a:r>
            <a:endParaRPr lang="en-US"/>
          </a:p>
        </p:txBody>
      </p:sp>
      <p:sp>
        <p:nvSpPr>
          <p:cNvPr id="25" name="Rectangle 7">
            <a:extLst>
              <a:ext uri="{FF2B5EF4-FFF2-40B4-BE49-F238E27FC236}">
                <a16:creationId xmlns:a16="http://schemas.microsoft.com/office/drawing/2014/main" id="{64845BCB-98EA-844C-94A6-FB365159E848}"/>
              </a:ext>
            </a:extLst>
          </p:cNvPr>
          <p:cNvSpPr>
            <a:spLocks noGrp="1" noChangeArrowheads="1"/>
          </p:cNvSpPr>
          <p:nvPr>
            <p:ph type="sldNum" sz="quarter" idx="12"/>
          </p:nvPr>
        </p:nvSpPr>
        <p:spPr>
          <a:xfrm>
            <a:off x="6604000" y="4672012"/>
            <a:ext cx="1828800" cy="385763"/>
          </a:xfrm>
        </p:spPr>
        <p:txBody>
          <a:bodyPr/>
          <a:lstStyle>
            <a:lvl1pPr>
              <a:defRPr sz="1050">
                <a:solidFill>
                  <a:srgbClr val="5E574E"/>
                </a:solidFill>
                <a:latin typeface="Comic Sans MS" charset="0"/>
              </a:defRPr>
            </a:lvl1pPr>
          </a:lstStyle>
          <a:p>
            <a:pPr>
              <a:defRPr/>
            </a:pPr>
            <a:fld id="{92DC4404-2F15-3F45-8888-95924375BD0C}" type="slidenum">
              <a:rPr lang="en-US" altLang="en-US"/>
              <a:pPr>
                <a:defRPr/>
              </a:pPr>
              <a:t>‹#›</a:t>
            </a:fld>
            <a:endParaRPr lang="en-US" altLang="en-US"/>
          </a:p>
        </p:txBody>
      </p:sp>
    </p:spTree>
    <p:extLst>
      <p:ext uri="{BB962C8B-B14F-4D97-AF65-F5344CB8AC3E}">
        <p14:creationId xmlns:p14="http://schemas.microsoft.com/office/powerpoint/2010/main" val="360534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707B4C-EF31-F647-A71D-AB9270757B77}"/>
              </a:ext>
            </a:extLst>
          </p:cNvPr>
          <p:cNvSpPr>
            <a:spLocks noGrp="1" noChangeArrowheads="1"/>
          </p:cNvSpPr>
          <p:nvPr>
            <p:ph type="dt" sz="half" idx="10"/>
          </p:nvPr>
        </p:nvSpPr>
        <p:spPr>
          <a:ln/>
        </p:spPr>
        <p:txBody>
          <a:bodyPr/>
          <a:lstStyle>
            <a:lvl1pPr>
              <a:defRPr/>
            </a:lvl1pPr>
          </a:lstStyle>
          <a:p>
            <a:pPr>
              <a:defRPr/>
            </a:pPr>
            <a:fld id="{112A986E-296C-E749-8F65-D992795A84A2}"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52C9EA-3740-1242-B25F-606A9B965FA4}"/>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DB0D6FD0-1E2B-B947-8AA4-2626311FAD57}"/>
              </a:ext>
            </a:extLst>
          </p:cNvPr>
          <p:cNvSpPr>
            <a:spLocks noGrp="1" noChangeArrowheads="1"/>
          </p:cNvSpPr>
          <p:nvPr>
            <p:ph type="sldNum" sz="quarter" idx="12"/>
          </p:nvPr>
        </p:nvSpPr>
        <p:spPr>
          <a:ln/>
        </p:spPr>
        <p:txBody>
          <a:bodyPr/>
          <a:lstStyle>
            <a:lvl1pPr>
              <a:defRPr/>
            </a:lvl1pPr>
          </a:lstStyle>
          <a:p>
            <a:pPr>
              <a:defRPr/>
            </a:pPr>
            <a:fld id="{4CA8C557-DD77-1748-8E31-6A889C9DF817}"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97535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22">
            <a:extLst>
              <a:ext uri="{FF2B5EF4-FFF2-40B4-BE49-F238E27FC236}">
                <a16:creationId xmlns:a16="http://schemas.microsoft.com/office/drawing/2014/main" id="{2AAD0317-70F0-B94C-BB39-0ABC55091889}"/>
              </a:ext>
            </a:extLst>
          </p:cNvPr>
          <p:cNvSpPr>
            <a:spLocks noGrp="1" noChangeArrowheads="1"/>
          </p:cNvSpPr>
          <p:nvPr>
            <p:ph type="dt" sz="half" idx="10"/>
          </p:nvPr>
        </p:nvSpPr>
        <p:spPr>
          <a:ln/>
        </p:spPr>
        <p:txBody>
          <a:bodyPr/>
          <a:lstStyle>
            <a:lvl1pPr>
              <a:defRPr/>
            </a:lvl1pPr>
          </a:lstStyle>
          <a:p>
            <a:pPr>
              <a:defRPr/>
            </a:pPr>
            <a:fld id="{3AEFB91E-E5BD-EE4D-A07A-55C24F14E2A0}"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8651DA-9710-F84C-A4F3-F020DF00D2C8}"/>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507A8183-A5F2-6242-BF9B-0B1220BE0006}"/>
              </a:ext>
            </a:extLst>
          </p:cNvPr>
          <p:cNvSpPr>
            <a:spLocks noGrp="1" noChangeArrowheads="1"/>
          </p:cNvSpPr>
          <p:nvPr>
            <p:ph type="sldNum" sz="quarter" idx="12"/>
          </p:nvPr>
        </p:nvSpPr>
        <p:spPr>
          <a:ln/>
        </p:spPr>
        <p:txBody>
          <a:bodyPr/>
          <a:lstStyle>
            <a:lvl1pPr>
              <a:defRPr/>
            </a:lvl1pPr>
          </a:lstStyle>
          <a:p>
            <a:pPr>
              <a:defRPr/>
            </a:pPr>
            <a:fld id="{CBB7A264-F09C-6F45-A315-515D1A577834}"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397080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2">
            <a:extLst>
              <a:ext uri="{FF2B5EF4-FFF2-40B4-BE49-F238E27FC236}">
                <a16:creationId xmlns:a16="http://schemas.microsoft.com/office/drawing/2014/main" id="{D983D188-7D1A-E241-87AB-E2B86283B338}"/>
              </a:ext>
            </a:extLst>
          </p:cNvPr>
          <p:cNvSpPr>
            <a:spLocks noGrp="1" noChangeArrowheads="1"/>
          </p:cNvSpPr>
          <p:nvPr>
            <p:ph type="dt" sz="half" idx="10"/>
          </p:nvPr>
        </p:nvSpPr>
        <p:spPr>
          <a:ln/>
        </p:spPr>
        <p:txBody>
          <a:bodyPr/>
          <a:lstStyle>
            <a:lvl1pPr>
              <a:defRPr/>
            </a:lvl1pPr>
          </a:lstStyle>
          <a:p>
            <a:pPr>
              <a:defRPr/>
            </a:pPr>
            <a:fld id="{5E4FAFA1-DCDB-CE44-B4D9-18A612C40F1D}"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4A0E4F64-8C63-0343-95FD-3EEC79C18542}"/>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65E5D3CE-E485-7646-A6AA-90EA12B0027B}"/>
              </a:ext>
            </a:extLst>
          </p:cNvPr>
          <p:cNvSpPr>
            <a:spLocks noGrp="1" noChangeArrowheads="1"/>
          </p:cNvSpPr>
          <p:nvPr>
            <p:ph type="sldNum" sz="quarter" idx="12"/>
          </p:nvPr>
        </p:nvSpPr>
        <p:spPr>
          <a:ln/>
        </p:spPr>
        <p:txBody>
          <a:bodyPr/>
          <a:lstStyle>
            <a:lvl1pPr>
              <a:defRPr/>
            </a:lvl1pPr>
          </a:lstStyle>
          <a:p>
            <a:pPr>
              <a:defRPr/>
            </a:pPr>
            <a:fld id="{7338305D-A1B6-6C4B-91E3-9F068766A850}"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4025012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2">
            <a:extLst>
              <a:ext uri="{FF2B5EF4-FFF2-40B4-BE49-F238E27FC236}">
                <a16:creationId xmlns:a16="http://schemas.microsoft.com/office/drawing/2014/main" id="{5CB8646C-A46B-4E4E-8ADB-C8886DE1E675}"/>
              </a:ext>
            </a:extLst>
          </p:cNvPr>
          <p:cNvSpPr>
            <a:spLocks noGrp="1" noChangeArrowheads="1"/>
          </p:cNvSpPr>
          <p:nvPr>
            <p:ph type="dt" sz="half" idx="10"/>
          </p:nvPr>
        </p:nvSpPr>
        <p:spPr>
          <a:ln/>
        </p:spPr>
        <p:txBody>
          <a:bodyPr/>
          <a:lstStyle>
            <a:lvl1pPr>
              <a:defRPr/>
            </a:lvl1pPr>
          </a:lstStyle>
          <a:p>
            <a:pPr>
              <a:defRPr/>
            </a:pPr>
            <a:fld id="{27BCF400-0009-1649-9396-428E256E23C8}" type="datetime4">
              <a:rPr lang="en-US" altLang="en-US"/>
              <a:pPr>
                <a:defRPr/>
              </a:pPr>
              <a:t>January 24, 2021</a:t>
            </a:fld>
            <a:endParaRPr lang="en-US" altLang="en-US" sz="1050">
              <a:latin typeface="Comic Sans MS" charset="0"/>
            </a:endParaRPr>
          </a:p>
        </p:txBody>
      </p:sp>
      <p:sp>
        <p:nvSpPr>
          <p:cNvPr id="8" name="Rectangle 23">
            <a:extLst>
              <a:ext uri="{FF2B5EF4-FFF2-40B4-BE49-F238E27FC236}">
                <a16:creationId xmlns:a16="http://schemas.microsoft.com/office/drawing/2014/main" id="{1EB6EA0A-C801-7F4A-A4F0-132FAB3E5286}"/>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9" name="Rectangle 24">
            <a:extLst>
              <a:ext uri="{FF2B5EF4-FFF2-40B4-BE49-F238E27FC236}">
                <a16:creationId xmlns:a16="http://schemas.microsoft.com/office/drawing/2014/main" id="{5CAEAF65-A737-AB43-855D-6546D3A5ECB8}"/>
              </a:ext>
            </a:extLst>
          </p:cNvPr>
          <p:cNvSpPr>
            <a:spLocks noGrp="1" noChangeArrowheads="1"/>
          </p:cNvSpPr>
          <p:nvPr>
            <p:ph type="sldNum" sz="quarter" idx="12"/>
          </p:nvPr>
        </p:nvSpPr>
        <p:spPr>
          <a:ln/>
        </p:spPr>
        <p:txBody>
          <a:bodyPr/>
          <a:lstStyle>
            <a:lvl1pPr>
              <a:defRPr/>
            </a:lvl1pPr>
          </a:lstStyle>
          <a:p>
            <a:pPr>
              <a:defRPr/>
            </a:pPr>
            <a:fld id="{13D68A71-039B-5F4A-92F9-F08AA422A93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035920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2">
            <a:extLst>
              <a:ext uri="{FF2B5EF4-FFF2-40B4-BE49-F238E27FC236}">
                <a16:creationId xmlns:a16="http://schemas.microsoft.com/office/drawing/2014/main" id="{712B48F9-A9C4-6F4E-8616-FFF2506BD13B}"/>
              </a:ext>
            </a:extLst>
          </p:cNvPr>
          <p:cNvSpPr>
            <a:spLocks noGrp="1" noChangeArrowheads="1"/>
          </p:cNvSpPr>
          <p:nvPr>
            <p:ph type="dt" sz="half" idx="10"/>
          </p:nvPr>
        </p:nvSpPr>
        <p:spPr>
          <a:ln/>
        </p:spPr>
        <p:txBody>
          <a:bodyPr/>
          <a:lstStyle>
            <a:lvl1pPr>
              <a:defRPr/>
            </a:lvl1pPr>
          </a:lstStyle>
          <a:p>
            <a:pPr>
              <a:defRPr/>
            </a:pPr>
            <a:fld id="{05C1A236-52B5-6846-AA88-0CB948869D36}" type="datetime4">
              <a:rPr lang="en-US" altLang="en-US"/>
              <a:pPr>
                <a:defRPr/>
              </a:pPr>
              <a:t>January 24, 2021</a:t>
            </a:fld>
            <a:endParaRPr lang="en-US" altLang="en-US" sz="1050">
              <a:latin typeface="Comic Sans MS" charset="0"/>
            </a:endParaRPr>
          </a:p>
        </p:txBody>
      </p:sp>
      <p:sp>
        <p:nvSpPr>
          <p:cNvPr id="4" name="Rectangle 23">
            <a:extLst>
              <a:ext uri="{FF2B5EF4-FFF2-40B4-BE49-F238E27FC236}">
                <a16:creationId xmlns:a16="http://schemas.microsoft.com/office/drawing/2014/main" id="{11CF4B62-1BDB-894C-9B3A-CD634D1EC811}"/>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5" name="Rectangle 24">
            <a:extLst>
              <a:ext uri="{FF2B5EF4-FFF2-40B4-BE49-F238E27FC236}">
                <a16:creationId xmlns:a16="http://schemas.microsoft.com/office/drawing/2014/main" id="{DB2E37E2-13A0-6E49-8851-171E23617D61}"/>
              </a:ext>
            </a:extLst>
          </p:cNvPr>
          <p:cNvSpPr>
            <a:spLocks noGrp="1" noChangeArrowheads="1"/>
          </p:cNvSpPr>
          <p:nvPr>
            <p:ph type="sldNum" sz="quarter" idx="12"/>
          </p:nvPr>
        </p:nvSpPr>
        <p:spPr>
          <a:ln/>
        </p:spPr>
        <p:txBody>
          <a:bodyPr/>
          <a:lstStyle>
            <a:lvl1pPr>
              <a:defRPr/>
            </a:lvl1pPr>
          </a:lstStyle>
          <a:p>
            <a:pPr>
              <a:defRPr/>
            </a:pPr>
            <a:fld id="{3C9020D5-0362-AA4E-A109-44DF4CF31443}"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556999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2">
            <a:extLst>
              <a:ext uri="{FF2B5EF4-FFF2-40B4-BE49-F238E27FC236}">
                <a16:creationId xmlns:a16="http://schemas.microsoft.com/office/drawing/2014/main" id="{D5874594-CEEE-744E-84B5-849E1F7AD8F4}"/>
              </a:ext>
            </a:extLst>
          </p:cNvPr>
          <p:cNvSpPr>
            <a:spLocks noGrp="1" noChangeArrowheads="1"/>
          </p:cNvSpPr>
          <p:nvPr>
            <p:ph type="dt" sz="half" idx="10"/>
          </p:nvPr>
        </p:nvSpPr>
        <p:spPr>
          <a:ln/>
        </p:spPr>
        <p:txBody>
          <a:bodyPr/>
          <a:lstStyle>
            <a:lvl1pPr>
              <a:defRPr/>
            </a:lvl1pPr>
          </a:lstStyle>
          <a:p>
            <a:pPr>
              <a:defRPr/>
            </a:pPr>
            <a:fld id="{23FFD736-DE5F-F749-B213-A8CE00861415}" type="datetime4">
              <a:rPr lang="en-US" altLang="en-US"/>
              <a:pPr>
                <a:defRPr/>
              </a:pPr>
              <a:t>January 24, 2021</a:t>
            </a:fld>
            <a:endParaRPr lang="en-US" altLang="en-US" sz="1050">
              <a:latin typeface="Comic Sans MS" charset="0"/>
            </a:endParaRPr>
          </a:p>
        </p:txBody>
      </p:sp>
      <p:sp>
        <p:nvSpPr>
          <p:cNvPr id="3" name="Rectangle 23">
            <a:extLst>
              <a:ext uri="{FF2B5EF4-FFF2-40B4-BE49-F238E27FC236}">
                <a16:creationId xmlns:a16="http://schemas.microsoft.com/office/drawing/2014/main" id="{9F97AA66-02E4-5649-9500-0292003CC56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4" name="Rectangle 24">
            <a:extLst>
              <a:ext uri="{FF2B5EF4-FFF2-40B4-BE49-F238E27FC236}">
                <a16:creationId xmlns:a16="http://schemas.microsoft.com/office/drawing/2014/main" id="{C311B7C1-252E-914D-8EE9-D1E9863162F9}"/>
              </a:ext>
            </a:extLst>
          </p:cNvPr>
          <p:cNvSpPr>
            <a:spLocks noGrp="1" noChangeArrowheads="1"/>
          </p:cNvSpPr>
          <p:nvPr>
            <p:ph type="sldNum" sz="quarter" idx="12"/>
          </p:nvPr>
        </p:nvSpPr>
        <p:spPr>
          <a:ln/>
        </p:spPr>
        <p:txBody>
          <a:bodyPr/>
          <a:lstStyle>
            <a:lvl1pPr>
              <a:defRPr/>
            </a:lvl1pPr>
          </a:lstStyle>
          <a:p>
            <a:pPr>
              <a:defRPr/>
            </a:pPr>
            <a:fld id="{D952FCBF-D95B-624A-BF6A-A7BAF479D36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925219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1354F707-12BB-744C-8FC8-2953E48FF621}"/>
              </a:ext>
            </a:extLst>
          </p:cNvPr>
          <p:cNvSpPr>
            <a:spLocks noGrp="1" noChangeArrowheads="1"/>
          </p:cNvSpPr>
          <p:nvPr>
            <p:ph type="dt" sz="half" idx="10"/>
          </p:nvPr>
        </p:nvSpPr>
        <p:spPr>
          <a:ln/>
        </p:spPr>
        <p:txBody>
          <a:bodyPr/>
          <a:lstStyle>
            <a:lvl1pPr>
              <a:defRPr/>
            </a:lvl1pPr>
          </a:lstStyle>
          <a:p>
            <a:pPr>
              <a:defRPr/>
            </a:pPr>
            <a:fld id="{CB2ADCE5-956F-834A-A409-407A72483B89}"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995A3012-1219-4446-A363-8328EACFBB8C}"/>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F42558D7-C9A2-854D-A8A1-2D0CA7EE8700}"/>
              </a:ext>
            </a:extLst>
          </p:cNvPr>
          <p:cNvSpPr>
            <a:spLocks noGrp="1" noChangeArrowheads="1"/>
          </p:cNvSpPr>
          <p:nvPr>
            <p:ph type="sldNum" sz="quarter" idx="12"/>
          </p:nvPr>
        </p:nvSpPr>
        <p:spPr>
          <a:ln/>
        </p:spPr>
        <p:txBody>
          <a:bodyPr/>
          <a:lstStyle>
            <a:lvl1pPr>
              <a:defRPr/>
            </a:lvl1pPr>
          </a:lstStyle>
          <a:p>
            <a:pPr>
              <a:defRPr/>
            </a:pPr>
            <a:fld id="{4FB1910A-2DF3-0043-9E2A-C089A6856FA8}"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732136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23E52F24-7910-2844-9315-F77D36D773B9}"/>
              </a:ext>
            </a:extLst>
          </p:cNvPr>
          <p:cNvSpPr>
            <a:spLocks noGrp="1" noChangeArrowheads="1"/>
          </p:cNvSpPr>
          <p:nvPr>
            <p:ph type="dt" sz="half" idx="10"/>
          </p:nvPr>
        </p:nvSpPr>
        <p:spPr>
          <a:ln/>
        </p:spPr>
        <p:txBody>
          <a:bodyPr/>
          <a:lstStyle>
            <a:lvl1pPr>
              <a:defRPr/>
            </a:lvl1pPr>
          </a:lstStyle>
          <a:p>
            <a:pPr>
              <a:defRPr/>
            </a:pPr>
            <a:fld id="{2FA057AB-C79C-1149-90DD-23BCF6A31DA5}"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CDED770D-6B48-A641-9A9A-7623117BDAB3}"/>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7F135474-D82E-D843-9996-03A10F4E08FA}"/>
              </a:ext>
            </a:extLst>
          </p:cNvPr>
          <p:cNvSpPr>
            <a:spLocks noGrp="1" noChangeArrowheads="1"/>
          </p:cNvSpPr>
          <p:nvPr>
            <p:ph type="sldNum" sz="quarter" idx="12"/>
          </p:nvPr>
        </p:nvSpPr>
        <p:spPr>
          <a:ln/>
        </p:spPr>
        <p:txBody>
          <a:bodyPr/>
          <a:lstStyle>
            <a:lvl1pPr>
              <a:defRPr/>
            </a:lvl1pPr>
          </a:lstStyle>
          <a:p>
            <a:pPr>
              <a:defRPr/>
            </a:pPr>
            <a:fld id="{5BBC07B4-ED15-8846-84F1-50A2C8EAFF4C}"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43367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D8296CF9-48A2-BA47-BEA0-79EF5672269B}"/>
              </a:ext>
            </a:extLst>
          </p:cNvPr>
          <p:cNvSpPr>
            <a:spLocks noGrp="1" noChangeArrowheads="1"/>
          </p:cNvSpPr>
          <p:nvPr>
            <p:ph type="dt" sz="half" idx="10"/>
          </p:nvPr>
        </p:nvSpPr>
        <p:spPr>
          <a:ln/>
        </p:spPr>
        <p:txBody>
          <a:bodyPr/>
          <a:lstStyle>
            <a:lvl1pPr>
              <a:defRPr/>
            </a:lvl1pPr>
          </a:lstStyle>
          <a:p>
            <a:pPr>
              <a:defRPr/>
            </a:pPr>
            <a:fld id="{C803F449-C714-D941-B131-367F9A6674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BA5724E5-A14D-B641-AD1D-2E783797776B}"/>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8A458193-BBFD-E04F-A687-2A5AE30A49ED}"/>
              </a:ext>
            </a:extLst>
          </p:cNvPr>
          <p:cNvSpPr>
            <a:spLocks noGrp="1" noChangeArrowheads="1"/>
          </p:cNvSpPr>
          <p:nvPr>
            <p:ph type="sldNum" sz="quarter" idx="12"/>
          </p:nvPr>
        </p:nvSpPr>
        <p:spPr>
          <a:ln/>
        </p:spPr>
        <p:txBody>
          <a:bodyPr/>
          <a:lstStyle>
            <a:lvl1pPr>
              <a:defRPr/>
            </a:lvl1pPr>
          </a:lstStyle>
          <a:p>
            <a:pPr>
              <a:defRPr/>
            </a:pPr>
            <a:fld id="{70FFA6F9-1418-8D47-8D0E-60C39D47D43A}"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70643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57150"/>
            <a:ext cx="2152650" cy="4800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57150"/>
            <a:ext cx="6305550" cy="4800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16F2AB-B07D-C348-9891-3EAB4F4AF495}"/>
              </a:ext>
            </a:extLst>
          </p:cNvPr>
          <p:cNvSpPr>
            <a:spLocks noGrp="1" noChangeArrowheads="1"/>
          </p:cNvSpPr>
          <p:nvPr>
            <p:ph type="dt" sz="half" idx="10"/>
          </p:nvPr>
        </p:nvSpPr>
        <p:spPr>
          <a:ln/>
        </p:spPr>
        <p:txBody>
          <a:bodyPr/>
          <a:lstStyle>
            <a:lvl1pPr>
              <a:defRPr/>
            </a:lvl1pPr>
          </a:lstStyle>
          <a:p>
            <a:pPr>
              <a:defRPr/>
            </a:pPr>
            <a:fld id="{7C1FD5FC-7325-9548-916A-DB14BA5610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8AB9298A-C20E-9445-8B94-AC1D48A65A1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EA201A15-5BAB-674E-AF74-73666A6C1ECB}"/>
              </a:ext>
            </a:extLst>
          </p:cNvPr>
          <p:cNvSpPr>
            <a:spLocks noGrp="1" noChangeArrowheads="1"/>
          </p:cNvSpPr>
          <p:nvPr>
            <p:ph type="sldNum" sz="quarter" idx="12"/>
          </p:nvPr>
        </p:nvSpPr>
        <p:spPr>
          <a:ln/>
        </p:spPr>
        <p:txBody>
          <a:bodyPr/>
          <a:lstStyle>
            <a:lvl1pPr>
              <a:defRPr/>
            </a:lvl1pPr>
          </a:lstStyle>
          <a:p>
            <a:pPr>
              <a:defRPr/>
            </a:pPr>
            <a:fld id="{FDCE4DA0-AD44-E04D-8521-286DB415784D}"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4681561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84DF1917-075B-F74E-8DF4-232714D60E1C}"/>
              </a:ext>
            </a:extLst>
          </p:cNvPr>
          <p:cNvGrpSpPr>
            <a:grpSpLocks/>
          </p:cNvGrpSpPr>
          <p:nvPr/>
        </p:nvGrpSpPr>
        <p:grpSpPr bwMode="auto">
          <a:xfrm flipH="1">
            <a:off x="0" y="628650"/>
            <a:ext cx="8686800" cy="57150"/>
            <a:chOff x="0" y="905"/>
            <a:chExt cx="5282" cy="103"/>
          </a:xfrm>
        </p:grpSpPr>
        <p:grpSp>
          <p:nvGrpSpPr>
            <p:cNvPr id="1034" name="Group 3">
              <a:extLst>
                <a:ext uri="{FF2B5EF4-FFF2-40B4-BE49-F238E27FC236}">
                  <a16:creationId xmlns:a16="http://schemas.microsoft.com/office/drawing/2014/main" id="{8E1007EE-E9AD-004F-80F3-FDB32ADF9000}"/>
                </a:ext>
              </a:extLst>
            </p:cNvPr>
            <p:cNvGrpSpPr>
              <a:grpSpLocks/>
            </p:cNvGrpSpPr>
            <p:nvPr/>
          </p:nvGrpSpPr>
          <p:grpSpPr bwMode="auto">
            <a:xfrm>
              <a:off x="5158" y="905"/>
              <a:ext cx="124" cy="103"/>
              <a:chOff x="5158" y="905"/>
              <a:chExt cx="124" cy="103"/>
            </a:xfrm>
          </p:grpSpPr>
          <p:sp>
            <p:nvSpPr>
              <p:cNvPr id="1049" name="Rectangle 4">
                <a:extLst>
                  <a:ext uri="{FF2B5EF4-FFF2-40B4-BE49-F238E27FC236}">
                    <a16:creationId xmlns:a16="http://schemas.microsoft.com/office/drawing/2014/main" id="{B40944D2-73B7-3A45-9BDC-A2B98BC446F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50" name="Rectangle 5">
                <a:extLst>
                  <a:ext uri="{FF2B5EF4-FFF2-40B4-BE49-F238E27FC236}">
                    <a16:creationId xmlns:a16="http://schemas.microsoft.com/office/drawing/2014/main" id="{EB75D277-517D-844A-BFBC-163D8B6AFBAB}"/>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5" name="Group 6">
              <a:extLst>
                <a:ext uri="{FF2B5EF4-FFF2-40B4-BE49-F238E27FC236}">
                  <a16:creationId xmlns:a16="http://schemas.microsoft.com/office/drawing/2014/main" id="{51A98CAD-F97A-8943-A055-2529CA1A56E3}"/>
                </a:ext>
              </a:extLst>
            </p:cNvPr>
            <p:cNvGrpSpPr>
              <a:grpSpLocks/>
            </p:cNvGrpSpPr>
            <p:nvPr/>
          </p:nvGrpSpPr>
          <p:grpSpPr bwMode="auto">
            <a:xfrm>
              <a:off x="4848" y="905"/>
              <a:ext cx="263" cy="103"/>
              <a:chOff x="4848" y="905"/>
              <a:chExt cx="263" cy="103"/>
            </a:xfrm>
          </p:grpSpPr>
          <p:sp>
            <p:nvSpPr>
              <p:cNvPr id="1047" name="Rectangle 7">
                <a:extLst>
                  <a:ext uri="{FF2B5EF4-FFF2-40B4-BE49-F238E27FC236}">
                    <a16:creationId xmlns:a16="http://schemas.microsoft.com/office/drawing/2014/main" id="{94D45677-E167-A04B-B7EA-536CDE7D0131}"/>
                  </a:ext>
                </a:extLst>
              </p:cNvPr>
              <p:cNvSpPr>
                <a:spLocks noChangeArrowheads="1"/>
              </p:cNvSpPr>
              <p:nvPr/>
            </p:nvSpPr>
            <p:spPr bwMode="auto">
              <a:xfrm>
                <a:off x="5018" y="905"/>
                <a:ext cx="9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8" name="Rectangle 8">
                <a:extLst>
                  <a:ext uri="{FF2B5EF4-FFF2-40B4-BE49-F238E27FC236}">
                    <a16:creationId xmlns:a16="http://schemas.microsoft.com/office/drawing/2014/main" id="{192533B0-711D-324C-A02D-09AB43CBC060}"/>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6" name="Group 9">
              <a:extLst>
                <a:ext uri="{FF2B5EF4-FFF2-40B4-BE49-F238E27FC236}">
                  <a16:creationId xmlns:a16="http://schemas.microsoft.com/office/drawing/2014/main" id="{2A1956D2-787D-4C42-8746-071E1B687CB5}"/>
                </a:ext>
              </a:extLst>
            </p:cNvPr>
            <p:cNvGrpSpPr>
              <a:grpSpLocks/>
            </p:cNvGrpSpPr>
            <p:nvPr/>
          </p:nvGrpSpPr>
          <p:grpSpPr bwMode="auto">
            <a:xfrm>
              <a:off x="4418" y="905"/>
              <a:ext cx="386" cy="103"/>
              <a:chOff x="4418" y="905"/>
              <a:chExt cx="386" cy="103"/>
            </a:xfrm>
          </p:grpSpPr>
          <p:sp>
            <p:nvSpPr>
              <p:cNvPr id="1045" name="Rectangle 10">
                <a:extLst>
                  <a:ext uri="{FF2B5EF4-FFF2-40B4-BE49-F238E27FC236}">
                    <a16:creationId xmlns:a16="http://schemas.microsoft.com/office/drawing/2014/main" id="{BE15E58A-2FD3-E447-8EE2-6C127DBF1A20}"/>
                  </a:ext>
                </a:extLst>
              </p:cNvPr>
              <p:cNvSpPr>
                <a:spLocks noChangeArrowheads="1"/>
              </p:cNvSpPr>
              <p:nvPr/>
            </p:nvSpPr>
            <p:spPr bwMode="auto">
              <a:xfrm>
                <a:off x="4650" y="905"/>
                <a:ext cx="15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6" name="Rectangle 11">
                <a:extLst>
                  <a:ext uri="{FF2B5EF4-FFF2-40B4-BE49-F238E27FC236}">
                    <a16:creationId xmlns:a16="http://schemas.microsoft.com/office/drawing/2014/main" id="{CF283281-FE4D-DD49-B04E-9413E3009D27}"/>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7" name="Group 12">
              <a:extLst>
                <a:ext uri="{FF2B5EF4-FFF2-40B4-BE49-F238E27FC236}">
                  <a16:creationId xmlns:a16="http://schemas.microsoft.com/office/drawing/2014/main" id="{646E7CE3-1E48-3E4C-A16A-75739FD75886}"/>
                </a:ext>
              </a:extLst>
            </p:cNvPr>
            <p:cNvGrpSpPr>
              <a:grpSpLocks/>
            </p:cNvGrpSpPr>
            <p:nvPr/>
          </p:nvGrpSpPr>
          <p:grpSpPr bwMode="auto">
            <a:xfrm>
              <a:off x="3183" y="905"/>
              <a:ext cx="1191" cy="103"/>
              <a:chOff x="3183" y="905"/>
              <a:chExt cx="1191" cy="103"/>
            </a:xfrm>
          </p:grpSpPr>
          <p:sp>
            <p:nvSpPr>
              <p:cNvPr id="1041" name="Rectangle 13">
                <a:extLst>
                  <a:ext uri="{FF2B5EF4-FFF2-40B4-BE49-F238E27FC236}">
                    <a16:creationId xmlns:a16="http://schemas.microsoft.com/office/drawing/2014/main" id="{049A07BA-125C-294A-A3B4-D89BBC9F00CC}"/>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2" name="Rectangle 14">
                <a:extLst>
                  <a:ext uri="{FF2B5EF4-FFF2-40B4-BE49-F238E27FC236}">
                    <a16:creationId xmlns:a16="http://schemas.microsoft.com/office/drawing/2014/main" id="{0FD03B68-7F9D-4D45-AD4E-68D760BBDB38}"/>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3" name="Rectangle 15">
                <a:extLst>
                  <a:ext uri="{FF2B5EF4-FFF2-40B4-BE49-F238E27FC236}">
                    <a16:creationId xmlns:a16="http://schemas.microsoft.com/office/drawing/2014/main" id="{081F8C45-EB4F-0042-BF17-8C6ACAA57CCC}"/>
                  </a:ext>
                </a:extLst>
              </p:cNvPr>
              <p:cNvSpPr>
                <a:spLocks noChangeArrowheads="1"/>
              </p:cNvSpPr>
              <p:nvPr/>
            </p:nvSpPr>
            <p:spPr bwMode="auto">
              <a:xfrm>
                <a:off x="3864"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4" name="Rectangle 16">
                <a:extLst>
                  <a:ext uri="{FF2B5EF4-FFF2-40B4-BE49-F238E27FC236}">
                    <a16:creationId xmlns:a16="http://schemas.microsoft.com/office/drawing/2014/main" id="{21F7B391-9D2B-D74A-8DE2-F8562177B339}"/>
                  </a:ext>
                </a:extLst>
              </p:cNvPr>
              <p:cNvSpPr>
                <a:spLocks noChangeArrowheads="1"/>
              </p:cNvSpPr>
              <p:nvPr/>
            </p:nvSpPr>
            <p:spPr bwMode="auto">
              <a:xfrm>
                <a:off x="3183" y="905"/>
                <a:ext cx="31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8" name="Group 17">
              <a:extLst>
                <a:ext uri="{FF2B5EF4-FFF2-40B4-BE49-F238E27FC236}">
                  <a16:creationId xmlns:a16="http://schemas.microsoft.com/office/drawing/2014/main" id="{2D7AF668-B334-A146-AA53-8DFA6CBF94F2}"/>
                </a:ext>
              </a:extLst>
            </p:cNvPr>
            <p:cNvGrpSpPr>
              <a:grpSpLocks/>
            </p:cNvGrpSpPr>
            <p:nvPr/>
          </p:nvGrpSpPr>
          <p:grpSpPr bwMode="auto">
            <a:xfrm>
              <a:off x="0" y="905"/>
              <a:ext cx="3143" cy="103"/>
              <a:chOff x="0" y="905"/>
              <a:chExt cx="3143" cy="103"/>
            </a:xfrm>
          </p:grpSpPr>
          <p:sp>
            <p:nvSpPr>
              <p:cNvPr id="1039" name="Rectangle 18">
                <a:extLst>
                  <a:ext uri="{FF2B5EF4-FFF2-40B4-BE49-F238E27FC236}">
                    <a16:creationId xmlns:a16="http://schemas.microsoft.com/office/drawing/2014/main" id="{712DCCE5-D50B-5F46-968A-138F0F148763}"/>
                  </a:ext>
                </a:extLst>
              </p:cNvPr>
              <p:cNvSpPr>
                <a:spLocks noChangeArrowheads="1"/>
              </p:cNvSpPr>
              <p:nvPr/>
            </p:nvSpPr>
            <p:spPr bwMode="auto">
              <a:xfrm>
                <a:off x="2798" y="905"/>
                <a:ext cx="34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0" name="Rectangle 19">
                <a:extLst>
                  <a:ext uri="{FF2B5EF4-FFF2-40B4-BE49-F238E27FC236}">
                    <a16:creationId xmlns:a16="http://schemas.microsoft.com/office/drawing/2014/main" id="{E25710D3-F13F-6048-BEEC-03DCB0EBB0FA}"/>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sp>
        <p:nvSpPr>
          <p:cNvPr id="1027" name="Rectangle 20">
            <a:extLst>
              <a:ext uri="{FF2B5EF4-FFF2-40B4-BE49-F238E27FC236}">
                <a16:creationId xmlns:a16="http://schemas.microsoft.com/office/drawing/2014/main" id="{00BAB7E5-4DDE-6F4B-9664-E20F29B174F5}"/>
              </a:ext>
            </a:extLst>
          </p:cNvPr>
          <p:cNvSpPr>
            <a:spLocks noGrp="1" noChangeArrowheads="1"/>
          </p:cNvSpPr>
          <p:nvPr>
            <p:ph type="title"/>
          </p:nvPr>
        </p:nvSpPr>
        <p:spPr bwMode="auto">
          <a:xfrm>
            <a:off x="990600" y="57150"/>
            <a:ext cx="7696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21">
            <a:extLst>
              <a:ext uri="{FF2B5EF4-FFF2-40B4-BE49-F238E27FC236}">
                <a16:creationId xmlns:a16="http://schemas.microsoft.com/office/drawing/2014/main" id="{8F4F1CA7-1C7F-6F4A-81AC-D0443903995C}"/>
              </a:ext>
            </a:extLst>
          </p:cNvPr>
          <p:cNvSpPr>
            <a:spLocks noGrp="1" noChangeArrowheads="1"/>
          </p:cNvSpPr>
          <p:nvPr>
            <p:ph type="body" idx="1"/>
          </p:nvPr>
        </p:nvSpPr>
        <p:spPr bwMode="auto">
          <a:xfrm>
            <a:off x="228600" y="685800"/>
            <a:ext cx="86106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94" name="Rectangle 22">
            <a:extLst>
              <a:ext uri="{FF2B5EF4-FFF2-40B4-BE49-F238E27FC236}">
                <a16:creationId xmlns:a16="http://schemas.microsoft.com/office/drawing/2014/main" id="{562FC42B-43D6-4F4A-934D-67109AD4B0F3}"/>
              </a:ext>
            </a:extLst>
          </p:cNvPr>
          <p:cNvSpPr>
            <a:spLocks noGrp="1" noChangeArrowheads="1"/>
          </p:cNvSpPr>
          <p:nvPr>
            <p:ph type="dt" sz="half" idx="2"/>
          </p:nvPr>
        </p:nvSpPr>
        <p:spPr bwMode="auto">
          <a:xfrm>
            <a:off x="4318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spcBef>
                <a:spcPct val="50000"/>
              </a:spcBef>
              <a:defRPr sz="900">
                <a:solidFill>
                  <a:schemeClr val="bg2"/>
                </a:solidFill>
                <a:latin typeface="Tahoma" charset="0"/>
                <a:ea typeface="ＭＳ Ｐゴシック" charset="-128"/>
              </a:defRPr>
            </a:lvl1pPr>
          </a:lstStyle>
          <a:p>
            <a:pPr>
              <a:defRPr/>
            </a:pPr>
            <a:fld id="{92E8E100-ADEF-EB4E-AB02-A2AF1A2FC806}" type="datetime4">
              <a:rPr lang="en-US" altLang="en-US"/>
              <a:pPr>
                <a:defRPr/>
              </a:pPr>
              <a:t>January 24, 2021</a:t>
            </a:fld>
            <a:endParaRPr lang="en-US" altLang="en-US" sz="1050">
              <a:latin typeface="Comic Sans MS" charset="0"/>
            </a:endParaRPr>
          </a:p>
        </p:txBody>
      </p:sp>
      <p:sp>
        <p:nvSpPr>
          <p:cNvPr id="3095" name="Rectangle 23">
            <a:extLst>
              <a:ext uri="{FF2B5EF4-FFF2-40B4-BE49-F238E27FC236}">
                <a16:creationId xmlns:a16="http://schemas.microsoft.com/office/drawing/2014/main" id="{EB3FA688-6455-9D4A-961A-9B2118FFD62D}"/>
              </a:ext>
            </a:extLst>
          </p:cNvPr>
          <p:cNvSpPr>
            <a:spLocks noGrp="1" noChangeArrowheads="1"/>
          </p:cNvSpPr>
          <p:nvPr>
            <p:ph type="ftr" sz="quarter" idx="3"/>
          </p:nvPr>
        </p:nvSpPr>
        <p:spPr bwMode="auto">
          <a:xfrm>
            <a:off x="3124200" y="4672013"/>
            <a:ext cx="28956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a:spcBef>
                <a:spcPct val="50000"/>
              </a:spcBef>
              <a:defRPr sz="900">
                <a:solidFill>
                  <a:schemeClr val="bg2"/>
                </a:solidFill>
                <a:latin typeface="Tahoma" charset="0"/>
                <a:ea typeface="ＭＳ Ｐゴシック" charset="-128"/>
              </a:defRPr>
            </a:lvl1pPr>
          </a:lstStyle>
          <a:p>
            <a:pPr>
              <a:defRPr/>
            </a:pPr>
            <a:r>
              <a:rPr lang="tr-TR" altLang="en-US"/>
              <a:t>PSYCH 4041 / 6014</a:t>
            </a:r>
            <a:endParaRPr lang="en-US" altLang="en-US" sz="1050">
              <a:latin typeface="Comic Sans MS" charset="0"/>
            </a:endParaRPr>
          </a:p>
        </p:txBody>
      </p:sp>
      <p:sp>
        <p:nvSpPr>
          <p:cNvPr id="3096" name="Rectangle 24">
            <a:extLst>
              <a:ext uri="{FF2B5EF4-FFF2-40B4-BE49-F238E27FC236}">
                <a16:creationId xmlns:a16="http://schemas.microsoft.com/office/drawing/2014/main" id="{CCC79CAA-D180-B549-B80B-93952BD15DD4}"/>
              </a:ext>
            </a:extLst>
          </p:cNvPr>
          <p:cNvSpPr>
            <a:spLocks noGrp="1" noChangeArrowheads="1"/>
          </p:cNvSpPr>
          <p:nvPr>
            <p:ph type="sldNum" sz="quarter" idx="4"/>
          </p:nvPr>
        </p:nvSpPr>
        <p:spPr bwMode="auto">
          <a:xfrm>
            <a:off x="67310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spcBef>
                <a:spcPct val="50000"/>
              </a:spcBef>
              <a:defRPr sz="900">
                <a:solidFill>
                  <a:schemeClr val="bg2"/>
                </a:solidFill>
                <a:latin typeface="Tahoma" charset="0"/>
                <a:ea typeface="ＭＳ Ｐゴシック" charset="-128"/>
              </a:defRPr>
            </a:lvl1pPr>
          </a:lstStyle>
          <a:p>
            <a:pPr>
              <a:defRPr/>
            </a:pPr>
            <a:fld id="{EECB6731-2E5B-344F-BE2F-3B33DB3B9655}" type="slidenum">
              <a:rPr lang="en-US" altLang="en-US"/>
              <a:pPr>
                <a:defRPr/>
              </a:pPr>
              <a:t>‹#›</a:t>
            </a:fld>
            <a:endParaRPr lang="en-US" altLang="en-US">
              <a:latin typeface="Comic Sans MS" charset="0"/>
            </a:endParaRPr>
          </a:p>
        </p:txBody>
      </p:sp>
      <p:pic>
        <p:nvPicPr>
          <p:cNvPr id="1032" name="Picture 29">
            <a:extLst>
              <a:ext uri="{FF2B5EF4-FFF2-40B4-BE49-F238E27FC236}">
                <a16:creationId xmlns:a16="http://schemas.microsoft.com/office/drawing/2014/main" id="{83123BE1-9355-6245-9EF0-E4061A5C7814}"/>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l="10829" t="11624" r="16043" b="11624"/>
          <a:stretch>
            <a:fillRect/>
          </a:stretch>
        </p:blipFill>
        <p:spPr bwMode="auto">
          <a:xfrm>
            <a:off x="1" y="0"/>
            <a:ext cx="841375" cy="6858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Text Box 30">
            <a:extLst>
              <a:ext uri="{FF2B5EF4-FFF2-40B4-BE49-F238E27FC236}">
                <a16:creationId xmlns:a16="http://schemas.microsoft.com/office/drawing/2014/main" id="{8BF227DC-2A0E-614B-BEC2-33B81721D7E4}"/>
              </a:ext>
            </a:extLst>
          </p:cNvPr>
          <p:cNvSpPr txBox="1">
            <a:spLocks noChangeArrowheads="1"/>
          </p:cNvSpPr>
          <p:nvPr userDrawn="1"/>
        </p:nvSpPr>
        <p:spPr bwMode="auto">
          <a:xfrm>
            <a:off x="1355726" y="467439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Tree>
  </p:cSld>
  <p:clrMap bg1="lt1" tx1="dk1" bg2="lt2" tx2="dk2" accent1="accent1" accent2="accent2" accent3="accent3" accent4="accent4" accent5="accent5" accent6="accent6" hlink="hlink" folHlink="folHlink"/>
  <p:sldLayoutIdLst>
    <p:sldLayoutId id="2147483706"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sldNum="0" hdr="0"/>
  <p:txStyles>
    <p:titleStyle>
      <a:lvl1pPr algn="r" rtl="0" eaLnBrk="0" fontAlgn="base" hangingPunct="0">
        <a:spcBef>
          <a:spcPct val="0"/>
        </a:spcBef>
        <a:spcAft>
          <a:spcPct val="0"/>
        </a:spcAft>
        <a:defRPr kumimoji="1" sz="3000" b="1">
          <a:solidFill>
            <a:srgbClr val="666666"/>
          </a:solidFill>
          <a:latin typeface="+mj-lt"/>
          <a:ea typeface="ＭＳ Ｐゴシック" charset="-128"/>
          <a:cs typeface="+mj-cs"/>
        </a:defRPr>
      </a:lvl1pPr>
      <a:lvl2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2pPr>
      <a:lvl3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3pPr>
      <a:lvl4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4pPr>
      <a:lvl5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5pPr>
      <a:lvl6pPr marL="342900" algn="r" rtl="0" eaLnBrk="0" fontAlgn="base" hangingPunct="0">
        <a:spcBef>
          <a:spcPct val="0"/>
        </a:spcBef>
        <a:spcAft>
          <a:spcPct val="0"/>
        </a:spcAft>
        <a:defRPr kumimoji="1" sz="3000" b="1">
          <a:solidFill>
            <a:srgbClr val="666666"/>
          </a:solidFill>
          <a:latin typeface="Arial" pitchFamily="-110" charset="0"/>
        </a:defRPr>
      </a:lvl6pPr>
      <a:lvl7pPr marL="685800" algn="r" rtl="0" eaLnBrk="0" fontAlgn="base" hangingPunct="0">
        <a:spcBef>
          <a:spcPct val="0"/>
        </a:spcBef>
        <a:spcAft>
          <a:spcPct val="0"/>
        </a:spcAft>
        <a:defRPr kumimoji="1" sz="3000" b="1">
          <a:solidFill>
            <a:srgbClr val="666666"/>
          </a:solidFill>
          <a:latin typeface="Arial" pitchFamily="-110" charset="0"/>
        </a:defRPr>
      </a:lvl7pPr>
      <a:lvl8pPr marL="1028700" algn="r" rtl="0" eaLnBrk="0" fontAlgn="base" hangingPunct="0">
        <a:spcBef>
          <a:spcPct val="0"/>
        </a:spcBef>
        <a:spcAft>
          <a:spcPct val="0"/>
        </a:spcAft>
        <a:defRPr kumimoji="1" sz="3000" b="1">
          <a:solidFill>
            <a:srgbClr val="666666"/>
          </a:solidFill>
          <a:latin typeface="Arial" pitchFamily="-110" charset="0"/>
        </a:defRPr>
      </a:lvl8pPr>
      <a:lvl9pPr marL="1371600" algn="r" rtl="0" eaLnBrk="0" fontAlgn="base" hangingPunct="0">
        <a:spcBef>
          <a:spcPct val="0"/>
        </a:spcBef>
        <a:spcAft>
          <a:spcPct val="0"/>
        </a:spcAft>
        <a:defRPr kumimoji="1" sz="3000" b="1">
          <a:solidFill>
            <a:srgbClr val="666666"/>
          </a:solidFill>
          <a:latin typeface="Arial" pitchFamily="-110" charset="0"/>
        </a:defRPr>
      </a:lvl9pPr>
    </p:titleStyle>
    <p:bodyStyle>
      <a:lvl1pPr marL="257175" indent="-257175" algn="l" rtl="0" eaLnBrk="0" fontAlgn="base" hangingPunct="0">
        <a:spcBef>
          <a:spcPct val="20000"/>
        </a:spcBef>
        <a:spcAft>
          <a:spcPct val="0"/>
        </a:spcAft>
        <a:buClr>
          <a:srgbClr val="193399"/>
        </a:buClr>
        <a:buFont typeface="Wingdings" pitchFamily="2" charset="2"/>
        <a:buChar char="Ø"/>
        <a:defRPr kumimoji="1" sz="2400">
          <a:solidFill>
            <a:schemeClr val="tx1"/>
          </a:solidFill>
          <a:latin typeface="+mn-lt"/>
          <a:ea typeface="ＭＳ Ｐゴシック" charset="-128"/>
          <a:cs typeface="+mn-cs"/>
        </a:defRPr>
      </a:lvl1pPr>
      <a:lvl2pPr marL="557213" indent="-214313" algn="l" rtl="0" eaLnBrk="0" fontAlgn="base" hangingPunct="0">
        <a:spcBef>
          <a:spcPct val="20000"/>
        </a:spcBef>
        <a:spcAft>
          <a:spcPct val="0"/>
        </a:spcAft>
        <a:buClr>
          <a:srgbClr val="193399"/>
        </a:buClr>
        <a:buSzPct val="70000"/>
        <a:buFont typeface="Wingdings" pitchFamily="2" charset="2"/>
        <a:buChar char="v"/>
        <a:defRPr kumimoji="1" sz="2100">
          <a:solidFill>
            <a:schemeClr val="tx1"/>
          </a:solidFill>
          <a:latin typeface="+mn-lt"/>
          <a:ea typeface="ＭＳ Ｐゴシック" pitchFamily="-110" charset="-128"/>
        </a:defRPr>
      </a:lvl2pPr>
      <a:lvl3pPr marL="857250" indent="-171450" algn="l" rtl="0" eaLnBrk="0" fontAlgn="base" hangingPunct="0">
        <a:spcBef>
          <a:spcPct val="20000"/>
        </a:spcBef>
        <a:spcAft>
          <a:spcPct val="0"/>
        </a:spcAft>
        <a:buClr>
          <a:srgbClr val="193399"/>
        </a:buClr>
        <a:buFont typeface="Times" pitchFamily="2" charset="0"/>
        <a:buChar char="•"/>
        <a:defRPr kumimoji="1" sz="1800">
          <a:solidFill>
            <a:schemeClr val="tx1"/>
          </a:solidFill>
          <a:latin typeface="+mn-lt"/>
          <a:ea typeface="ＭＳ Ｐゴシック" pitchFamily="-110" charset="-128"/>
        </a:defRPr>
      </a:lvl3pPr>
      <a:lvl4pPr marL="12001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4pPr>
      <a:lvl5pPr marL="15430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5pPr>
      <a:lvl6pPr marL="18859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6pPr>
      <a:lvl7pPr marL="22288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7pPr>
      <a:lvl8pPr marL="25717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8pPr>
      <a:lvl9pPr marL="29146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B0EC7E1-70F5-B944-A6B9-9729D9C5766D}"/>
              </a:ext>
            </a:extLst>
          </p:cNvPr>
          <p:cNvSpPr>
            <a:spLocks noGrp="1" noChangeArrowheads="1"/>
          </p:cNvSpPr>
          <p:nvPr>
            <p:ph type="ctrTitle"/>
          </p:nvPr>
        </p:nvSpPr>
        <p:spPr/>
        <p:txBody>
          <a:bodyPr/>
          <a:lstStyle/>
          <a:p>
            <a:r>
              <a:rPr kumimoji="0" lang="en-US" altLang="en-US">
                <a:ea typeface="ＭＳ Ｐゴシック" panose="020B0600070205080204" pitchFamily="34" charset="-128"/>
              </a:rPr>
              <a:t>Physiology of Perception</a:t>
            </a:r>
          </a:p>
        </p:txBody>
      </p:sp>
      <p:sp>
        <p:nvSpPr>
          <p:cNvPr id="15362" name="Rectangle 3">
            <a:extLst>
              <a:ext uri="{FF2B5EF4-FFF2-40B4-BE49-F238E27FC236}">
                <a16:creationId xmlns:a16="http://schemas.microsoft.com/office/drawing/2014/main" id="{20FBDE40-A6DE-8D4F-B6AD-C5842F4DFA5E}"/>
              </a:ext>
            </a:extLst>
          </p:cNvPr>
          <p:cNvSpPr>
            <a:spLocks noGrp="1" noChangeArrowheads="1"/>
          </p:cNvSpPr>
          <p:nvPr>
            <p:ph type="subTitle" idx="1"/>
          </p:nvPr>
        </p:nvSpPr>
        <p:spPr/>
        <p:txBody>
          <a:bodyPr/>
          <a:lstStyle/>
          <a:p>
            <a:pPr>
              <a:buFont typeface="Wingdings" pitchFamily="2" charset="2"/>
              <a:buNone/>
            </a:pPr>
            <a:r>
              <a:rPr kumimoji="0" lang="en-US" altLang="en-US">
                <a:ea typeface="ＭＳ Ｐゴシック" panose="020B0600070205080204" pitchFamily="34" charset="-128"/>
              </a:rPr>
              <a:t>Fire in the brain</a:t>
            </a:r>
          </a:p>
        </p:txBody>
      </p:sp>
      <p:sp>
        <p:nvSpPr>
          <p:cNvPr id="2" name="Date Placeholder 1">
            <a:extLst>
              <a:ext uri="{FF2B5EF4-FFF2-40B4-BE49-F238E27FC236}">
                <a16:creationId xmlns:a16="http://schemas.microsoft.com/office/drawing/2014/main" id="{9723107C-33DB-3F40-BFA8-48DB5164EB7F}"/>
              </a:ext>
            </a:extLst>
          </p:cNvPr>
          <p:cNvSpPr>
            <a:spLocks noGrp="1"/>
          </p:cNvSpPr>
          <p:nvPr>
            <p:ph type="dt" sz="quarter" idx="10"/>
          </p:nvPr>
        </p:nvSpPr>
        <p:spPr/>
        <p:txBody>
          <a:bodyPr/>
          <a:lstStyle/>
          <a:p>
            <a:pPr>
              <a:defRPr/>
            </a:pPr>
            <a:fld id="{902962C5-4225-8049-BE34-7F57878BE24B}" type="datetime4">
              <a:rPr lang="en-US"/>
              <a:pPr>
                <a:defRPr/>
              </a:pPr>
              <a:t>January 24, 2021</a:t>
            </a:fld>
            <a:endParaRPr lang="en-US"/>
          </a:p>
        </p:txBody>
      </p:sp>
      <p:sp>
        <p:nvSpPr>
          <p:cNvPr id="3" name="Footer Placeholder 2">
            <a:extLst>
              <a:ext uri="{FF2B5EF4-FFF2-40B4-BE49-F238E27FC236}">
                <a16:creationId xmlns:a16="http://schemas.microsoft.com/office/drawing/2014/main" id="{445664FD-1ADA-174D-8A96-0EC32EF0A1E7}"/>
              </a:ext>
            </a:extLst>
          </p:cNvPr>
          <p:cNvSpPr>
            <a:spLocks noGrp="1"/>
          </p:cNvSpPr>
          <p:nvPr>
            <p:ph type="ftr" sz="quarter" idx="11"/>
          </p:nvPr>
        </p:nvSpPr>
        <p:spPr/>
        <p:txBody>
          <a:bodyPr/>
          <a:lstStyle/>
          <a:p>
            <a:pPr>
              <a:defRPr/>
            </a:pPr>
            <a:r>
              <a:rPr lang="tr-TR"/>
              <a:t>PSYCH 4041 / 6014</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A6A63-FDE1-1B42-99C6-A07A8B1817EB}"/>
              </a:ext>
            </a:extLst>
          </p:cNvPr>
          <p:cNvSpPr>
            <a:spLocks noGrp="1"/>
          </p:cNvSpPr>
          <p:nvPr>
            <p:ph type="title"/>
          </p:nvPr>
        </p:nvSpPr>
        <p:spPr/>
        <p:txBody>
          <a:bodyPr/>
          <a:lstStyle/>
          <a:p>
            <a:r>
              <a:rPr lang="en-US" dirty="0"/>
              <a:t>Reminder: Outline of Topics</a:t>
            </a:r>
          </a:p>
        </p:txBody>
      </p:sp>
      <p:sp>
        <p:nvSpPr>
          <p:cNvPr id="3" name="Content Placeholder 2">
            <a:extLst>
              <a:ext uri="{FF2B5EF4-FFF2-40B4-BE49-F238E27FC236}">
                <a16:creationId xmlns:a16="http://schemas.microsoft.com/office/drawing/2014/main" id="{8FCCD038-AE73-4547-816E-773CDEB735FC}"/>
              </a:ext>
            </a:extLst>
          </p:cNvPr>
          <p:cNvSpPr>
            <a:spLocks noGrp="1"/>
          </p:cNvSpPr>
          <p:nvPr>
            <p:ph idx="1"/>
          </p:nvPr>
        </p:nvSpPr>
        <p:spPr/>
        <p:txBody>
          <a:bodyPr/>
          <a:lstStyle/>
          <a:p>
            <a:pPr marL="0" indent="0">
              <a:buNone/>
            </a:pPr>
            <a:r>
              <a:rPr lang="en-US" sz="1600" dirty="0"/>
              <a:t>https://</a:t>
            </a:r>
            <a:r>
              <a:rPr lang="en-US" sz="1600" dirty="0" err="1"/>
              <a:t>gatech.instructure.com</a:t>
            </a:r>
            <a:r>
              <a:rPr lang="en-US" sz="1600" dirty="0"/>
              <a:t>/courses/181190/pages/schedule-of-lecture-topics-2021</a:t>
            </a:r>
          </a:p>
        </p:txBody>
      </p:sp>
      <p:sp>
        <p:nvSpPr>
          <p:cNvPr id="4" name="Date Placeholder 3">
            <a:extLst>
              <a:ext uri="{FF2B5EF4-FFF2-40B4-BE49-F238E27FC236}">
                <a16:creationId xmlns:a16="http://schemas.microsoft.com/office/drawing/2014/main" id="{59A11876-3039-DF49-BBBB-520DF66A311D}"/>
              </a:ext>
            </a:extLst>
          </p:cNvPr>
          <p:cNvSpPr>
            <a:spLocks noGrp="1"/>
          </p:cNvSpPr>
          <p:nvPr>
            <p:ph type="dt" sz="half" idx="10"/>
          </p:nvPr>
        </p:nvSpPr>
        <p:spPr/>
        <p:txBody>
          <a:bodyPr/>
          <a:lstStyle/>
          <a:p>
            <a:pPr>
              <a:defRPr/>
            </a:pPr>
            <a:r>
              <a:rPr lang="en-US"/>
              <a:t>Spring 2021</a:t>
            </a:r>
          </a:p>
        </p:txBody>
      </p:sp>
      <p:sp>
        <p:nvSpPr>
          <p:cNvPr id="5" name="Footer Placeholder 4">
            <a:extLst>
              <a:ext uri="{FF2B5EF4-FFF2-40B4-BE49-F238E27FC236}">
                <a16:creationId xmlns:a16="http://schemas.microsoft.com/office/drawing/2014/main" id="{EF36CFD3-57DD-1A4C-9BDA-B4204C4298AB}"/>
              </a:ext>
            </a:extLst>
          </p:cNvPr>
          <p:cNvSpPr>
            <a:spLocks noGrp="1"/>
          </p:cNvSpPr>
          <p:nvPr>
            <p:ph type="ftr" sz="quarter" idx="11"/>
          </p:nvPr>
        </p:nvSpPr>
        <p:spPr/>
        <p:txBody>
          <a:bodyPr/>
          <a:lstStyle/>
          <a:p>
            <a:pPr>
              <a:defRPr/>
            </a:pPr>
            <a:r>
              <a:rPr lang="tr-TR"/>
              <a:t>PSYCH 4041 / 6014</a:t>
            </a:r>
            <a:endParaRPr lang="en-US" sz="1050">
              <a:latin typeface="Comic Sans MS" charset="0"/>
            </a:endParaRPr>
          </a:p>
        </p:txBody>
      </p:sp>
      <p:pic>
        <p:nvPicPr>
          <p:cNvPr id="8" name="Picture 7" descr="A screenshot of a webpage displays a schedule of lecture topics for a course in 2021. The page has a light gray background. The title &quot;Schedule of Lecture Topics (2021)&quot; is displayed in a large, bold, dark gray font at the top. Below this, centered, is the heading &quot;Schedule of Classes&quot; in a slightly smaller, dark gray font. The main content is organized into a table with columns for &quot;Wk Date&quot;, &quot;Topic&quot;, &quot;Reading(s) *&quot;, and &quot;Notes&quot;. The &quot;Wk Date&quot; column lists week and date information, such as &quot;01 1/15&quot; and &quot;02 1/18&quot;. The &quot;Topic&quot; column outlines the subjects for each date, ranging from &quot;Introduction to Course&quot; to &quot;Pain&quot;. The &quot;Reading(s) *&quot; column provides links to relevant materials like &quot;Syllabus&quot;, &quot;List of Extra Readings&quot;, and specific book chapters or articles, e.g., &quot;Goldstein CH1&quot; and &quot;Stevens (1961)&quot;. Some entries in the &quot;Notes&quot; column are blank, while others may contain additional information, such as a link to a &quot;No Pain video&quot;. In the lower right corner of the visible portion of the schedule, there is a thumbnail image of a video player with a play button overlay. The thumbnail shows a woman with dark, curly hair and a light-colored top, looking towards the camera with an expressive face.">
            <a:extLst>
              <a:ext uri="{FF2B5EF4-FFF2-40B4-BE49-F238E27FC236}">
                <a16:creationId xmlns:a16="http://schemas.microsoft.com/office/drawing/2014/main" id="{84D41207-A92B-6C4E-8A65-B666869A9333}"/>
              </a:ext>
            </a:extLst>
          </p:cNvPr>
          <p:cNvPicPr>
            <a:picLocks noChangeAspect="1"/>
          </p:cNvPicPr>
          <p:nvPr/>
        </p:nvPicPr>
        <p:blipFill rotWithShape="1">
          <a:blip r:embed="rId2"/>
          <a:srcRect t="13526"/>
          <a:stretch/>
        </p:blipFill>
        <p:spPr>
          <a:xfrm>
            <a:off x="1600200" y="1123016"/>
            <a:ext cx="6207239" cy="3887134"/>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6" name="Donut 5">
            <a:extLst>
              <a:ext uri="{FF2B5EF4-FFF2-40B4-BE49-F238E27FC236}">
                <a16:creationId xmlns:a16="http://schemas.microsoft.com/office/drawing/2014/main" id="{A33A7FE9-7467-414A-A855-1B2EB14EC9A5}"/>
              </a:ext>
            </a:extLst>
          </p:cNvPr>
          <p:cNvSpPr/>
          <p:nvPr/>
        </p:nvSpPr>
        <p:spPr bwMode="auto">
          <a:xfrm>
            <a:off x="990600" y="2800350"/>
            <a:ext cx="6435839" cy="1219200"/>
          </a:xfrm>
          <a:prstGeom prst="donut">
            <a:avLst/>
          </a:prstGeom>
          <a:solidFill>
            <a:srgbClr val="FFFF00">
              <a:alpha val="50000"/>
            </a:srgb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Times" charset="0"/>
              <a:ea typeface="ＭＳ Ｐゴシック" charset="0"/>
            </a:endParaRPr>
          </a:p>
        </p:txBody>
      </p:sp>
    </p:spTree>
    <p:extLst>
      <p:ext uri="{BB962C8B-B14F-4D97-AF65-F5344CB8AC3E}">
        <p14:creationId xmlns:p14="http://schemas.microsoft.com/office/powerpoint/2010/main" val="562905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Date Placeholder 3">
            <a:extLst>
              <a:ext uri="{FF2B5EF4-FFF2-40B4-BE49-F238E27FC236}">
                <a16:creationId xmlns:a16="http://schemas.microsoft.com/office/drawing/2014/main" id="{B74CCB0F-2B8C-DA48-B9B6-5D5DC8FE1CD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470441A8-5C41-BD4D-9B61-FF018AA5E2C5}"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7410" name="Footer Placeholder 4">
            <a:extLst>
              <a:ext uri="{FF2B5EF4-FFF2-40B4-BE49-F238E27FC236}">
                <a16:creationId xmlns:a16="http://schemas.microsoft.com/office/drawing/2014/main" id="{D09DAB0C-30EB-E242-85E6-0F46531077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7411" name="Rectangle 2">
            <a:extLst>
              <a:ext uri="{FF2B5EF4-FFF2-40B4-BE49-F238E27FC236}">
                <a16:creationId xmlns:a16="http://schemas.microsoft.com/office/drawing/2014/main" id="{6C6D466D-6675-C747-854A-F701DCEA0C14}"/>
              </a:ext>
            </a:extLst>
          </p:cNvPr>
          <p:cNvSpPr>
            <a:spLocks noGrp="1" noChangeArrowheads="1"/>
          </p:cNvSpPr>
          <p:nvPr>
            <p:ph type="title"/>
          </p:nvPr>
        </p:nvSpPr>
        <p:spPr/>
        <p:txBody>
          <a:bodyPr/>
          <a:lstStyle/>
          <a:p>
            <a:r>
              <a:rPr lang="en-US" altLang="en-US">
                <a:ea typeface="ＭＳ Ｐゴシック" panose="020B0600070205080204" pitchFamily="34" charset="-128"/>
              </a:rPr>
              <a:t>Overview</a:t>
            </a:r>
          </a:p>
        </p:txBody>
      </p:sp>
      <p:sp>
        <p:nvSpPr>
          <p:cNvPr id="17412" name="Rectangle 3">
            <a:extLst>
              <a:ext uri="{FF2B5EF4-FFF2-40B4-BE49-F238E27FC236}">
                <a16:creationId xmlns:a16="http://schemas.microsoft.com/office/drawing/2014/main" id="{2C52D3D0-74DF-FF4B-8816-1AC2324BD10A}"/>
              </a:ext>
            </a:extLst>
          </p:cNvPr>
          <p:cNvSpPr>
            <a:spLocks noGrp="1" noChangeArrowheads="1"/>
          </p:cNvSpPr>
          <p:nvPr>
            <p:ph type="body" idx="1"/>
          </p:nvPr>
        </p:nvSpPr>
        <p:spPr>
          <a:xfrm>
            <a:off x="838200" y="685800"/>
            <a:ext cx="8001000" cy="4171950"/>
          </a:xfrm>
        </p:spPr>
        <p:txBody>
          <a:bodyPr/>
          <a:lstStyle/>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as center of perception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Structure</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Transduction &amp; Transmission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Neural Signals</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Coding</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Upcoming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Date Placeholder 3">
            <a:extLst>
              <a:ext uri="{FF2B5EF4-FFF2-40B4-BE49-F238E27FC236}">
                <a16:creationId xmlns:a16="http://schemas.microsoft.com/office/drawing/2014/main" id="{6AD73A8B-38CB-2B4B-AE3D-22BE07F653D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D976380-119C-3F48-A59C-E46077F21BE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9458" name="Footer Placeholder 4">
            <a:extLst>
              <a:ext uri="{FF2B5EF4-FFF2-40B4-BE49-F238E27FC236}">
                <a16:creationId xmlns:a16="http://schemas.microsoft.com/office/drawing/2014/main" id="{1754684D-BE54-724D-A2D8-0667E8A537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9459" name="Rectangle 2">
            <a:extLst>
              <a:ext uri="{FF2B5EF4-FFF2-40B4-BE49-F238E27FC236}">
                <a16:creationId xmlns:a16="http://schemas.microsoft.com/office/drawing/2014/main" id="{01C17CEB-3A9B-3148-A9AD-54A0BD4AB9A9}"/>
              </a:ext>
            </a:extLst>
          </p:cNvPr>
          <p:cNvSpPr>
            <a:spLocks noGrp="1" noChangeArrowheads="1"/>
          </p:cNvSpPr>
          <p:nvPr>
            <p:ph type="title"/>
          </p:nvPr>
        </p:nvSpPr>
        <p:spPr/>
        <p:txBody>
          <a:bodyPr/>
          <a:lstStyle/>
          <a:p>
            <a:r>
              <a:rPr lang="en-US" altLang="en-US">
                <a:ea typeface="ＭＳ Ｐゴシック" panose="020B0600070205080204" pitchFamily="34" charset="-128"/>
              </a:rPr>
              <a:t>Brain as Center of Perception</a:t>
            </a:r>
          </a:p>
        </p:txBody>
      </p:sp>
      <p:sp>
        <p:nvSpPr>
          <p:cNvPr id="19460" name="Rectangle 3">
            <a:extLst>
              <a:ext uri="{FF2B5EF4-FFF2-40B4-BE49-F238E27FC236}">
                <a16:creationId xmlns:a16="http://schemas.microsoft.com/office/drawing/2014/main" id="{B93E2BB2-C3D4-F84E-906F-7CC29E13E327}"/>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000" dirty="0">
                <a:ea typeface="ＭＳ Ｐゴシック" panose="020B0600070205080204" pitchFamily="34" charset="-128"/>
              </a:rPr>
              <a:t>Study of the human as a perceiving “machine” led to the conclusion that the brain was center of thought and perception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Early anatomists tried dissection to determine (1) structure, then (2) function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Modern efforts much more effective !</a:t>
            </a:r>
          </a:p>
        </p:txBody>
      </p:sp>
      <p:pic>
        <p:nvPicPr>
          <p:cNvPr id="19461" name="Picture 4" descr="A top-down view of a human brain, bisected down the midline, is presented against a black background. The upper portion of the image shows the two hemispheres of the brain separated, revealing the longitudinal fissure. The surface of the brain exhibits the characteristic gyri (folds) and sulci (grooves), with a network of dark blood vessels visible within the grooves. The brain tissue itself has a brownish-tan color with some moist, glistening areas. Below this, the complete, undivided brain is shown from a similar top-down perspective, also displaying the intricate pattern of folds and grooves. The contrast between the textured, organic surface of the brain and the stark black background emphasizes the anatomical details. The context indicates this image is related to &quot;Brain as Center of Perception&quot; from a PSYCH 4041 / 6014 course on January 24, 2021, suggesting the image serves as a visual aid for understanding brain anatomy in the context of sensory processing and cognitive function.">
            <a:extLst>
              <a:ext uri="{FF2B5EF4-FFF2-40B4-BE49-F238E27FC236}">
                <a16:creationId xmlns:a16="http://schemas.microsoft.com/office/drawing/2014/main" id="{8363DA79-3720-1F41-8661-DA78AEDDA2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742950"/>
            <a:ext cx="2396067" cy="3620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Date Placeholder 3">
            <a:extLst>
              <a:ext uri="{FF2B5EF4-FFF2-40B4-BE49-F238E27FC236}">
                <a16:creationId xmlns:a16="http://schemas.microsoft.com/office/drawing/2014/main" id="{D497DFB1-0648-0F41-85C5-7831C637BCB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5F0751-AA33-8041-A0B1-3573A6CC8921}"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1506" name="Footer Placeholder 4">
            <a:extLst>
              <a:ext uri="{FF2B5EF4-FFF2-40B4-BE49-F238E27FC236}">
                <a16:creationId xmlns:a16="http://schemas.microsoft.com/office/drawing/2014/main" id="{464259C6-498D-BE49-A278-D6ED930258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21507" name="Rectangle 2">
            <a:extLst>
              <a:ext uri="{FF2B5EF4-FFF2-40B4-BE49-F238E27FC236}">
                <a16:creationId xmlns:a16="http://schemas.microsoft.com/office/drawing/2014/main" id="{4A649948-3311-754F-BAFA-B2BA18EFBB85}"/>
              </a:ext>
            </a:extLst>
          </p:cNvPr>
          <p:cNvSpPr>
            <a:spLocks noGrp="1" noChangeArrowheads="1"/>
          </p:cNvSpPr>
          <p:nvPr>
            <p:ph type="title"/>
          </p:nvPr>
        </p:nvSpPr>
        <p:spPr/>
        <p:txBody>
          <a:bodyPr/>
          <a:lstStyle/>
          <a:p>
            <a:r>
              <a:rPr lang="en-US" altLang="en-US">
                <a:ea typeface="ＭＳ Ｐゴシック" panose="020B0600070205080204" pitchFamily="34" charset="-128"/>
              </a:rPr>
              <a:t>Made Up of Neurons…</a:t>
            </a:r>
          </a:p>
        </p:txBody>
      </p:sp>
      <p:sp>
        <p:nvSpPr>
          <p:cNvPr id="21508" name="Rectangle 3">
            <a:extLst>
              <a:ext uri="{FF2B5EF4-FFF2-40B4-BE49-F238E27FC236}">
                <a16:creationId xmlns:a16="http://schemas.microsoft.com/office/drawing/2014/main" id="{0FA59155-5373-5A40-A771-48C3313E5410}"/>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200" dirty="0">
                <a:ea typeface="ＭＳ Ｐゴシック" panose="020B0600070205080204" pitchFamily="34" charset="-128"/>
              </a:rPr>
              <a:t>The Neuron Doctrine</a:t>
            </a:r>
          </a:p>
          <a:p>
            <a:pPr lvl="1">
              <a:lnSpc>
                <a:spcPct val="90000"/>
              </a:lnSpc>
            </a:pPr>
            <a:r>
              <a:rPr lang="en-US" altLang="en-US" sz="2200" dirty="0">
                <a:ea typeface="ＭＳ Ｐゴシック" panose="020B0600070205080204" pitchFamily="34" charset="-128"/>
              </a:rPr>
              <a:t>Neurons &amp; their synapses are the fundamental entities in brain functions, including the mind and consciousness</a:t>
            </a:r>
          </a:p>
          <a:p>
            <a:pPr lvl="1">
              <a:lnSpc>
                <a:spcPct val="90000"/>
              </a:lnSpc>
            </a:pPr>
            <a:r>
              <a:rPr lang="en-US" altLang="en-US" sz="2200" dirty="0">
                <a:ea typeface="ＭＳ Ｐゴシック" panose="020B0600070205080204" pitchFamily="34" charset="-128"/>
              </a:rPr>
              <a:t>All the functions of the brain must ultimately be understood in terms of neurons and their interactions</a:t>
            </a:r>
          </a:p>
          <a:p>
            <a:pPr lvl="1">
              <a:lnSpc>
                <a:spcPct val="90000"/>
              </a:lnSpc>
            </a:pPr>
            <a:r>
              <a:rPr lang="en-US" altLang="en-US" sz="2200" dirty="0">
                <a:ea typeface="ＭＳ Ｐゴシック" panose="020B0600070205080204" pitchFamily="34" charset="-128"/>
              </a:rPr>
              <a:t>Note: Neurons are electric</a:t>
            </a:r>
          </a:p>
        </p:txBody>
      </p:sp>
      <p:pic>
        <p:nvPicPr>
          <p:cNvPr id="21509" name="Picture 5" descr="This is a microscopic image of neurons. The neurons are stained dark red and stand out against a yellowish-orange background. Each neuron has a triangular or pyramidal-shaped cell body from which numerous thin, branching dendrites extend. These dendrites intertwine, creating a dense network. The image's title, &quot;Made Up of Neurons,&quot; and the course number &quot;PSYCH 4041 / 6014&quot; suggest this is likely a histological slide used in a psychology or neuroscience class, illustrating the fundamental cellular structures of the brain.">
            <a:extLst>
              <a:ext uri="{FF2B5EF4-FFF2-40B4-BE49-F238E27FC236}">
                <a16:creationId xmlns:a16="http://schemas.microsoft.com/office/drawing/2014/main" id="{6B7C7D7C-FCFE-814F-A42C-1E0793795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4391" y="819150"/>
            <a:ext cx="2132409"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7DEA07D7-B863-D74C-853E-B17B753A0463}"/>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 Brain Structure</a:t>
            </a:r>
          </a:p>
        </p:txBody>
      </p:sp>
      <p:sp>
        <p:nvSpPr>
          <p:cNvPr id="23554" name="Rectangle 3">
            <a:extLst>
              <a:ext uri="{FF2B5EF4-FFF2-40B4-BE49-F238E27FC236}">
                <a16:creationId xmlns:a16="http://schemas.microsoft.com/office/drawing/2014/main" id="{D8C615DF-A988-584B-959D-8AA00A71291F}"/>
              </a:ext>
            </a:extLst>
          </p:cNvPr>
          <p:cNvSpPr>
            <a:spLocks noGrp="1" noChangeArrowheads="1"/>
          </p:cNvSpPr>
          <p:nvPr>
            <p:ph type="body" idx="1"/>
          </p:nvPr>
        </p:nvSpPr>
        <p:spPr>
          <a:xfrm>
            <a:off x="838200" y="857250"/>
            <a:ext cx="6648450" cy="365760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brain has modular organization</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sensory modalities have primary receiving areas</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Audition - temporal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Tactile senses - parietal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Vision - occipital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Etc.</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Frontal lobe coordinates information received from two or more senses</a:t>
            </a:r>
          </a:p>
        </p:txBody>
      </p:sp>
      <p:sp>
        <p:nvSpPr>
          <p:cNvPr id="23555" name="Date Placeholder 1">
            <a:extLst>
              <a:ext uri="{FF2B5EF4-FFF2-40B4-BE49-F238E27FC236}">
                <a16:creationId xmlns:a16="http://schemas.microsoft.com/office/drawing/2014/main" id="{2F967521-A193-1843-B9FF-883539FCD86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1DA6B711-F320-CA47-8965-BE2A034C453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3556" name="Footer Placeholder 2">
            <a:extLst>
              <a:ext uri="{FF2B5EF4-FFF2-40B4-BE49-F238E27FC236}">
                <a16:creationId xmlns:a16="http://schemas.microsoft.com/office/drawing/2014/main" id="{DA381CA7-7BFC-F844-8009-72C9FF712F0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7FD46BCF-354D-C84D-9640-D842959E13C7}"/>
              </a:ext>
            </a:extLst>
          </p:cNvPr>
          <p:cNvSpPr>
            <a:spLocks noGrp="1" noChangeArrowheads="1"/>
          </p:cNvSpPr>
          <p:nvPr>
            <p:ph type="body" idx="1"/>
          </p:nvPr>
        </p:nvSpPr>
        <p:spPr>
          <a:xfrm>
            <a:off x="2019300" y="3943350"/>
            <a:ext cx="6057900" cy="1028700"/>
          </a:xfrm>
          <a:solidFill>
            <a:schemeClr val="bg1"/>
          </a:solidFill>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2.3 The human brain, showing the locations of the primary receiving areas for the senses in the temporal, occipital, and parietal lobes, and the frontal lobe, which is involved with integrating sensory functions.</a:t>
            </a:r>
          </a:p>
        </p:txBody>
      </p:sp>
      <p:pic>
        <p:nvPicPr>
          <p:cNvPr id="25602" name="Picture 4" descr="The diagram is a lateral view of the human brain, illustrating its major lobes and their primary sensory functions. The cerebrum, with its characteristic folded surface, is the dominant feature, colored in a reddish-brown hue. Labels point to four distinct lobes: the **Frontal lobe** is located at the front of the brain. The **Parietal lobe (skin senses)** is situated behind the frontal lobe, towards the top. The **Temporal lobe (hearing)** is positioned below the parietal lobe, towards the side. Finally, the **Occipital lobe (vision)** is located at the back of the brain. The cerebellum, a smaller, more densely packed structure, is visible at the base of the brain, below the occipital lobe, and is colored in gray and yellow. The diagram effectively highlights the anatomical divisions of the brain and associates specific sensory processing areas with each lobe, as indicated by the parenthetical descriptions.">
            <a:extLst>
              <a:ext uri="{FF2B5EF4-FFF2-40B4-BE49-F238E27FC236}">
                <a16:creationId xmlns:a16="http://schemas.microsoft.com/office/drawing/2014/main" id="{84859B0F-B8DC-1F44-A0AB-0A0877E8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04807"/>
            <a:ext cx="6477000" cy="4448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Date Placeholder 1">
            <a:extLst>
              <a:ext uri="{FF2B5EF4-FFF2-40B4-BE49-F238E27FC236}">
                <a16:creationId xmlns:a16="http://schemas.microsoft.com/office/drawing/2014/main" id="{7BEF6A66-4D97-474A-8328-B4B3B64BFBE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9A86305-13EB-E149-8B7F-A8AC79AE81A2}"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268F3162-86D0-9E4B-A4A1-EDE1465DF482}"/>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7650" name="Rectangle 3">
            <a:extLst>
              <a:ext uri="{FF2B5EF4-FFF2-40B4-BE49-F238E27FC236}">
                <a16:creationId xmlns:a16="http://schemas.microsoft.com/office/drawing/2014/main" id="{E04CE557-18BC-2B4E-97EC-E93FCA4EB628}"/>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100" dirty="0">
                <a:latin typeface="Arial" panose="020B0604020202020204" pitchFamily="34" charset="0"/>
                <a:ea typeface="ＭＳ Ｐゴシック" panose="020B0600070205080204" pitchFamily="34" charset="-128"/>
              </a:rPr>
              <a:t>Receptors - specialized neurons that respond to specific kinds of energy</a:t>
            </a:r>
            <a:endParaRPr lang="en-US" altLang="en-US" dirty="0">
              <a:latin typeface="Arial" panose="020B0604020202020204" pitchFamily="34" charset="0"/>
              <a:ea typeface="ＭＳ Ｐゴシック" panose="020B0600070205080204" pitchFamily="34" charset="-128"/>
            </a:endParaRPr>
          </a:p>
        </p:txBody>
      </p:sp>
      <p:pic>
        <p:nvPicPr>
          <p:cNvPr id="27651" name="Picture 4" descr="The diagram, titled &quot;Neurons: Transduction &amp; Transmission,&quot; illustrates five types of sensory receptors, each represented by a distinct illustration labeled (a) Vision, (b) Hearing, (c) Touch, (d) Smell, and (e) Taste. Each illustration shows a specialized neuron designed to detect a specific type of energy.&#10;&#10;Illustration (a) depicts a rod cell, elongated and with stacked discs at its apical end, characteristic of photoreceptors in the eye, and labeled &quot;Vision.&quot; An asterisk is placed near the stacked discs.&#10;&#10;Illustration (b) shows a hair cell, featuring a cuticular plate with stereocilia at the top, surrounded by supporting cells and a nerve fiber, labeled &quot;Hearing.&quot; An asterisk is positioned on top of the stereocilia.&#10;&#10;Illustration (c) presents a cross-section of a Pacinian corpuscle, a complex receptor with concentric layers of connective tissue surrounding a nerve ending, labeled &quot;Touch.&quot; An asterisk is located on the outer layer of the corpuscle.&#10;&#10;Illustration (d) displays olfactory receptor neurons embedded in an epithelium. Two neurons are shown: one red and one green, with nuclei and dendritic cilia extending to the surface, labeled &quot;Smell.&quot; Asters are placed near the ciliated dendrites of both neurons.&#10;&#10;Illustration (e) illustrates a taste receptor cell, which is flask-shaped with a nucleus and microvilli at its apical end, and a nerve fiber extending from its base, labeled &quot;Taste.&quot; An asterisk is situated at the apical end of the taste receptor cell. The overall presentation uses a light blue background, with each receptor type clearly demarcated and labeled.">
            <a:extLst>
              <a:ext uri="{FF2B5EF4-FFF2-40B4-BE49-F238E27FC236}">
                <a16:creationId xmlns:a16="http://schemas.microsoft.com/office/drawing/2014/main" id="{EDC8230E-1E0A-5844-B2FC-597149D20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785" y="1581150"/>
            <a:ext cx="8327615" cy="2947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Date Placeholder 1">
            <a:extLst>
              <a:ext uri="{FF2B5EF4-FFF2-40B4-BE49-F238E27FC236}">
                <a16:creationId xmlns:a16="http://schemas.microsoft.com/office/drawing/2014/main" id="{416B7D9C-3591-114C-835B-7A772AB9DF1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373439-8050-094F-AA91-928198248D7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7653" name="Footer Placeholder 2">
            <a:extLst>
              <a:ext uri="{FF2B5EF4-FFF2-40B4-BE49-F238E27FC236}">
                <a16:creationId xmlns:a16="http://schemas.microsoft.com/office/drawing/2014/main" id="{5853A928-1411-5447-A2C9-A417A56972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3E241A2D-2707-D549-8D5F-DBB2AAD12487}"/>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9698" name="Rectangle 3">
            <a:extLst>
              <a:ext uri="{FF2B5EF4-FFF2-40B4-BE49-F238E27FC236}">
                <a16:creationId xmlns:a16="http://schemas.microsoft.com/office/drawing/2014/main" id="{FFFB08A7-53EC-254D-AC7E-F67645324D6B}"/>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Key components of neurons: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Cell body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Dendrites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Axon or nerve fiber</a:t>
            </a:r>
          </a:p>
        </p:txBody>
      </p:sp>
      <p:pic>
        <p:nvPicPr>
          <p:cNvPr id="29699" name="Picture 4" descr="The diagram depicts a neuron and its function in transducing and transmitting signals. On the left, a spherical structure labeled &quot;Touch receptor&quot; is shown. A red arrow indicates a &quot;Stimulus from environment&quot; impinging on this receptor, which then generates an &quot;Electrical signal&quot; transmitted along a &quot;Nerve fiber.&quot; This nerve fiber connects to the dendrites of a neuron. The neuron itself has a prominent &quot;Cell body&quot; containing a nucleus, and numerous branching &quot;Dendrites&quot; extending from it. A long projection, the &quot;Axon or nerve fiber,&quot; extends from the cell body. The diagram illustrates the transmission of the electrical signal from the nerve fiber to the dendrites, and then along the axon. A point of connection between the axon and another structure (implied to be another neuron or effector) is labeled &quot;Synapse.&quot; The overall image visually represents the flow of neural information, from sensory input to the generation and transmission of an electrical signal within a neuron.">
            <a:extLst>
              <a:ext uri="{FF2B5EF4-FFF2-40B4-BE49-F238E27FC236}">
                <a16:creationId xmlns:a16="http://schemas.microsoft.com/office/drawing/2014/main" id="{69ACFB55-B8E3-314B-B581-5E5B86F79B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395495"/>
            <a:ext cx="8067897" cy="2081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Rectangle 2">
            <a:extLst>
              <a:ext uri="{FF2B5EF4-FFF2-40B4-BE49-F238E27FC236}">
                <a16:creationId xmlns:a16="http://schemas.microsoft.com/office/drawing/2014/main" id="{94A4D5F1-EEFA-7F42-973D-7198A94416D0}"/>
              </a:ext>
            </a:extLst>
          </p:cNvPr>
          <p:cNvSpPr txBox="1">
            <a:spLocks noChangeArrowheads="1"/>
          </p:cNvSpPr>
          <p:nvPr/>
        </p:nvSpPr>
        <p:spPr bwMode="auto">
          <a:xfrm>
            <a:off x="2247900" y="4476750"/>
            <a:ext cx="6057900" cy="471488"/>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2.4 The neuron on the right consists of a cell body, dendrites, and an axon, or nerve fiber.  The neuron on the left that receives stimuli from the environment has a receptor in place of the cell body.</a:t>
            </a:r>
          </a:p>
        </p:txBody>
      </p:sp>
      <p:sp>
        <p:nvSpPr>
          <p:cNvPr id="29701" name="Date Placeholder 1">
            <a:extLst>
              <a:ext uri="{FF2B5EF4-FFF2-40B4-BE49-F238E27FC236}">
                <a16:creationId xmlns:a16="http://schemas.microsoft.com/office/drawing/2014/main" id="{0FB608D1-8E1B-E149-906C-1951EDFEB1E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63C21AA-C9E3-5D42-B571-1B128C2FCBB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242D317F-DF76-8043-AD69-87BC5CB5EA6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Signals</a:t>
            </a:r>
          </a:p>
        </p:txBody>
      </p:sp>
      <p:sp>
        <p:nvSpPr>
          <p:cNvPr id="31746" name="Rectangle 3">
            <a:extLst>
              <a:ext uri="{FF2B5EF4-FFF2-40B4-BE49-F238E27FC236}">
                <a16:creationId xmlns:a16="http://schemas.microsoft.com/office/drawing/2014/main" id="{5A1FAB20-FBA6-9842-ADB3-431636B93808}"/>
              </a:ext>
            </a:extLst>
          </p:cNvPr>
          <p:cNvSpPr>
            <a:spLocks noGrp="1" noChangeArrowheads="1"/>
          </p:cNvSpPr>
          <p:nvPr>
            <p:ph type="body" idx="1"/>
          </p:nvPr>
        </p:nvSpPr>
        <p:spPr>
          <a:xfrm>
            <a:off x="866775" y="792956"/>
            <a:ext cx="45148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Electrical signals or action potentials</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 occur when: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permeability of the membrane changes</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Na+ flows into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positive </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 flows out of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negative</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This process travels down the axon in a propagated response</a:t>
            </a:r>
          </a:p>
          <a:p>
            <a:pPr lvl="1">
              <a:lnSpc>
                <a:spcPct val="90000"/>
              </a:lnSpc>
              <a:spcBef>
                <a:spcPct val="30000"/>
              </a:spcBef>
            </a:pPr>
            <a:endParaRPr lang="en-US" altLang="en-US" sz="2000" dirty="0">
              <a:latin typeface="Tahoma" panose="020B0604030504040204" pitchFamily="34" charset="0"/>
              <a:ea typeface="Tahoma" panose="020B0604030504040204" pitchFamily="34" charset="0"/>
              <a:cs typeface="Tahoma" panose="020B0604030504040204" pitchFamily="34" charset="0"/>
            </a:endParaRPr>
          </a:p>
        </p:txBody>
      </p:sp>
      <p:pic>
        <p:nvPicPr>
          <p:cNvPr id="31747" name="Picture 4" descr="1. **Main trend:** The graphs show a transient, rapid increase in the electrical charge inside a nerve fiber, followed by a return to the resting charge. This represents the passage of an electrical signal, or action potential, along the fiber.&#10;&#10;2. **Axes:**&#10;    * The horizontal axis of all graphs represents **Time**.&#10;    * The vertical axis of all graphs represents the **Charge inside the fiber relative to the outside**, measured in millivolts (mV).&#10;&#10;3. **CRITICAL:** The diagrams illustrate the generation and propagation of a nerve impulse along a nerve fiber. The graphs on the right depict the corresponding changes in the electrical potential difference across the nerve fiber membrane over time as this impulse passes by a recording electrode. Initially, the fiber is at its resting potential (around -70 mV). When stimulated, there is a rapid influx of positive ions, causing the inside of the membrane to become positive (depolarization, reaching up to +40 mV). This is followed by an efflux of positive ions, which repolarizes the membrane, making the inside negative again, and then restores the resting potential. The colored regions in the diagrams represent the wave of depolarization (red) and repolarization moving along the axon.">
            <a:extLst>
              <a:ext uri="{FF2B5EF4-FFF2-40B4-BE49-F238E27FC236}">
                <a16:creationId xmlns:a16="http://schemas.microsoft.com/office/drawing/2014/main" id="{2B2EA2DA-F5F3-D241-8C7D-A0EA4FF03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166" y="800100"/>
            <a:ext cx="3170634" cy="3500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Date Placeholder 1">
            <a:extLst>
              <a:ext uri="{FF2B5EF4-FFF2-40B4-BE49-F238E27FC236}">
                <a16:creationId xmlns:a16="http://schemas.microsoft.com/office/drawing/2014/main" id="{6CC403BE-2CF1-634E-99A5-930E7B60E07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56E3F5E-46BE-0C4A-9B48-7A0757E0168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1749" name="Footer Placeholder 2">
            <a:extLst>
              <a:ext uri="{FF2B5EF4-FFF2-40B4-BE49-F238E27FC236}">
                <a16:creationId xmlns:a16="http://schemas.microsoft.com/office/drawing/2014/main" id="{E7BD3A59-C96D-0342-8BA4-E2CFE59413E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0D084AA8-0E46-0B41-BA15-3867FDBF54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Properties of Action Potentials</a:t>
            </a:r>
          </a:p>
        </p:txBody>
      </p:sp>
      <p:sp>
        <p:nvSpPr>
          <p:cNvPr id="33794" name="Rectangle 3">
            <a:extLst>
              <a:ext uri="{FF2B5EF4-FFF2-40B4-BE49-F238E27FC236}">
                <a16:creationId xmlns:a16="http://schemas.microsoft.com/office/drawing/2014/main" id="{D26D8A89-1DF6-6641-BB7E-B3F5CF742404}"/>
              </a:ext>
            </a:extLst>
          </p:cNvPr>
          <p:cNvSpPr>
            <a:spLocks noGrp="1" noChangeArrowheads="1"/>
          </p:cNvSpPr>
          <p:nvPr>
            <p:ph type="body" idx="1"/>
          </p:nvPr>
        </p:nvSpPr>
        <p:spPr>
          <a:xfrm>
            <a:off x="838200" y="800100"/>
            <a:ext cx="716280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Action potentials: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propagated response.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remain the same size regardless of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 in </a:t>
            </a:r>
            <a:r>
              <a:rPr lang="en-US" altLang="en-US" sz="2000" b="1" dirty="0">
                <a:latin typeface="Tahoma" panose="020B0604030504040204" pitchFamily="34" charset="0"/>
                <a:ea typeface="Tahoma" panose="020B0604030504040204" pitchFamily="34" charset="0"/>
                <a:cs typeface="Tahoma" panose="020B0604030504040204" pitchFamily="34" charset="0"/>
              </a:rPr>
              <a:t>rate </a:t>
            </a:r>
            <a:r>
              <a:rPr lang="en-US" altLang="en-US" sz="2000" dirty="0">
                <a:latin typeface="Tahoma" panose="020B0604030504040204" pitchFamily="34" charset="0"/>
                <a:ea typeface="Tahoma" panose="020B0604030504040204" pitchFamily="34" charset="0"/>
                <a:cs typeface="Tahoma" panose="020B0604030504040204" pitchFamily="34" charset="0"/>
              </a:rPr>
              <a:t>to increase in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have a refractory period of 1 </a:t>
            </a:r>
            <a:r>
              <a:rPr lang="en-US" altLang="en-US" sz="2000" dirty="0" err="1">
                <a:latin typeface="Tahoma" panose="020B0604030504040204" pitchFamily="34" charset="0"/>
                <a:ea typeface="Tahoma" panose="020B0604030504040204" pitchFamily="34" charset="0"/>
                <a:cs typeface="Tahoma" panose="020B0604030504040204" pitchFamily="34" charset="0"/>
              </a:rPr>
              <a:t>ms</a:t>
            </a:r>
            <a:r>
              <a:rPr lang="en-US" altLang="en-US" sz="2000" dirty="0">
                <a:latin typeface="Tahoma" panose="020B0604030504040204" pitchFamily="34" charset="0"/>
                <a:ea typeface="Tahoma" panose="020B0604030504040204" pitchFamily="34" charset="0"/>
                <a:cs typeface="Tahoma" panose="020B0604030504040204" pitchFamily="34" charset="0"/>
              </a:rPr>
              <a:t> - </a:t>
            </a:r>
            <a:r>
              <a:rPr lang="en-US" altLang="en-US" sz="2000" b="1" dirty="0">
                <a:latin typeface="Tahoma" panose="020B0604030504040204" pitchFamily="34" charset="0"/>
                <a:ea typeface="Tahoma" panose="020B0604030504040204" pitchFamily="34" charset="0"/>
                <a:cs typeface="Tahoma" panose="020B0604030504040204" pitchFamily="34" charset="0"/>
              </a:rPr>
              <a:t>upper firing rate </a:t>
            </a:r>
            <a:r>
              <a:rPr lang="en-US" altLang="en-US" sz="2000" dirty="0">
                <a:latin typeface="Tahoma" panose="020B0604030504040204" pitchFamily="34" charset="0"/>
                <a:ea typeface="Tahoma" panose="020B0604030504040204" pitchFamily="34" charset="0"/>
                <a:cs typeface="Tahoma" panose="020B0604030504040204" pitchFamily="34" charset="0"/>
              </a:rPr>
              <a:t>is 500 to 800 impulses per second.</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spontaneous activity that occurs without stimulation (neuronal noise).</a:t>
            </a:r>
          </a:p>
        </p:txBody>
      </p:sp>
      <p:sp>
        <p:nvSpPr>
          <p:cNvPr id="33795" name="Date Placeholder 1">
            <a:extLst>
              <a:ext uri="{FF2B5EF4-FFF2-40B4-BE49-F238E27FC236}">
                <a16:creationId xmlns:a16="http://schemas.microsoft.com/office/drawing/2014/main" id="{EE05B481-9AF4-F94C-B6FF-1FDCCFEBD9E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D9888F8-8F4A-144E-B4DC-BCCEBEB728F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3796" name="Footer Placeholder 2">
            <a:extLst>
              <a:ext uri="{FF2B5EF4-FFF2-40B4-BE49-F238E27FC236}">
                <a16:creationId xmlns:a16="http://schemas.microsoft.com/office/drawing/2014/main" id="{90590B3B-5A73-3C45-A8FF-88E166A2C45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0B5D2456-7F45-814E-BEA2-67251C9F7F88}"/>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2.10 Response of a nerve fiber to (a) soft, (b) medium, and (c) strong stimulation. Increasing the stimulus strength increases both the rate and the regularity of nerve firing in this fiber.</a:t>
            </a:r>
          </a:p>
        </p:txBody>
      </p:sp>
      <p:pic>
        <p:nvPicPr>
          <p:cNvPr id="35842" name="Picture 4" descr="1. The main trend shown is that increasing stimulus intensity leads to an increase in both the rate and regularity of nerve fiber firing.&#10;2. The horizontal axis represents time, indicated by an arrow pointing to the right and labeled &quot;Time&quot;. The vertical axis represents the response of a nerve fiber, depicted by vertical lines representing individual nerve firings or action potentials. There are three separate traces labeled (a), (b), and (c), corresponding to different stimulus intensities.&#10;3. The diagram shows three recordings of nerve fiber activity over time. Recording (a) represents the response to a soft stimulus, recording (b) to a medium stimulus, and recording (c) to a strong stimulus. Vertical lines indicate nerve firings. The period of stimulation is indicated by dashed vertical lines labeled &quot;Pressure on&quot; and &quot;Pressure off&quot;. As the stimulus intensity increases from (a) to (c), the number of vertical lines within the stimulation period increases, and they become more evenly spaced, indicating a higher and more regular firing rate.">
            <a:extLst>
              <a:ext uri="{FF2B5EF4-FFF2-40B4-BE49-F238E27FC236}">
                <a16:creationId xmlns:a16="http://schemas.microsoft.com/office/drawing/2014/main" id="{2F5D69F8-E115-DF42-8F8C-889AC5310B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742950"/>
            <a:ext cx="5257800" cy="352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Rectangle 2">
            <a:extLst>
              <a:ext uri="{FF2B5EF4-FFF2-40B4-BE49-F238E27FC236}">
                <a16:creationId xmlns:a16="http://schemas.microsoft.com/office/drawing/2014/main" id="{CDB2805F-6060-B840-BA6B-688A2A823E6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Stimulus Intensity &amp; Firing Rate</a:t>
            </a:r>
          </a:p>
        </p:txBody>
      </p:sp>
      <p:sp>
        <p:nvSpPr>
          <p:cNvPr id="35844" name="Date Placeholder 1">
            <a:extLst>
              <a:ext uri="{FF2B5EF4-FFF2-40B4-BE49-F238E27FC236}">
                <a16:creationId xmlns:a16="http://schemas.microsoft.com/office/drawing/2014/main" id="{4CA4627A-B8F5-0E4F-8B43-924A60A46B1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AC1371-0779-BB4C-A035-9E911F29B3A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5846" name="TextBox 1">
            <a:extLst>
              <a:ext uri="{FF2B5EF4-FFF2-40B4-BE49-F238E27FC236}">
                <a16:creationId xmlns:a16="http://schemas.microsoft.com/office/drawing/2014/main" id="{03E9264F-A3F5-6F47-80E2-F661537094A4}"/>
              </a:ext>
            </a:extLst>
          </p:cNvPr>
          <p:cNvSpPr txBox="1">
            <a:spLocks noChangeArrowheads="1"/>
          </p:cNvSpPr>
          <p:nvPr/>
        </p:nvSpPr>
        <p:spPr bwMode="auto">
          <a:xfrm>
            <a:off x="1314450" y="971551"/>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Soft pressure</a:t>
            </a:r>
          </a:p>
        </p:txBody>
      </p:sp>
      <p:sp>
        <p:nvSpPr>
          <p:cNvPr id="35847" name="TextBox 7">
            <a:extLst>
              <a:ext uri="{FF2B5EF4-FFF2-40B4-BE49-F238E27FC236}">
                <a16:creationId xmlns:a16="http://schemas.microsoft.com/office/drawing/2014/main" id="{050A81E7-E8C5-CC46-B259-77B662C198B9}"/>
              </a:ext>
            </a:extLst>
          </p:cNvPr>
          <p:cNvSpPr txBox="1">
            <a:spLocks noChangeArrowheads="1"/>
          </p:cNvSpPr>
          <p:nvPr/>
        </p:nvSpPr>
        <p:spPr bwMode="auto">
          <a:xfrm>
            <a:off x="1275160" y="1947863"/>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Medium pressure</a:t>
            </a:r>
          </a:p>
        </p:txBody>
      </p:sp>
      <p:sp>
        <p:nvSpPr>
          <p:cNvPr id="35848" name="TextBox 8">
            <a:extLst>
              <a:ext uri="{FF2B5EF4-FFF2-40B4-BE49-F238E27FC236}">
                <a16:creationId xmlns:a16="http://schemas.microsoft.com/office/drawing/2014/main" id="{D3CF4D5A-592D-464E-AC35-7656D17F328E}"/>
              </a:ext>
            </a:extLst>
          </p:cNvPr>
          <p:cNvSpPr txBox="1">
            <a:spLocks noChangeArrowheads="1"/>
          </p:cNvSpPr>
          <p:nvPr/>
        </p:nvSpPr>
        <p:spPr bwMode="auto">
          <a:xfrm>
            <a:off x="1328738" y="3063479"/>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Strong pressure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4" descr="The diagram illustrates synaptic transmission. Panel (a) shows a stimulus acting on a receptor, initiating a nerve impulse that travels along an axon towards a receiving neuron. Panel (b) provides a magnified view of the synapse, where the axon terminal of the sending neuron, containing synaptic vesicles filled with neurotransmitter molecules, is in close proximity to the membrane of the receiving neuron. Panel (c) is a further magnification showing neurotransmitter molecules released from the synaptic vesicle binding to specific receptor sites on the receiving neuron's membrane. The overall diagram visually depicts the process of chemical signaling between neurons.">
            <a:extLst>
              <a:ext uri="{FF2B5EF4-FFF2-40B4-BE49-F238E27FC236}">
                <a16:creationId xmlns:a16="http://schemas.microsoft.com/office/drawing/2014/main" id="{BA59CB00-07A8-A54E-81D3-225A2084D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2650" y="685800"/>
            <a:ext cx="2419350" cy="433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0" name="Rectangle 2">
            <a:extLst>
              <a:ext uri="{FF2B5EF4-FFF2-40B4-BE49-F238E27FC236}">
                <a16:creationId xmlns:a16="http://schemas.microsoft.com/office/drawing/2014/main" id="{C3D6827B-86A0-D54A-8598-57D6E402C09E}"/>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Synaptic Transmission of Impulses </a:t>
            </a:r>
          </a:p>
        </p:txBody>
      </p:sp>
      <p:sp>
        <p:nvSpPr>
          <p:cNvPr id="37891" name="Rectangle 3">
            <a:extLst>
              <a:ext uri="{FF2B5EF4-FFF2-40B4-BE49-F238E27FC236}">
                <a16:creationId xmlns:a16="http://schemas.microsoft.com/office/drawing/2014/main" id="{8DB2E0CE-6C0C-4D4C-9A99-A72D9976CA4E}"/>
              </a:ext>
            </a:extLst>
          </p:cNvPr>
          <p:cNvSpPr>
            <a:spLocks noGrp="1" noChangeArrowheads="1"/>
          </p:cNvSpPr>
          <p:nvPr>
            <p:ph type="body" idx="1"/>
          </p:nvPr>
        </p:nvSpPr>
        <p:spPr>
          <a:xfrm>
            <a:off x="838200" y="800100"/>
            <a:ext cx="493395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Neurotransmitters are: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released by the presynaptic neuron from vesicles.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received by the postsynaptic neuron on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matched like a key to a lock into specific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used as triggers for voltage change in the postsynaptic neuron. </a:t>
            </a:r>
          </a:p>
        </p:txBody>
      </p:sp>
      <p:sp>
        <p:nvSpPr>
          <p:cNvPr id="37892" name="Date Placeholder 1">
            <a:extLst>
              <a:ext uri="{FF2B5EF4-FFF2-40B4-BE49-F238E27FC236}">
                <a16:creationId xmlns:a16="http://schemas.microsoft.com/office/drawing/2014/main" id="{1A67EFEC-74DE-7943-8D65-9A3A7E7BC43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AA026FD-8174-A943-8DC8-503C1A0776A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7893" name="Footer Placeholder 2">
            <a:extLst>
              <a:ext uri="{FF2B5EF4-FFF2-40B4-BE49-F238E27FC236}">
                <a16:creationId xmlns:a16="http://schemas.microsoft.com/office/drawing/2014/main" id="{846D9E54-4F23-D64D-BC34-4290BAFE5B7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7" name="Picture 5" descr="The diagram, with the text &quot;Synaptic Transmission&quot; prominently displayed in a yellow, stylized font, visually depicts the process of synaptic transmission. The background is dark, emphasizing the central elements. In the foreground, bulbous, fleshy-toned structures, likely representing synaptic terminals, are interconnected and curved. A purple, textured surface appears beneath these structures. To the right, a stylized neuron is shown with a glowing orange cell body and a branching dendrite-like structure extending upwards. A thin, glowing line descends from the cell body, connecting to the synaptic terminals, visually representing the transmission of a signal across the synapse. The overall aesthetic is somewhat abstract and digitally rendered, suggesting an illustrative representation of a biological process.">
            <a:extLst>
              <a:ext uri="{FF2B5EF4-FFF2-40B4-BE49-F238E27FC236}">
                <a16:creationId xmlns:a16="http://schemas.microsoft.com/office/drawing/2014/main" id="{1DE6042D-1442-B946-9E36-76566AB57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0838" y="1323975"/>
            <a:ext cx="3362325" cy="249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8" name="Rectangle 2">
            <a:extLst>
              <a:ext uri="{FF2B5EF4-FFF2-40B4-BE49-F238E27FC236}">
                <a16:creationId xmlns:a16="http://schemas.microsoft.com/office/drawing/2014/main" id="{243AF993-D135-BF4A-A470-8F98CC1B5A78}"/>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Video: Synaptic Transmission</a:t>
            </a:r>
          </a:p>
        </p:txBody>
      </p:sp>
      <p:sp>
        <p:nvSpPr>
          <p:cNvPr id="39939" name="Date Placeholder 1">
            <a:extLst>
              <a:ext uri="{FF2B5EF4-FFF2-40B4-BE49-F238E27FC236}">
                <a16:creationId xmlns:a16="http://schemas.microsoft.com/office/drawing/2014/main" id="{0E06D05A-9384-A44A-820F-185B0499EAC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276D481-585E-C044-BF9C-683D2527731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9940" name="Footer Placeholder 2">
            <a:extLst>
              <a:ext uri="{FF2B5EF4-FFF2-40B4-BE49-F238E27FC236}">
                <a16:creationId xmlns:a16="http://schemas.microsoft.com/office/drawing/2014/main" id="{21B925D6-0888-864C-BF30-D9A58E43C6F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B541A588-BDDC-8D40-AC6C-42FBB1101FE8}"/>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Types of Neurotransmitters</a:t>
            </a:r>
          </a:p>
        </p:txBody>
      </p:sp>
      <p:sp>
        <p:nvSpPr>
          <p:cNvPr id="41986" name="Rectangle 3">
            <a:extLst>
              <a:ext uri="{FF2B5EF4-FFF2-40B4-BE49-F238E27FC236}">
                <a16:creationId xmlns:a16="http://schemas.microsoft.com/office/drawing/2014/main" id="{A38AEB4D-F70C-1943-B6C1-490BB67F288E}"/>
              </a:ext>
            </a:extLst>
          </p:cNvPr>
          <p:cNvSpPr>
            <a:spLocks noGrp="1" noChangeArrowheads="1"/>
          </p:cNvSpPr>
          <p:nvPr>
            <p:ph type="body" idx="1"/>
          </p:nvPr>
        </p:nvSpPr>
        <p:spPr>
          <a:xfrm>
            <a:off x="838200" y="800100"/>
            <a:ext cx="44767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Excitatory transmitters - cause depolarization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positive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Increases the likelihood of an action potential</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Inhibitory transmitters - cause hyperpolarization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negative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Decreases the likelihood of an action potential</a:t>
            </a:r>
          </a:p>
        </p:txBody>
      </p:sp>
      <p:pic>
        <p:nvPicPr>
          <p:cNvPr id="41988" name="Picture 4" descr="1. The main trends show how charge inside a nerve fiber changes in response to excitatory and inhibitory neurotransmitters, and how these changes relate to the threshold for triggering an action potential.&#10;2. The vertical axis represents the charge inside the fiber, measured in arbitrary units (with -70 representing a resting potential and 0 representing a fully positive charge). The horizontal axis represents time, with the graphs illustrating changes in charge over a period. A dashed line indicates the level of depolarization needed to trigger an action potential.&#10;3. In the top graph, labeled &quot;Depolarization (Excitatory),&quot; the charge inside the fiber initially increases from a resting potential towards a more positive value, exceeding the resting potential but not necessarily reaching the action potential threshold. This represents the effect of an excitatory neurotransmitter.&#10;In the bottom graph, labeled &quot;Hyperpolarization (Inhibitory),&quot; the charge inside the fiber initially decreases from a resting potential towards a more negative value, dipping below the resting potential. This represents the effect of an inhibitory neurotransmitter.">
            <a:extLst>
              <a:ext uri="{FF2B5EF4-FFF2-40B4-BE49-F238E27FC236}">
                <a16:creationId xmlns:a16="http://schemas.microsoft.com/office/drawing/2014/main" id="{2A4870DD-9E4C-2949-B837-14A1B98BA0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2087" y="742950"/>
            <a:ext cx="2968886"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Date Placeholder 1">
            <a:extLst>
              <a:ext uri="{FF2B5EF4-FFF2-40B4-BE49-F238E27FC236}">
                <a16:creationId xmlns:a16="http://schemas.microsoft.com/office/drawing/2014/main" id="{A9CC91C4-FFD9-C94D-972B-9F653DE2C69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88661226-C6A5-3C48-B740-EDFE3FC5402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1990" name="Footer Placeholder 2">
            <a:extLst>
              <a:ext uri="{FF2B5EF4-FFF2-40B4-BE49-F238E27FC236}">
                <a16:creationId xmlns:a16="http://schemas.microsoft.com/office/drawing/2014/main" id="{8A7C94E4-4EFF-1B42-9929-3CC056F01CB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1987" name="Rectangle 2">
            <a:extLst>
              <a:ext uri="{FF2B5EF4-FFF2-40B4-BE49-F238E27FC236}">
                <a16:creationId xmlns:a16="http://schemas.microsoft.com/office/drawing/2014/main" id="{98AE3C26-6566-7442-8CE7-1478B61147AF}"/>
              </a:ext>
            </a:extLst>
          </p:cNvPr>
          <p:cNvSpPr txBox="1">
            <a:spLocks noChangeArrowheads="1"/>
          </p:cNvSpPr>
          <p:nvPr/>
        </p:nvSpPr>
        <p:spPr bwMode="auto">
          <a:xfrm>
            <a:off x="3086100" y="455295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2.12 (a) Excitatory transmitters cause depolarization, an increased positive charge inside the neuron. (b) Inhibitory transmitters cause </a:t>
            </a:r>
            <a:r>
              <a:rPr lang="en-US" altLang="en-US" sz="975" dirty="0" err="1">
                <a:latin typeface="Arial" panose="020B0604020202020204" pitchFamily="34" charset="0"/>
              </a:rPr>
              <a:t>hyperpolization</a:t>
            </a:r>
            <a:r>
              <a:rPr lang="en-US" altLang="en-US" sz="975" dirty="0">
                <a:latin typeface="Arial" panose="020B0604020202020204" pitchFamily="34" charset="0"/>
              </a:rPr>
              <a:t>, an increased negative charge inside the axon. The charge inside the axon must reach the dashed line to trigger an action potential.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459BB17C-9678-4D44-87CF-CA7550244BF5}"/>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Neural Circuits</a:t>
            </a:r>
          </a:p>
        </p:txBody>
      </p:sp>
      <p:sp>
        <p:nvSpPr>
          <p:cNvPr id="44034" name="Rectangle 3">
            <a:extLst>
              <a:ext uri="{FF2B5EF4-FFF2-40B4-BE49-F238E27FC236}">
                <a16:creationId xmlns:a16="http://schemas.microsoft.com/office/drawing/2014/main" id="{B13179A6-3E42-6048-BA00-22A9D9723CDC}"/>
              </a:ext>
            </a:extLst>
          </p:cNvPr>
          <p:cNvSpPr>
            <a:spLocks noGrp="1" noChangeArrowheads="1"/>
          </p:cNvSpPr>
          <p:nvPr>
            <p:ph type="body" idx="1"/>
          </p:nvPr>
        </p:nvSpPr>
        <p:spPr>
          <a:xfrm>
            <a:off x="838200" y="742950"/>
            <a:ext cx="7543800" cy="33147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Groups of neurons connected by excitatory and inhibitory synapses</a:t>
            </a:r>
          </a:p>
          <a:p>
            <a:r>
              <a:rPr lang="en-US" altLang="en-US" sz="2200" dirty="0">
                <a:latin typeface="Tahoma" panose="020B0604030504040204" pitchFamily="34" charset="0"/>
                <a:ea typeface="Tahoma" panose="020B0604030504040204" pitchFamily="34" charset="0"/>
                <a:cs typeface="Tahoma" panose="020B0604030504040204" pitchFamily="34" charset="0"/>
              </a:rPr>
              <a:t>A simple circuit has no convergence and only excitatory inputs.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 into each receptor has no effect on the output of neighboring circuits.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Each circuit can only indicate single spot of stimulation. </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4035" name="Date Placeholder 1">
            <a:extLst>
              <a:ext uri="{FF2B5EF4-FFF2-40B4-BE49-F238E27FC236}">
                <a16:creationId xmlns:a16="http://schemas.microsoft.com/office/drawing/2014/main" id="{EC46ED55-ADE4-E445-B9D9-67CB104E62D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D8623FCF-D56F-F940-94FE-25FED5B8C84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4036" name="Footer Placeholder 2">
            <a:extLst>
              <a:ext uri="{FF2B5EF4-FFF2-40B4-BE49-F238E27FC236}">
                <a16:creationId xmlns:a16="http://schemas.microsoft.com/office/drawing/2014/main" id="{B1A50123-1258-FB45-BA11-529557439C6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4" descr="The main trend shown in the graph is that the firing rate of neuron &quot;B&quot; remains constant regardless of which receptors are stimulated. The y-axis represents the firing rate of neuron &quot;B,&quot; and the x-axis represents the combination of receptors stimulated.">
            <a:extLst>
              <a:ext uri="{FF2B5EF4-FFF2-40B4-BE49-F238E27FC236}">
                <a16:creationId xmlns:a16="http://schemas.microsoft.com/office/drawing/2014/main" id="{C70ED361-EFB2-2F41-9530-9E97A0EBCC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27498"/>
            <a:ext cx="6724650" cy="3288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Rectangle 2">
            <a:extLst>
              <a:ext uri="{FF2B5EF4-FFF2-40B4-BE49-F238E27FC236}">
                <a16:creationId xmlns:a16="http://schemas.microsoft.com/office/drawing/2014/main" id="{287FE222-E070-EC4B-8845-46E14C8282B7}"/>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Simple Circuit</a:t>
            </a:r>
          </a:p>
        </p:txBody>
      </p:sp>
      <p:sp>
        <p:nvSpPr>
          <p:cNvPr id="46084" name="Date Placeholder 1">
            <a:extLst>
              <a:ext uri="{FF2B5EF4-FFF2-40B4-BE49-F238E27FC236}">
                <a16:creationId xmlns:a16="http://schemas.microsoft.com/office/drawing/2014/main" id="{7ECAD3A6-2397-B342-9809-8AFFDDF27B0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4DF197-13D8-814D-B686-7C57BD2C838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6085" name="Footer Placeholder 2">
            <a:extLst>
              <a:ext uri="{FF2B5EF4-FFF2-40B4-BE49-F238E27FC236}">
                <a16:creationId xmlns:a16="http://schemas.microsoft.com/office/drawing/2014/main" id="{6480D1FE-63CC-144E-A32C-3E997D24B1C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6081" name="Rectangle 2">
            <a:extLst>
              <a:ext uri="{FF2B5EF4-FFF2-40B4-BE49-F238E27FC236}">
                <a16:creationId xmlns:a16="http://schemas.microsoft.com/office/drawing/2014/main" id="{1937F5B3-15AF-F14A-9C16-E91A37DA7548}"/>
              </a:ext>
            </a:extLst>
          </p:cNvPr>
          <p:cNvSpPr>
            <a:spLocks noGrp="1" noChangeArrowheads="1"/>
          </p:cNvSpPr>
          <p:nvPr>
            <p:ph type="body" idx="1"/>
          </p:nvPr>
        </p:nvSpPr>
        <p:spPr>
          <a:xfrm>
            <a:off x="1752600" y="3929659"/>
            <a:ext cx="6057900" cy="1028700"/>
          </a:xfrm>
          <a:solidFill>
            <a:schemeClr val="bg1"/>
          </a:solidFill>
        </p:spPr>
        <p:txBody>
          <a:bodyPr anchor="b"/>
          <a:lstStyle/>
          <a:p>
            <a:pPr marL="0" indent="0">
              <a:lnSpc>
                <a:spcPct val="80000"/>
              </a:lnSpc>
              <a:buNone/>
            </a:pPr>
            <a:r>
              <a:rPr lang="en-US" altLang="en-US" sz="1100" dirty="0">
                <a:latin typeface="Arial" panose="020B0604020202020204" pitchFamily="34" charset="0"/>
                <a:ea typeface="ＭＳ Ｐゴシック" panose="020B0600070205080204" pitchFamily="34" charset="-128"/>
              </a:rPr>
              <a:t>Figure 2.14  Left: A circuit with no convergence. Right: Response of neuron B as we increase the number of receptors stimulated. </a:t>
            </a:r>
          </a:p>
          <a:p>
            <a:pPr marL="0" indent="0">
              <a:lnSpc>
                <a:spcPct val="80000"/>
              </a:lnSpc>
              <a:buNone/>
            </a:pPr>
            <a:endParaRPr lang="en-US" altLang="en-US" sz="110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852728C6-1D04-884C-BC1E-29229FC72568}"/>
              </a:ext>
            </a:extLst>
          </p:cNvPr>
          <p:cNvSpPr>
            <a:spLocks noGrp="1" noChangeArrowheads="1"/>
          </p:cNvSpPr>
          <p:nvPr>
            <p:ph type="title"/>
          </p:nvPr>
        </p:nvSpPr>
        <p:spPr>
          <a:xfrm>
            <a:off x="2819400" y="0"/>
            <a:ext cx="5829300" cy="628650"/>
          </a:xfrm>
        </p:spPr>
        <p:txBody>
          <a:bodyPr/>
          <a:lstStyle/>
          <a:p>
            <a:r>
              <a:rPr lang="en-US" altLang="en-US" dirty="0">
                <a:ea typeface="ＭＳ Ｐゴシック" panose="020B0600070205080204" pitchFamily="34" charset="-128"/>
              </a:rPr>
              <a:t>Neural Circuits - continued</a:t>
            </a:r>
          </a:p>
        </p:txBody>
      </p:sp>
      <p:sp>
        <p:nvSpPr>
          <p:cNvPr id="48130" name="Rectangle 3">
            <a:extLst>
              <a:ext uri="{FF2B5EF4-FFF2-40B4-BE49-F238E27FC236}">
                <a16:creationId xmlns:a16="http://schemas.microsoft.com/office/drawing/2014/main" id="{2BEBEFA9-968C-ED41-A622-D6A6B2FDEFCB}"/>
              </a:ext>
            </a:extLst>
          </p:cNvPr>
          <p:cNvSpPr>
            <a:spLocks noGrp="1" noChangeArrowheads="1"/>
          </p:cNvSpPr>
          <p:nvPr>
            <p:ph type="body" idx="1"/>
          </p:nvPr>
        </p:nvSpPr>
        <p:spPr>
          <a:xfrm>
            <a:off x="838200" y="800100"/>
            <a:ext cx="7162800" cy="3714750"/>
          </a:xfrm>
        </p:spPr>
        <p:txBody>
          <a:bodyPr/>
          <a:lstStyle/>
          <a:p>
            <a:pPr>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only excitatory connections</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Input from each receptor summates into the next neuron in the circuit.</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from convergent system varies based on input. </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of circuit can indicate single input and increases output as length of stimulus increases.</a:t>
            </a:r>
          </a:p>
          <a:p>
            <a:pPr>
              <a:lnSpc>
                <a:spcPct val="90000"/>
              </a:lnSpc>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8131" name="Date Placeholder 1">
            <a:extLst>
              <a:ext uri="{FF2B5EF4-FFF2-40B4-BE49-F238E27FC236}">
                <a16:creationId xmlns:a16="http://schemas.microsoft.com/office/drawing/2014/main" id="{4F713B7E-6B3C-F740-8791-73360FAAD4E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26E8EA8A-C5ED-3D42-835A-8DDD24CC3EF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8132" name="Footer Placeholder 2">
            <a:extLst>
              <a:ext uri="{FF2B5EF4-FFF2-40B4-BE49-F238E27FC236}">
                <a16:creationId xmlns:a16="http://schemas.microsoft.com/office/drawing/2014/main" id="{249F881E-B95F-904C-BCBC-0DD5F95CC7B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4" descr="The graph shows a linear relationship between the number of receptors stimulated and the firing rate of neuron B. The x-axis represents the number of receptors stimulated, with values indicating different combinations of receptors. The y-axis represents the firing rate of neuron B. As the number of stimulated receptors increases, the firing rate of neuron B also increases proportionally.">
            <a:extLst>
              <a:ext uri="{FF2B5EF4-FFF2-40B4-BE49-F238E27FC236}">
                <a16:creationId xmlns:a16="http://schemas.microsoft.com/office/drawing/2014/main" id="{FB714A6D-0A97-914F-A674-D4C6885F3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4406"/>
            <a:ext cx="6724650"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Rectangle 2">
            <a:extLst>
              <a:ext uri="{FF2B5EF4-FFF2-40B4-BE49-F238E27FC236}">
                <a16:creationId xmlns:a16="http://schemas.microsoft.com/office/drawing/2014/main" id="{F7F0ECFB-379D-8B47-BA76-1D7331E42C39}"/>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only)</a:t>
            </a:r>
          </a:p>
        </p:txBody>
      </p:sp>
      <p:sp>
        <p:nvSpPr>
          <p:cNvPr id="50180" name="Date Placeholder 1">
            <a:extLst>
              <a:ext uri="{FF2B5EF4-FFF2-40B4-BE49-F238E27FC236}">
                <a16:creationId xmlns:a16="http://schemas.microsoft.com/office/drawing/2014/main" id="{6D3BA7C0-4043-2E4C-AA4F-9FC663244EF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53A7F3-7BBF-C84B-B546-6681C34CB9D4}"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0181" name="Footer Placeholder 2">
            <a:extLst>
              <a:ext uri="{FF2B5EF4-FFF2-40B4-BE49-F238E27FC236}">
                <a16:creationId xmlns:a16="http://schemas.microsoft.com/office/drawing/2014/main" id="{2CA4D844-FEED-C64A-9202-6742A47DB3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0177" name="Rectangle 2">
            <a:extLst>
              <a:ext uri="{FF2B5EF4-FFF2-40B4-BE49-F238E27FC236}">
                <a16:creationId xmlns:a16="http://schemas.microsoft.com/office/drawing/2014/main" id="{BA750772-B1FC-1D42-83F8-5C8A2A66EEF4}"/>
              </a:ext>
            </a:extLst>
          </p:cNvPr>
          <p:cNvSpPr>
            <a:spLocks noGrp="1" noChangeArrowheads="1"/>
          </p:cNvSpPr>
          <p:nvPr>
            <p:ph type="body" idx="1"/>
          </p:nvPr>
        </p:nvSpPr>
        <p:spPr>
          <a:xfrm>
            <a:off x="154305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2.15 Circuit with convergence added.  Neuron B now receives inputs form all of the receptors, so increasing the size of the stimulus increases the size of neuron B’s response. </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2EF97950-B022-5641-8CCB-2A33BB852E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Circuits - continued</a:t>
            </a:r>
          </a:p>
        </p:txBody>
      </p:sp>
      <p:sp>
        <p:nvSpPr>
          <p:cNvPr id="52226" name="Rectangle 3">
            <a:extLst>
              <a:ext uri="{FF2B5EF4-FFF2-40B4-BE49-F238E27FC236}">
                <a16:creationId xmlns:a16="http://schemas.microsoft.com/office/drawing/2014/main" id="{A3842CE8-0A07-C843-9F27-78BDDA32D80E}"/>
              </a:ext>
            </a:extLst>
          </p:cNvPr>
          <p:cNvSpPr>
            <a:spLocks noGrp="1" noChangeArrowheads="1"/>
          </p:cNvSpPr>
          <p:nvPr>
            <p:ph type="body" idx="1"/>
          </p:nvPr>
        </p:nvSpPr>
        <p:spPr>
          <a:xfrm>
            <a:off x="838200" y="857250"/>
            <a:ext cx="731520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excitatory and inhibitory connections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Inputs from receptors summate to determine output of circuit.</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Summation of inputs result in:</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weak response for single inputs and long stimuli.</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maximum firing rate for medium length stimulus.</a:t>
            </a:r>
          </a:p>
        </p:txBody>
      </p:sp>
      <p:sp>
        <p:nvSpPr>
          <p:cNvPr id="52227" name="Date Placeholder 1">
            <a:extLst>
              <a:ext uri="{FF2B5EF4-FFF2-40B4-BE49-F238E27FC236}">
                <a16:creationId xmlns:a16="http://schemas.microsoft.com/office/drawing/2014/main" id="{E92AF40F-F759-7143-B9AA-BE62D5E47AB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87D3394-5D47-E347-AB22-B4D673BB959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2228" name="Footer Placeholder 2">
            <a:extLst>
              <a:ext uri="{FF2B5EF4-FFF2-40B4-BE49-F238E27FC236}">
                <a16:creationId xmlns:a16="http://schemas.microsoft.com/office/drawing/2014/main" id="{CC9CF3DC-8D34-7444-B61C-BBD59BF6E59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4" descr="0216">
            <a:extLst>
              <a:ext uri="{FF2B5EF4-FFF2-40B4-BE49-F238E27FC236}">
                <a16:creationId xmlns:a16="http://schemas.microsoft.com/office/drawing/2014/main" id="{714F309C-8D1D-EA4E-867C-CDD00459E8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7979"/>
            <a:ext cx="6724650" cy="3207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5" name="Rectangle 2">
            <a:extLst>
              <a:ext uri="{FF2B5EF4-FFF2-40B4-BE49-F238E27FC236}">
                <a16:creationId xmlns:a16="http://schemas.microsoft.com/office/drawing/2014/main" id="{A180A7FD-9A3A-BB4A-9740-9339A34B46DE}"/>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and -)</a:t>
            </a:r>
          </a:p>
        </p:txBody>
      </p:sp>
      <p:sp>
        <p:nvSpPr>
          <p:cNvPr id="54276" name="Date Placeholder 1">
            <a:extLst>
              <a:ext uri="{FF2B5EF4-FFF2-40B4-BE49-F238E27FC236}">
                <a16:creationId xmlns:a16="http://schemas.microsoft.com/office/drawing/2014/main" id="{8C065D47-ACB1-A24C-8CDC-BC72394E4B9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FAE63AC-C0BB-F840-8EA9-02B6CDB2AEFA}"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4277" name="Footer Placeholder 2">
            <a:extLst>
              <a:ext uri="{FF2B5EF4-FFF2-40B4-BE49-F238E27FC236}">
                <a16:creationId xmlns:a16="http://schemas.microsoft.com/office/drawing/2014/main" id="{90D03CF9-D342-E64E-AB7D-C062862EEE9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4273" name="Rectangle 2">
            <a:extLst>
              <a:ext uri="{FF2B5EF4-FFF2-40B4-BE49-F238E27FC236}">
                <a16:creationId xmlns:a16="http://schemas.microsoft.com/office/drawing/2014/main" id="{42B53E02-15EA-2744-8B4C-569F94091F3E}"/>
              </a:ext>
            </a:extLst>
          </p:cNvPr>
          <p:cNvSpPr>
            <a:spLocks noGrp="1" noChangeArrowheads="1"/>
          </p:cNvSpPr>
          <p:nvPr>
            <p:ph type="body" idx="1"/>
          </p:nvPr>
        </p:nvSpPr>
        <p:spPr>
          <a:xfrm>
            <a:off x="156210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2.16 Circuit with convergence and inhibition.  Because stimulation of the receptors on the side (1, 2, 6, and 7) sends inhibition to neuron B, neuron B responds best when just the center (3 - 5) are stimulated.</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88937661-DA07-5A44-BFE1-A8D7B8E0FB7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Receptive Fields</a:t>
            </a:r>
          </a:p>
        </p:txBody>
      </p:sp>
      <p:sp>
        <p:nvSpPr>
          <p:cNvPr id="56322" name="Rectangle 3">
            <a:extLst>
              <a:ext uri="{FF2B5EF4-FFF2-40B4-BE49-F238E27FC236}">
                <a16:creationId xmlns:a16="http://schemas.microsoft.com/office/drawing/2014/main" id="{8DF77118-826D-634D-89C5-4281FBB2C9CE}"/>
              </a:ext>
            </a:extLst>
          </p:cNvPr>
          <p:cNvSpPr>
            <a:spLocks noGrp="1" noChangeArrowheads="1"/>
          </p:cNvSpPr>
          <p:nvPr>
            <p:ph type="body" idx="1"/>
          </p:nvPr>
        </p:nvSpPr>
        <p:spPr>
          <a:xfrm>
            <a:off x="838200" y="857250"/>
            <a:ext cx="664845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Area of receptors that affects firing rate of a given neuron in the circuit</a:t>
            </a:r>
          </a:p>
          <a:p>
            <a:r>
              <a:rPr lang="en-US" altLang="en-US" sz="2200" dirty="0">
                <a:latin typeface="Tahoma" panose="020B0604030504040204" pitchFamily="34" charset="0"/>
                <a:ea typeface="Tahoma" panose="020B0604030504040204" pitchFamily="34" charset="0"/>
                <a:cs typeface="Tahoma" panose="020B0604030504040204" pitchFamily="34" charset="0"/>
              </a:rPr>
              <a:t>Receptive fields are determined by monitoring single cell responses.</a:t>
            </a:r>
          </a:p>
          <a:p>
            <a:r>
              <a:rPr lang="en-US" altLang="en-US" sz="2200" dirty="0">
                <a:latin typeface="Tahoma" panose="020B0604030504040204" pitchFamily="34" charset="0"/>
                <a:ea typeface="Tahoma" panose="020B0604030504040204" pitchFamily="34" charset="0"/>
                <a:cs typeface="Tahoma" panose="020B0604030504040204" pitchFamily="34" charset="0"/>
              </a:rPr>
              <a:t>Research example for vision</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Stimulus is presented to retina and response of cell is measured by an electrode.</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56323" name="Date Placeholder 1">
            <a:extLst>
              <a:ext uri="{FF2B5EF4-FFF2-40B4-BE49-F238E27FC236}">
                <a16:creationId xmlns:a16="http://schemas.microsoft.com/office/drawing/2014/main" id="{956906F3-2F83-E646-9BE8-D15A32EF22C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663A2362-48F3-BD45-92E8-E73CA65DEB0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6324" name="Footer Placeholder 2">
            <a:extLst>
              <a:ext uri="{FF2B5EF4-FFF2-40B4-BE49-F238E27FC236}">
                <a16:creationId xmlns:a16="http://schemas.microsoft.com/office/drawing/2014/main" id="{B50FD2F6-6045-2B4A-B8DD-2C384CC28BE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E805CBD8-F62E-4A47-A08D-28F696590563}"/>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Center-Surround Receptive Fields</a:t>
            </a:r>
          </a:p>
        </p:txBody>
      </p:sp>
      <p:sp>
        <p:nvSpPr>
          <p:cNvPr id="58370" name="Rectangle 3">
            <a:extLst>
              <a:ext uri="{FF2B5EF4-FFF2-40B4-BE49-F238E27FC236}">
                <a16:creationId xmlns:a16="http://schemas.microsoft.com/office/drawing/2014/main" id="{A100A91A-EA16-0A4D-9252-905E8921CAC9}"/>
              </a:ext>
            </a:extLst>
          </p:cNvPr>
          <p:cNvSpPr>
            <a:spLocks noGrp="1" noChangeArrowheads="1"/>
          </p:cNvSpPr>
          <p:nvPr>
            <p:ph type="body" idx="1"/>
          </p:nvPr>
        </p:nvSpPr>
        <p:spPr>
          <a:xfrm>
            <a:off x="838200" y="800100"/>
            <a:ext cx="4305300" cy="3714750"/>
          </a:xfrm>
        </p:spPr>
        <p:txBody>
          <a:bodyPr/>
          <a:lstStyle/>
          <a:p>
            <a:r>
              <a:rPr lang="en-US" altLang="en-US" sz="1800" dirty="0">
                <a:latin typeface="Arial" panose="020B0604020202020204" pitchFamily="34" charset="0"/>
                <a:ea typeface="ＭＳ Ｐゴシック" panose="020B0600070205080204" pitchFamily="34" charset="-128"/>
              </a:rPr>
              <a:t>Excitatory and inhibitory effects are found in receptive fields.</a:t>
            </a:r>
          </a:p>
          <a:p>
            <a:r>
              <a:rPr lang="en-US" altLang="en-US" sz="1800" dirty="0">
                <a:latin typeface="Arial" panose="020B0604020202020204" pitchFamily="34" charset="0"/>
                <a:ea typeface="ＭＳ Ｐゴシック" panose="020B0600070205080204" pitchFamily="34" charset="-128"/>
              </a:rPr>
              <a:t>Center and surround areas of receptive fields result in:</a:t>
            </a:r>
          </a:p>
          <a:p>
            <a:pPr lvl="1"/>
            <a:r>
              <a:rPr lang="en-US" altLang="en-US" sz="1800" dirty="0">
                <a:latin typeface="Arial" panose="020B0604020202020204" pitchFamily="34" charset="0"/>
                <a:ea typeface="ＭＳ Ｐゴシック" panose="020B0600070205080204" pitchFamily="34" charset="-128"/>
              </a:rPr>
              <a:t>Excitatory-center-inhibitory surround</a:t>
            </a:r>
          </a:p>
          <a:p>
            <a:pPr lvl="1"/>
            <a:r>
              <a:rPr lang="en-US" altLang="en-US" sz="1800" dirty="0">
                <a:latin typeface="Arial" panose="020B0604020202020204" pitchFamily="34" charset="0"/>
                <a:ea typeface="ＭＳ Ｐゴシック" panose="020B0600070205080204" pitchFamily="34" charset="-128"/>
              </a:rPr>
              <a:t>Inhibitory-center-excitatory surround</a:t>
            </a:r>
          </a:p>
          <a:p>
            <a:pPr>
              <a:spcBef>
                <a:spcPct val="30000"/>
              </a:spcBef>
            </a:pPr>
            <a:endParaRPr lang="en-US" altLang="en-US" sz="1800" dirty="0">
              <a:latin typeface="Arial" panose="020B0604020202020204" pitchFamily="34" charset="0"/>
              <a:ea typeface="ＭＳ Ｐゴシック" panose="020B0600070205080204" pitchFamily="34" charset="-128"/>
            </a:endParaRPr>
          </a:p>
        </p:txBody>
      </p:sp>
      <p:pic>
        <p:nvPicPr>
          <p:cNvPr id="58372" name="Picture 4" descr="The diagram illustrates the concept of center-surround receptive fields, a fundamental aspect of visual processing. Part (a) shows a visual field with a central oval area divided into a small inner circle labeled &quot;B&quot; and a surrounding ring labeled &quot;C.&quot; The inner circle &quot;B&quot; is marked with green plus signs, indicating excitatory regions, while the surrounding ring &quot;C&quot; is marked with red minus signs, indicating inhibitory regions. A larger light blue area encompassing &quot;C&quot; has labels &quot;A&quot; in its corners, representing regions outside the receptive field. To the right of this visual field depiction are three graphs labeled &quot;A,&quot; &quot;B,&quot; and &quot;C,&quot; which represent the firing rates of neurons in response to stimuli. Graph A shows infrequent spikes, representing baseline or unresponsive activity. Graph B shows a burst of spikes coinciding with an &quot;On&quot; stimulus, indicating activation by light onset in the center. Graph C shows a brief spike at the &quot;On&quot; stimulus and a more sustained burst of spikes at the &quot;Off&quot; stimulus, indicating a response to both light onset and offset, characteristic of cells with center-surround organization. Part (b) provides a simplified, circular representation of a receptive field, with green plus signs in the center and red minus signs in the surrounding annulus, reinforcing the excitatory-center-inhibitory-surround organization. The context states that excitatory and inhibitory effects are found in receptive fields and that these result in either an excitatory-center-inhibitory-surround or an inhibitory-center-excitatory-surround configuration. The diagram specifically depicts the excitatory-center-inhibitory-surround type.">
            <a:extLst>
              <a:ext uri="{FF2B5EF4-FFF2-40B4-BE49-F238E27FC236}">
                <a16:creationId xmlns:a16="http://schemas.microsoft.com/office/drawing/2014/main" id="{37F877B3-1280-AF4E-AAB5-48F08D308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1" y="800100"/>
            <a:ext cx="2755106" cy="2996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Date Placeholder 1">
            <a:extLst>
              <a:ext uri="{FF2B5EF4-FFF2-40B4-BE49-F238E27FC236}">
                <a16:creationId xmlns:a16="http://schemas.microsoft.com/office/drawing/2014/main" id="{30FE83BA-2906-7045-BA97-3586B89444F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CBF63094-845F-214C-B38E-564E2883750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8374" name="Footer Placeholder 2">
            <a:extLst>
              <a:ext uri="{FF2B5EF4-FFF2-40B4-BE49-F238E27FC236}">
                <a16:creationId xmlns:a16="http://schemas.microsoft.com/office/drawing/2014/main" id="{373BE9A4-F0C0-1942-ACA3-AFC5A516162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58371" name="Rectangle 2">
            <a:extLst>
              <a:ext uri="{FF2B5EF4-FFF2-40B4-BE49-F238E27FC236}">
                <a16:creationId xmlns:a16="http://schemas.microsoft.com/office/drawing/2014/main" id="{710E4F6F-FCFA-C541-8DE6-1D6A95EAD5DE}"/>
              </a:ext>
            </a:extLst>
          </p:cNvPr>
          <p:cNvSpPr txBox="1">
            <a:spLocks noChangeArrowheads="1"/>
          </p:cNvSpPr>
          <p:nvPr/>
        </p:nvSpPr>
        <p:spPr bwMode="auto">
          <a:xfrm>
            <a:off x="2781300" y="4069555"/>
            <a:ext cx="6057900" cy="945357"/>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2.18  (a) Response of a ganglion cell in the cat’s retina to stimulation: outside the cell’s receptive field (area A on the screen); inside the excitatory area of the cell’s receptive field (area B); and inside the inhibitory area of the cell’s receptive field (area C).  (b) The receptive field is shown without the screen.</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250E0A04-7880-1949-95A0-19350CFDB1FF}"/>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Center-Surround Antagonism</a:t>
            </a:r>
          </a:p>
        </p:txBody>
      </p:sp>
      <p:sp>
        <p:nvSpPr>
          <p:cNvPr id="60418" name="Rectangle 3">
            <a:extLst>
              <a:ext uri="{FF2B5EF4-FFF2-40B4-BE49-F238E27FC236}">
                <a16:creationId xmlns:a16="http://schemas.microsoft.com/office/drawing/2014/main" id="{0C0529C7-2EF1-0E49-A11E-2E2F54953DB4}"/>
              </a:ext>
            </a:extLst>
          </p:cNvPr>
          <p:cNvSpPr>
            <a:spLocks noGrp="1" noChangeArrowheads="1"/>
          </p:cNvSpPr>
          <p:nvPr>
            <p:ph type="body" idx="1"/>
          </p:nvPr>
        </p:nvSpPr>
        <p:spPr>
          <a:xfrm>
            <a:off x="838200" y="742950"/>
            <a:ext cx="7162800" cy="3657600"/>
          </a:xfrm>
        </p:spPr>
        <p:txBody>
          <a:bodyPr/>
          <a:lstStyle/>
          <a:p>
            <a:r>
              <a:rPr lang="en-US" altLang="en-US" sz="2100" dirty="0">
                <a:latin typeface="Arial" panose="020B0604020202020204" pitchFamily="34" charset="0"/>
                <a:ea typeface="ＭＳ Ｐゴシック" panose="020B0600070205080204" pitchFamily="34" charset="-128"/>
              </a:rPr>
              <a:t>Output of center-surround receptive fields changes depending on area stimulated:</a:t>
            </a:r>
          </a:p>
          <a:p>
            <a:pPr lvl="1"/>
            <a:r>
              <a:rPr lang="en-US" altLang="en-US" sz="1800" dirty="0">
                <a:latin typeface="Arial" panose="020B0604020202020204" pitchFamily="34" charset="0"/>
                <a:ea typeface="ＭＳ Ｐゴシック" panose="020B0600070205080204" pitchFamily="34" charset="-128"/>
              </a:rPr>
              <a:t>Highest response when only the excitatory area is stimulated </a:t>
            </a:r>
          </a:p>
          <a:p>
            <a:pPr lvl="1"/>
            <a:r>
              <a:rPr lang="en-US" altLang="en-US" sz="1800" dirty="0">
                <a:latin typeface="Arial" panose="020B0604020202020204" pitchFamily="34" charset="0"/>
                <a:ea typeface="ＭＳ Ｐゴシック" panose="020B0600070205080204" pitchFamily="34" charset="-128"/>
              </a:rPr>
              <a:t>Lowest response when only the inhibitory area is stimulated</a:t>
            </a:r>
          </a:p>
          <a:p>
            <a:pPr lvl="1"/>
            <a:r>
              <a:rPr lang="en-US" altLang="en-US" sz="1800" dirty="0">
                <a:latin typeface="Arial" panose="020B0604020202020204" pitchFamily="34" charset="0"/>
                <a:ea typeface="ＭＳ Ｐゴシック" panose="020B0600070205080204" pitchFamily="34" charset="-128"/>
              </a:rPr>
              <a:t>Intermediate responses when both areas are stimulated</a:t>
            </a:r>
            <a:r>
              <a:rPr lang="en-US" altLang="en-US" sz="1800" dirty="0">
                <a:ea typeface="ＭＳ Ｐゴシック" panose="020B0600070205080204" pitchFamily="34" charset="-128"/>
              </a:rPr>
              <a:t> </a:t>
            </a:r>
          </a:p>
          <a:p>
            <a:pPr>
              <a:spcBef>
                <a:spcPct val="30000"/>
              </a:spcBef>
            </a:pPr>
            <a:endParaRPr lang="en-US" altLang="en-US" sz="2100" dirty="0">
              <a:latin typeface="Arial" panose="020B0604020202020204" pitchFamily="34" charset="0"/>
              <a:ea typeface="ＭＳ Ｐゴシック" panose="020B0600070205080204" pitchFamily="34" charset="-128"/>
            </a:endParaRPr>
          </a:p>
        </p:txBody>
      </p:sp>
      <p:pic>
        <p:nvPicPr>
          <p:cNvPr id="60420" name="Picture 4" descr="1. **Main trend:** The rate of neural firing changes based on how the different regions of a receptive field are stimulated.&#10;&#10;2. **Axes:** The vertical axis represents the rate of neural firing (indicated by the height and density of the vertical bars), and the horizontal axis indicates time. The &quot;On&quot; arrow signifies the moment stimulation begins.&#10;&#10;3. **Description of the stimulus areas:** The diagrams at the top illustrate different patterns of stimulation within a circular receptive field. The innermost circle represents the &quot;center&quot; region, and the surrounding ring represents the &quot;surround&quot; region. The top diagram (a) shows that the center is excitatory (indicated by &quot;+&quot;) and the surround is inhibitory (indicated by &quot;-&quot;). The subsequent diagrams (b), (c), and (d) depict different conditions of light stimulation (represented by the orange color) applied to these regions.&#10;&#10;4. **Explanation of the stimulus conditions and responses:**&#10;    *   **Diagram (a) combined with its graph:** This diagram shows a receptive field with an excitatory center and an inhibitory surround. The graph indicates a high rate of neural firing when this field is stimulated in a way that activates both the excitatory center and the inhibitory surround. This represents an intermediate response.&#10;    *   **Diagram (b) combined with its graph:** This diagram shows a receptive field that is completely illuminated (indicated by the solid orange circle covering the entire receptive field, including the surround). The graph shows a moderate rate of neural firing. This represents a response when the inhibitory surround is also activated by the light.&#10;    *   **Diagram (c) combined with its graph:** This diagram shows a receptive field where only the center region is illuminated. The graph shows a high rate of neural firing. This represents the highest response, occurring when only the excitatory area is stimulated.&#10;    *   **Diagram (d) combined with its graph:** This diagram shows a receptive field where only the surround region is illuminated. The graph shows a very low rate of neural firing, almost at baseline. This represents the lowest response, occurring when only the inhibitory area is stimulated.">
            <a:extLst>
              <a:ext uri="{FF2B5EF4-FFF2-40B4-BE49-F238E27FC236}">
                <a16:creationId xmlns:a16="http://schemas.microsoft.com/office/drawing/2014/main" id="{F1FFBC5B-DBB9-5B4C-A158-741842E37B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488073"/>
            <a:ext cx="4495800" cy="1969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Date Placeholder 1">
            <a:extLst>
              <a:ext uri="{FF2B5EF4-FFF2-40B4-BE49-F238E27FC236}">
                <a16:creationId xmlns:a16="http://schemas.microsoft.com/office/drawing/2014/main" id="{E5C61688-2CFC-9149-BFAC-42F4DD271F96}"/>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E7C537CA-840A-2542-9048-3F7167C6FE7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0422" name="Footer Placeholder 2">
            <a:extLst>
              <a:ext uri="{FF2B5EF4-FFF2-40B4-BE49-F238E27FC236}">
                <a16:creationId xmlns:a16="http://schemas.microsoft.com/office/drawing/2014/main" id="{27F08951-E2EE-5444-AF8D-877C780E32A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0419" name="Rectangle 2">
            <a:extLst>
              <a:ext uri="{FF2B5EF4-FFF2-40B4-BE49-F238E27FC236}">
                <a16:creationId xmlns:a16="http://schemas.microsoft.com/office/drawing/2014/main" id="{31221572-0423-B94C-AAE5-546C2798D218}"/>
              </a:ext>
            </a:extLst>
          </p:cNvPr>
          <p:cNvSpPr txBox="1">
            <a:spLocks noChangeArrowheads="1"/>
          </p:cNvSpPr>
          <p:nvPr/>
        </p:nvSpPr>
        <p:spPr bwMode="auto">
          <a:xfrm>
            <a:off x="1676400" y="4343400"/>
            <a:ext cx="6057900" cy="80010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2.19  Response of an excitatory-center-inhibitory-surround receptive field as stimulus size is increased. Shading indicates the area stimulated with light. The response to the stimulus is indicated below each receptive field. The largest response occurs when the entire excitatory area is illuminated, as in (b).  Increasing stimulus size further causes a decrease in firing due to center-surround antagonism. </a:t>
            </a:r>
            <a:r>
              <a:rPr lang="en-US" altLang="en-US" sz="975" i="1" dirty="0">
                <a:latin typeface="Arial" panose="020B0604020202020204" pitchFamily="34" charset="0"/>
              </a:rPr>
              <a:t>(Adapted from Hubel and Wiesel, 1961.)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3C3B9707-35E6-654B-878B-1F40216E5360}"/>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Specificity Encoding</a:t>
            </a:r>
          </a:p>
        </p:txBody>
      </p:sp>
      <p:sp>
        <p:nvSpPr>
          <p:cNvPr id="62466" name="Rectangle 3">
            <a:extLst>
              <a:ext uri="{FF2B5EF4-FFF2-40B4-BE49-F238E27FC236}">
                <a16:creationId xmlns:a16="http://schemas.microsoft.com/office/drawing/2014/main" id="{6077F66F-2E9A-8D42-BA91-E68903C0DDA5}"/>
              </a:ext>
            </a:extLst>
          </p:cNvPr>
          <p:cNvSpPr>
            <a:spLocks noGrp="1" noChangeArrowheads="1"/>
          </p:cNvSpPr>
          <p:nvPr>
            <p:ph type="body" idx="1"/>
          </p:nvPr>
        </p:nvSpPr>
        <p:spPr>
          <a:xfrm>
            <a:off x="838200" y="742950"/>
            <a:ext cx="5791200" cy="3771900"/>
          </a:xfrm>
        </p:spPr>
        <p:txBody>
          <a:bodyPr/>
          <a:lstStyle/>
          <a:p>
            <a:pPr>
              <a:spcBef>
                <a:spcPct val="30000"/>
              </a:spcBef>
            </a:pPr>
            <a:r>
              <a:rPr lang="en-US" altLang="en-US" b="1" dirty="0">
                <a:latin typeface="Arial" panose="020B0604020202020204" pitchFamily="34" charset="0"/>
                <a:ea typeface="ＭＳ Ｐゴシック" panose="020B0600070205080204" pitchFamily="34" charset="-128"/>
              </a:rPr>
              <a:t>Specificity coding </a:t>
            </a:r>
            <a:r>
              <a:rPr lang="en-US" altLang="en-US" dirty="0">
                <a:latin typeface="Arial" panose="020B0604020202020204" pitchFamily="34" charset="0"/>
                <a:ea typeface="ＭＳ Ｐゴシック" panose="020B0600070205080204" pitchFamily="34" charset="-128"/>
              </a:rPr>
              <a:t>- specific </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neurons responding to specific</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stimuli</a:t>
            </a:r>
          </a:p>
          <a:p>
            <a:pPr lvl="1">
              <a:spcBef>
                <a:spcPct val="30000"/>
              </a:spcBef>
            </a:pPr>
            <a:r>
              <a:rPr lang="en-US" altLang="en-US" sz="1500" dirty="0">
                <a:latin typeface="Arial" panose="020B0604020202020204" pitchFamily="34" charset="0"/>
                <a:ea typeface="ＭＳ Ｐゴシック" panose="020B0600070205080204" pitchFamily="34" charset="-128"/>
              </a:rPr>
              <a:t>Leads to the “grandmother cell” hypothesis</a:t>
            </a:r>
          </a:p>
          <a:p>
            <a:pPr lvl="1">
              <a:spcBef>
                <a:spcPct val="30000"/>
              </a:spcBef>
            </a:pPr>
            <a:r>
              <a:rPr lang="en-US" altLang="en-US" sz="1500" dirty="0">
                <a:latin typeface="Arial" panose="020B0604020202020204" pitchFamily="34" charset="0"/>
                <a:ea typeface="ＭＳ Ｐゴシック" panose="020B0600070205080204" pitchFamily="34" charset="-128"/>
              </a:rPr>
              <a:t>Cells in the hippocampus that respond to </a:t>
            </a:r>
            <a:br>
              <a:rPr lang="en-US" altLang="en-US" sz="1500" dirty="0">
                <a:latin typeface="Arial" panose="020B0604020202020204" pitchFamily="34" charset="0"/>
                <a:ea typeface="ＭＳ Ｐゴシック" panose="020B0600070205080204" pitchFamily="34" charset="-128"/>
              </a:rPr>
            </a:br>
            <a:r>
              <a:rPr lang="en-US" altLang="en-US" sz="1500" dirty="0">
                <a:latin typeface="Arial" panose="020B0604020202020204" pitchFamily="34" charset="0"/>
                <a:ea typeface="ＭＳ Ｐゴシック" panose="020B0600070205080204" pitchFamily="34" charset="-128"/>
              </a:rPr>
              <a:t>concepts such as Halle Berry.</a:t>
            </a:r>
          </a:p>
          <a:p>
            <a:pPr lvl="1">
              <a:spcBef>
                <a:spcPct val="30000"/>
              </a:spcBef>
            </a:pPr>
            <a:endParaRPr lang="en-US" altLang="en-US" sz="1500" dirty="0">
              <a:latin typeface="Arial" panose="020B0604020202020204" pitchFamily="34" charset="0"/>
              <a:ea typeface="ＭＳ Ｐゴシック" panose="020B0600070205080204" pitchFamily="34" charset="-128"/>
            </a:endParaRPr>
          </a:p>
          <a:p>
            <a:pPr>
              <a:spcBef>
                <a:spcPct val="30000"/>
              </a:spcBef>
            </a:pPr>
            <a:r>
              <a:rPr lang="en-US" altLang="en-US" dirty="0">
                <a:latin typeface="Arial" panose="020B0604020202020204" pitchFamily="34" charset="0"/>
                <a:ea typeface="ＭＳ Ｐゴシック" panose="020B0600070205080204" pitchFamily="34" charset="-128"/>
              </a:rPr>
              <a:t>Problems with specificity coding:</a:t>
            </a:r>
          </a:p>
          <a:p>
            <a:pPr lvl="1">
              <a:spcBef>
                <a:spcPct val="30000"/>
              </a:spcBef>
            </a:pPr>
            <a:r>
              <a:rPr lang="en-US" altLang="en-US" sz="1500" dirty="0">
                <a:latin typeface="Arial" panose="020B0604020202020204" pitchFamily="34" charset="0"/>
                <a:ea typeface="ＭＳ Ｐゴシック" panose="020B0600070205080204" pitchFamily="34" charset="-128"/>
              </a:rPr>
              <a:t>Too many different stimuli to assign specific neurons</a:t>
            </a:r>
          </a:p>
          <a:p>
            <a:pPr lvl="1">
              <a:spcBef>
                <a:spcPct val="30000"/>
              </a:spcBef>
            </a:pPr>
            <a:r>
              <a:rPr lang="en-US" altLang="en-US" sz="1500" dirty="0">
                <a:latin typeface="Arial" panose="020B0604020202020204" pitchFamily="34" charset="0"/>
                <a:ea typeface="ＭＳ Ｐゴシック" panose="020B0600070205080204" pitchFamily="34" charset="-128"/>
              </a:rPr>
              <a:t>Most neurons respond to a number of different stimuli.</a:t>
            </a:r>
          </a:p>
        </p:txBody>
      </p:sp>
      <p:pic>
        <p:nvPicPr>
          <p:cNvPr id="62468" name="Picture 4" descr="The diagram illustrates the concept of specificity coding in neuroscience. On the left, three individuals, labeled (a) Bill, (b) Mary, and (c) Raphael, are presented as stimuli. To the right of each stimulus, three horizontal lines represent the responses of three neurons: Neuron 1, Neuron 2, and Neuron 3. Vertical bars on these lines indicate neural firing.&#10;&#10;When Bill is presented as a stimulus, Neuron 1 exhibits a series of rapid firings, while Neurons 2 and 3 show no activity.&#10;When Mary is the stimulus, Neuron 2 shows a similar pattern of rapid firings, and Neurons 1 and 3 remain inactive.&#10;Finally, when Raphael is presented, Neuron 3 fires rapidly, and Neurons 1 and 2 are inactive.&#10;&#10;This visual representation demonstrates specificity coding by showing how individual neurons are selectively activated by specific stimuli, suggesting that each neuron might be tuned to a particular concept or individual. This aligns with the &quot;grandmother cell&quot; hypothesis, which proposes that there are individual neurons dedicated to recognizing specific objects or people.">
            <a:extLst>
              <a:ext uri="{FF2B5EF4-FFF2-40B4-BE49-F238E27FC236}">
                <a16:creationId xmlns:a16="http://schemas.microsoft.com/office/drawing/2014/main" id="{7FB89131-5184-ED4D-9052-86DA64B90D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6950" y="742950"/>
            <a:ext cx="2686050" cy="2567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Date Placeholder 1">
            <a:extLst>
              <a:ext uri="{FF2B5EF4-FFF2-40B4-BE49-F238E27FC236}">
                <a16:creationId xmlns:a16="http://schemas.microsoft.com/office/drawing/2014/main" id="{D8B5F911-D511-714A-8763-50AF0F6920A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79E9236-5184-CA4C-AEA4-0E73484E332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2470" name="Footer Placeholder 2">
            <a:extLst>
              <a:ext uri="{FF2B5EF4-FFF2-40B4-BE49-F238E27FC236}">
                <a16:creationId xmlns:a16="http://schemas.microsoft.com/office/drawing/2014/main" id="{609A1AA8-8DB0-2D46-9777-3F6333270E8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2467" name="Rectangle 2">
            <a:extLst>
              <a:ext uri="{FF2B5EF4-FFF2-40B4-BE49-F238E27FC236}">
                <a16:creationId xmlns:a16="http://schemas.microsoft.com/office/drawing/2014/main" id="{79366FD2-89E8-8345-85CC-52310112EFB3}"/>
              </a:ext>
            </a:extLst>
          </p:cNvPr>
          <p:cNvSpPr txBox="1">
            <a:spLocks noChangeArrowheads="1"/>
          </p:cNvSpPr>
          <p:nvPr/>
        </p:nvSpPr>
        <p:spPr bwMode="auto">
          <a:xfrm>
            <a:off x="2857500" y="44958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2.21 How faces could be coded by specificity coding. Each face causes one specialized neuron to respond.</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C97D915E-8B6E-F74C-84B9-898BAF951299}"/>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Distributed Encoding</a:t>
            </a:r>
          </a:p>
        </p:txBody>
      </p:sp>
      <p:sp>
        <p:nvSpPr>
          <p:cNvPr id="64514" name="Rectangle 3">
            <a:extLst>
              <a:ext uri="{FF2B5EF4-FFF2-40B4-BE49-F238E27FC236}">
                <a16:creationId xmlns:a16="http://schemas.microsoft.com/office/drawing/2014/main" id="{5BA3B80B-CC71-F245-B5EC-185BB5844F69}"/>
              </a:ext>
            </a:extLst>
          </p:cNvPr>
          <p:cNvSpPr>
            <a:spLocks noGrp="1" noChangeArrowheads="1"/>
          </p:cNvSpPr>
          <p:nvPr>
            <p:ph type="body" idx="1"/>
          </p:nvPr>
        </p:nvSpPr>
        <p:spPr>
          <a:xfrm>
            <a:off x="838200" y="742950"/>
            <a:ext cx="5391150" cy="3771900"/>
          </a:xfrm>
        </p:spPr>
        <p:txBody>
          <a:bodyPr/>
          <a:lstStyle/>
          <a:p>
            <a:pPr>
              <a:spcBef>
                <a:spcPct val="30000"/>
              </a:spcBef>
            </a:pPr>
            <a:r>
              <a:rPr lang="en-US" altLang="en-US" sz="2100" b="1" dirty="0">
                <a:latin typeface="Arial" panose="020B0604020202020204" pitchFamily="34" charset="0"/>
                <a:ea typeface="ＭＳ Ｐゴシック" panose="020B0600070205080204" pitchFamily="34" charset="-128"/>
              </a:rPr>
              <a:t>Distributed coding </a:t>
            </a:r>
            <a:r>
              <a:rPr lang="en-US" altLang="en-US" sz="2100" dirty="0">
                <a:latin typeface="Arial" panose="020B0604020202020204" pitchFamily="34" charset="0"/>
                <a:ea typeface="ＭＳ Ｐゴシック" panose="020B0600070205080204" pitchFamily="34" charset="-128"/>
              </a:rPr>
              <a:t>- pattern of firing across many neurons codes specific objects</a:t>
            </a:r>
          </a:p>
          <a:p>
            <a:pPr lvl="1">
              <a:spcBef>
                <a:spcPct val="30000"/>
              </a:spcBef>
            </a:pPr>
            <a:r>
              <a:rPr lang="en-US" altLang="en-US" dirty="0">
                <a:latin typeface="Arial" panose="020B0604020202020204" pitchFamily="34" charset="0"/>
                <a:ea typeface="ＭＳ Ｐゴシック" panose="020B0600070205080204" pitchFamily="34" charset="-128"/>
              </a:rPr>
              <a:t>Large number of stimuli can be coded by a few neurons.</a:t>
            </a:r>
            <a:endParaRPr lang="en-US" altLang="en-US" sz="2400" dirty="0">
              <a:latin typeface="Arial" panose="020B0604020202020204" pitchFamily="34" charset="0"/>
              <a:ea typeface="ＭＳ Ｐゴシック" panose="020B0600070205080204" pitchFamily="34" charset="-128"/>
            </a:endParaRPr>
          </a:p>
        </p:txBody>
      </p:sp>
      <p:pic>
        <p:nvPicPr>
          <p:cNvPr id="64516" name="Picture 4" descr="The diagram illustrates the concept of distributed encoding in sensory processing. The left column displays portraits of four individuals: Bill, Mary, Raphael, and Roger, labeled (a) through (d) respectively. These individuals represent different stimuli. The right side of the diagram is divided into three columns, labeled &quot;Neuron 1&quot;, &quot;Neuron 2&quot;, and &quot;Neuron 3&quot;. Beneath each neuron label, horizontal lines depict the firing patterns of neurons in response to each stimulus. Each vertical tick mark on these lines represents a neural impulse or action potential.&#10;&#10;For stimulus (a) Bill, Neuron 1 shows a dense cluster of firing followed by a sparse burst. Neuron 2 shows two distinct bursts of firing, and Neuron 3 shows a single sparse burst.&#10;&#10;For stimulus (b) Mary, Neuron 1 shows two sparse bursts of firing. Neuron 2 exhibits a dense cluster of firing, and Neuron 3 displays a single dense cluster of firing.&#10;&#10;For stimulus (c) Raphael, Neuron 1 shows a dense cluster of firing. Neuron 2 exhibits a sparse burst of firing, and Neuron 3 displays a dense cluster of firing.&#10;&#10;For stimulus (d) Roger, Neuron 1 shows two sparse bursts of firing. Neuron 2 shows a single sparse burst, and Neuron 3 exhibits a dense cluster of firing.&#10;&#10;The visual representation demonstrates that different stimuli (the individuals) elicit distinct patterns of activity across multiple neurons. This pattern of firing across many neurons, as shown in the diagram, is the core of distributed encoding, where specific objects or stimuli are coded by a combination of neuronal activations.">
            <a:extLst>
              <a:ext uri="{FF2B5EF4-FFF2-40B4-BE49-F238E27FC236}">
                <a16:creationId xmlns:a16="http://schemas.microsoft.com/office/drawing/2014/main" id="{607B50F4-BEC9-0048-A7C5-DDBE3CBBFB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846137"/>
            <a:ext cx="2743200" cy="340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7" name="Date Placeholder 1">
            <a:extLst>
              <a:ext uri="{FF2B5EF4-FFF2-40B4-BE49-F238E27FC236}">
                <a16:creationId xmlns:a16="http://schemas.microsoft.com/office/drawing/2014/main" id="{05719AE2-C87A-894B-9616-EBABFCB222C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B959C51-B313-E149-BF84-930006D54CF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4518" name="Footer Placeholder 2">
            <a:extLst>
              <a:ext uri="{FF2B5EF4-FFF2-40B4-BE49-F238E27FC236}">
                <a16:creationId xmlns:a16="http://schemas.microsoft.com/office/drawing/2014/main" id="{9FCB42F5-D118-5C4E-AA1F-4CCC6763623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4515" name="Rectangle 2">
            <a:extLst>
              <a:ext uri="{FF2B5EF4-FFF2-40B4-BE49-F238E27FC236}">
                <a16:creationId xmlns:a16="http://schemas.microsoft.com/office/drawing/2014/main" id="{38FC451D-1F6A-0B4A-B747-1A638D4138F9}"/>
              </a:ext>
            </a:extLst>
          </p:cNvPr>
          <p:cNvSpPr txBox="1">
            <a:spLocks noChangeArrowheads="1"/>
          </p:cNvSpPr>
          <p:nvPr/>
        </p:nvSpPr>
        <p:spPr bwMode="auto">
          <a:xfrm>
            <a:off x="2641895" y="45720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2.23 How faces could be coded by distributed coding. Each face causes all the neurons to fire, but the pattern of firing is different for each face.  One advantage of this method of coding is that many faces could be represented by the firing of the three neurons.</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Date Placeholder 3">
            <a:extLst>
              <a:ext uri="{FF2B5EF4-FFF2-40B4-BE49-F238E27FC236}">
                <a16:creationId xmlns:a16="http://schemas.microsoft.com/office/drawing/2014/main" id="{D2F0672F-AB6B-404A-80BB-928A1AF57C91}"/>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8F77D5-90D3-0F4B-A09D-99FD626BD4C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6562" name="Footer Placeholder 4">
            <a:extLst>
              <a:ext uri="{FF2B5EF4-FFF2-40B4-BE49-F238E27FC236}">
                <a16:creationId xmlns:a16="http://schemas.microsoft.com/office/drawing/2014/main" id="{EBF249F9-01DA-AF4E-8285-ABA44C3D28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6563" name="Rectangle 2">
            <a:extLst>
              <a:ext uri="{FF2B5EF4-FFF2-40B4-BE49-F238E27FC236}">
                <a16:creationId xmlns:a16="http://schemas.microsoft.com/office/drawing/2014/main" id="{CAE3E9D9-27AC-0A42-A9EB-8E0BD44D64A0}"/>
              </a:ext>
            </a:extLst>
          </p:cNvPr>
          <p:cNvSpPr>
            <a:spLocks noGrp="1" noChangeArrowheads="1"/>
          </p:cNvSpPr>
          <p:nvPr>
            <p:ph type="title"/>
          </p:nvPr>
        </p:nvSpPr>
        <p:spPr/>
        <p:txBody>
          <a:bodyPr/>
          <a:lstStyle/>
          <a:p>
            <a:r>
              <a:rPr lang="en-US" altLang="en-US">
                <a:ea typeface="ＭＳ Ｐゴシック" panose="020B0600070205080204" pitchFamily="34" charset="-128"/>
              </a:rPr>
              <a:t>Upcoming</a:t>
            </a:r>
          </a:p>
        </p:txBody>
      </p:sp>
      <p:sp>
        <p:nvSpPr>
          <p:cNvPr id="66564" name="Rectangle 3">
            <a:extLst>
              <a:ext uri="{FF2B5EF4-FFF2-40B4-BE49-F238E27FC236}">
                <a16:creationId xmlns:a16="http://schemas.microsoft.com/office/drawing/2014/main" id="{593F7533-4B1D-7149-83E7-9B72C20ACC1E}"/>
              </a:ext>
            </a:extLst>
          </p:cNvPr>
          <p:cNvSpPr>
            <a:spLocks noGrp="1" noChangeArrowheads="1"/>
          </p:cNvSpPr>
          <p:nvPr>
            <p:ph type="body" idx="1"/>
          </p:nvPr>
        </p:nvSpPr>
        <p:spPr>
          <a:xfrm>
            <a:off x="838200" y="685800"/>
            <a:ext cx="8001000" cy="4171950"/>
          </a:xfrm>
        </p:spPr>
        <p:txBody>
          <a:bodyPr/>
          <a:lstStyle/>
          <a:p>
            <a:r>
              <a:rPr lang="en-US" altLang="en-US" dirty="0">
                <a:ea typeface="ＭＳ Ｐゴシック" panose="020B0600070205080204" pitchFamily="34" charset="-128"/>
              </a:rPr>
              <a:t>Neuroimaging</a:t>
            </a:r>
          </a:p>
          <a:p>
            <a:r>
              <a:rPr lang="en-US" altLang="en-US" dirty="0">
                <a:ea typeface="ＭＳ Ｐゴシック" panose="020B0600070205080204" pitchFamily="34" charset="-128"/>
              </a:rPr>
              <a:t>Bottom-up vs. Top-down Processing</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Extra Readings</a:t>
            </a:r>
          </a:p>
          <a:p>
            <a:pPr lvl="1"/>
            <a:r>
              <a:rPr lang="en-US" altLang="en-US" dirty="0">
                <a:ea typeface="ＭＳ Ｐゴシック" panose="020B0600070205080204" pitchFamily="34" charset="-128"/>
              </a:rPr>
              <a:t>Download from Web site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8A11D940-1180-984D-A7AF-5F76851C2D9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Basics of Neural Signals</a:t>
            </a:r>
          </a:p>
        </p:txBody>
      </p:sp>
      <p:sp>
        <p:nvSpPr>
          <p:cNvPr id="68610" name="Rectangle 3">
            <a:extLst>
              <a:ext uri="{FF2B5EF4-FFF2-40B4-BE49-F238E27FC236}">
                <a16:creationId xmlns:a16="http://schemas.microsoft.com/office/drawing/2014/main" id="{48267FC9-2229-9A4C-93EE-650A4BA91DE6}"/>
              </a:ext>
            </a:extLst>
          </p:cNvPr>
          <p:cNvSpPr>
            <a:spLocks noGrp="1" noChangeArrowheads="1"/>
          </p:cNvSpPr>
          <p:nvPr>
            <p:ph type="body" idx="1"/>
          </p:nvPr>
        </p:nvSpPr>
        <p:spPr>
          <a:xfrm>
            <a:off x="838200" y="800100"/>
            <a:ext cx="6648450" cy="3714750"/>
          </a:xfrm>
        </p:spPr>
        <p:txBody>
          <a:bodyPr/>
          <a:lstStyle/>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Neurons are surrounded by a solution containing ions.</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Ions carry an electrical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Sodium ions (Na</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Chlorine ions (Cl</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negative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Potassium ions (K</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Electrical signals are generated when such ions cross the membranes of neurons.</a:t>
            </a:r>
          </a:p>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Membranes have selective permeability. </a:t>
            </a:r>
          </a:p>
        </p:txBody>
      </p:sp>
      <p:sp>
        <p:nvSpPr>
          <p:cNvPr id="68611" name="Date Placeholder 1">
            <a:extLst>
              <a:ext uri="{FF2B5EF4-FFF2-40B4-BE49-F238E27FC236}">
                <a16:creationId xmlns:a16="http://schemas.microsoft.com/office/drawing/2014/main" id="{0CF841D2-514E-524B-A64A-B4B7484FCE8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19DF38F-5532-6442-94AE-33CEAF1922F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8612" name="Footer Placeholder 2">
            <a:extLst>
              <a:ext uri="{FF2B5EF4-FFF2-40B4-BE49-F238E27FC236}">
                <a16:creationId xmlns:a16="http://schemas.microsoft.com/office/drawing/2014/main" id="{B0427ED6-163E-BA48-AF21-C8A9EFBAED1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7" name="Picture 4" descr="The diagram shows a cross-section of a nerve fiber, depicted as a yellow, hollow tube with an orange interior. Dispersed around and within this tube are several colored spheres representing ions. Blue spheres labeled &quot;Na+&quot; are predominantly located outside the nerve fiber, while red spheres labeled &quot;K+&quot; are mostly found inside. This visual representation illustrates the differential distribution of sodium and potassium ions across the nerve fiber membrane, a key factor in nerve impulse transmission.">
            <a:extLst>
              <a:ext uri="{FF2B5EF4-FFF2-40B4-BE49-F238E27FC236}">
                <a16:creationId xmlns:a16="http://schemas.microsoft.com/office/drawing/2014/main" id="{41B8919D-8B06-C742-91C9-DCC2CAC86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7862" y="1013223"/>
            <a:ext cx="5195888" cy="3107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8" name="Rectangle 2">
            <a:extLst>
              <a:ext uri="{FF2B5EF4-FFF2-40B4-BE49-F238E27FC236}">
                <a16:creationId xmlns:a16="http://schemas.microsoft.com/office/drawing/2014/main" id="{ADF337A6-DA9D-A04A-9C0D-8EC0007C4AF2}"/>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a:latin typeface="Arial" panose="020B0604020202020204" pitchFamily="34" charset="0"/>
                <a:ea typeface="ＭＳ Ｐゴシック" panose="020B0600070205080204" pitchFamily="34" charset="-128"/>
              </a:rPr>
              <a:t>Figure 2.8 A nerve fiber, showing the high concentration of sodium outside the fiber and potassium inside the fiber.  Other ions, such as negatively charged chlorine, are not shown.</a:t>
            </a:r>
          </a:p>
        </p:txBody>
      </p:sp>
      <p:sp>
        <p:nvSpPr>
          <p:cNvPr id="70659" name="Date Placeholder 1">
            <a:extLst>
              <a:ext uri="{FF2B5EF4-FFF2-40B4-BE49-F238E27FC236}">
                <a16:creationId xmlns:a16="http://schemas.microsoft.com/office/drawing/2014/main" id="{904DD699-08DA-8D4F-AF76-BBB7E3A9A02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021D0A5-06AD-4745-95DC-214FE699ED17}"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70660" name="Footer Placeholder 2">
            <a:extLst>
              <a:ext uri="{FF2B5EF4-FFF2-40B4-BE49-F238E27FC236}">
                <a16:creationId xmlns:a16="http://schemas.microsoft.com/office/drawing/2014/main" id="{CF8DC108-FD50-DD4F-B81C-629F0111284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theme/theme1.xml><?xml version="1.0" encoding="utf-8"?>
<a:theme xmlns:a="http://schemas.openxmlformats.org/drawingml/2006/main" name="35-audio">
  <a:themeElements>
    <a:clrScheme name="">
      <a:dk1>
        <a:srgbClr val="000000"/>
      </a:dk1>
      <a:lt1>
        <a:srgbClr val="FFFFFF"/>
      </a:lt1>
      <a:dk2>
        <a:srgbClr val="000000"/>
      </a:dk2>
      <a:lt2>
        <a:srgbClr val="5E574E"/>
      </a:lt2>
      <a:accent1>
        <a:srgbClr val="0080FF"/>
      </a:accent1>
      <a:accent2>
        <a:srgbClr val="FFCC00"/>
      </a:accent2>
      <a:accent3>
        <a:srgbClr val="FFFFFF"/>
      </a:accent3>
      <a:accent4>
        <a:srgbClr val="000000"/>
      </a:accent4>
      <a:accent5>
        <a:srgbClr val="AAC0FF"/>
      </a:accent5>
      <a:accent6>
        <a:srgbClr val="E7B900"/>
      </a:accent6>
      <a:hlink>
        <a:srgbClr val="3366CC"/>
      </a:hlink>
      <a:folHlink>
        <a:srgbClr val="808000"/>
      </a:folHlink>
    </a:clrScheme>
    <a:fontScheme name="35-audio">
      <a:majorFont>
        <a:latin typeface="Arial"/>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lnDef>
  </a:objectDefaults>
  <a:extraClrSchemeLst>
    <a:extraClrScheme>
      <a:clrScheme name="35-audio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35-audio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5-audio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35-audio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35-audio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35-audio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8">
        <a:dk1>
          <a:srgbClr val="000000"/>
        </a:dk1>
        <a:lt1>
          <a:srgbClr val="FFFFFF"/>
        </a:lt1>
        <a:dk2>
          <a:srgbClr val="000066"/>
        </a:dk2>
        <a:lt2>
          <a:srgbClr val="FFFF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WalkerB HD:Users:walkerb:Bruce:Classes:6750-HCI:PPT Slides:35-audio.ppt</Template>
  <TotalTime>7158</TotalTime>
  <Words>1573</Words>
  <Application>Microsoft Macintosh PowerPoint</Application>
  <PresentationFormat>On-screen Show (16:9)</PresentationFormat>
  <Paragraphs>223</Paragraphs>
  <Slides>29</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Comic Sans MS</vt:lpstr>
      <vt:lpstr>Tahoma</vt:lpstr>
      <vt:lpstr>Times</vt:lpstr>
      <vt:lpstr>Wingdings</vt:lpstr>
      <vt:lpstr>35-audio</vt:lpstr>
      <vt:lpstr>Physiology of Perception</vt:lpstr>
      <vt:lpstr>Reminder: Outline of Topics</vt:lpstr>
      <vt:lpstr>Overview</vt:lpstr>
      <vt:lpstr>Brain as Center of Perception</vt:lpstr>
      <vt:lpstr>Made Up of Neurons…</vt:lpstr>
      <vt:lpstr>Basic Brain Structure</vt:lpstr>
      <vt:lpstr>PowerPoint Presentation</vt:lpstr>
      <vt:lpstr>Neurons: Transduction &amp; Transmission</vt:lpstr>
      <vt:lpstr>Neurons: Transduction &amp; Transmission</vt:lpstr>
      <vt:lpstr>Neural Signals</vt:lpstr>
      <vt:lpstr>Properties of Action Potentials</vt:lpstr>
      <vt:lpstr>Stimulus Intensity &amp; Firing Rate</vt:lpstr>
      <vt:lpstr>Synaptic Transmission of Impulses </vt:lpstr>
      <vt:lpstr>Video: Synaptic Transmission</vt:lpstr>
      <vt:lpstr>Types of Neurotransmitters</vt:lpstr>
      <vt:lpstr>Neural Circuits</vt:lpstr>
      <vt:lpstr>Simple Circuit</vt:lpstr>
      <vt:lpstr>Neural Circuits - continued</vt:lpstr>
      <vt:lpstr>Convergent Circuits (+ only)</vt:lpstr>
      <vt:lpstr>Neural Circuits - continued</vt:lpstr>
      <vt:lpstr>Convergent Circuits (+ and -)</vt:lpstr>
      <vt:lpstr>Receptive Fields</vt:lpstr>
      <vt:lpstr>Center-Surround Receptive Fields</vt:lpstr>
      <vt:lpstr>Center-Surround Antagonism</vt:lpstr>
      <vt:lpstr>Sensory Code: Specificity Encoding</vt:lpstr>
      <vt:lpstr>Sensory Code: Distributed Encoding</vt:lpstr>
      <vt:lpstr>Upcoming</vt:lpstr>
      <vt:lpstr>Basics of Neural Signals</vt:lpstr>
      <vt:lpstr>PowerPoint Presentation</vt:lpstr>
    </vt:vector>
  </TitlesOfParts>
  <Company>Georgia Tech Psychology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Sensation &amp; Perception</dc:title>
  <dc:creator>Bruce Walker</dc:creator>
  <cp:lastModifiedBy>Walker, Bruce N</cp:lastModifiedBy>
  <cp:revision>51</cp:revision>
  <cp:lastPrinted>2002-12-30T22:33:12Z</cp:lastPrinted>
  <dcterms:created xsi:type="dcterms:W3CDTF">2012-01-20T02:14:24Z</dcterms:created>
  <dcterms:modified xsi:type="dcterms:W3CDTF">2021-01-24T21:07:41Z</dcterms:modified>
</cp:coreProperties>
</file>