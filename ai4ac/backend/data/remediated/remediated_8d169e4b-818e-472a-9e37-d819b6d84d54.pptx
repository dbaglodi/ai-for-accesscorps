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1"/>
  </p:notesMasterIdLst>
  <p:handoutMasterIdLst>
    <p:handoutMasterId r:id="rId32"/>
  </p:handoutMasterIdLst>
  <p:sldIdLst>
    <p:sldId id="256" r:id="rId2"/>
    <p:sldId id="328" r:id="rId3"/>
    <p:sldId id="257" r:id="rId4"/>
    <p:sldId id="269" r:id="rId5"/>
    <p:sldId id="276" r:id="rId6"/>
    <p:sldId id="286" r:id="rId7"/>
    <p:sldId id="287" r:id="rId8"/>
    <p:sldId id="325" r:id="rId9"/>
    <p:sldId id="288" r:id="rId10"/>
    <p:sldId id="292" r:id="rId11"/>
    <p:sldId id="296" r:id="rId12"/>
    <p:sldId id="297" r:id="rId13"/>
    <p:sldId id="298" r:id="rId14"/>
    <p:sldId id="300" r:id="rId15"/>
    <p:sldId id="301" r:id="rId16"/>
    <p:sldId id="304" r:id="rId17"/>
    <p:sldId id="305" r:id="rId18"/>
    <p:sldId id="306" r:id="rId19"/>
    <p:sldId id="307" r:id="rId20"/>
    <p:sldId id="308" r:id="rId21"/>
    <p:sldId id="309" r:id="rId22"/>
    <p:sldId id="310" r:id="rId23"/>
    <p:sldId id="312" r:id="rId24"/>
    <p:sldId id="314" r:id="rId25"/>
    <p:sldId id="316" r:id="rId26"/>
    <p:sldId id="319" r:id="rId27"/>
    <p:sldId id="268" r:id="rId28"/>
    <p:sldId id="326" r:id="rId29"/>
    <p:sldId id="327" r:id="rId30"/>
  </p:sldIdLst>
  <p:sldSz cx="9144000" cy="5143500" type="screen16x9"/>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38"/>
  </p:normalViewPr>
  <p:slideViewPr>
    <p:cSldViewPr>
      <p:cViewPr varScale="1">
        <p:scale>
          <a:sx n="151" d="100"/>
          <a:sy n="151" d="100"/>
        </p:scale>
        <p:origin x="520" y="176"/>
      </p:cViewPr>
      <p:guideLst>
        <p:guide orient="horz" pos="1620"/>
        <p:guide pos="2880"/>
      </p:guideLst>
    </p:cSldViewPr>
  </p:slideViewPr>
  <p:outlineViewPr>
    <p:cViewPr>
      <p:scale>
        <a:sx n="33" d="100"/>
        <a:sy n="33" d="100"/>
      </p:scale>
      <p:origin x="0" y="18536"/>
    </p:cViewPr>
  </p:outlineViewPr>
  <p:notesTextViewPr>
    <p:cViewPr>
      <p:scale>
        <a:sx n="100" d="100"/>
        <a:sy n="100" d="100"/>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3F558A9-DA8C-0A4A-A9D6-28E17870D4B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7" name="Rectangle 3">
            <a:extLst>
              <a:ext uri="{FF2B5EF4-FFF2-40B4-BE49-F238E27FC236}">
                <a16:creationId xmlns:a16="http://schemas.microsoft.com/office/drawing/2014/main" id="{600705CB-591E-D340-B556-AB4ACC36EBB8}"/>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1268" name="Rectangle 4">
            <a:extLst>
              <a:ext uri="{FF2B5EF4-FFF2-40B4-BE49-F238E27FC236}">
                <a16:creationId xmlns:a16="http://schemas.microsoft.com/office/drawing/2014/main" id="{AF3A6860-2E4E-5C43-9346-C44984AD63E6}"/>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9" name="Rectangle 5">
            <a:extLst>
              <a:ext uri="{FF2B5EF4-FFF2-40B4-BE49-F238E27FC236}">
                <a16:creationId xmlns:a16="http://schemas.microsoft.com/office/drawing/2014/main" id="{0CE811E3-AE1A-5A42-B453-E883C13CD3A4}"/>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1326EE1-770B-5044-B269-2293F993D78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3F1E7CE-B704-5B46-9A09-9D8D78B6AE9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1" name="Rectangle 3">
            <a:extLst>
              <a:ext uri="{FF2B5EF4-FFF2-40B4-BE49-F238E27FC236}">
                <a16:creationId xmlns:a16="http://schemas.microsoft.com/office/drawing/2014/main" id="{08BBAAEB-51AC-5C4C-B0B0-F67056DD0FB6}"/>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3316" name="Rectangle 4">
            <a:extLst>
              <a:ext uri="{FF2B5EF4-FFF2-40B4-BE49-F238E27FC236}">
                <a16:creationId xmlns:a16="http://schemas.microsoft.com/office/drawing/2014/main" id="{239BCA80-B535-0A4F-95BC-1F3B6D974DB8}"/>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33C9E59B-4658-BE47-9963-4BB72D8AE619}"/>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a:extLst>
              <a:ext uri="{FF2B5EF4-FFF2-40B4-BE49-F238E27FC236}">
                <a16:creationId xmlns:a16="http://schemas.microsoft.com/office/drawing/2014/main" id="{11C0D8D2-8A4B-754B-A07D-6617721D8BE3}"/>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5" name="Rectangle 7">
            <a:extLst>
              <a:ext uri="{FF2B5EF4-FFF2-40B4-BE49-F238E27FC236}">
                <a16:creationId xmlns:a16="http://schemas.microsoft.com/office/drawing/2014/main" id="{1B1B4E08-1B91-BE4E-A3F6-841920412614}"/>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BA2F6CF-D245-AE40-B035-DD9CA7F120A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10"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D9BAB331-E797-3E44-BEBB-E17657056E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CE2B21B-6094-064D-B292-99F66B598B11}" type="slidenum">
              <a:rPr lang="en-US" altLang="en-US" sz="1200" smtClean="0"/>
              <a:pPr/>
              <a:t>1</a:t>
            </a:fld>
            <a:endParaRPr lang="en-US" altLang="en-US" sz="1200"/>
          </a:p>
        </p:txBody>
      </p:sp>
      <p:sp>
        <p:nvSpPr>
          <p:cNvPr id="16386" name="Rectangle 2">
            <a:extLst>
              <a:ext uri="{FF2B5EF4-FFF2-40B4-BE49-F238E27FC236}">
                <a16:creationId xmlns:a16="http://schemas.microsoft.com/office/drawing/2014/main" id="{2CD11686-6F80-A444-AEE4-DCA41A984AFF}"/>
              </a:ext>
            </a:extLst>
          </p:cNvPr>
          <p:cNvSpPr>
            <a:spLocks noGrp="1" noRot="1" noChangeAspect="1" noChangeArrowheads="1" noTextEdit="1"/>
          </p:cNvSpPr>
          <p:nvPr>
            <p:ph type="sldImg"/>
          </p:nvPr>
        </p:nvSpPr>
        <p:spPr>
          <a:xfrm>
            <a:off x="381000" y="685800"/>
            <a:ext cx="6096000" cy="3429000"/>
          </a:xfrm>
          <a:ln/>
        </p:spPr>
      </p:sp>
      <p:sp>
        <p:nvSpPr>
          <p:cNvPr id="16387" name="Rectangle 3">
            <a:extLst>
              <a:ext uri="{FF2B5EF4-FFF2-40B4-BE49-F238E27FC236}">
                <a16:creationId xmlns:a16="http://schemas.microsoft.com/office/drawing/2014/main" id="{117B5C69-F248-B34F-BDE5-CEC38FF56A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279E30D2-E615-954C-B0C9-2124F66A04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FC0F0B0-1D28-3D46-B8C1-8534A751C016}" type="slidenum">
              <a:rPr lang="en-US" altLang="en-US" sz="1200" smtClean="0"/>
              <a:pPr/>
              <a:t>3</a:t>
            </a:fld>
            <a:endParaRPr lang="en-US" altLang="en-US" sz="1200"/>
          </a:p>
        </p:txBody>
      </p:sp>
      <p:sp>
        <p:nvSpPr>
          <p:cNvPr id="18434" name="Rectangle 2">
            <a:extLst>
              <a:ext uri="{FF2B5EF4-FFF2-40B4-BE49-F238E27FC236}">
                <a16:creationId xmlns:a16="http://schemas.microsoft.com/office/drawing/2014/main" id="{FEE0D0F6-533B-2248-AD10-AB98B9AD9D16}"/>
              </a:ext>
            </a:extLst>
          </p:cNvPr>
          <p:cNvSpPr>
            <a:spLocks noGrp="1" noRot="1" noChangeAspect="1" noChangeArrowheads="1" noTextEdit="1"/>
          </p:cNvSpPr>
          <p:nvPr>
            <p:ph type="sldImg"/>
          </p:nvPr>
        </p:nvSpPr>
        <p:spPr>
          <a:xfrm>
            <a:off x="381000" y="685800"/>
            <a:ext cx="6096000" cy="3429000"/>
          </a:xfrm>
          <a:ln/>
        </p:spPr>
      </p:sp>
      <p:sp>
        <p:nvSpPr>
          <p:cNvPr id="18435" name="Rectangle 3">
            <a:extLst>
              <a:ext uri="{FF2B5EF4-FFF2-40B4-BE49-F238E27FC236}">
                <a16:creationId xmlns:a16="http://schemas.microsoft.com/office/drawing/2014/main" id="{D778F79E-8D22-C842-8B85-D3C7E3FA5D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BFB05557-4DD7-9241-9D3A-36B408B032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08289F4B-38A2-F443-BB95-7E2E014086A9}" type="slidenum">
              <a:rPr lang="en-US" altLang="en-US" sz="1200" smtClean="0"/>
              <a:pPr/>
              <a:t>4</a:t>
            </a:fld>
            <a:endParaRPr lang="en-US" altLang="en-US" sz="1200"/>
          </a:p>
        </p:txBody>
      </p:sp>
      <p:sp>
        <p:nvSpPr>
          <p:cNvPr id="20482" name="Rectangle 2">
            <a:extLst>
              <a:ext uri="{FF2B5EF4-FFF2-40B4-BE49-F238E27FC236}">
                <a16:creationId xmlns:a16="http://schemas.microsoft.com/office/drawing/2014/main" id="{03E90D78-ADCB-674B-85A8-C19868155A58}"/>
              </a:ext>
            </a:extLst>
          </p:cNvPr>
          <p:cNvSpPr>
            <a:spLocks noGrp="1" noRot="1" noChangeAspect="1" noChangeArrowheads="1" noTextEdit="1"/>
          </p:cNvSpPr>
          <p:nvPr>
            <p:ph type="sldImg"/>
          </p:nvPr>
        </p:nvSpPr>
        <p:spPr>
          <a:xfrm>
            <a:off x="381000" y="685800"/>
            <a:ext cx="6096000" cy="3429000"/>
          </a:xfrm>
          <a:ln/>
        </p:spPr>
      </p:sp>
      <p:sp>
        <p:nvSpPr>
          <p:cNvPr id="20483" name="Rectangle 3">
            <a:extLst>
              <a:ext uri="{FF2B5EF4-FFF2-40B4-BE49-F238E27FC236}">
                <a16:creationId xmlns:a16="http://schemas.microsoft.com/office/drawing/2014/main" id="{B0F22141-D9B4-044A-9F1B-59F8A077CF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0F5C0031-C48D-3446-B7AD-3B9171E548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C0A6925-F32A-5649-9A77-A1B5FCC1DF2F}" type="slidenum">
              <a:rPr lang="en-US" altLang="en-US" sz="1200" smtClean="0"/>
              <a:pPr/>
              <a:t>5</a:t>
            </a:fld>
            <a:endParaRPr lang="en-US" altLang="en-US" sz="1200"/>
          </a:p>
        </p:txBody>
      </p:sp>
      <p:sp>
        <p:nvSpPr>
          <p:cNvPr id="22530" name="Rectangle 2">
            <a:extLst>
              <a:ext uri="{FF2B5EF4-FFF2-40B4-BE49-F238E27FC236}">
                <a16:creationId xmlns:a16="http://schemas.microsoft.com/office/drawing/2014/main" id="{4482657A-98B1-9D43-9AF7-52D7102F8DF9}"/>
              </a:ext>
            </a:extLst>
          </p:cNvPr>
          <p:cNvSpPr>
            <a:spLocks noGrp="1" noRot="1" noChangeAspect="1" noChangeArrowheads="1" noTextEdit="1"/>
          </p:cNvSpPr>
          <p:nvPr>
            <p:ph type="sldImg"/>
          </p:nvPr>
        </p:nvSpPr>
        <p:spPr>
          <a:xfrm>
            <a:off x="381000" y="685800"/>
            <a:ext cx="6096000" cy="3429000"/>
          </a:xfrm>
          <a:ln/>
        </p:spPr>
      </p:sp>
      <p:sp>
        <p:nvSpPr>
          <p:cNvPr id="22531" name="Rectangle 3">
            <a:extLst>
              <a:ext uri="{FF2B5EF4-FFF2-40B4-BE49-F238E27FC236}">
                <a16:creationId xmlns:a16="http://schemas.microsoft.com/office/drawing/2014/main" id="{47B59028-2F3E-B049-95D4-304CEB9565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9C872A02-86E7-D349-971C-E4EFD26C50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B2B1064-FB65-C948-BB30-A23CFD71F264}" type="slidenum">
              <a:rPr lang="en-US" altLang="en-US" sz="1200" smtClean="0"/>
              <a:pPr/>
              <a:t>6</a:t>
            </a:fld>
            <a:endParaRPr lang="en-US" altLang="en-US" sz="1200"/>
          </a:p>
        </p:txBody>
      </p:sp>
      <p:sp>
        <p:nvSpPr>
          <p:cNvPr id="24578" name="Rectangle 2">
            <a:extLst>
              <a:ext uri="{FF2B5EF4-FFF2-40B4-BE49-F238E27FC236}">
                <a16:creationId xmlns:a16="http://schemas.microsoft.com/office/drawing/2014/main" id="{0284A813-4981-594F-B220-65DEC1F2733E}"/>
              </a:ext>
            </a:extLst>
          </p:cNvPr>
          <p:cNvSpPr>
            <a:spLocks noGrp="1" noRot="1" noChangeAspect="1" noChangeArrowheads="1" noTextEdit="1"/>
          </p:cNvSpPr>
          <p:nvPr>
            <p:ph type="sldImg"/>
          </p:nvPr>
        </p:nvSpPr>
        <p:spPr>
          <a:xfrm>
            <a:off x="381000" y="685800"/>
            <a:ext cx="6096000" cy="3429000"/>
          </a:xfrm>
          <a:ln/>
        </p:spPr>
      </p:sp>
      <p:sp>
        <p:nvSpPr>
          <p:cNvPr id="24579" name="Rectangle 3">
            <a:extLst>
              <a:ext uri="{FF2B5EF4-FFF2-40B4-BE49-F238E27FC236}">
                <a16:creationId xmlns:a16="http://schemas.microsoft.com/office/drawing/2014/main" id="{12863047-9B60-BD49-99AC-BB6E6F5F34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80459D58-1A5D-3947-B5D8-E34AE6FD2E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3FEB8D92-5D75-4E41-9902-CBAE81064C62}" type="slidenum">
              <a:rPr lang="en-US" altLang="en-US" sz="1200" smtClean="0"/>
              <a:pPr/>
              <a:t>7</a:t>
            </a:fld>
            <a:endParaRPr lang="en-US" altLang="en-US" sz="1200"/>
          </a:p>
        </p:txBody>
      </p:sp>
      <p:sp>
        <p:nvSpPr>
          <p:cNvPr id="26626" name="Rectangle 2">
            <a:extLst>
              <a:ext uri="{FF2B5EF4-FFF2-40B4-BE49-F238E27FC236}">
                <a16:creationId xmlns:a16="http://schemas.microsoft.com/office/drawing/2014/main" id="{6E74BE94-D453-BE46-99BB-8F110FEB698D}"/>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26627" name="Rectangle 3">
            <a:extLst>
              <a:ext uri="{FF2B5EF4-FFF2-40B4-BE49-F238E27FC236}">
                <a16:creationId xmlns:a16="http://schemas.microsoft.com/office/drawing/2014/main" id="{E761AF3C-9833-CC4B-9C02-D9A3FCF90337}"/>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CDB30AC7-22BA-314D-9FB1-28914E5DB5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BD3D8DE-791C-5347-9826-D10E8AFA3F13}" type="slidenum">
              <a:rPr lang="en-US" altLang="en-US" sz="1200" smtClean="0"/>
              <a:pPr/>
              <a:t>8</a:t>
            </a:fld>
            <a:endParaRPr lang="en-US" altLang="en-US" sz="1200"/>
          </a:p>
        </p:txBody>
      </p:sp>
      <p:sp>
        <p:nvSpPr>
          <p:cNvPr id="28674" name="Rectangle 2">
            <a:extLst>
              <a:ext uri="{FF2B5EF4-FFF2-40B4-BE49-F238E27FC236}">
                <a16:creationId xmlns:a16="http://schemas.microsoft.com/office/drawing/2014/main" id="{0CD75608-B2AB-734A-8BB0-789E1B71177D}"/>
              </a:ext>
            </a:extLst>
          </p:cNvPr>
          <p:cNvSpPr>
            <a:spLocks noGrp="1" noRot="1" noChangeAspect="1" noChangeArrowheads="1" noTextEdit="1"/>
          </p:cNvSpPr>
          <p:nvPr>
            <p:ph type="sldImg"/>
          </p:nvPr>
        </p:nvSpPr>
        <p:spPr>
          <a:xfrm>
            <a:off x="381000" y="685800"/>
            <a:ext cx="6096000" cy="3429000"/>
          </a:xfrm>
          <a:ln/>
        </p:spPr>
      </p:sp>
      <p:sp>
        <p:nvSpPr>
          <p:cNvPr id="28675" name="Rectangle 3">
            <a:extLst>
              <a:ext uri="{FF2B5EF4-FFF2-40B4-BE49-F238E27FC236}">
                <a16:creationId xmlns:a16="http://schemas.microsoft.com/office/drawing/2014/main" id="{50CD4570-DC87-7A4D-BA94-F394092EB8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8C42032-8C53-4040-9734-2362D39328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E034A6-42EB-2E45-B73E-C9DA2FBCBE24}" type="slidenum">
              <a:rPr lang="en-US" altLang="en-US" sz="1200" smtClean="0"/>
              <a:pPr/>
              <a:t>9</a:t>
            </a:fld>
            <a:endParaRPr lang="en-US" altLang="en-US" sz="1200"/>
          </a:p>
        </p:txBody>
      </p:sp>
      <p:sp>
        <p:nvSpPr>
          <p:cNvPr id="30722" name="Rectangle 2">
            <a:extLst>
              <a:ext uri="{FF2B5EF4-FFF2-40B4-BE49-F238E27FC236}">
                <a16:creationId xmlns:a16="http://schemas.microsoft.com/office/drawing/2014/main" id="{A560BA01-F890-5B41-BC3B-0BFDB8FE4EE3}"/>
              </a:ext>
            </a:extLst>
          </p:cNvPr>
          <p:cNvSpPr>
            <a:spLocks noGrp="1" noRot="1" noChangeAspect="1" noChangeArrowheads="1" noTextEdit="1"/>
          </p:cNvSpPr>
          <p:nvPr>
            <p:ph type="sldImg"/>
          </p:nvPr>
        </p:nvSpPr>
        <p:spPr>
          <a:xfrm>
            <a:off x="381000" y="685800"/>
            <a:ext cx="6096000" cy="3429000"/>
          </a:xfrm>
          <a:ln/>
        </p:spPr>
      </p:sp>
      <p:sp>
        <p:nvSpPr>
          <p:cNvPr id="30723" name="Rectangle 3">
            <a:extLst>
              <a:ext uri="{FF2B5EF4-FFF2-40B4-BE49-F238E27FC236}">
                <a16:creationId xmlns:a16="http://schemas.microsoft.com/office/drawing/2014/main" id="{E6E447F0-CDE8-8340-BDB0-82D92EEEF7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0E4B206B-4629-7940-AEDA-088CE17AFA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600EB2-3F10-7C49-B268-BFE0508D8167}" type="slidenum">
              <a:rPr lang="en-US" altLang="en-US" sz="1200" smtClean="0"/>
              <a:pPr/>
              <a:t>10</a:t>
            </a:fld>
            <a:endParaRPr lang="en-US" altLang="en-US" sz="1200"/>
          </a:p>
        </p:txBody>
      </p:sp>
      <p:sp>
        <p:nvSpPr>
          <p:cNvPr id="32770" name="Rectangle 2">
            <a:extLst>
              <a:ext uri="{FF2B5EF4-FFF2-40B4-BE49-F238E27FC236}">
                <a16:creationId xmlns:a16="http://schemas.microsoft.com/office/drawing/2014/main" id="{6DCD66F7-9241-6E42-88B5-349C60B8F686}"/>
              </a:ext>
            </a:extLst>
          </p:cNvPr>
          <p:cNvSpPr>
            <a:spLocks noGrp="1" noRot="1" noChangeAspect="1" noChangeArrowheads="1" noTextEdit="1"/>
          </p:cNvSpPr>
          <p:nvPr>
            <p:ph type="sldImg"/>
          </p:nvPr>
        </p:nvSpPr>
        <p:spPr>
          <a:xfrm>
            <a:off x="381000" y="685800"/>
            <a:ext cx="6096000" cy="3429000"/>
          </a:xfrm>
          <a:ln/>
        </p:spPr>
      </p:sp>
      <p:sp>
        <p:nvSpPr>
          <p:cNvPr id="32771" name="Rectangle 3">
            <a:extLst>
              <a:ext uri="{FF2B5EF4-FFF2-40B4-BE49-F238E27FC236}">
                <a16:creationId xmlns:a16="http://schemas.microsoft.com/office/drawing/2014/main" id="{E21ED039-0736-A045-ADC2-347AD1394F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680FEE61-3EA3-2C49-A617-EEDD5FCDD5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DC6572F-9CD6-3F4D-B656-ED08FB64CAB1}" type="slidenum">
              <a:rPr lang="en-US" altLang="en-US" sz="1200" smtClean="0"/>
              <a:pPr/>
              <a:t>11</a:t>
            </a:fld>
            <a:endParaRPr lang="en-US" altLang="en-US" sz="1200"/>
          </a:p>
        </p:txBody>
      </p:sp>
      <p:sp>
        <p:nvSpPr>
          <p:cNvPr id="34818" name="Rectangle 2">
            <a:extLst>
              <a:ext uri="{FF2B5EF4-FFF2-40B4-BE49-F238E27FC236}">
                <a16:creationId xmlns:a16="http://schemas.microsoft.com/office/drawing/2014/main" id="{5C01FEA8-76FA-A847-9BDA-5AE6C50923E9}"/>
              </a:ext>
            </a:extLst>
          </p:cNvPr>
          <p:cNvSpPr>
            <a:spLocks noGrp="1" noRot="1" noChangeAspect="1" noChangeArrowheads="1" noTextEdit="1"/>
          </p:cNvSpPr>
          <p:nvPr>
            <p:ph type="sldImg"/>
          </p:nvPr>
        </p:nvSpPr>
        <p:spPr>
          <a:xfrm>
            <a:off x="381000" y="685800"/>
            <a:ext cx="6096000" cy="3429000"/>
          </a:xfrm>
          <a:ln/>
        </p:spPr>
      </p:sp>
      <p:sp>
        <p:nvSpPr>
          <p:cNvPr id="34819" name="Rectangle 3">
            <a:extLst>
              <a:ext uri="{FF2B5EF4-FFF2-40B4-BE49-F238E27FC236}">
                <a16:creationId xmlns:a16="http://schemas.microsoft.com/office/drawing/2014/main" id="{5B219D65-454F-3D4A-9A56-78C2BF1181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5CE4C6E6-56B4-0448-ADA6-FADE7997D9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59C21F5-AC1F-6C44-8225-0BBB2A221D3F}" type="slidenum">
              <a:rPr lang="en-US" altLang="en-US" sz="1200" smtClean="0"/>
              <a:pPr/>
              <a:t>12</a:t>
            </a:fld>
            <a:endParaRPr lang="en-US" altLang="en-US" sz="1200"/>
          </a:p>
        </p:txBody>
      </p:sp>
      <p:sp>
        <p:nvSpPr>
          <p:cNvPr id="36866" name="Rectangle 2">
            <a:extLst>
              <a:ext uri="{FF2B5EF4-FFF2-40B4-BE49-F238E27FC236}">
                <a16:creationId xmlns:a16="http://schemas.microsoft.com/office/drawing/2014/main" id="{1E0FC249-816C-F043-9175-3880D51C82DB}"/>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36867" name="Rectangle 3">
            <a:extLst>
              <a:ext uri="{FF2B5EF4-FFF2-40B4-BE49-F238E27FC236}">
                <a16:creationId xmlns:a16="http://schemas.microsoft.com/office/drawing/2014/main" id="{4F645025-64D3-754B-93E9-D55DF99A47B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54A89F74-16D8-5144-BCE6-872091AEF0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C617417-CD43-3D4A-8ADE-1DCA8D9ABAF3}" type="slidenum">
              <a:rPr lang="en-US" altLang="en-US" sz="1200" smtClean="0"/>
              <a:pPr/>
              <a:t>13</a:t>
            </a:fld>
            <a:endParaRPr lang="en-US" altLang="en-US" sz="1200"/>
          </a:p>
        </p:txBody>
      </p:sp>
      <p:sp>
        <p:nvSpPr>
          <p:cNvPr id="38914" name="Rectangle 2">
            <a:extLst>
              <a:ext uri="{FF2B5EF4-FFF2-40B4-BE49-F238E27FC236}">
                <a16:creationId xmlns:a16="http://schemas.microsoft.com/office/drawing/2014/main" id="{12EC4778-71CC-D147-8F88-FB66169D6DFE}"/>
              </a:ext>
            </a:extLst>
          </p:cNvPr>
          <p:cNvSpPr>
            <a:spLocks noGrp="1" noRot="1" noChangeAspect="1" noChangeArrowheads="1" noTextEdit="1"/>
          </p:cNvSpPr>
          <p:nvPr>
            <p:ph type="sldImg"/>
          </p:nvPr>
        </p:nvSpPr>
        <p:spPr>
          <a:xfrm>
            <a:off x="381000" y="685800"/>
            <a:ext cx="6096000" cy="3429000"/>
          </a:xfrm>
          <a:ln/>
        </p:spPr>
      </p:sp>
      <p:sp>
        <p:nvSpPr>
          <p:cNvPr id="38915" name="Rectangle 3">
            <a:extLst>
              <a:ext uri="{FF2B5EF4-FFF2-40B4-BE49-F238E27FC236}">
                <a16:creationId xmlns:a16="http://schemas.microsoft.com/office/drawing/2014/main" id="{547664E5-2A3C-E346-ACAB-020C19D760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F5A8C933-A186-BC43-8512-F36FEB8CFD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CEDEAEA-D266-7840-8459-D90A0CDD0E1C}" type="slidenum">
              <a:rPr lang="en-US" altLang="en-US" sz="1200" smtClean="0"/>
              <a:pPr/>
              <a:t>14</a:t>
            </a:fld>
            <a:endParaRPr lang="en-US" altLang="en-US" sz="1200"/>
          </a:p>
        </p:txBody>
      </p:sp>
      <p:sp>
        <p:nvSpPr>
          <p:cNvPr id="40962" name="Rectangle 2">
            <a:extLst>
              <a:ext uri="{FF2B5EF4-FFF2-40B4-BE49-F238E27FC236}">
                <a16:creationId xmlns:a16="http://schemas.microsoft.com/office/drawing/2014/main" id="{5995B5E6-6177-5744-B156-E03ACF3A49CE}"/>
              </a:ext>
            </a:extLst>
          </p:cNvPr>
          <p:cNvSpPr>
            <a:spLocks noGrp="1" noRot="1" noChangeAspect="1" noChangeArrowheads="1" noTextEdit="1"/>
          </p:cNvSpPr>
          <p:nvPr>
            <p:ph type="sldImg"/>
          </p:nvPr>
        </p:nvSpPr>
        <p:spPr>
          <a:xfrm>
            <a:off x="381000" y="685800"/>
            <a:ext cx="6096000" cy="3429000"/>
          </a:xfrm>
          <a:ln/>
        </p:spPr>
      </p:sp>
      <p:sp>
        <p:nvSpPr>
          <p:cNvPr id="40963" name="Rectangle 3">
            <a:extLst>
              <a:ext uri="{FF2B5EF4-FFF2-40B4-BE49-F238E27FC236}">
                <a16:creationId xmlns:a16="http://schemas.microsoft.com/office/drawing/2014/main" id="{476EA1FD-8DBB-E04F-B72F-02AA31AD15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C9B67EAC-17D0-484D-BE1C-9942CF7CE9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1E98D6-6CFA-334E-903B-675863571BCB}" type="slidenum">
              <a:rPr lang="en-US" altLang="en-US" sz="1200" smtClean="0"/>
              <a:pPr/>
              <a:t>15</a:t>
            </a:fld>
            <a:endParaRPr lang="en-US" altLang="en-US" sz="1200"/>
          </a:p>
        </p:txBody>
      </p:sp>
      <p:sp>
        <p:nvSpPr>
          <p:cNvPr id="43010" name="Rectangle 2">
            <a:extLst>
              <a:ext uri="{FF2B5EF4-FFF2-40B4-BE49-F238E27FC236}">
                <a16:creationId xmlns:a16="http://schemas.microsoft.com/office/drawing/2014/main" id="{14CE1EEF-CD36-544F-BFFE-F2C906813B33}"/>
              </a:ext>
            </a:extLst>
          </p:cNvPr>
          <p:cNvSpPr>
            <a:spLocks noGrp="1" noRot="1" noChangeAspect="1" noChangeArrowheads="1" noTextEdit="1"/>
          </p:cNvSpPr>
          <p:nvPr>
            <p:ph type="sldImg"/>
          </p:nvPr>
        </p:nvSpPr>
        <p:spPr>
          <a:xfrm>
            <a:off x="381000" y="685800"/>
            <a:ext cx="6096000" cy="3429000"/>
          </a:xfrm>
          <a:ln/>
        </p:spPr>
      </p:sp>
      <p:sp>
        <p:nvSpPr>
          <p:cNvPr id="43011" name="Rectangle 3">
            <a:extLst>
              <a:ext uri="{FF2B5EF4-FFF2-40B4-BE49-F238E27FC236}">
                <a16:creationId xmlns:a16="http://schemas.microsoft.com/office/drawing/2014/main" id="{18A232AC-38D2-034A-8B2E-C15FD1F0F7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580023FD-EEC4-6449-84F2-26EB6D3683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4AEF171-57C5-154E-A80D-79188824DFCE}" type="slidenum">
              <a:rPr lang="en-US" altLang="en-US" sz="1200" smtClean="0"/>
              <a:pPr/>
              <a:t>16</a:t>
            </a:fld>
            <a:endParaRPr lang="en-US" altLang="en-US" sz="1200"/>
          </a:p>
        </p:txBody>
      </p:sp>
      <p:sp>
        <p:nvSpPr>
          <p:cNvPr id="45058" name="Rectangle 2">
            <a:extLst>
              <a:ext uri="{FF2B5EF4-FFF2-40B4-BE49-F238E27FC236}">
                <a16:creationId xmlns:a16="http://schemas.microsoft.com/office/drawing/2014/main" id="{95B831F9-0F6A-F04B-B831-1B27C94F3054}"/>
              </a:ext>
            </a:extLst>
          </p:cNvPr>
          <p:cNvSpPr>
            <a:spLocks noGrp="1" noRot="1" noChangeAspect="1" noChangeArrowheads="1" noTextEdit="1"/>
          </p:cNvSpPr>
          <p:nvPr>
            <p:ph type="sldImg"/>
          </p:nvPr>
        </p:nvSpPr>
        <p:spPr>
          <a:xfrm>
            <a:off x="381000" y="685800"/>
            <a:ext cx="6096000" cy="3429000"/>
          </a:xfrm>
          <a:ln/>
        </p:spPr>
      </p:sp>
      <p:sp>
        <p:nvSpPr>
          <p:cNvPr id="45059" name="Rectangle 3">
            <a:extLst>
              <a:ext uri="{FF2B5EF4-FFF2-40B4-BE49-F238E27FC236}">
                <a16:creationId xmlns:a16="http://schemas.microsoft.com/office/drawing/2014/main" id="{67FA9997-5E0D-5741-9607-A297E4E389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BC5BA006-616D-354F-AB12-042D5790D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53E1EF3-3263-DC47-A67D-A736E7ACF3D3}" type="slidenum">
              <a:rPr lang="en-US" altLang="en-US" sz="1200" smtClean="0"/>
              <a:pPr/>
              <a:t>17</a:t>
            </a:fld>
            <a:endParaRPr lang="en-US" altLang="en-US" sz="1200"/>
          </a:p>
        </p:txBody>
      </p:sp>
      <p:sp>
        <p:nvSpPr>
          <p:cNvPr id="47106" name="Rectangle 2">
            <a:extLst>
              <a:ext uri="{FF2B5EF4-FFF2-40B4-BE49-F238E27FC236}">
                <a16:creationId xmlns:a16="http://schemas.microsoft.com/office/drawing/2014/main" id="{6D666652-57C7-5340-9D11-C8E1EC8DF43A}"/>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47107" name="Rectangle 3">
            <a:extLst>
              <a:ext uri="{FF2B5EF4-FFF2-40B4-BE49-F238E27FC236}">
                <a16:creationId xmlns:a16="http://schemas.microsoft.com/office/drawing/2014/main" id="{BBCA6982-6CD2-6944-92FD-A2DA5BB528D2}"/>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353927FD-A8F4-7645-8B49-8D28805845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39F931C-6838-6641-B9BD-C24F7F44BFD4}" type="slidenum">
              <a:rPr lang="en-US" altLang="en-US" sz="1200" smtClean="0"/>
              <a:pPr/>
              <a:t>18</a:t>
            </a:fld>
            <a:endParaRPr lang="en-US" altLang="en-US" sz="1200"/>
          </a:p>
        </p:txBody>
      </p:sp>
      <p:sp>
        <p:nvSpPr>
          <p:cNvPr id="49154" name="Rectangle 2">
            <a:extLst>
              <a:ext uri="{FF2B5EF4-FFF2-40B4-BE49-F238E27FC236}">
                <a16:creationId xmlns:a16="http://schemas.microsoft.com/office/drawing/2014/main" id="{4034AA3B-CE9B-C34F-A971-15F87039F1D0}"/>
              </a:ext>
            </a:extLst>
          </p:cNvPr>
          <p:cNvSpPr>
            <a:spLocks noGrp="1" noRot="1" noChangeAspect="1" noChangeArrowheads="1" noTextEdit="1"/>
          </p:cNvSpPr>
          <p:nvPr>
            <p:ph type="sldImg"/>
          </p:nvPr>
        </p:nvSpPr>
        <p:spPr>
          <a:xfrm>
            <a:off x="381000" y="685800"/>
            <a:ext cx="6096000" cy="3429000"/>
          </a:xfrm>
          <a:ln/>
        </p:spPr>
      </p:sp>
      <p:sp>
        <p:nvSpPr>
          <p:cNvPr id="49155" name="Rectangle 3">
            <a:extLst>
              <a:ext uri="{FF2B5EF4-FFF2-40B4-BE49-F238E27FC236}">
                <a16:creationId xmlns:a16="http://schemas.microsoft.com/office/drawing/2014/main" id="{15F73C26-3C08-2F4C-808C-004118B593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6A4F6725-D5C7-9F49-AE23-2A21FDE19E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0C47261-F674-104D-805A-82E1427A4F72}" type="slidenum">
              <a:rPr lang="en-US" altLang="en-US" sz="1200" smtClean="0"/>
              <a:pPr/>
              <a:t>19</a:t>
            </a:fld>
            <a:endParaRPr lang="en-US" altLang="en-US" sz="1200"/>
          </a:p>
        </p:txBody>
      </p:sp>
      <p:sp>
        <p:nvSpPr>
          <p:cNvPr id="51202" name="Rectangle 2">
            <a:extLst>
              <a:ext uri="{FF2B5EF4-FFF2-40B4-BE49-F238E27FC236}">
                <a16:creationId xmlns:a16="http://schemas.microsoft.com/office/drawing/2014/main" id="{A72B6142-9053-1A45-80E5-DCF57A70AA35}"/>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1203" name="Rectangle 3">
            <a:extLst>
              <a:ext uri="{FF2B5EF4-FFF2-40B4-BE49-F238E27FC236}">
                <a16:creationId xmlns:a16="http://schemas.microsoft.com/office/drawing/2014/main" id="{C07DA4DF-6E07-1344-81C2-4DB9F55D155D}"/>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3BBF598C-EFE3-CE43-BA72-A3EC38888B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90CBC27-A2E0-624F-9177-135995E547A6}" type="slidenum">
              <a:rPr lang="en-US" altLang="en-US" sz="1200" smtClean="0"/>
              <a:pPr/>
              <a:t>20</a:t>
            </a:fld>
            <a:endParaRPr lang="en-US" altLang="en-US" sz="1200"/>
          </a:p>
        </p:txBody>
      </p:sp>
      <p:sp>
        <p:nvSpPr>
          <p:cNvPr id="53250" name="Rectangle 2">
            <a:extLst>
              <a:ext uri="{FF2B5EF4-FFF2-40B4-BE49-F238E27FC236}">
                <a16:creationId xmlns:a16="http://schemas.microsoft.com/office/drawing/2014/main" id="{DAE20997-D217-984E-AC19-C5247688C062}"/>
              </a:ext>
            </a:extLst>
          </p:cNvPr>
          <p:cNvSpPr>
            <a:spLocks noGrp="1" noRot="1" noChangeAspect="1" noChangeArrowheads="1" noTextEdit="1"/>
          </p:cNvSpPr>
          <p:nvPr>
            <p:ph type="sldImg"/>
          </p:nvPr>
        </p:nvSpPr>
        <p:spPr>
          <a:xfrm>
            <a:off x="381000" y="685800"/>
            <a:ext cx="6096000" cy="3429000"/>
          </a:xfrm>
          <a:ln/>
        </p:spPr>
      </p:sp>
      <p:sp>
        <p:nvSpPr>
          <p:cNvPr id="53251" name="Rectangle 3">
            <a:extLst>
              <a:ext uri="{FF2B5EF4-FFF2-40B4-BE49-F238E27FC236}">
                <a16:creationId xmlns:a16="http://schemas.microsoft.com/office/drawing/2014/main" id="{6208C768-C685-F745-B371-0411BB13BD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91C21289-99D5-864C-9BA1-40D28DE3A2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CC6A1A8-D8B5-224E-800E-7E3FA83B9D06}" type="slidenum">
              <a:rPr lang="en-US" altLang="en-US" sz="1200" smtClean="0"/>
              <a:pPr/>
              <a:t>21</a:t>
            </a:fld>
            <a:endParaRPr lang="en-US" altLang="en-US" sz="1200"/>
          </a:p>
        </p:txBody>
      </p:sp>
      <p:sp>
        <p:nvSpPr>
          <p:cNvPr id="55298" name="Rectangle 2">
            <a:extLst>
              <a:ext uri="{FF2B5EF4-FFF2-40B4-BE49-F238E27FC236}">
                <a16:creationId xmlns:a16="http://schemas.microsoft.com/office/drawing/2014/main" id="{3615589A-5D37-E34B-9571-A922BAE4F031}"/>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5299" name="Rectangle 3">
            <a:extLst>
              <a:ext uri="{FF2B5EF4-FFF2-40B4-BE49-F238E27FC236}">
                <a16:creationId xmlns:a16="http://schemas.microsoft.com/office/drawing/2014/main" id="{E91332A6-274D-8740-87CE-D1E83163FDD5}"/>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855B6762-CFC3-9F42-8537-BCBAF93B1D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53050FE-8CA7-AE4B-A70F-D58A37BABE11}" type="slidenum">
              <a:rPr lang="en-US" altLang="en-US" sz="1200" smtClean="0"/>
              <a:pPr/>
              <a:t>22</a:t>
            </a:fld>
            <a:endParaRPr lang="en-US" altLang="en-US" sz="1200"/>
          </a:p>
        </p:txBody>
      </p:sp>
      <p:sp>
        <p:nvSpPr>
          <p:cNvPr id="57346" name="Rectangle 2">
            <a:extLst>
              <a:ext uri="{FF2B5EF4-FFF2-40B4-BE49-F238E27FC236}">
                <a16:creationId xmlns:a16="http://schemas.microsoft.com/office/drawing/2014/main" id="{2AA16590-9606-CF49-B7BA-117676016D4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7347" name="Rectangle 3">
            <a:extLst>
              <a:ext uri="{FF2B5EF4-FFF2-40B4-BE49-F238E27FC236}">
                <a16:creationId xmlns:a16="http://schemas.microsoft.com/office/drawing/2014/main" id="{D6F7C511-80BA-BE4C-B8B0-CEF0E95B4B13}"/>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 pitchFamily="2" charset="0"/>
                <a:ea typeface="ＭＳ Ｐゴシック" panose="020B0600070205080204" pitchFamily="34" charset="-128"/>
              </a:rPr>
              <a:t>Important to emphasize that the receptive field is on the retina.  Students tend to forget this as you work your way through the explanation of more specifically tuned neurons further into the system.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63CEBBEC-F901-8B45-8AE6-4E0E759824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A98F82-EC9A-644A-B244-1CCB3A789304}" type="slidenum">
              <a:rPr lang="en-US" altLang="en-US" sz="1200" smtClean="0"/>
              <a:pPr/>
              <a:t>23</a:t>
            </a:fld>
            <a:endParaRPr lang="en-US" altLang="en-US" sz="1200"/>
          </a:p>
        </p:txBody>
      </p:sp>
      <p:sp>
        <p:nvSpPr>
          <p:cNvPr id="59394" name="Rectangle 2">
            <a:extLst>
              <a:ext uri="{FF2B5EF4-FFF2-40B4-BE49-F238E27FC236}">
                <a16:creationId xmlns:a16="http://schemas.microsoft.com/office/drawing/2014/main" id="{5A6EE83F-2666-AE45-9680-463949BC37FD}"/>
              </a:ext>
            </a:extLst>
          </p:cNvPr>
          <p:cNvSpPr>
            <a:spLocks noGrp="1" noRot="1" noChangeAspect="1" noChangeArrowheads="1" noTextEdit="1"/>
          </p:cNvSpPr>
          <p:nvPr>
            <p:ph type="sldImg"/>
          </p:nvPr>
        </p:nvSpPr>
        <p:spPr>
          <a:xfrm>
            <a:off x="381000" y="685800"/>
            <a:ext cx="6096000" cy="3429000"/>
          </a:xfrm>
          <a:ln/>
        </p:spPr>
      </p:sp>
      <p:sp>
        <p:nvSpPr>
          <p:cNvPr id="59395" name="Rectangle 3">
            <a:extLst>
              <a:ext uri="{FF2B5EF4-FFF2-40B4-BE49-F238E27FC236}">
                <a16:creationId xmlns:a16="http://schemas.microsoft.com/office/drawing/2014/main" id="{AFE381F7-7A23-914C-9D8D-EB61D8AD84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C9ACFEA2-5C9E-CD40-B6DB-128D57BD4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533B43F3-259C-434E-A071-E40D362BAA33}" type="slidenum">
              <a:rPr lang="en-US" altLang="en-US" sz="1200" smtClean="0"/>
              <a:pPr/>
              <a:t>24</a:t>
            </a:fld>
            <a:endParaRPr lang="en-US" altLang="en-US" sz="1200"/>
          </a:p>
        </p:txBody>
      </p:sp>
      <p:sp>
        <p:nvSpPr>
          <p:cNvPr id="61442" name="Rectangle 2">
            <a:extLst>
              <a:ext uri="{FF2B5EF4-FFF2-40B4-BE49-F238E27FC236}">
                <a16:creationId xmlns:a16="http://schemas.microsoft.com/office/drawing/2014/main" id="{94AE4C3E-9FC3-6C41-BBA6-206708FD7E9F}"/>
              </a:ext>
            </a:extLst>
          </p:cNvPr>
          <p:cNvSpPr>
            <a:spLocks noGrp="1" noRot="1" noChangeAspect="1" noChangeArrowheads="1" noTextEdit="1"/>
          </p:cNvSpPr>
          <p:nvPr>
            <p:ph type="sldImg"/>
          </p:nvPr>
        </p:nvSpPr>
        <p:spPr>
          <a:xfrm>
            <a:off x="381000" y="685800"/>
            <a:ext cx="6096000" cy="3429000"/>
          </a:xfrm>
          <a:ln/>
        </p:spPr>
      </p:sp>
      <p:sp>
        <p:nvSpPr>
          <p:cNvPr id="61443" name="Rectangle 3">
            <a:extLst>
              <a:ext uri="{FF2B5EF4-FFF2-40B4-BE49-F238E27FC236}">
                <a16:creationId xmlns:a16="http://schemas.microsoft.com/office/drawing/2014/main" id="{90B90274-6809-6F42-B8C0-E905A66C22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6A90AFE9-E38F-E94B-A4E5-421B68FD31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7DACD68-58F9-5045-84AA-F03D4C9421BB}" type="slidenum">
              <a:rPr lang="en-US" altLang="en-US" sz="1200" smtClean="0"/>
              <a:pPr/>
              <a:t>25</a:t>
            </a:fld>
            <a:endParaRPr lang="en-US" altLang="en-US" sz="1200"/>
          </a:p>
        </p:txBody>
      </p:sp>
      <p:sp>
        <p:nvSpPr>
          <p:cNvPr id="63490" name="Rectangle 2">
            <a:extLst>
              <a:ext uri="{FF2B5EF4-FFF2-40B4-BE49-F238E27FC236}">
                <a16:creationId xmlns:a16="http://schemas.microsoft.com/office/drawing/2014/main" id="{2A9924F6-22BF-3443-A9E3-88296A7AD0F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3491" name="Rectangle 3">
            <a:extLst>
              <a:ext uri="{FF2B5EF4-FFF2-40B4-BE49-F238E27FC236}">
                <a16:creationId xmlns:a16="http://schemas.microsoft.com/office/drawing/2014/main" id="{C4DC1D3A-E739-3C49-979D-C97D09EB465B}"/>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55B23B04-DC00-8B4A-980E-8FF422F0C1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7EAFE8A-11C4-564E-94A5-5141107C5F1E}" type="slidenum">
              <a:rPr lang="en-US" altLang="en-US" sz="1200" smtClean="0"/>
              <a:pPr/>
              <a:t>26</a:t>
            </a:fld>
            <a:endParaRPr lang="en-US" altLang="en-US" sz="1200"/>
          </a:p>
        </p:txBody>
      </p:sp>
      <p:sp>
        <p:nvSpPr>
          <p:cNvPr id="65538" name="Rectangle 2">
            <a:extLst>
              <a:ext uri="{FF2B5EF4-FFF2-40B4-BE49-F238E27FC236}">
                <a16:creationId xmlns:a16="http://schemas.microsoft.com/office/drawing/2014/main" id="{1DAF2432-E704-C341-A8B1-A3A9209D20A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5539" name="Rectangle 3">
            <a:extLst>
              <a:ext uri="{FF2B5EF4-FFF2-40B4-BE49-F238E27FC236}">
                <a16:creationId xmlns:a16="http://schemas.microsoft.com/office/drawing/2014/main" id="{D4DA86AD-77CA-3843-82D6-388D5D51E711}"/>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A92BE941-87AF-CA4F-97E0-45429FE879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E97CFD5-89F9-F34C-B2E3-5C18D4E96528}" type="slidenum">
              <a:rPr lang="en-US" altLang="en-US" sz="1200" smtClean="0"/>
              <a:pPr/>
              <a:t>27</a:t>
            </a:fld>
            <a:endParaRPr lang="en-US" altLang="en-US" sz="1200"/>
          </a:p>
        </p:txBody>
      </p:sp>
      <p:sp>
        <p:nvSpPr>
          <p:cNvPr id="67586" name="Rectangle 2">
            <a:extLst>
              <a:ext uri="{FF2B5EF4-FFF2-40B4-BE49-F238E27FC236}">
                <a16:creationId xmlns:a16="http://schemas.microsoft.com/office/drawing/2014/main" id="{54F3312B-0130-B640-A470-D61632AD39E9}"/>
              </a:ext>
            </a:extLst>
          </p:cNvPr>
          <p:cNvSpPr>
            <a:spLocks noGrp="1" noRot="1" noChangeAspect="1" noChangeArrowheads="1" noTextEdit="1"/>
          </p:cNvSpPr>
          <p:nvPr>
            <p:ph type="sldImg"/>
          </p:nvPr>
        </p:nvSpPr>
        <p:spPr>
          <a:xfrm>
            <a:off x="381000" y="685800"/>
            <a:ext cx="6096000" cy="3429000"/>
          </a:xfrm>
          <a:ln/>
        </p:spPr>
      </p:sp>
      <p:sp>
        <p:nvSpPr>
          <p:cNvPr id="67587" name="Rectangle 3">
            <a:extLst>
              <a:ext uri="{FF2B5EF4-FFF2-40B4-BE49-F238E27FC236}">
                <a16:creationId xmlns:a16="http://schemas.microsoft.com/office/drawing/2014/main" id="{A8C9C5BB-09C1-B544-8903-E1487D14A2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03FC13F9-EAA9-1345-BEFC-77268DFD6B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081C2A7-EF6D-9241-8164-0D99AFCAB934}" type="slidenum">
              <a:rPr lang="en-US" altLang="en-US" sz="1200" smtClean="0"/>
              <a:pPr/>
              <a:t>28</a:t>
            </a:fld>
            <a:endParaRPr lang="en-US" altLang="en-US" sz="1200"/>
          </a:p>
        </p:txBody>
      </p:sp>
      <p:sp>
        <p:nvSpPr>
          <p:cNvPr id="69634" name="Rectangle 2">
            <a:extLst>
              <a:ext uri="{FF2B5EF4-FFF2-40B4-BE49-F238E27FC236}">
                <a16:creationId xmlns:a16="http://schemas.microsoft.com/office/drawing/2014/main" id="{41AC8CE9-6CEC-8845-8C73-6799B8ED8E36}"/>
              </a:ext>
            </a:extLst>
          </p:cNvPr>
          <p:cNvSpPr>
            <a:spLocks noGrp="1" noRot="1" noChangeAspect="1" noChangeArrowheads="1" noTextEdit="1"/>
          </p:cNvSpPr>
          <p:nvPr>
            <p:ph type="sldImg"/>
          </p:nvPr>
        </p:nvSpPr>
        <p:spPr>
          <a:xfrm>
            <a:off x="381000" y="685800"/>
            <a:ext cx="6096000" cy="3429000"/>
          </a:xfrm>
          <a:ln/>
        </p:spPr>
      </p:sp>
      <p:sp>
        <p:nvSpPr>
          <p:cNvPr id="69635" name="Rectangle 3">
            <a:extLst>
              <a:ext uri="{FF2B5EF4-FFF2-40B4-BE49-F238E27FC236}">
                <a16:creationId xmlns:a16="http://schemas.microsoft.com/office/drawing/2014/main" id="{737ABBE3-6A34-5641-97C7-88174E6EE0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4A5D49CE-A171-6946-B365-DDADB6907A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9CFDE03A-E109-9B4A-9BA0-4428192B3339}" type="slidenum">
              <a:rPr lang="en-US" altLang="en-US" sz="1200" smtClean="0"/>
              <a:pPr/>
              <a:t>29</a:t>
            </a:fld>
            <a:endParaRPr lang="en-US" altLang="en-US" sz="1200"/>
          </a:p>
        </p:txBody>
      </p:sp>
      <p:sp>
        <p:nvSpPr>
          <p:cNvPr id="71682" name="Rectangle 2">
            <a:extLst>
              <a:ext uri="{FF2B5EF4-FFF2-40B4-BE49-F238E27FC236}">
                <a16:creationId xmlns:a16="http://schemas.microsoft.com/office/drawing/2014/main" id="{AAC72180-D57D-FC43-B13D-84E93E77BCA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71683" name="Rectangle 3">
            <a:extLst>
              <a:ext uri="{FF2B5EF4-FFF2-40B4-BE49-F238E27FC236}">
                <a16:creationId xmlns:a16="http://schemas.microsoft.com/office/drawing/2014/main" id="{232F6B42-0A32-EA46-88F2-83867B602A7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8">
            <a:extLst>
              <a:ext uri="{FF2B5EF4-FFF2-40B4-BE49-F238E27FC236}">
                <a16:creationId xmlns:a16="http://schemas.microsoft.com/office/drawing/2014/main" id="{2BF0DFA3-6678-FE4F-9B23-A65370E613A3}"/>
              </a:ext>
            </a:extLst>
          </p:cNvPr>
          <p:cNvGrpSpPr>
            <a:grpSpLocks/>
          </p:cNvGrpSpPr>
          <p:nvPr/>
        </p:nvGrpSpPr>
        <p:grpSpPr bwMode="auto">
          <a:xfrm flipH="1">
            <a:off x="1447800" y="1714500"/>
            <a:ext cx="7010400" cy="57150"/>
            <a:chOff x="0" y="905"/>
            <a:chExt cx="5282" cy="103"/>
          </a:xfrm>
        </p:grpSpPr>
        <p:grpSp>
          <p:nvGrpSpPr>
            <p:cNvPr id="5" name="Group 9">
              <a:extLst>
                <a:ext uri="{FF2B5EF4-FFF2-40B4-BE49-F238E27FC236}">
                  <a16:creationId xmlns:a16="http://schemas.microsoft.com/office/drawing/2014/main" id="{4EECC484-F07B-D844-B96E-20DE1C623310}"/>
                </a:ext>
              </a:extLst>
            </p:cNvPr>
            <p:cNvGrpSpPr>
              <a:grpSpLocks/>
            </p:cNvGrpSpPr>
            <p:nvPr/>
          </p:nvGrpSpPr>
          <p:grpSpPr bwMode="auto">
            <a:xfrm>
              <a:off x="5158" y="905"/>
              <a:ext cx="124" cy="103"/>
              <a:chOff x="5158" y="905"/>
              <a:chExt cx="124" cy="103"/>
            </a:xfrm>
          </p:grpSpPr>
          <p:sp>
            <p:nvSpPr>
              <p:cNvPr id="20" name="Rectangle 10">
                <a:extLst>
                  <a:ext uri="{FF2B5EF4-FFF2-40B4-BE49-F238E27FC236}">
                    <a16:creationId xmlns:a16="http://schemas.microsoft.com/office/drawing/2014/main" id="{91626018-4216-C44E-935D-29470EB3D85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21" name="Rectangle 11">
                <a:extLst>
                  <a:ext uri="{FF2B5EF4-FFF2-40B4-BE49-F238E27FC236}">
                    <a16:creationId xmlns:a16="http://schemas.microsoft.com/office/drawing/2014/main" id="{2DD35798-8B32-104F-9D81-EB25BE868D6D}"/>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6" name="Group 12">
              <a:extLst>
                <a:ext uri="{FF2B5EF4-FFF2-40B4-BE49-F238E27FC236}">
                  <a16:creationId xmlns:a16="http://schemas.microsoft.com/office/drawing/2014/main" id="{410B0E2B-ED30-F148-9DF9-F82C0399D91F}"/>
                </a:ext>
              </a:extLst>
            </p:cNvPr>
            <p:cNvGrpSpPr>
              <a:grpSpLocks/>
            </p:cNvGrpSpPr>
            <p:nvPr/>
          </p:nvGrpSpPr>
          <p:grpSpPr bwMode="auto">
            <a:xfrm>
              <a:off x="4848" y="905"/>
              <a:ext cx="263" cy="103"/>
              <a:chOff x="4848" y="905"/>
              <a:chExt cx="263" cy="103"/>
            </a:xfrm>
          </p:grpSpPr>
          <p:sp>
            <p:nvSpPr>
              <p:cNvPr id="18" name="Rectangle 13">
                <a:extLst>
                  <a:ext uri="{FF2B5EF4-FFF2-40B4-BE49-F238E27FC236}">
                    <a16:creationId xmlns:a16="http://schemas.microsoft.com/office/drawing/2014/main" id="{0064018A-4062-D541-9C90-9063B79D7378}"/>
                  </a:ext>
                </a:extLst>
              </p:cNvPr>
              <p:cNvSpPr>
                <a:spLocks noChangeArrowheads="1"/>
              </p:cNvSpPr>
              <p:nvPr/>
            </p:nvSpPr>
            <p:spPr bwMode="auto">
              <a:xfrm>
                <a:off x="5018" y="905"/>
                <a:ext cx="93"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9" name="Rectangle 14">
                <a:extLst>
                  <a:ext uri="{FF2B5EF4-FFF2-40B4-BE49-F238E27FC236}">
                    <a16:creationId xmlns:a16="http://schemas.microsoft.com/office/drawing/2014/main" id="{7F9D76DE-956F-734E-B3D8-2AC8390BC9AB}"/>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7" name="Group 15">
              <a:extLst>
                <a:ext uri="{FF2B5EF4-FFF2-40B4-BE49-F238E27FC236}">
                  <a16:creationId xmlns:a16="http://schemas.microsoft.com/office/drawing/2014/main" id="{E63D0747-76BA-AD4F-B0D3-B9977085A9A8}"/>
                </a:ext>
              </a:extLst>
            </p:cNvPr>
            <p:cNvGrpSpPr>
              <a:grpSpLocks/>
            </p:cNvGrpSpPr>
            <p:nvPr/>
          </p:nvGrpSpPr>
          <p:grpSpPr bwMode="auto">
            <a:xfrm>
              <a:off x="4418" y="905"/>
              <a:ext cx="386" cy="103"/>
              <a:chOff x="4418" y="905"/>
              <a:chExt cx="386" cy="103"/>
            </a:xfrm>
          </p:grpSpPr>
          <p:sp>
            <p:nvSpPr>
              <p:cNvPr id="16" name="Rectangle 16">
                <a:extLst>
                  <a:ext uri="{FF2B5EF4-FFF2-40B4-BE49-F238E27FC236}">
                    <a16:creationId xmlns:a16="http://schemas.microsoft.com/office/drawing/2014/main" id="{A7BEA727-32DF-5D41-BD04-18AC55BBC120}"/>
                  </a:ext>
                </a:extLst>
              </p:cNvPr>
              <p:cNvSpPr>
                <a:spLocks noChangeArrowheads="1"/>
              </p:cNvSpPr>
              <p:nvPr/>
            </p:nvSpPr>
            <p:spPr bwMode="auto">
              <a:xfrm>
                <a:off x="4650" y="905"/>
                <a:ext cx="152"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7" name="Rectangle 17">
                <a:extLst>
                  <a:ext uri="{FF2B5EF4-FFF2-40B4-BE49-F238E27FC236}">
                    <a16:creationId xmlns:a16="http://schemas.microsoft.com/office/drawing/2014/main" id="{CD0D6B13-774D-6844-B9F6-B98E2595A059}"/>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8" name="Group 18">
              <a:extLst>
                <a:ext uri="{FF2B5EF4-FFF2-40B4-BE49-F238E27FC236}">
                  <a16:creationId xmlns:a16="http://schemas.microsoft.com/office/drawing/2014/main" id="{C59C22A7-8E31-2340-BC3C-DF1F2C5C8B20}"/>
                </a:ext>
              </a:extLst>
            </p:cNvPr>
            <p:cNvGrpSpPr>
              <a:grpSpLocks/>
            </p:cNvGrpSpPr>
            <p:nvPr/>
          </p:nvGrpSpPr>
          <p:grpSpPr bwMode="auto">
            <a:xfrm>
              <a:off x="3183" y="905"/>
              <a:ext cx="1191" cy="103"/>
              <a:chOff x="3183" y="905"/>
              <a:chExt cx="1191" cy="103"/>
            </a:xfrm>
          </p:grpSpPr>
          <p:sp>
            <p:nvSpPr>
              <p:cNvPr id="12" name="Rectangle 19">
                <a:extLst>
                  <a:ext uri="{FF2B5EF4-FFF2-40B4-BE49-F238E27FC236}">
                    <a16:creationId xmlns:a16="http://schemas.microsoft.com/office/drawing/2014/main" id="{F4A82BE1-108E-A340-B04E-65120D3FB645}"/>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3" name="Rectangle 20">
                <a:extLst>
                  <a:ext uri="{FF2B5EF4-FFF2-40B4-BE49-F238E27FC236}">
                    <a16:creationId xmlns:a16="http://schemas.microsoft.com/office/drawing/2014/main" id="{4E496FE5-9BA5-D240-A35F-6A71D6F3E093}"/>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4" name="Rectangle 21">
                <a:extLst>
                  <a:ext uri="{FF2B5EF4-FFF2-40B4-BE49-F238E27FC236}">
                    <a16:creationId xmlns:a16="http://schemas.microsoft.com/office/drawing/2014/main" id="{51E1E95F-AC64-5C49-A40D-9888C30135A7}"/>
                  </a:ext>
                </a:extLst>
              </p:cNvPr>
              <p:cNvSpPr>
                <a:spLocks noChangeArrowheads="1"/>
              </p:cNvSpPr>
              <p:nvPr/>
            </p:nvSpPr>
            <p:spPr bwMode="auto">
              <a:xfrm>
                <a:off x="3865"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5" name="Rectangle 22">
                <a:extLst>
                  <a:ext uri="{FF2B5EF4-FFF2-40B4-BE49-F238E27FC236}">
                    <a16:creationId xmlns:a16="http://schemas.microsoft.com/office/drawing/2014/main" id="{DD5CE1D7-1411-5A48-8C1B-A21B1E12BED5}"/>
                  </a:ext>
                </a:extLst>
              </p:cNvPr>
              <p:cNvSpPr>
                <a:spLocks noChangeArrowheads="1"/>
              </p:cNvSpPr>
              <p:nvPr/>
            </p:nvSpPr>
            <p:spPr bwMode="auto">
              <a:xfrm>
                <a:off x="3183" y="905"/>
                <a:ext cx="31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9" name="Group 23">
              <a:extLst>
                <a:ext uri="{FF2B5EF4-FFF2-40B4-BE49-F238E27FC236}">
                  <a16:creationId xmlns:a16="http://schemas.microsoft.com/office/drawing/2014/main" id="{44BF9323-685D-6D48-86F4-EADFA65249FB}"/>
                </a:ext>
              </a:extLst>
            </p:cNvPr>
            <p:cNvGrpSpPr>
              <a:grpSpLocks/>
            </p:cNvGrpSpPr>
            <p:nvPr/>
          </p:nvGrpSpPr>
          <p:grpSpPr bwMode="auto">
            <a:xfrm>
              <a:off x="0" y="905"/>
              <a:ext cx="3143" cy="103"/>
              <a:chOff x="0" y="905"/>
              <a:chExt cx="3143" cy="103"/>
            </a:xfrm>
          </p:grpSpPr>
          <p:sp>
            <p:nvSpPr>
              <p:cNvPr id="10" name="Rectangle 24">
                <a:extLst>
                  <a:ext uri="{FF2B5EF4-FFF2-40B4-BE49-F238E27FC236}">
                    <a16:creationId xmlns:a16="http://schemas.microsoft.com/office/drawing/2014/main" id="{73CE666A-E2B7-0346-ACEF-77FDCF4292F6}"/>
                  </a:ext>
                </a:extLst>
              </p:cNvPr>
              <p:cNvSpPr>
                <a:spLocks noChangeArrowheads="1"/>
              </p:cNvSpPr>
              <p:nvPr/>
            </p:nvSpPr>
            <p:spPr bwMode="auto">
              <a:xfrm>
                <a:off x="2799" y="905"/>
                <a:ext cx="34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1" name="Rectangle 25">
                <a:extLst>
                  <a:ext uri="{FF2B5EF4-FFF2-40B4-BE49-F238E27FC236}">
                    <a16:creationId xmlns:a16="http://schemas.microsoft.com/office/drawing/2014/main" id="{2D786B34-D524-7040-924C-E406A7911E51}"/>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pic>
        <p:nvPicPr>
          <p:cNvPr id="22" name="Picture 26">
            <a:extLst>
              <a:ext uri="{FF2B5EF4-FFF2-40B4-BE49-F238E27FC236}">
                <a16:creationId xmlns:a16="http://schemas.microsoft.com/office/drawing/2014/main" id="{F2741114-EEEA-164F-95B1-06D66670F53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0829" t="11624" r="16043" b="11624"/>
          <a:stretch>
            <a:fillRect/>
          </a:stretch>
        </p:blipFill>
        <p:spPr bwMode="auto">
          <a:xfrm>
            <a:off x="0" y="971550"/>
            <a:ext cx="1963738" cy="16002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3"/>
          <p:cNvSpPr>
            <a:spLocks noGrp="1" noChangeArrowheads="1"/>
          </p:cNvSpPr>
          <p:nvPr>
            <p:ph type="ctrTitle"/>
          </p:nvPr>
        </p:nvSpPr>
        <p:spPr>
          <a:xfrm>
            <a:off x="1905000" y="914400"/>
            <a:ext cx="6578600" cy="685800"/>
          </a:xfrm>
        </p:spPr>
        <p:txBody>
          <a:bodyPr/>
          <a:lstStyle>
            <a:lvl1pPr>
              <a:defRPr/>
            </a:lvl1pPr>
          </a:lstStyle>
          <a:p>
            <a:r>
              <a:rPr lang="en-US"/>
              <a:t>Click to edit Master title style</a:t>
            </a:r>
          </a:p>
        </p:txBody>
      </p:sp>
      <p:sp>
        <p:nvSpPr>
          <p:cNvPr id="4100" name="Rectangle 4"/>
          <p:cNvSpPr>
            <a:spLocks noGrp="1" noChangeArrowheads="1"/>
          </p:cNvSpPr>
          <p:nvPr>
            <p:ph type="subTitle" idx="1"/>
          </p:nvPr>
        </p:nvSpPr>
        <p:spPr>
          <a:xfrm>
            <a:off x="1981200" y="2914650"/>
            <a:ext cx="5638800" cy="1328738"/>
          </a:xfrm>
        </p:spPr>
        <p:txBody>
          <a:bodyPr/>
          <a:lstStyle>
            <a:lvl1pPr marL="0" indent="0">
              <a:buFont typeface="Wingdings" pitchFamily="-110" charset="2"/>
              <a:buNone/>
              <a:defRPr>
                <a:solidFill>
                  <a:srgbClr val="666666"/>
                </a:solidFill>
              </a:defRPr>
            </a:lvl1pPr>
          </a:lstStyle>
          <a:p>
            <a:r>
              <a:rPr lang="en-US"/>
              <a:t>Click to edit Master subtitle style</a:t>
            </a:r>
          </a:p>
        </p:txBody>
      </p:sp>
      <p:sp>
        <p:nvSpPr>
          <p:cNvPr id="23" name="Rectangle 5">
            <a:extLst>
              <a:ext uri="{FF2B5EF4-FFF2-40B4-BE49-F238E27FC236}">
                <a16:creationId xmlns:a16="http://schemas.microsoft.com/office/drawing/2014/main" id="{55CCE881-A8D4-2040-A268-84EF420CCD66}"/>
              </a:ext>
            </a:extLst>
          </p:cNvPr>
          <p:cNvSpPr>
            <a:spLocks noGrp="1" noChangeArrowheads="1"/>
          </p:cNvSpPr>
          <p:nvPr>
            <p:ph type="dt" sz="half" idx="10"/>
          </p:nvPr>
        </p:nvSpPr>
        <p:spPr>
          <a:xfrm>
            <a:off x="711200" y="4672012"/>
            <a:ext cx="1930400" cy="385763"/>
          </a:xfrm>
        </p:spPr>
        <p:txBody>
          <a:bodyPr/>
          <a:lstStyle>
            <a:lvl1pPr>
              <a:defRPr sz="1050">
                <a:solidFill>
                  <a:srgbClr val="5E574E"/>
                </a:solidFill>
                <a:latin typeface="Comic Sans MS" pitchFamily="-110" charset="0"/>
                <a:ea typeface="+mn-ea"/>
              </a:defRPr>
            </a:lvl1pPr>
          </a:lstStyle>
          <a:p>
            <a:pPr>
              <a:defRPr/>
            </a:pPr>
            <a:fld id="{A73CB773-CEC5-D440-8B91-1E178CEBBA26}" type="datetime4">
              <a:rPr lang="en-US"/>
              <a:pPr>
                <a:defRPr/>
              </a:pPr>
              <a:t>January 24, 2021</a:t>
            </a:fld>
            <a:endParaRPr lang="en-US"/>
          </a:p>
        </p:txBody>
      </p:sp>
      <p:sp>
        <p:nvSpPr>
          <p:cNvPr id="24" name="Rectangle 6">
            <a:extLst>
              <a:ext uri="{FF2B5EF4-FFF2-40B4-BE49-F238E27FC236}">
                <a16:creationId xmlns:a16="http://schemas.microsoft.com/office/drawing/2014/main" id="{117EEFB0-05C2-274F-BBA9-E6882B11D70E}"/>
              </a:ext>
            </a:extLst>
          </p:cNvPr>
          <p:cNvSpPr>
            <a:spLocks noGrp="1" noChangeArrowheads="1"/>
          </p:cNvSpPr>
          <p:nvPr>
            <p:ph type="ftr" sz="quarter" idx="11"/>
          </p:nvPr>
        </p:nvSpPr>
        <p:spPr>
          <a:xfrm>
            <a:off x="3149600" y="4672012"/>
            <a:ext cx="2844800" cy="385763"/>
          </a:xfrm>
        </p:spPr>
        <p:txBody>
          <a:bodyPr/>
          <a:lstStyle>
            <a:lvl1pPr>
              <a:defRPr sz="1050">
                <a:solidFill>
                  <a:srgbClr val="5E574E"/>
                </a:solidFill>
                <a:latin typeface="Comic Sans MS" pitchFamily="-110" charset="0"/>
                <a:ea typeface="+mn-ea"/>
              </a:defRPr>
            </a:lvl1pPr>
          </a:lstStyle>
          <a:p>
            <a:pPr>
              <a:defRPr/>
            </a:pPr>
            <a:r>
              <a:rPr lang="tr-TR"/>
              <a:t>PSYCH 4041 / 6014</a:t>
            </a:r>
            <a:endParaRPr lang="en-US"/>
          </a:p>
        </p:txBody>
      </p:sp>
      <p:sp>
        <p:nvSpPr>
          <p:cNvPr id="25" name="Rectangle 7">
            <a:extLst>
              <a:ext uri="{FF2B5EF4-FFF2-40B4-BE49-F238E27FC236}">
                <a16:creationId xmlns:a16="http://schemas.microsoft.com/office/drawing/2014/main" id="{64845BCB-98EA-844C-94A6-FB365159E848}"/>
              </a:ext>
            </a:extLst>
          </p:cNvPr>
          <p:cNvSpPr>
            <a:spLocks noGrp="1" noChangeArrowheads="1"/>
          </p:cNvSpPr>
          <p:nvPr>
            <p:ph type="sldNum" sz="quarter" idx="12"/>
          </p:nvPr>
        </p:nvSpPr>
        <p:spPr>
          <a:xfrm>
            <a:off x="6604000" y="4672012"/>
            <a:ext cx="1828800" cy="385763"/>
          </a:xfrm>
        </p:spPr>
        <p:txBody>
          <a:bodyPr/>
          <a:lstStyle>
            <a:lvl1pPr>
              <a:defRPr sz="1050">
                <a:solidFill>
                  <a:srgbClr val="5E574E"/>
                </a:solidFill>
                <a:latin typeface="Comic Sans MS" charset="0"/>
              </a:defRPr>
            </a:lvl1pPr>
          </a:lstStyle>
          <a:p>
            <a:pPr>
              <a:defRPr/>
            </a:pPr>
            <a:fld id="{92DC4404-2F15-3F45-8888-95924375BD0C}" type="slidenum">
              <a:rPr lang="en-US" altLang="en-US"/>
              <a:pPr>
                <a:defRPr/>
              </a:pPr>
              <a:t>‹#›</a:t>
            </a:fld>
            <a:endParaRPr lang="en-US" altLang="en-US"/>
          </a:p>
        </p:txBody>
      </p:sp>
    </p:spTree>
    <p:extLst>
      <p:ext uri="{BB962C8B-B14F-4D97-AF65-F5344CB8AC3E}">
        <p14:creationId xmlns:p14="http://schemas.microsoft.com/office/powerpoint/2010/main" val="360534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707B4C-EF31-F647-A71D-AB9270757B77}"/>
              </a:ext>
            </a:extLst>
          </p:cNvPr>
          <p:cNvSpPr>
            <a:spLocks noGrp="1" noChangeArrowheads="1"/>
          </p:cNvSpPr>
          <p:nvPr>
            <p:ph type="dt" sz="half" idx="10"/>
          </p:nvPr>
        </p:nvSpPr>
        <p:spPr>
          <a:ln/>
        </p:spPr>
        <p:txBody>
          <a:bodyPr/>
          <a:lstStyle>
            <a:lvl1pPr>
              <a:defRPr/>
            </a:lvl1pPr>
          </a:lstStyle>
          <a:p>
            <a:pPr>
              <a:defRPr/>
            </a:pPr>
            <a:fld id="{112A986E-296C-E749-8F65-D992795A84A2}"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52C9EA-3740-1242-B25F-606A9B965FA4}"/>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DB0D6FD0-1E2B-B947-8AA4-2626311FAD57}"/>
              </a:ext>
            </a:extLst>
          </p:cNvPr>
          <p:cNvSpPr>
            <a:spLocks noGrp="1" noChangeArrowheads="1"/>
          </p:cNvSpPr>
          <p:nvPr>
            <p:ph type="sldNum" sz="quarter" idx="12"/>
          </p:nvPr>
        </p:nvSpPr>
        <p:spPr>
          <a:ln/>
        </p:spPr>
        <p:txBody>
          <a:bodyPr/>
          <a:lstStyle>
            <a:lvl1pPr>
              <a:defRPr/>
            </a:lvl1pPr>
          </a:lstStyle>
          <a:p>
            <a:pPr>
              <a:defRPr/>
            </a:pPr>
            <a:fld id="{4CA8C557-DD77-1748-8E31-6A889C9DF817}"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97535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22">
            <a:extLst>
              <a:ext uri="{FF2B5EF4-FFF2-40B4-BE49-F238E27FC236}">
                <a16:creationId xmlns:a16="http://schemas.microsoft.com/office/drawing/2014/main" id="{2AAD0317-70F0-B94C-BB39-0ABC55091889}"/>
              </a:ext>
            </a:extLst>
          </p:cNvPr>
          <p:cNvSpPr>
            <a:spLocks noGrp="1" noChangeArrowheads="1"/>
          </p:cNvSpPr>
          <p:nvPr>
            <p:ph type="dt" sz="half" idx="10"/>
          </p:nvPr>
        </p:nvSpPr>
        <p:spPr>
          <a:ln/>
        </p:spPr>
        <p:txBody>
          <a:bodyPr/>
          <a:lstStyle>
            <a:lvl1pPr>
              <a:defRPr/>
            </a:lvl1pPr>
          </a:lstStyle>
          <a:p>
            <a:pPr>
              <a:defRPr/>
            </a:pPr>
            <a:fld id="{3AEFB91E-E5BD-EE4D-A07A-55C24F14E2A0}"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8651DA-9710-F84C-A4F3-F020DF00D2C8}"/>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507A8183-A5F2-6242-BF9B-0B1220BE0006}"/>
              </a:ext>
            </a:extLst>
          </p:cNvPr>
          <p:cNvSpPr>
            <a:spLocks noGrp="1" noChangeArrowheads="1"/>
          </p:cNvSpPr>
          <p:nvPr>
            <p:ph type="sldNum" sz="quarter" idx="12"/>
          </p:nvPr>
        </p:nvSpPr>
        <p:spPr>
          <a:ln/>
        </p:spPr>
        <p:txBody>
          <a:bodyPr/>
          <a:lstStyle>
            <a:lvl1pPr>
              <a:defRPr/>
            </a:lvl1pPr>
          </a:lstStyle>
          <a:p>
            <a:pPr>
              <a:defRPr/>
            </a:pPr>
            <a:fld id="{CBB7A264-F09C-6F45-A315-515D1A577834}"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397080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2">
            <a:extLst>
              <a:ext uri="{FF2B5EF4-FFF2-40B4-BE49-F238E27FC236}">
                <a16:creationId xmlns:a16="http://schemas.microsoft.com/office/drawing/2014/main" id="{D983D188-7D1A-E241-87AB-E2B86283B338}"/>
              </a:ext>
            </a:extLst>
          </p:cNvPr>
          <p:cNvSpPr>
            <a:spLocks noGrp="1" noChangeArrowheads="1"/>
          </p:cNvSpPr>
          <p:nvPr>
            <p:ph type="dt" sz="half" idx="10"/>
          </p:nvPr>
        </p:nvSpPr>
        <p:spPr>
          <a:ln/>
        </p:spPr>
        <p:txBody>
          <a:bodyPr/>
          <a:lstStyle>
            <a:lvl1pPr>
              <a:defRPr/>
            </a:lvl1pPr>
          </a:lstStyle>
          <a:p>
            <a:pPr>
              <a:defRPr/>
            </a:pPr>
            <a:fld id="{5E4FAFA1-DCDB-CE44-B4D9-18A612C40F1D}"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4A0E4F64-8C63-0343-95FD-3EEC79C18542}"/>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65E5D3CE-E485-7646-A6AA-90EA12B0027B}"/>
              </a:ext>
            </a:extLst>
          </p:cNvPr>
          <p:cNvSpPr>
            <a:spLocks noGrp="1" noChangeArrowheads="1"/>
          </p:cNvSpPr>
          <p:nvPr>
            <p:ph type="sldNum" sz="quarter" idx="12"/>
          </p:nvPr>
        </p:nvSpPr>
        <p:spPr>
          <a:ln/>
        </p:spPr>
        <p:txBody>
          <a:bodyPr/>
          <a:lstStyle>
            <a:lvl1pPr>
              <a:defRPr/>
            </a:lvl1pPr>
          </a:lstStyle>
          <a:p>
            <a:pPr>
              <a:defRPr/>
            </a:pPr>
            <a:fld id="{7338305D-A1B6-6C4B-91E3-9F068766A850}"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4025012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2">
            <a:extLst>
              <a:ext uri="{FF2B5EF4-FFF2-40B4-BE49-F238E27FC236}">
                <a16:creationId xmlns:a16="http://schemas.microsoft.com/office/drawing/2014/main" id="{5CB8646C-A46B-4E4E-8ADB-C8886DE1E675}"/>
              </a:ext>
            </a:extLst>
          </p:cNvPr>
          <p:cNvSpPr>
            <a:spLocks noGrp="1" noChangeArrowheads="1"/>
          </p:cNvSpPr>
          <p:nvPr>
            <p:ph type="dt" sz="half" idx="10"/>
          </p:nvPr>
        </p:nvSpPr>
        <p:spPr>
          <a:ln/>
        </p:spPr>
        <p:txBody>
          <a:bodyPr/>
          <a:lstStyle>
            <a:lvl1pPr>
              <a:defRPr/>
            </a:lvl1pPr>
          </a:lstStyle>
          <a:p>
            <a:pPr>
              <a:defRPr/>
            </a:pPr>
            <a:fld id="{27BCF400-0009-1649-9396-428E256E23C8}" type="datetime4">
              <a:rPr lang="en-US" altLang="en-US"/>
              <a:pPr>
                <a:defRPr/>
              </a:pPr>
              <a:t>January 24, 2021</a:t>
            </a:fld>
            <a:endParaRPr lang="en-US" altLang="en-US" sz="1050">
              <a:latin typeface="Comic Sans MS" charset="0"/>
            </a:endParaRPr>
          </a:p>
        </p:txBody>
      </p:sp>
      <p:sp>
        <p:nvSpPr>
          <p:cNvPr id="8" name="Rectangle 23">
            <a:extLst>
              <a:ext uri="{FF2B5EF4-FFF2-40B4-BE49-F238E27FC236}">
                <a16:creationId xmlns:a16="http://schemas.microsoft.com/office/drawing/2014/main" id="{1EB6EA0A-C801-7F4A-A4F0-132FAB3E5286}"/>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9" name="Rectangle 24">
            <a:extLst>
              <a:ext uri="{FF2B5EF4-FFF2-40B4-BE49-F238E27FC236}">
                <a16:creationId xmlns:a16="http://schemas.microsoft.com/office/drawing/2014/main" id="{5CAEAF65-A737-AB43-855D-6546D3A5ECB8}"/>
              </a:ext>
            </a:extLst>
          </p:cNvPr>
          <p:cNvSpPr>
            <a:spLocks noGrp="1" noChangeArrowheads="1"/>
          </p:cNvSpPr>
          <p:nvPr>
            <p:ph type="sldNum" sz="quarter" idx="12"/>
          </p:nvPr>
        </p:nvSpPr>
        <p:spPr>
          <a:ln/>
        </p:spPr>
        <p:txBody>
          <a:bodyPr/>
          <a:lstStyle>
            <a:lvl1pPr>
              <a:defRPr/>
            </a:lvl1pPr>
          </a:lstStyle>
          <a:p>
            <a:pPr>
              <a:defRPr/>
            </a:pPr>
            <a:fld id="{13D68A71-039B-5F4A-92F9-F08AA422A93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035920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2">
            <a:extLst>
              <a:ext uri="{FF2B5EF4-FFF2-40B4-BE49-F238E27FC236}">
                <a16:creationId xmlns:a16="http://schemas.microsoft.com/office/drawing/2014/main" id="{712B48F9-A9C4-6F4E-8616-FFF2506BD13B}"/>
              </a:ext>
            </a:extLst>
          </p:cNvPr>
          <p:cNvSpPr>
            <a:spLocks noGrp="1" noChangeArrowheads="1"/>
          </p:cNvSpPr>
          <p:nvPr>
            <p:ph type="dt" sz="half" idx="10"/>
          </p:nvPr>
        </p:nvSpPr>
        <p:spPr>
          <a:ln/>
        </p:spPr>
        <p:txBody>
          <a:bodyPr/>
          <a:lstStyle>
            <a:lvl1pPr>
              <a:defRPr/>
            </a:lvl1pPr>
          </a:lstStyle>
          <a:p>
            <a:pPr>
              <a:defRPr/>
            </a:pPr>
            <a:fld id="{05C1A236-52B5-6846-AA88-0CB948869D36}" type="datetime4">
              <a:rPr lang="en-US" altLang="en-US"/>
              <a:pPr>
                <a:defRPr/>
              </a:pPr>
              <a:t>January 24, 2021</a:t>
            </a:fld>
            <a:endParaRPr lang="en-US" altLang="en-US" sz="1050">
              <a:latin typeface="Comic Sans MS" charset="0"/>
            </a:endParaRPr>
          </a:p>
        </p:txBody>
      </p:sp>
      <p:sp>
        <p:nvSpPr>
          <p:cNvPr id="4" name="Rectangle 23">
            <a:extLst>
              <a:ext uri="{FF2B5EF4-FFF2-40B4-BE49-F238E27FC236}">
                <a16:creationId xmlns:a16="http://schemas.microsoft.com/office/drawing/2014/main" id="{11CF4B62-1BDB-894C-9B3A-CD634D1EC811}"/>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5" name="Rectangle 24">
            <a:extLst>
              <a:ext uri="{FF2B5EF4-FFF2-40B4-BE49-F238E27FC236}">
                <a16:creationId xmlns:a16="http://schemas.microsoft.com/office/drawing/2014/main" id="{DB2E37E2-13A0-6E49-8851-171E23617D61}"/>
              </a:ext>
            </a:extLst>
          </p:cNvPr>
          <p:cNvSpPr>
            <a:spLocks noGrp="1" noChangeArrowheads="1"/>
          </p:cNvSpPr>
          <p:nvPr>
            <p:ph type="sldNum" sz="quarter" idx="12"/>
          </p:nvPr>
        </p:nvSpPr>
        <p:spPr>
          <a:ln/>
        </p:spPr>
        <p:txBody>
          <a:bodyPr/>
          <a:lstStyle>
            <a:lvl1pPr>
              <a:defRPr/>
            </a:lvl1pPr>
          </a:lstStyle>
          <a:p>
            <a:pPr>
              <a:defRPr/>
            </a:pPr>
            <a:fld id="{3C9020D5-0362-AA4E-A109-44DF4CF31443}"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556999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2">
            <a:extLst>
              <a:ext uri="{FF2B5EF4-FFF2-40B4-BE49-F238E27FC236}">
                <a16:creationId xmlns:a16="http://schemas.microsoft.com/office/drawing/2014/main" id="{D5874594-CEEE-744E-84B5-849E1F7AD8F4}"/>
              </a:ext>
            </a:extLst>
          </p:cNvPr>
          <p:cNvSpPr>
            <a:spLocks noGrp="1" noChangeArrowheads="1"/>
          </p:cNvSpPr>
          <p:nvPr>
            <p:ph type="dt" sz="half" idx="10"/>
          </p:nvPr>
        </p:nvSpPr>
        <p:spPr>
          <a:ln/>
        </p:spPr>
        <p:txBody>
          <a:bodyPr/>
          <a:lstStyle>
            <a:lvl1pPr>
              <a:defRPr/>
            </a:lvl1pPr>
          </a:lstStyle>
          <a:p>
            <a:pPr>
              <a:defRPr/>
            </a:pPr>
            <a:fld id="{23FFD736-DE5F-F749-B213-A8CE00861415}" type="datetime4">
              <a:rPr lang="en-US" altLang="en-US"/>
              <a:pPr>
                <a:defRPr/>
              </a:pPr>
              <a:t>January 24, 2021</a:t>
            </a:fld>
            <a:endParaRPr lang="en-US" altLang="en-US" sz="1050">
              <a:latin typeface="Comic Sans MS" charset="0"/>
            </a:endParaRPr>
          </a:p>
        </p:txBody>
      </p:sp>
      <p:sp>
        <p:nvSpPr>
          <p:cNvPr id="3" name="Rectangle 23">
            <a:extLst>
              <a:ext uri="{FF2B5EF4-FFF2-40B4-BE49-F238E27FC236}">
                <a16:creationId xmlns:a16="http://schemas.microsoft.com/office/drawing/2014/main" id="{9F97AA66-02E4-5649-9500-0292003CC56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4" name="Rectangle 24">
            <a:extLst>
              <a:ext uri="{FF2B5EF4-FFF2-40B4-BE49-F238E27FC236}">
                <a16:creationId xmlns:a16="http://schemas.microsoft.com/office/drawing/2014/main" id="{C311B7C1-252E-914D-8EE9-D1E9863162F9}"/>
              </a:ext>
            </a:extLst>
          </p:cNvPr>
          <p:cNvSpPr>
            <a:spLocks noGrp="1" noChangeArrowheads="1"/>
          </p:cNvSpPr>
          <p:nvPr>
            <p:ph type="sldNum" sz="quarter" idx="12"/>
          </p:nvPr>
        </p:nvSpPr>
        <p:spPr>
          <a:ln/>
        </p:spPr>
        <p:txBody>
          <a:bodyPr/>
          <a:lstStyle>
            <a:lvl1pPr>
              <a:defRPr/>
            </a:lvl1pPr>
          </a:lstStyle>
          <a:p>
            <a:pPr>
              <a:defRPr/>
            </a:pPr>
            <a:fld id="{D952FCBF-D95B-624A-BF6A-A7BAF479D36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925219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1354F707-12BB-744C-8FC8-2953E48FF621}"/>
              </a:ext>
            </a:extLst>
          </p:cNvPr>
          <p:cNvSpPr>
            <a:spLocks noGrp="1" noChangeArrowheads="1"/>
          </p:cNvSpPr>
          <p:nvPr>
            <p:ph type="dt" sz="half" idx="10"/>
          </p:nvPr>
        </p:nvSpPr>
        <p:spPr>
          <a:ln/>
        </p:spPr>
        <p:txBody>
          <a:bodyPr/>
          <a:lstStyle>
            <a:lvl1pPr>
              <a:defRPr/>
            </a:lvl1pPr>
          </a:lstStyle>
          <a:p>
            <a:pPr>
              <a:defRPr/>
            </a:pPr>
            <a:fld id="{CB2ADCE5-956F-834A-A409-407A72483B89}"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995A3012-1219-4446-A363-8328EACFBB8C}"/>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F42558D7-C9A2-854D-A8A1-2D0CA7EE8700}"/>
              </a:ext>
            </a:extLst>
          </p:cNvPr>
          <p:cNvSpPr>
            <a:spLocks noGrp="1" noChangeArrowheads="1"/>
          </p:cNvSpPr>
          <p:nvPr>
            <p:ph type="sldNum" sz="quarter" idx="12"/>
          </p:nvPr>
        </p:nvSpPr>
        <p:spPr>
          <a:ln/>
        </p:spPr>
        <p:txBody>
          <a:bodyPr/>
          <a:lstStyle>
            <a:lvl1pPr>
              <a:defRPr/>
            </a:lvl1pPr>
          </a:lstStyle>
          <a:p>
            <a:pPr>
              <a:defRPr/>
            </a:pPr>
            <a:fld id="{4FB1910A-2DF3-0043-9E2A-C089A6856FA8}"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732136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23E52F24-7910-2844-9315-F77D36D773B9}"/>
              </a:ext>
            </a:extLst>
          </p:cNvPr>
          <p:cNvSpPr>
            <a:spLocks noGrp="1" noChangeArrowheads="1"/>
          </p:cNvSpPr>
          <p:nvPr>
            <p:ph type="dt" sz="half" idx="10"/>
          </p:nvPr>
        </p:nvSpPr>
        <p:spPr>
          <a:ln/>
        </p:spPr>
        <p:txBody>
          <a:bodyPr/>
          <a:lstStyle>
            <a:lvl1pPr>
              <a:defRPr/>
            </a:lvl1pPr>
          </a:lstStyle>
          <a:p>
            <a:pPr>
              <a:defRPr/>
            </a:pPr>
            <a:fld id="{2FA057AB-C79C-1149-90DD-23BCF6A31DA5}"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CDED770D-6B48-A641-9A9A-7623117BDAB3}"/>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7F135474-D82E-D843-9996-03A10F4E08FA}"/>
              </a:ext>
            </a:extLst>
          </p:cNvPr>
          <p:cNvSpPr>
            <a:spLocks noGrp="1" noChangeArrowheads="1"/>
          </p:cNvSpPr>
          <p:nvPr>
            <p:ph type="sldNum" sz="quarter" idx="12"/>
          </p:nvPr>
        </p:nvSpPr>
        <p:spPr>
          <a:ln/>
        </p:spPr>
        <p:txBody>
          <a:bodyPr/>
          <a:lstStyle>
            <a:lvl1pPr>
              <a:defRPr/>
            </a:lvl1pPr>
          </a:lstStyle>
          <a:p>
            <a:pPr>
              <a:defRPr/>
            </a:pPr>
            <a:fld id="{5BBC07B4-ED15-8846-84F1-50A2C8EAFF4C}"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43367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D8296CF9-48A2-BA47-BEA0-79EF5672269B}"/>
              </a:ext>
            </a:extLst>
          </p:cNvPr>
          <p:cNvSpPr>
            <a:spLocks noGrp="1" noChangeArrowheads="1"/>
          </p:cNvSpPr>
          <p:nvPr>
            <p:ph type="dt" sz="half" idx="10"/>
          </p:nvPr>
        </p:nvSpPr>
        <p:spPr>
          <a:ln/>
        </p:spPr>
        <p:txBody>
          <a:bodyPr/>
          <a:lstStyle>
            <a:lvl1pPr>
              <a:defRPr/>
            </a:lvl1pPr>
          </a:lstStyle>
          <a:p>
            <a:pPr>
              <a:defRPr/>
            </a:pPr>
            <a:fld id="{C803F449-C714-D941-B131-367F9A6674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BA5724E5-A14D-B641-AD1D-2E783797776B}"/>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8A458193-BBFD-E04F-A687-2A5AE30A49ED}"/>
              </a:ext>
            </a:extLst>
          </p:cNvPr>
          <p:cNvSpPr>
            <a:spLocks noGrp="1" noChangeArrowheads="1"/>
          </p:cNvSpPr>
          <p:nvPr>
            <p:ph type="sldNum" sz="quarter" idx="12"/>
          </p:nvPr>
        </p:nvSpPr>
        <p:spPr>
          <a:ln/>
        </p:spPr>
        <p:txBody>
          <a:bodyPr/>
          <a:lstStyle>
            <a:lvl1pPr>
              <a:defRPr/>
            </a:lvl1pPr>
          </a:lstStyle>
          <a:p>
            <a:pPr>
              <a:defRPr/>
            </a:pPr>
            <a:fld id="{70FFA6F9-1418-8D47-8D0E-60C39D47D43A}"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70643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57150"/>
            <a:ext cx="2152650" cy="4800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57150"/>
            <a:ext cx="6305550" cy="4800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16F2AB-B07D-C348-9891-3EAB4F4AF495}"/>
              </a:ext>
            </a:extLst>
          </p:cNvPr>
          <p:cNvSpPr>
            <a:spLocks noGrp="1" noChangeArrowheads="1"/>
          </p:cNvSpPr>
          <p:nvPr>
            <p:ph type="dt" sz="half" idx="10"/>
          </p:nvPr>
        </p:nvSpPr>
        <p:spPr>
          <a:ln/>
        </p:spPr>
        <p:txBody>
          <a:bodyPr/>
          <a:lstStyle>
            <a:lvl1pPr>
              <a:defRPr/>
            </a:lvl1pPr>
          </a:lstStyle>
          <a:p>
            <a:pPr>
              <a:defRPr/>
            </a:pPr>
            <a:fld id="{7C1FD5FC-7325-9548-916A-DB14BA5610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8AB9298A-C20E-9445-8B94-AC1D48A65A1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EA201A15-5BAB-674E-AF74-73666A6C1ECB}"/>
              </a:ext>
            </a:extLst>
          </p:cNvPr>
          <p:cNvSpPr>
            <a:spLocks noGrp="1" noChangeArrowheads="1"/>
          </p:cNvSpPr>
          <p:nvPr>
            <p:ph type="sldNum" sz="quarter" idx="12"/>
          </p:nvPr>
        </p:nvSpPr>
        <p:spPr>
          <a:ln/>
        </p:spPr>
        <p:txBody>
          <a:bodyPr/>
          <a:lstStyle>
            <a:lvl1pPr>
              <a:defRPr/>
            </a:lvl1pPr>
          </a:lstStyle>
          <a:p>
            <a:pPr>
              <a:defRPr/>
            </a:pPr>
            <a:fld id="{FDCE4DA0-AD44-E04D-8521-286DB415784D}"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4681561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84DF1917-075B-F74E-8DF4-232714D60E1C}"/>
              </a:ext>
            </a:extLst>
          </p:cNvPr>
          <p:cNvGrpSpPr>
            <a:grpSpLocks/>
          </p:cNvGrpSpPr>
          <p:nvPr/>
        </p:nvGrpSpPr>
        <p:grpSpPr bwMode="auto">
          <a:xfrm flipH="1">
            <a:off x="0" y="628650"/>
            <a:ext cx="8686800" cy="57150"/>
            <a:chOff x="0" y="905"/>
            <a:chExt cx="5282" cy="103"/>
          </a:xfrm>
        </p:grpSpPr>
        <p:grpSp>
          <p:nvGrpSpPr>
            <p:cNvPr id="1034" name="Group 3">
              <a:extLst>
                <a:ext uri="{FF2B5EF4-FFF2-40B4-BE49-F238E27FC236}">
                  <a16:creationId xmlns:a16="http://schemas.microsoft.com/office/drawing/2014/main" id="{8E1007EE-E9AD-004F-80F3-FDB32ADF9000}"/>
                </a:ext>
              </a:extLst>
            </p:cNvPr>
            <p:cNvGrpSpPr>
              <a:grpSpLocks/>
            </p:cNvGrpSpPr>
            <p:nvPr/>
          </p:nvGrpSpPr>
          <p:grpSpPr bwMode="auto">
            <a:xfrm>
              <a:off x="5158" y="905"/>
              <a:ext cx="124" cy="103"/>
              <a:chOff x="5158" y="905"/>
              <a:chExt cx="124" cy="103"/>
            </a:xfrm>
          </p:grpSpPr>
          <p:sp>
            <p:nvSpPr>
              <p:cNvPr id="1049" name="Rectangle 4">
                <a:extLst>
                  <a:ext uri="{FF2B5EF4-FFF2-40B4-BE49-F238E27FC236}">
                    <a16:creationId xmlns:a16="http://schemas.microsoft.com/office/drawing/2014/main" id="{B40944D2-73B7-3A45-9BDC-A2B98BC446F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50" name="Rectangle 5">
                <a:extLst>
                  <a:ext uri="{FF2B5EF4-FFF2-40B4-BE49-F238E27FC236}">
                    <a16:creationId xmlns:a16="http://schemas.microsoft.com/office/drawing/2014/main" id="{EB75D277-517D-844A-BFBC-163D8B6AFBAB}"/>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5" name="Group 6">
              <a:extLst>
                <a:ext uri="{FF2B5EF4-FFF2-40B4-BE49-F238E27FC236}">
                  <a16:creationId xmlns:a16="http://schemas.microsoft.com/office/drawing/2014/main" id="{51A98CAD-F97A-8943-A055-2529CA1A56E3}"/>
                </a:ext>
              </a:extLst>
            </p:cNvPr>
            <p:cNvGrpSpPr>
              <a:grpSpLocks/>
            </p:cNvGrpSpPr>
            <p:nvPr/>
          </p:nvGrpSpPr>
          <p:grpSpPr bwMode="auto">
            <a:xfrm>
              <a:off x="4848" y="905"/>
              <a:ext cx="263" cy="103"/>
              <a:chOff x="4848" y="905"/>
              <a:chExt cx="263" cy="103"/>
            </a:xfrm>
          </p:grpSpPr>
          <p:sp>
            <p:nvSpPr>
              <p:cNvPr id="1047" name="Rectangle 7">
                <a:extLst>
                  <a:ext uri="{FF2B5EF4-FFF2-40B4-BE49-F238E27FC236}">
                    <a16:creationId xmlns:a16="http://schemas.microsoft.com/office/drawing/2014/main" id="{94D45677-E167-A04B-B7EA-536CDE7D0131}"/>
                  </a:ext>
                </a:extLst>
              </p:cNvPr>
              <p:cNvSpPr>
                <a:spLocks noChangeArrowheads="1"/>
              </p:cNvSpPr>
              <p:nvPr/>
            </p:nvSpPr>
            <p:spPr bwMode="auto">
              <a:xfrm>
                <a:off x="5018" y="905"/>
                <a:ext cx="9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8" name="Rectangle 8">
                <a:extLst>
                  <a:ext uri="{FF2B5EF4-FFF2-40B4-BE49-F238E27FC236}">
                    <a16:creationId xmlns:a16="http://schemas.microsoft.com/office/drawing/2014/main" id="{192533B0-711D-324C-A02D-09AB43CBC060}"/>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6" name="Group 9">
              <a:extLst>
                <a:ext uri="{FF2B5EF4-FFF2-40B4-BE49-F238E27FC236}">
                  <a16:creationId xmlns:a16="http://schemas.microsoft.com/office/drawing/2014/main" id="{2A1956D2-787D-4C42-8746-071E1B687CB5}"/>
                </a:ext>
              </a:extLst>
            </p:cNvPr>
            <p:cNvGrpSpPr>
              <a:grpSpLocks/>
            </p:cNvGrpSpPr>
            <p:nvPr/>
          </p:nvGrpSpPr>
          <p:grpSpPr bwMode="auto">
            <a:xfrm>
              <a:off x="4418" y="905"/>
              <a:ext cx="386" cy="103"/>
              <a:chOff x="4418" y="905"/>
              <a:chExt cx="386" cy="103"/>
            </a:xfrm>
          </p:grpSpPr>
          <p:sp>
            <p:nvSpPr>
              <p:cNvPr id="1045" name="Rectangle 10">
                <a:extLst>
                  <a:ext uri="{FF2B5EF4-FFF2-40B4-BE49-F238E27FC236}">
                    <a16:creationId xmlns:a16="http://schemas.microsoft.com/office/drawing/2014/main" id="{BE15E58A-2FD3-E447-8EE2-6C127DBF1A20}"/>
                  </a:ext>
                </a:extLst>
              </p:cNvPr>
              <p:cNvSpPr>
                <a:spLocks noChangeArrowheads="1"/>
              </p:cNvSpPr>
              <p:nvPr/>
            </p:nvSpPr>
            <p:spPr bwMode="auto">
              <a:xfrm>
                <a:off x="4650" y="905"/>
                <a:ext cx="15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6" name="Rectangle 11">
                <a:extLst>
                  <a:ext uri="{FF2B5EF4-FFF2-40B4-BE49-F238E27FC236}">
                    <a16:creationId xmlns:a16="http://schemas.microsoft.com/office/drawing/2014/main" id="{CF283281-FE4D-DD49-B04E-9413E3009D27}"/>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7" name="Group 12">
              <a:extLst>
                <a:ext uri="{FF2B5EF4-FFF2-40B4-BE49-F238E27FC236}">
                  <a16:creationId xmlns:a16="http://schemas.microsoft.com/office/drawing/2014/main" id="{646E7CE3-1E48-3E4C-A16A-75739FD75886}"/>
                </a:ext>
              </a:extLst>
            </p:cNvPr>
            <p:cNvGrpSpPr>
              <a:grpSpLocks/>
            </p:cNvGrpSpPr>
            <p:nvPr/>
          </p:nvGrpSpPr>
          <p:grpSpPr bwMode="auto">
            <a:xfrm>
              <a:off x="3183" y="905"/>
              <a:ext cx="1191" cy="103"/>
              <a:chOff x="3183" y="905"/>
              <a:chExt cx="1191" cy="103"/>
            </a:xfrm>
          </p:grpSpPr>
          <p:sp>
            <p:nvSpPr>
              <p:cNvPr id="1041" name="Rectangle 13">
                <a:extLst>
                  <a:ext uri="{FF2B5EF4-FFF2-40B4-BE49-F238E27FC236}">
                    <a16:creationId xmlns:a16="http://schemas.microsoft.com/office/drawing/2014/main" id="{049A07BA-125C-294A-A3B4-D89BBC9F00CC}"/>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2" name="Rectangle 14">
                <a:extLst>
                  <a:ext uri="{FF2B5EF4-FFF2-40B4-BE49-F238E27FC236}">
                    <a16:creationId xmlns:a16="http://schemas.microsoft.com/office/drawing/2014/main" id="{0FD03B68-7F9D-4D45-AD4E-68D760BBDB38}"/>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3" name="Rectangle 15">
                <a:extLst>
                  <a:ext uri="{FF2B5EF4-FFF2-40B4-BE49-F238E27FC236}">
                    <a16:creationId xmlns:a16="http://schemas.microsoft.com/office/drawing/2014/main" id="{081F8C45-EB4F-0042-BF17-8C6ACAA57CCC}"/>
                  </a:ext>
                </a:extLst>
              </p:cNvPr>
              <p:cNvSpPr>
                <a:spLocks noChangeArrowheads="1"/>
              </p:cNvSpPr>
              <p:nvPr/>
            </p:nvSpPr>
            <p:spPr bwMode="auto">
              <a:xfrm>
                <a:off x="3864"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4" name="Rectangle 16">
                <a:extLst>
                  <a:ext uri="{FF2B5EF4-FFF2-40B4-BE49-F238E27FC236}">
                    <a16:creationId xmlns:a16="http://schemas.microsoft.com/office/drawing/2014/main" id="{21F7B391-9D2B-D74A-8DE2-F8562177B339}"/>
                  </a:ext>
                </a:extLst>
              </p:cNvPr>
              <p:cNvSpPr>
                <a:spLocks noChangeArrowheads="1"/>
              </p:cNvSpPr>
              <p:nvPr/>
            </p:nvSpPr>
            <p:spPr bwMode="auto">
              <a:xfrm>
                <a:off x="3183" y="905"/>
                <a:ext cx="31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8" name="Group 17">
              <a:extLst>
                <a:ext uri="{FF2B5EF4-FFF2-40B4-BE49-F238E27FC236}">
                  <a16:creationId xmlns:a16="http://schemas.microsoft.com/office/drawing/2014/main" id="{2D7AF668-B334-A146-AA53-8DFA6CBF94F2}"/>
                </a:ext>
              </a:extLst>
            </p:cNvPr>
            <p:cNvGrpSpPr>
              <a:grpSpLocks/>
            </p:cNvGrpSpPr>
            <p:nvPr/>
          </p:nvGrpSpPr>
          <p:grpSpPr bwMode="auto">
            <a:xfrm>
              <a:off x="0" y="905"/>
              <a:ext cx="3143" cy="103"/>
              <a:chOff x="0" y="905"/>
              <a:chExt cx="3143" cy="103"/>
            </a:xfrm>
          </p:grpSpPr>
          <p:sp>
            <p:nvSpPr>
              <p:cNvPr id="1039" name="Rectangle 18">
                <a:extLst>
                  <a:ext uri="{FF2B5EF4-FFF2-40B4-BE49-F238E27FC236}">
                    <a16:creationId xmlns:a16="http://schemas.microsoft.com/office/drawing/2014/main" id="{712DCCE5-D50B-5F46-968A-138F0F148763}"/>
                  </a:ext>
                </a:extLst>
              </p:cNvPr>
              <p:cNvSpPr>
                <a:spLocks noChangeArrowheads="1"/>
              </p:cNvSpPr>
              <p:nvPr/>
            </p:nvSpPr>
            <p:spPr bwMode="auto">
              <a:xfrm>
                <a:off x="2798" y="905"/>
                <a:ext cx="34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0" name="Rectangle 19">
                <a:extLst>
                  <a:ext uri="{FF2B5EF4-FFF2-40B4-BE49-F238E27FC236}">
                    <a16:creationId xmlns:a16="http://schemas.microsoft.com/office/drawing/2014/main" id="{E25710D3-F13F-6048-BEEC-03DCB0EBB0FA}"/>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sp>
        <p:nvSpPr>
          <p:cNvPr id="1027" name="Rectangle 20">
            <a:extLst>
              <a:ext uri="{FF2B5EF4-FFF2-40B4-BE49-F238E27FC236}">
                <a16:creationId xmlns:a16="http://schemas.microsoft.com/office/drawing/2014/main" id="{00BAB7E5-4DDE-6F4B-9664-E20F29B174F5}"/>
              </a:ext>
            </a:extLst>
          </p:cNvPr>
          <p:cNvSpPr>
            <a:spLocks noGrp="1" noChangeArrowheads="1"/>
          </p:cNvSpPr>
          <p:nvPr>
            <p:ph type="title"/>
          </p:nvPr>
        </p:nvSpPr>
        <p:spPr bwMode="auto">
          <a:xfrm>
            <a:off x="990600" y="57150"/>
            <a:ext cx="7696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21">
            <a:extLst>
              <a:ext uri="{FF2B5EF4-FFF2-40B4-BE49-F238E27FC236}">
                <a16:creationId xmlns:a16="http://schemas.microsoft.com/office/drawing/2014/main" id="{8F4F1CA7-1C7F-6F4A-81AC-D0443903995C}"/>
              </a:ext>
            </a:extLst>
          </p:cNvPr>
          <p:cNvSpPr>
            <a:spLocks noGrp="1" noChangeArrowheads="1"/>
          </p:cNvSpPr>
          <p:nvPr>
            <p:ph type="body" idx="1"/>
          </p:nvPr>
        </p:nvSpPr>
        <p:spPr bwMode="auto">
          <a:xfrm>
            <a:off x="228600" y="685800"/>
            <a:ext cx="86106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94" name="Rectangle 22">
            <a:extLst>
              <a:ext uri="{FF2B5EF4-FFF2-40B4-BE49-F238E27FC236}">
                <a16:creationId xmlns:a16="http://schemas.microsoft.com/office/drawing/2014/main" id="{562FC42B-43D6-4F4A-934D-67109AD4B0F3}"/>
              </a:ext>
            </a:extLst>
          </p:cNvPr>
          <p:cNvSpPr>
            <a:spLocks noGrp="1" noChangeArrowheads="1"/>
          </p:cNvSpPr>
          <p:nvPr>
            <p:ph type="dt" sz="half" idx="2"/>
          </p:nvPr>
        </p:nvSpPr>
        <p:spPr bwMode="auto">
          <a:xfrm>
            <a:off x="4318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spcBef>
                <a:spcPct val="50000"/>
              </a:spcBef>
              <a:defRPr sz="900">
                <a:solidFill>
                  <a:schemeClr val="bg2"/>
                </a:solidFill>
                <a:latin typeface="Tahoma" charset="0"/>
                <a:ea typeface="ＭＳ Ｐゴシック" charset="-128"/>
              </a:defRPr>
            </a:lvl1pPr>
          </a:lstStyle>
          <a:p>
            <a:pPr>
              <a:defRPr/>
            </a:pPr>
            <a:fld id="{92E8E100-ADEF-EB4E-AB02-A2AF1A2FC806}" type="datetime4">
              <a:rPr lang="en-US" altLang="en-US"/>
              <a:pPr>
                <a:defRPr/>
              </a:pPr>
              <a:t>January 24, 2021</a:t>
            </a:fld>
            <a:endParaRPr lang="en-US" altLang="en-US" sz="1050">
              <a:latin typeface="Comic Sans MS" charset="0"/>
            </a:endParaRPr>
          </a:p>
        </p:txBody>
      </p:sp>
      <p:sp>
        <p:nvSpPr>
          <p:cNvPr id="3095" name="Rectangle 23">
            <a:extLst>
              <a:ext uri="{FF2B5EF4-FFF2-40B4-BE49-F238E27FC236}">
                <a16:creationId xmlns:a16="http://schemas.microsoft.com/office/drawing/2014/main" id="{EB3FA688-6455-9D4A-961A-9B2118FFD62D}"/>
              </a:ext>
            </a:extLst>
          </p:cNvPr>
          <p:cNvSpPr>
            <a:spLocks noGrp="1" noChangeArrowheads="1"/>
          </p:cNvSpPr>
          <p:nvPr>
            <p:ph type="ftr" sz="quarter" idx="3"/>
          </p:nvPr>
        </p:nvSpPr>
        <p:spPr bwMode="auto">
          <a:xfrm>
            <a:off x="3124200" y="4672013"/>
            <a:ext cx="28956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a:spcBef>
                <a:spcPct val="50000"/>
              </a:spcBef>
              <a:defRPr sz="900">
                <a:solidFill>
                  <a:schemeClr val="bg2"/>
                </a:solidFill>
                <a:latin typeface="Tahoma" charset="0"/>
                <a:ea typeface="ＭＳ Ｐゴシック" charset="-128"/>
              </a:defRPr>
            </a:lvl1pPr>
          </a:lstStyle>
          <a:p>
            <a:pPr>
              <a:defRPr/>
            </a:pPr>
            <a:r>
              <a:rPr lang="tr-TR" altLang="en-US"/>
              <a:t>PSYCH 4041 / 6014</a:t>
            </a:r>
            <a:endParaRPr lang="en-US" altLang="en-US" sz="1050">
              <a:latin typeface="Comic Sans MS" charset="0"/>
            </a:endParaRPr>
          </a:p>
        </p:txBody>
      </p:sp>
      <p:sp>
        <p:nvSpPr>
          <p:cNvPr id="3096" name="Rectangle 24">
            <a:extLst>
              <a:ext uri="{FF2B5EF4-FFF2-40B4-BE49-F238E27FC236}">
                <a16:creationId xmlns:a16="http://schemas.microsoft.com/office/drawing/2014/main" id="{CCC79CAA-D180-B549-B80B-93952BD15DD4}"/>
              </a:ext>
            </a:extLst>
          </p:cNvPr>
          <p:cNvSpPr>
            <a:spLocks noGrp="1" noChangeArrowheads="1"/>
          </p:cNvSpPr>
          <p:nvPr>
            <p:ph type="sldNum" sz="quarter" idx="4"/>
          </p:nvPr>
        </p:nvSpPr>
        <p:spPr bwMode="auto">
          <a:xfrm>
            <a:off x="67310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spcBef>
                <a:spcPct val="50000"/>
              </a:spcBef>
              <a:defRPr sz="900">
                <a:solidFill>
                  <a:schemeClr val="bg2"/>
                </a:solidFill>
                <a:latin typeface="Tahoma" charset="0"/>
                <a:ea typeface="ＭＳ Ｐゴシック" charset="-128"/>
              </a:defRPr>
            </a:lvl1pPr>
          </a:lstStyle>
          <a:p>
            <a:pPr>
              <a:defRPr/>
            </a:pPr>
            <a:fld id="{EECB6731-2E5B-344F-BE2F-3B33DB3B9655}" type="slidenum">
              <a:rPr lang="en-US" altLang="en-US"/>
              <a:pPr>
                <a:defRPr/>
              </a:pPr>
              <a:t>‹#›</a:t>
            </a:fld>
            <a:endParaRPr lang="en-US" altLang="en-US">
              <a:latin typeface="Comic Sans MS" charset="0"/>
            </a:endParaRPr>
          </a:p>
        </p:txBody>
      </p:sp>
      <p:pic>
        <p:nvPicPr>
          <p:cNvPr id="1032" name="Picture 29">
            <a:extLst>
              <a:ext uri="{FF2B5EF4-FFF2-40B4-BE49-F238E27FC236}">
                <a16:creationId xmlns:a16="http://schemas.microsoft.com/office/drawing/2014/main" id="{83123BE1-9355-6245-9EF0-E4061A5C7814}"/>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l="10829" t="11624" r="16043" b="11624"/>
          <a:stretch>
            <a:fillRect/>
          </a:stretch>
        </p:blipFill>
        <p:spPr bwMode="auto">
          <a:xfrm>
            <a:off x="1" y="0"/>
            <a:ext cx="841375" cy="6858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Text Box 30">
            <a:extLst>
              <a:ext uri="{FF2B5EF4-FFF2-40B4-BE49-F238E27FC236}">
                <a16:creationId xmlns:a16="http://schemas.microsoft.com/office/drawing/2014/main" id="{8BF227DC-2A0E-614B-BEC2-33B81721D7E4}"/>
              </a:ext>
            </a:extLst>
          </p:cNvPr>
          <p:cNvSpPr txBox="1">
            <a:spLocks noChangeArrowheads="1"/>
          </p:cNvSpPr>
          <p:nvPr userDrawn="1"/>
        </p:nvSpPr>
        <p:spPr bwMode="auto">
          <a:xfrm>
            <a:off x="1355726" y="467439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Tree>
  </p:cSld>
  <p:clrMap bg1="lt1" tx1="dk1" bg2="lt2" tx2="dk2" accent1="accent1" accent2="accent2" accent3="accent3" accent4="accent4" accent5="accent5" accent6="accent6" hlink="hlink" folHlink="folHlink"/>
  <p:sldLayoutIdLst>
    <p:sldLayoutId id="2147483706"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sldNum="0" hdr="0"/>
  <p:txStyles>
    <p:titleStyle>
      <a:lvl1pPr algn="r" rtl="0" eaLnBrk="0" fontAlgn="base" hangingPunct="0">
        <a:spcBef>
          <a:spcPct val="0"/>
        </a:spcBef>
        <a:spcAft>
          <a:spcPct val="0"/>
        </a:spcAft>
        <a:defRPr kumimoji="1" sz="3000" b="1">
          <a:solidFill>
            <a:srgbClr val="666666"/>
          </a:solidFill>
          <a:latin typeface="+mj-lt"/>
          <a:ea typeface="ＭＳ Ｐゴシック" charset="-128"/>
          <a:cs typeface="+mj-cs"/>
        </a:defRPr>
      </a:lvl1pPr>
      <a:lvl2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2pPr>
      <a:lvl3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3pPr>
      <a:lvl4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4pPr>
      <a:lvl5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5pPr>
      <a:lvl6pPr marL="342900" algn="r" rtl="0" eaLnBrk="0" fontAlgn="base" hangingPunct="0">
        <a:spcBef>
          <a:spcPct val="0"/>
        </a:spcBef>
        <a:spcAft>
          <a:spcPct val="0"/>
        </a:spcAft>
        <a:defRPr kumimoji="1" sz="3000" b="1">
          <a:solidFill>
            <a:srgbClr val="666666"/>
          </a:solidFill>
          <a:latin typeface="Arial" pitchFamily="-110" charset="0"/>
        </a:defRPr>
      </a:lvl6pPr>
      <a:lvl7pPr marL="685800" algn="r" rtl="0" eaLnBrk="0" fontAlgn="base" hangingPunct="0">
        <a:spcBef>
          <a:spcPct val="0"/>
        </a:spcBef>
        <a:spcAft>
          <a:spcPct val="0"/>
        </a:spcAft>
        <a:defRPr kumimoji="1" sz="3000" b="1">
          <a:solidFill>
            <a:srgbClr val="666666"/>
          </a:solidFill>
          <a:latin typeface="Arial" pitchFamily="-110" charset="0"/>
        </a:defRPr>
      </a:lvl7pPr>
      <a:lvl8pPr marL="1028700" algn="r" rtl="0" eaLnBrk="0" fontAlgn="base" hangingPunct="0">
        <a:spcBef>
          <a:spcPct val="0"/>
        </a:spcBef>
        <a:spcAft>
          <a:spcPct val="0"/>
        </a:spcAft>
        <a:defRPr kumimoji="1" sz="3000" b="1">
          <a:solidFill>
            <a:srgbClr val="666666"/>
          </a:solidFill>
          <a:latin typeface="Arial" pitchFamily="-110" charset="0"/>
        </a:defRPr>
      </a:lvl8pPr>
      <a:lvl9pPr marL="1371600" algn="r" rtl="0" eaLnBrk="0" fontAlgn="base" hangingPunct="0">
        <a:spcBef>
          <a:spcPct val="0"/>
        </a:spcBef>
        <a:spcAft>
          <a:spcPct val="0"/>
        </a:spcAft>
        <a:defRPr kumimoji="1" sz="3000" b="1">
          <a:solidFill>
            <a:srgbClr val="666666"/>
          </a:solidFill>
          <a:latin typeface="Arial" pitchFamily="-110" charset="0"/>
        </a:defRPr>
      </a:lvl9pPr>
    </p:titleStyle>
    <p:bodyStyle>
      <a:lvl1pPr marL="257175" indent="-257175" algn="l" rtl="0" eaLnBrk="0" fontAlgn="base" hangingPunct="0">
        <a:spcBef>
          <a:spcPct val="20000"/>
        </a:spcBef>
        <a:spcAft>
          <a:spcPct val="0"/>
        </a:spcAft>
        <a:buClr>
          <a:srgbClr val="193399"/>
        </a:buClr>
        <a:buFont typeface="Wingdings" pitchFamily="2" charset="2"/>
        <a:buChar char="Ø"/>
        <a:defRPr kumimoji="1" sz="2400">
          <a:solidFill>
            <a:schemeClr val="tx1"/>
          </a:solidFill>
          <a:latin typeface="+mn-lt"/>
          <a:ea typeface="ＭＳ Ｐゴシック" charset="-128"/>
          <a:cs typeface="+mn-cs"/>
        </a:defRPr>
      </a:lvl1pPr>
      <a:lvl2pPr marL="557213" indent="-214313" algn="l" rtl="0" eaLnBrk="0" fontAlgn="base" hangingPunct="0">
        <a:spcBef>
          <a:spcPct val="20000"/>
        </a:spcBef>
        <a:spcAft>
          <a:spcPct val="0"/>
        </a:spcAft>
        <a:buClr>
          <a:srgbClr val="193399"/>
        </a:buClr>
        <a:buSzPct val="70000"/>
        <a:buFont typeface="Wingdings" pitchFamily="2" charset="2"/>
        <a:buChar char="v"/>
        <a:defRPr kumimoji="1" sz="2100">
          <a:solidFill>
            <a:schemeClr val="tx1"/>
          </a:solidFill>
          <a:latin typeface="+mn-lt"/>
          <a:ea typeface="ＭＳ Ｐゴシック" pitchFamily="-110" charset="-128"/>
        </a:defRPr>
      </a:lvl2pPr>
      <a:lvl3pPr marL="857250" indent="-171450" algn="l" rtl="0" eaLnBrk="0" fontAlgn="base" hangingPunct="0">
        <a:spcBef>
          <a:spcPct val="20000"/>
        </a:spcBef>
        <a:spcAft>
          <a:spcPct val="0"/>
        </a:spcAft>
        <a:buClr>
          <a:srgbClr val="193399"/>
        </a:buClr>
        <a:buFont typeface="Times" pitchFamily="2" charset="0"/>
        <a:buChar char="•"/>
        <a:defRPr kumimoji="1" sz="1800">
          <a:solidFill>
            <a:schemeClr val="tx1"/>
          </a:solidFill>
          <a:latin typeface="+mn-lt"/>
          <a:ea typeface="ＭＳ Ｐゴシック" pitchFamily="-110" charset="-128"/>
        </a:defRPr>
      </a:lvl3pPr>
      <a:lvl4pPr marL="12001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4pPr>
      <a:lvl5pPr marL="15430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5pPr>
      <a:lvl6pPr marL="18859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6pPr>
      <a:lvl7pPr marL="22288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7pPr>
      <a:lvl8pPr marL="25717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8pPr>
      <a:lvl9pPr marL="29146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B0EC7E1-70F5-B944-A6B9-9729D9C5766D}"/>
              </a:ext>
            </a:extLst>
          </p:cNvPr>
          <p:cNvSpPr>
            <a:spLocks noGrp="1" noChangeArrowheads="1"/>
          </p:cNvSpPr>
          <p:nvPr>
            <p:ph type="ctrTitle"/>
          </p:nvPr>
        </p:nvSpPr>
        <p:spPr/>
        <p:txBody>
          <a:bodyPr/>
          <a:lstStyle/>
          <a:p>
            <a:r>
              <a:rPr kumimoji="0" lang="en-US" altLang="en-US">
                <a:ea typeface="ＭＳ Ｐゴシック" panose="020B0600070205080204" pitchFamily="34" charset="-128"/>
              </a:rPr>
              <a:t>Physiology of Perception</a:t>
            </a:r>
          </a:p>
        </p:txBody>
      </p:sp>
      <p:sp>
        <p:nvSpPr>
          <p:cNvPr id="15362" name="Rectangle 3">
            <a:extLst>
              <a:ext uri="{FF2B5EF4-FFF2-40B4-BE49-F238E27FC236}">
                <a16:creationId xmlns:a16="http://schemas.microsoft.com/office/drawing/2014/main" id="{20FBDE40-A6DE-8D4F-B6AD-C5842F4DFA5E}"/>
              </a:ext>
            </a:extLst>
          </p:cNvPr>
          <p:cNvSpPr>
            <a:spLocks noGrp="1" noChangeArrowheads="1"/>
          </p:cNvSpPr>
          <p:nvPr>
            <p:ph type="subTitle" idx="1"/>
          </p:nvPr>
        </p:nvSpPr>
        <p:spPr/>
        <p:txBody>
          <a:bodyPr/>
          <a:lstStyle/>
          <a:p>
            <a:pPr>
              <a:buFont typeface="Wingdings" pitchFamily="2" charset="2"/>
              <a:buNone/>
            </a:pPr>
            <a:r>
              <a:rPr kumimoji="0" lang="en-US" altLang="en-US">
                <a:ea typeface="ＭＳ Ｐゴシック" panose="020B0600070205080204" pitchFamily="34" charset="-128"/>
              </a:rPr>
              <a:t>Fire in the brain</a:t>
            </a:r>
          </a:p>
        </p:txBody>
      </p:sp>
      <p:sp>
        <p:nvSpPr>
          <p:cNvPr id="2" name="Date Placeholder 1">
            <a:extLst>
              <a:ext uri="{FF2B5EF4-FFF2-40B4-BE49-F238E27FC236}">
                <a16:creationId xmlns:a16="http://schemas.microsoft.com/office/drawing/2014/main" id="{9723107C-33DB-3F40-BFA8-48DB5164EB7F}"/>
              </a:ext>
            </a:extLst>
          </p:cNvPr>
          <p:cNvSpPr>
            <a:spLocks noGrp="1"/>
          </p:cNvSpPr>
          <p:nvPr>
            <p:ph type="dt" sz="quarter" idx="10"/>
          </p:nvPr>
        </p:nvSpPr>
        <p:spPr/>
        <p:txBody>
          <a:bodyPr/>
          <a:lstStyle/>
          <a:p>
            <a:pPr>
              <a:defRPr/>
            </a:pPr>
            <a:fld id="{902962C5-4225-8049-BE34-7F57878BE24B}" type="datetime4">
              <a:rPr lang="en-US"/>
              <a:pPr>
                <a:defRPr/>
              </a:pPr>
              <a:t>January 24, 2021</a:t>
            </a:fld>
            <a:endParaRPr lang="en-US"/>
          </a:p>
        </p:txBody>
      </p:sp>
      <p:sp>
        <p:nvSpPr>
          <p:cNvPr id="3" name="Footer Placeholder 2">
            <a:extLst>
              <a:ext uri="{FF2B5EF4-FFF2-40B4-BE49-F238E27FC236}">
                <a16:creationId xmlns:a16="http://schemas.microsoft.com/office/drawing/2014/main" id="{445664FD-1ADA-174D-8A96-0EC32EF0A1E7}"/>
              </a:ext>
            </a:extLst>
          </p:cNvPr>
          <p:cNvSpPr>
            <a:spLocks noGrp="1"/>
          </p:cNvSpPr>
          <p:nvPr>
            <p:ph type="ftr" sz="quarter" idx="11"/>
          </p:nvPr>
        </p:nvSpPr>
        <p:spPr/>
        <p:txBody>
          <a:bodyPr/>
          <a:lstStyle/>
          <a:p>
            <a:pPr>
              <a:defRPr/>
            </a:pPr>
            <a:r>
              <a:rPr lang="tr-TR"/>
              <a:t>PSYCH 4041 / 6014</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A6A63-FDE1-1B42-99C6-A07A8B1817EB}"/>
              </a:ext>
            </a:extLst>
          </p:cNvPr>
          <p:cNvSpPr>
            <a:spLocks noGrp="1"/>
          </p:cNvSpPr>
          <p:nvPr>
            <p:ph type="title"/>
          </p:nvPr>
        </p:nvSpPr>
        <p:spPr/>
        <p:txBody>
          <a:bodyPr/>
          <a:lstStyle/>
          <a:p>
            <a:r>
              <a:rPr lang="en-US" dirty="0"/>
              <a:t>Reminder: Outline of Topics</a:t>
            </a:r>
          </a:p>
        </p:txBody>
      </p:sp>
      <p:sp>
        <p:nvSpPr>
          <p:cNvPr id="3" name="Content Placeholder 2">
            <a:extLst>
              <a:ext uri="{FF2B5EF4-FFF2-40B4-BE49-F238E27FC236}">
                <a16:creationId xmlns:a16="http://schemas.microsoft.com/office/drawing/2014/main" id="{8FCCD038-AE73-4547-816E-773CDEB735FC}"/>
              </a:ext>
            </a:extLst>
          </p:cNvPr>
          <p:cNvSpPr>
            <a:spLocks noGrp="1"/>
          </p:cNvSpPr>
          <p:nvPr>
            <p:ph idx="1"/>
          </p:nvPr>
        </p:nvSpPr>
        <p:spPr/>
        <p:txBody>
          <a:bodyPr/>
          <a:lstStyle/>
          <a:p>
            <a:pPr marL="0" indent="0">
              <a:buNone/>
            </a:pPr>
            <a:r>
              <a:rPr lang="en-US" sz="1600" dirty="0"/>
              <a:t>https://</a:t>
            </a:r>
            <a:r>
              <a:rPr lang="en-US" sz="1600" dirty="0" err="1"/>
              <a:t>gatech.instructure.com</a:t>
            </a:r>
            <a:r>
              <a:rPr lang="en-US" sz="1600" dirty="0"/>
              <a:t>/courses/181190/pages/schedule-of-lecture-topics-2021</a:t>
            </a:r>
          </a:p>
        </p:txBody>
      </p:sp>
      <p:sp>
        <p:nvSpPr>
          <p:cNvPr id="4" name="Date Placeholder 3">
            <a:extLst>
              <a:ext uri="{FF2B5EF4-FFF2-40B4-BE49-F238E27FC236}">
                <a16:creationId xmlns:a16="http://schemas.microsoft.com/office/drawing/2014/main" id="{59A11876-3039-DF49-BBBB-520DF66A311D}"/>
              </a:ext>
            </a:extLst>
          </p:cNvPr>
          <p:cNvSpPr>
            <a:spLocks noGrp="1"/>
          </p:cNvSpPr>
          <p:nvPr>
            <p:ph type="dt" sz="half" idx="10"/>
          </p:nvPr>
        </p:nvSpPr>
        <p:spPr/>
        <p:txBody>
          <a:bodyPr/>
          <a:lstStyle/>
          <a:p>
            <a:pPr>
              <a:defRPr/>
            </a:pPr>
            <a:r>
              <a:rPr lang="en-US"/>
              <a:t>Spring 2021</a:t>
            </a:r>
          </a:p>
        </p:txBody>
      </p:sp>
      <p:sp>
        <p:nvSpPr>
          <p:cNvPr id="5" name="Footer Placeholder 4">
            <a:extLst>
              <a:ext uri="{FF2B5EF4-FFF2-40B4-BE49-F238E27FC236}">
                <a16:creationId xmlns:a16="http://schemas.microsoft.com/office/drawing/2014/main" id="{EF36CFD3-57DD-1A4C-9BDA-B4204C4298AB}"/>
              </a:ext>
            </a:extLst>
          </p:cNvPr>
          <p:cNvSpPr>
            <a:spLocks noGrp="1"/>
          </p:cNvSpPr>
          <p:nvPr>
            <p:ph type="ftr" sz="quarter" idx="11"/>
          </p:nvPr>
        </p:nvSpPr>
        <p:spPr/>
        <p:txBody>
          <a:bodyPr/>
          <a:lstStyle/>
          <a:p>
            <a:pPr>
              <a:defRPr/>
            </a:pPr>
            <a:r>
              <a:rPr lang="tr-TR"/>
              <a:t>PSYCH 4041 / 6014</a:t>
            </a:r>
            <a:endParaRPr lang="en-US" sz="1050">
              <a:latin typeface="Comic Sans MS" charset="0"/>
            </a:endParaRPr>
          </a:p>
        </p:txBody>
      </p:sp>
      <p:pic>
        <p:nvPicPr>
          <p:cNvPr id="8" name="Picture 7" descr="The image displays a screenshot of a webpage titled &quot;Schedule of Lecture Topics (2021)&quot;. The content is presented in a tabular format with columns for &quot;Wk Date&quot;, &quot;Topic&quot;, &quot;Reading(s)*&quot;, and &quot;Notes&quot;. The left side of the table lists dates and corresponding lecture topics, including &quot;Introduction to Course&quot;, &quot;School Holiday--MLK Day--no classes&quot;, &quot;History &amp; Philosophy&quot;, &quot;Methods &amp; Techniques&quot;, &quot;Psychophysics; Signal Detection Theory&quot;, &quot;Physiology of Perception&quot;, &quot;Neuroimaging: Bottom-Up vs. Top-Down&quot;, &quot;Cutaneous Senses&quot;, and &quot;Pain&quot;. The right side lists suggested readings and notes for each topic. Notably, one entry includes a thumbnail image with a play button, indicating an embedded video. The overall visual style is clean and functional, typical of an educational platform.">
            <a:extLst>
              <a:ext uri="{FF2B5EF4-FFF2-40B4-BE49-F238E27FC236}">
                <a16:creationId xmlns:a16="http://schemas.microsoft.com/office/drawing/2014/main" id="{84D41207-A92B-6C4E-8A65-B666869A9333}"/>
              </a:ext>
            </a:extLst>
          </p:cNvPr>
          <p:cNvPicPr>
            <a:picLocks noChangeAspect="1"/>
          </p:cNvPicPr>
          <p:nvPr/>
        </p:nvPicPr>
        <p:blipFill rotWithShape="1">
          <a:blip r:embed="rId2"/>
          <a:srcRect t="13526"/>
          <a:stretch/>
        </p:blipFill>
        <p:spPr>
          <a:xfrm>
            <a:off x="1600200" y="1123016"/>
            <a:ext cx="6207239" cy="3887134"/>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6" name="Donut 5">
            <a:extLst>
              <a:ext uri="{FF2B5EF4-FFF2-40B4-BE49-F238E27FC236}">
                <a16:creationId xmlns:a16="http://schemas.microsoft.com/office/drawing/2014/main" id="{A33A7FE9-7467-414A-A855-1B2EB14EC9A5}"/>
              </a:ext>
            </a:extLst>
          </p:cNvPr>
          <p:cNvSpPr/>
          <p:nvPr/>
        </p:nvSpPr>
        <p:spPr bwMode="auto">
          <a:xfrm>
            <a:off x="990600" y="2800350"/>
            <a:ext cx="6435839" cy="1219200"/>
          </a:xfrm>
          <a:prstGeom prst="donut">
            <a:avLst/>
          </a:prstGeom>
          <a:solidFill>
            <a:srgbClr val="FFFF00">
              <a:alpha val="50000"/>
            </a:srgb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Times" charset="0"/>
              <a:ea typeface="ＭＳ Ｐゴシック" charset="0"/>
            </a:endParaRPr>
          </a:p>
        </p:txBody>
      </p:sp>
    </p:spTree>
    <p:extLst>
      <p:ext uri="{BB962C8B-B14F-4D97-AF65-F5344CB8AC3E}">
        <p14:creationId xmlns:p14="http://schemas.microsoft.com/office/powerpoint/2010/main" val="562905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Date Placeholder 3">
            <a:extLst>
              <a:ext uri="{FF2B5EF4-FFF2-40B4-BE49-F238E27FC236}">
                <a16:creationId xmlns:a16="http://schemas.microsoft.com/office/drawing/2014/main" id="{B74CCB0F-2B8C-DA48-B9B6-5D5DC8FE1CD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470441A8-5C41-BD4D-9B61-FF018AA5E2C5}"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7410" name="Footer Placeholder 4">
            <a:extLst>
              <a:ext uri="{FF2B5EF4-FFF2-40B4-BE49-F238E27FC236}">
                <a16:creationId xmlns:a16="http://schemas.microsoft.com/office/drawing/2014/main" id="{D09DAB0C-30EB-E242-85E6-0F46531077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7411" name="Rectangle 2">
            <a:extLst>
              <a:ext uri="{FF2B5EF4-FFF2-40B4-BE49-F238E27FC236}">
                <a16:creationId xmlns:a16="http://schemas.microsoft.com/office/drawing/2014/main" id="{6C6D466D-6675-C747-854A-F701DCEA0C14}"/>
              </a:ext>
            </a:extLst>
          </p:cNvPr>
          <p:cNvSpPr>
            <a:spLocks noGrp="1" noChangeArrowheads="1"/>
          </p:cNvSpPr>
          <p:nvPr>
            <p:ph type="title"/>
          </p:nvPr>
        </p:nvSpPr>
        <p:spPr/>
        <p:txBody>
          <a:bodyPr/>
          <a:lstStyle/>
          <a:p>
            <a:r>
              <a:rPr lang="en-US" altLang="en-US">
                <a:ea typeface="ＭＳ Ｐゴシック" panose="020B0600070205080204" pitchFamily="34" charset="-128"/>
              </a:rPr>
              <a:t>Overview</a:t>
            </a:r>
          </a:p>
        </p:txBody>
      </p:sp>
      <p:sp>
        <p:nvSpPr>
          <p:cNvPr id="17412" name="Rectangle 3">
            <a:extLst>
              <a:ext uri="{FF2B5EF4-FFF2-40B4-BE49-F238E27FC236}">
                <a16:creationId xmlns:a16="http://schemas.microsoft.com/office/drawing/2014/main" id="{2C52D3D0-74DF-FF4B-8816-1AC2324BD10A}"/>
              </a:ext>
            </a:extLst>
          </p:cNvPr>
          <p:cNvSpPr>
            <a:spLocks noGrp="1" noChangeArrowheads="1"/>
          </p:cNvSpPr>
          <p:nvPr>
            <p:ph type="body" idx="1"/>
          </p:nvPr>
        </p:nvSpPr>
        <p:spPr>
          <a:xfrm>
            <a:off x="838200" y="685800"/>
            <a:ext cx="8001000" cy="4171950"/>
          </a:xfrm>
        </p:spPr>
        <p:txBody>
          <a:bodyPr/>
          <a:lstStyle/>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as center of perception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Structure</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Transduction &amp; Transmission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Neural Signals</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Coding</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Upcoming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Date Placeholder 3">
            <a:extLst>
              <a:ext uri="{FF2B5EF4-FFF2-40B4-BE49-F238E27FC236}">
                <a16:creationId xmlns:a16="http://schemas.microsoft.com/office/drawing/2014/main" id="{6AD73A8B-38CB-2B4B-AE3D-22BE07F653D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D976380-119C-3F48-A59C-E46077F21BE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9458" name="Footer Placeholder 4">
            <a:extLst>
              <a:ext uri="{FF2B5EF4-FFF2-40B4-BE49-F238E27FC236}">
                <a16:creationId xmlns:a16="http://schemas.microsoft.com/office/drawing/2014/main" id="{1754684D-BE54-724D-A2D8-0667E8A537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9459" name="Rectangle 2">
            <a:extLst>
              <a:ext uri="{FF2B5EF4-FFF2-40B4-BE49-F238E27FC236}">
                <a16:creationId xmlns:a16="http://schemas.microsoft.com/office/drawing/2014/main" id="{01C17CEB-3A9B-3148-A9AD-54A0BD4AB9A9}"/>
              </a:ext>
            </a:extLst>
          </p:cNvPr>
          <p:cNvSpPr>
            <a:spLocks noGrp="1" noChangeArrowheads="1"/>
          </p:cNvSpPr>
          <p:nvPr>
            <p:ph type="title"/>
          </p:nvPr>
        </p:nvSpPr>
        <p:spPr/>
        <p:txBody>
          <a:bodyPr/>
          <a:lstStyle/>
          <a:p>
            <a:r>
              <a:rPr lang="en-US" altLang="en-US">
                <a:ea typeface="ＭＳ Ｐゴシック" panose="020B0600070205080204" pitchFamily="34" charset="-128"/>
              </a:rPr>
              <a:t>Brain as Center of Perception</a:t>
            </a:r>
          </a:p>
        </p:txBody>
      </p:sp>
      <p:sp>
        <p:nvSpPr>
          <p:cNvPr id="19460" name="Rectangle 3">
            <a:extLst>
              <a:ext uri="{FF2B5EF4-FFF2-40B4-BE49-F238E27FC236}">
                <a16:creationId xmlns:a16="http://schemas.microsoft.com/office/drawing/2014/main" id="{B93E2BB2-C3D4-F84E-906F-7CC29E13E327}"/>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000" dirty="0">
                <a:ea typeface="ＭＳ Ｐゴシック" panose="020B0600070205080204" pitchFamily="34" charset="-128"/>
              </a:rPr>
              <a:t>Study of the human as a perceiving “machine” led to the conclusion that the brain was center of thought and perception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Early anatomists tried dissection to determine (1) structure, then (2) function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Modern efforts much more effective !</a:t>
            </a:r>
          </a:p>
        </p:txBody>
      </p:sp>
      <p:pic>
        <p:nvPicPr>
          <p:cNvPr id="19461" name="Picture 4" descr="Two views of a human brain are presented against a black background. The top image shows the superior view of a bisected brain, revealing the deep fissure separating the two hemispheres. The gyri and sulci are clearly visible, with a network of dark blue veins embedded in the yellowish-tan tissue. The bottom image displays the superior view of an intact brain, also showing the characteristic convoluted surface with prominent gyri and sulci, and the vascular network. Both images highlight the complex structure of the human brain. The context &quot;Brain as Center of Perception&quot; and the date/course information suggest an academic or educational presentation related to neuroscience or psychology.">
            <a:extLst>
              <a:ext uri="{FF2B5EF4-FFF2-40B4-BE49-F238E27FC236}">
                <a16:creationId xmlns:a16="http://schemas.microsoft.com/office/drawing/2014/main" id="{8363DA79-3720-1F41-8661-DA78AEDDA2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742950"/>
            <a:ext cx="2396067" cy="3620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Date Placeholder 3">
            <a:extLst>
              <a:ext uri="{FF2B5EF4-FFF2-40B4-BE49-F238E27FC236}">
                <a16:creationId xmlns:a16="http://schemas.microsoft.com/office/drawing/2014/main" id="{D497DFB1-0648-0F41-85C5-7831C637BCB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5F0751-AA33-8041-A0B1-3573A6CC8921}"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1506" name="Footer Placeholder 4">
            <a:extLst>
              <a:ext uri="{FF2B5EF4-FFF2-40B4-BE49-F238E27FC236}">
                <a16:creationId xmlns:a16="http://schemas.microsoft.com/office/drawing/2014/main" id="{464259C6-498D-BE49-A278-D6ED930258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21507" name="Rectangle 2">
            <a:extLst>
              <a:ext uri="{FF2B5EF4-FFF2-40B4-BE49-F238E27FC236}">
                <a16:creationId xmlns:a16="http://schemas.microsoft.com/office/drawing/2014/main" id="{4A649948-3311-754F-BAFA-B2BA18EFBB85}"/>
              </a:ext>
            </a:extLst>
          </p:cNvPr>
          <p:cNvSpPr>
            <a:spLocks noGrp="1" noChangeArrowheads="1"/>
          </p:cNvSpPr>
          <p:nvPr>
            <p:ph type="title"/>
          </p:nvPr>
        </p:nvSpPr>
        <p:spPr/>
        <p:txBody>
          <a:bodyPr/>
          <a:lstStyle/>
          <a:p>
            <a:r>
              <a:rPr lang="en-US" altLang="en-US">
                <a:ea typeface="ＭＳ Ｐゴシック" panose="020B0600070205080204" pitchFamily="34" charset="-128"/>
              </a:rPr>
              <a:t>Made Up of Neurons…</a:t>
            </a:r>
          </a:p>
        </p:txBody>
      </p:sp>
      <p:sp>
        <p:nvSpPr>
          <p:cNvPr id="21508" name="Rectangle 3">
            <a:extLst>
              <a:ext uri="{FF2B5EF4-FFF2-40B4-BE49-F238E27FC236}">
                <a16:creationId xmlns:a16="http://schemas.microsoft.com/office/drawing/2014/main" id="{0FA59155-5373-5A40-A771-48C3313E5410}"/>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200" dirty="0">
                <a:ea typeface="ＭＳ Ｐゴシック" panose="020B0600070205080204" pitchFamily="34" charset="-128"/>
              </a:rPr>
              <a:t>The Neuron Doctrine</a:t>
            </a:r>
          </a:p>
          <a:p>
            <a:pPr lvl="1">
              <a:lnSpc>
                <a:spcPct val="90000"/>
              </a:lnSpc>
            </a:pPr>
            <a:r>
              <a:rPr lang="en-US" altLang="en-US" sz="2200" dirty="0">
                <a:ea typeface="ＭＳ Ｐゴシック" panose="020B0600070205080204" pitchFamily="34" charset="-128"/>
              </a:rPr>
              <a:t>Neurons &amp; their synapses are the fundamental entities in brain functions, including the mind and consciousness</a:t>
            </a:r>
          </a:p>
          <a:p>
            <a:pPr lvl="1">
              <a:lnSpc>
                <a:spcPct val="90000"/>
              </a:lnSpc>
            </a:pPr>
            <a:r>
              <a:rPr lang="en-US" altLang="en-US" sz="2200" dirty="0">
                <a:ea typeface="ＭＳ Ｐゴシック" panose="020B0600070205080204" pitchFamily="34" charset="-128"/>
              </a:rPr>
              <a:t>All the functions of the brain must ultimately be understood in terms of neurons and their interactions</a:t>
            </a:r>
          </a:p>
          <a:p>
            <a:pPr lvl="1">
              <a:lnSpc>
                <a:spcPct val="90000"/>
              </a:lnSpc>
            </a:pPr>
            <a:r>
              <a:rPr lang="en-US" altLang="en-US" sz="2200" dirty="0">
                <a:ea typeface="ＭＳ Ｐゴシック" panose="020B0600070205080204" pitchFamily="34" charset="-128"/>
              </a:rPr>
              <a:t>Note: Neurons are electric</a:t>
            </a:r>
          </a:p>
        </p:txBody>
      </p:sp>
      <p:pic>
        <p:nvPicPr>
          <p:cNvPr id="21509" name="Picture 5" descr="A micrograph shows a dense network of neurons stained a deep red against a yellow-orange background. The neurons have distinct triangular or pyramidal-shaped cell bodies from which numerous branched dendrites extend, creating a complex, tree-like structure. The dendrites form a dense mesh, with some appearing to connect with other neurons. The overall impression is one of intricate biological complexity, hinting at the vast neural connections within the brain. The title and context indicate this is related to a psychology course (PSYCH 4041 / 6014) and the topic &quot;Made Up of Neurons.&quot;">
            <a:extLst>
              <a:ext uri="{FF2B5EF4-FFF2-40B4-BE49-F238E27FC236}">
                <a16:creationId xmlns:a16="http://schemas.microsoft.com/office/drawing/2014/main" id="{6B7C7D7C-FCFE-814F-A42C-1E0793795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4391" y="819150"/>
            <a:ext cx="2132409"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7DEA07D7-B863-D74C-853E-B17B753A0463}"/>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 Brain Structure</a:t>
            </a:r>
          </a:p>
        </p:txBody>
      </p:sp>
      <p:sp>
        <p:nvSpPr>
          <p:cNvPr id="23554" name="Rectangle 3">
            <a:extLst>
              <a:ext uri="{FF2B5EF4-FFF2-40B4-BE49-F238E27FC236}">
                <a16:creationId xmlns:a16="http://schemas.microsoft.com/office/drawing/2014/main" id="{D8C615DF-A988-584B-959D-8AA00A71291F}"/>
              </a:ext>
            </a:extLst>
          </p:cNvPr>
          <p:cNvSpPr>
            <a:spLocks noGrp="1" noChangeArrowheads="1"/>
          </p:cNvSpPr>
          <p:nvPr>
            <p:ph type="body" idx="1"/>
          </p:nvPr>
        </p:nvSpPr>
        <p:spPr>
          <a:xfrm>
            <a:off x="838200" y="857250"/>
            <a:ext cx="6648450" cy="365760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brain has modular organization</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sensory modalities have primary receiving areas</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Audition - temporal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Tactile senses - parietal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Vision - occipital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Etc.</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Frontal lobe coordinates information received from two or more senses</a:t>
            </a:r>
          </a:p>
        </p:txBody>
      </p:sp>
      <p:sp>
        <p:nvSpPr>
          <p:cNvPr id="23555" name="Date Placeholder 1">
            <a:extLst>
              <a:ext uri="{FF2B5EF4-FFF2-40B4-BE49-F238E27FC236}">
                <a16:creationId xmlns:a16="http://schemas.microsoft.com/office/drawing/2014/main" id="{2F967521-A193-1843-B9FF-883539FCD86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1DA6B711-F320-CA47-8965-BE2A034C453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3556" name="Footer Placeholder 2">
            <a:extLst>
              <a:ext uri="{FF2B5EF4-FFF2-40B4-BE49-F238E27FC236}">
                <a16:creationId xmlns:a16="http://schemas.microsoft.com/office/drawing/2014/main" id="{DA381CA7-7BFC-F844-8009-72C9FF712F0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7FD46BCF-354D-C84D-9640-D842959E13C7}"/>
              </a:ext>
            </a:extLst>
          </p:cNvPr>
          <p:cNvSpPr>
            <a:spLocks noGrp="1" noChangeArrowheads="1"/>
          </p:cNvSpPr>
          <p:nvPr>
            <p:ph type="body" idx="1"/>
          </p:nvPr>
        </p:nvSpPr>
        <p:spPr>
          <a:xfrm>
            <a:off x="2019300" y="3943350"/>
            <a:ext cx="6057900" cy="1028700"/>
          </a:xfrm>
          <a:solidFill>
            <a:schemeClr val="bg1"/>
          </a:solidFill>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2.3 The human brain, showing the locations of the primary receiving areas for the senses in the temporal, occipital, and parietal lobes, and the frontal lobe, which is involved with integrating sensory functions.</a:t>
            </a:r>
          </a:p>
        </p:txBody>
      </p:sp>
      <p:pic>
        <p:nvPicPr>
          <p:cNvPr id="25602" name="Picture 4" descr="The diagram is a lateral view of the human brain, illustrating its major lobes and their primary sensory functions. The brain is depicted in a realistic, textured style, with the characteristic folds and convolutions clearly visible. Labels point to four distinct areas: the frontal lobe (involved in integrating sensory functions), the parietal lobe (associated with skin senses), the temporal lobe (responsible for hearing), and the occipital lobe (the primary receiving area for vision). The cerebellum is visible at the bottom rear of the brain, and a portion of the brainstem is also shown. The overall presentation is a clear anatomical illustration, likely intended to educate about the localization of sensory processing within the human brain.">
            <a:extLst>
              <a:ext uri="{FF2B5EF4-FFF2-40B4-BE49-F238E27FC236}">
                <a16:creationId xmlns:a16="http://schemas.microsoft.com/office/drawing/2014/main" id="{84859B0F-B8DC-1F44-A0AB-0A0877E8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04807"/>
            <a:ext cx="6477000" cy="4448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Date Placeholder 1">
            <a:extLst>
              <a:ext uri="{FF2B5EF4-FFF2-40B4-BE49-F238E27FC236}">
                <a16:creationId xmlns:a16="http://schemas.microsoft.com/office/drawing/2014/main" id="{7BEF6A66-4D97-474A-8328-B4B3B64BFBE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9A86305-13EB-E149-8B7F-A8AC79AE81A2}"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268F3162-86D0-9E4B-A4A1-EDE1465DF482}"/>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7650" name="Rectangle 3">
            <a:extLst>
              <a:ext uri="{FF2B5EF4-FFF2-40B4-BE49-F238E27FC236}">
                <a16:creationId xmlns:a16="http://schemas.microsoft.com/office/drawing/2014/main" id="{E04CE557-18BC-2B4E-97EC-E93FCA4EB628}"/>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100" dirty="0">
                <a:latin typeface="Arial" panose="020B0604020202020204" pitchFamily="34" charset="0"/>
                <a:ea typeface="ＭＳ Ｐゴシック" panose="020B0600070205080204" pitchFamily="34" charset="-128"/>
              </a:rPr>
              <a:t>Receptors - specialized neurons that respond to specific kinds of energy</a:t>
            </a:r>
            <a:endParaRPr lang="en-US" altLang="en-US" dirty="0">
              <a:latin typeface="Arial" panose="020B0604020202020204" pitchFamily="34" charset="0"/>
              <a:ea typeface="ＭＳ Ｐゴシック" panose="020B0600070205080204" pitchFamily="34" charset="-128"/>
            </a:endParaRPr>
          </a:p>
        </p:txBody>
      </p:sp>
      <p:pic>
        <p:nvPicPr>
          <p:cNvPr id="27651" name="Picture 4" descr="The diagram displays five distinct sensory receptor cells, each representing a different sense: vision, hearing, touch, smell, and taste. These are presented in panels labeled (a) through (e). Panel (a) shows a rod photoreceptor cell for vision, characterized by its elongated, cylindrical shape with stacked discs at the apical end. Panel (b) illustrates a hair cell for hearing, featuring a tufted top of stereocilia and a bulbous cell body. Panel (c) depicts a tactile receptor, a complex structure with a branched, convoluted shape resembling a nerve ending embedded within a tissue. Panel (d) shows olfactory receptor neurons for smell, with two distinct cell types (red and green) extending dendrites toward the surface and axons extending deeper. Finally, panel (e) presents a taste receptor cell, a flask-shaped cell with a prominent nucleus and a cluster of cilia at the apical end, and an axon extending from the basal end. Each panel is marked with an asterisk (*) near the part of the cell most directly involved in receiving the stimulus. The overall presentation is a comparative illustration of the diverse morphology of sensory receptors, illustrating the introductory text about specialized neurons responding to specific forms of energy.">
            <a:extLst>
              <a:ext uri="{FF2B5EF4-FFF2-40B4-BE49-F238E27FC236}">
                <a16:creationId xmlns:a16="http://schemas.microsoft.com/office/drawing/2014/main" id="{EDC8230E-1E0A-5844-B2FC-597149D20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785" y="1581150"/>
            <a:ext cx="8327615" cy="2947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Date Placeholder 1">
            <a:extLst>
              <a:ext uri="{FF2B5EF4-FFF2-40B4-BE49-F238E27FC236}">
                <a16:creationId xmlns:a16="http://schemas.microsoft.com/office/drawing/2014/main" id="{416B7D9C-3591-114C-835B-7A772AB9DF1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373439-8050-094F-AA91-928198248D7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7653" name="Footer Placeholder 2">
            <a:extLst>
              <a:ext uri="{FF2B5EF4-FFF2-40B4-BE49-F238E27FC236}">
                <a16:creationId xmlns:a16="http://schemas.microsoft.com/office/drawing/2014/main" id="{5853A928-1411-5447-A2C9-A417A56972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3E241A2D-2707-D549-8D5F-DBB2AAD12487}"/>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9698" name="Rectangle 3">
            <a:extLst>
              <a:ext uri="{FF2B5EF4-FFF2-40B4-BE49-F238E27FC236}">
                <a16:creationId xmlns:a16="http://schemas.microsoft.com/office/drawing/2014/main" id="{FFFB08A7-53EC-254D-AC7E-F67645324D6B}"/>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Key components of neurons: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Cell body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Dendrites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Axon or nerve fiber</a:t>
            </a:r>
          </a:p>
        </p:txBody>
      </p:sp>
      <p:pic>
        <p:nvPicPr>
          <p:cNvPr id="29699" name="Picture 4" descr="The diagram illustrates the process of signal transduction and transmission within a neuron. It begins with a circular structure labeled &quot;Touch receptor&quot; on the left, indicating that it receives a &quot;Stimulus from environment,&quot; depicted by a red arrow pointing into the receptor. From the touch receptor, a &quot;Nerve fiber&quot; extends, with a red arrow indicating an &quot;Electrical signal&quot; traveling along it. This signal then reaches a synapse, shown as a gap between the nerve fiber and the main part of the neuron. The neuron itself is depicted with a prominent, orange, star-shaped &quot;Cell body,&quot; from which numerous branching &quot;Dendrites&quot; extend. Another long projection, the &quot;Axon or nerve fiber,&quot; originates from the cell body and is also covered by segments that suggest insulation. Red arrows along the axon indicate the direction of signal transmission away from the cell body, toward a branching end. The labels &quot;Synapse,&quot; &quot;Dendrite,&quot; &quot;Cell body,&quot; and &quot;Axon or nerve fiber&quot; are clearly integrated with their corresponding visual components, detailing the key structures involved in neuronal communication.">
            <a:extLst>
              <a:ext uri="{FF2B5EF4-FFF2-40B4-BE49-F238E27FC236}">
                <a16:creationId xmlns:a16="http://schemas.microsoft.com/office/drawing/2014/main" id="{69ACFB55-B8E3-314B-B581-5E5B86F79B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395495"/>
            <a:ext cx="8067897" cy="2081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Rectangle 2">
            <a:extLst>
              <a:ext uri="{FF2B5EF4-FFF2-40B4-BE49-F238E27FC236}">
                <a16:creationId xmlns:a16="http://schemas.microsoft.com/office/drawing/2014/main" id="{94A4D5F1-EEFA-7F42-973D-7198A94416D0}"/>
              </a:ext>
            </a:extLst>
          </p:cNvPr>
          <p:cNvSpPr txBox="1">
            <a:spLocks noChangeArrowheads="1"/>
          </p:cNvSpPr>
          <p:nvPr/>
        </p:nvSpPr>
        <p:spPr bwMode="auto">
          <a:xfrm>
            <a:off x="2247900" y="4476750"/>
            <a:ext cx="6057900" cy="471488"/>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2.4 The neuron on the right consists of a cell body, dendrites, and an axon, or nerve fiber.  The neuron on the left that receives stimuli from the environment has a receptor in place of the cell body.</a:t>
            </a:r>
          </a:p>
        </p:txBody>
      </p:sp>
      <p:sp>
        <p:nvSpPr>
          <p:cNvPr id="29701" name="Date Placeholder 1">
            <a:extLst>
              <a:ext uri="{FF2B5EF4-FFF2-40B4-BE49-F238E27FC236}">
                <a16:creationId xmlns:a16="http://schemas.microsoft.com/office/drawing/2014/main" id="{0FB608D1-8E1B-E149-906C-1951EDFEB1E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63C21AA-C9E3-5D42-B571-1B128C2FCBB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242D317F-DF76-8043-AD69-87BC5CB5EA6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Signals</a:t>
            </a:r>
          </a:p>
        </p:txBody>
      </p:sp>
      <p:sp>
        <p:nvSpPr>
          <p:cNvPr id="31746" name="Rectangle 3">
            <a:extLst>
              <a:ext uri="{FF2B5EF4-FFF2-40B4-BE49-F238E27FC236}">
                <a16:creationId xmlns:a16="http://schemas.microsoft.com/office/drawing/2014/main" id="{5A1FAB20-FBA6-9842-ADB3-431636B93808}"/>
              </a:ext>
            </a:extLst>
          </p:cNvPr>
          <p:cNvSpPr>
            <a:spLocks noGrp="1" noChangeArrowheads="1"/>
          </p:cNvSpPr>
          <p:nvPr>
            <p:ph type="body" idx="1"/>
          </p:nvPr>
        </p:nvSpPr>
        <p:spPr>
          <a:xfrm>
            <a:off x="866775" y="792956"/>
            <a:ext cx="45148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Electrical signals or action potentials</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 occur when: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permeability of the membrane changes</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Na+ flows into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positive </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 flows out of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negative</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This process travels down the axon in a propagated response</a:t>
            </a:r>
          </a:p>
          <a:p>
            <a:pPr lvl="1">
              <a:lnSpc>
                <a:spcPct val="90000"/>
              </a:lnSpc>
              <a:spcBef>
                <a:spcPct val="30000"/>
              </a:spcBef>
            </a:pPr>
            <a:endParaRPr lang="en-US" altLang="en-US" sz="2000" dirty="0">
              <a:latin typeface="Tahoma" panose="020B0604030504040204" pitchFamily="34" charset="0"/>
              <a:ea typeface="Tahoma" panose="020B0604030504040204" pitchFamily="34" charset="0"/>
              <a:cs typeface="Tahoma" panose="020B0604030504040204" pitchFamily="34" charset="0"/>
            </a:endParaRPr>
          </a:p>
        </p:txBody>
      </p:sp>
      <p:pic>
        <p:nvPicPr>
          <p:cNvPr id="31747" name="Picture 4" descr="1. **Main Trend:** The graphs illustrate the change in electrical charge inside a neuron's axon over time as a nerve impulse propagates. The impulse begins at a resting potential, rapidly increases in positive charge, and then returns to the resting potential.&#10;&#10;2. **Axes:** The horizontal axis of each graph represents time. The vertical axis represents the electrical charge inside the neuron's fiber relative to the outside, measured in millivolts (mV). The resting potential is indicated as -70 mV.&#10;&#10;3. **Individual Points:** Not applicable.&#10;&#10;4. **Contextual Explanation of Labels:**&#10;    * **Resting potential:** This label indicates the baseline electrical charge of the neuron when it is not actively transmitting a signal.&#10;    * **+40:** This label shows the peak positive charge reached inside the axon during the passage of a nerve impulse.&#10;    * **Back at resting level:** This label signifies that the neuron's electrical charge has returned to its baseline resting potential after the impulse has passed.&#10;    * **Time:** This label indicates that the horizontal axis measures the duration over which these electrical changes occur.&#10;    * **Charge inside fiber relative to outside (mV):** This label clarifies that the vertical axis represents the electrical potential difference between the inside and outside of the axon, indicating how much more positive or negative the inside is compared to the outside.">
            <a:extLst>
              <a:ext uri="{FF2B5EF4-FFF2-40B4-BE49-F238E27FC236}">
                <a16:creationId xmlns:a16="http://schemas.microsoft.com/office/drawing/2014/main" id="{2B2EA2DA-F5F3-D241-8C7D-A0EA4FF03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166" y="800100"/>
            <a:ext cx="3170634" cy="3500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Date Placeholder 1">
            <a:extLst>
              <a:ext uri="{FF2B5EF4-FFF2-40B4-BE49-F238E27FC236}">
                <a16:creationId xmlns:a16="http://schemas.microsoft.com/office/drawing/2014/main" id="{6CC403BE-2CF1-634E-99A5-930E7B60E07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56E3F5E-46BE-0C4A-9B48-7A0757E0168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1749" name="Footer Placeholder 2">
            <a:extLst>
              <a:ext uri="{FF2B5EF4-FFF2-40B4-BE49-F238E27FC236}">
                <a16:creationId xmlns:a16="http://schemas.microsoft.com/office/drawing/2014/main" id="{E7BD3A59-C96D-0342-8BA4-E2CFE59413E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0D084AA8-0E46-0B41-BA15-3867FDBF54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Properties of Action Potentials</a:t>
            </a:r>
          </a:p>
        </p:txBody>
      </p:sp>
      <p:sp>
        <p:nvSpPr>
          <p:cNvPr id="33794" name="Rectangle 3">
            <a:extLst>
              <a:ext uri="{FF2B5EF4-FFF2-40B4-BE49-F238E27FC236}">
                <a16:creationId xmlns:a16="http://schemas.microsoft.com/office/drawing/2014/main" id="{D26D8A89-1DF6-6641-BB7E-B3F5CF742404}"/>
              </a:ext>
            </a:extLst>
          </p:cNvPr>
          <p:cNvSpPr>
            <a:spLocks noGrp="1" noChangeArrowheads="1"/>
          </p:cNvSpPr>
          <p:nvPr>
            <p:ph type="body" idx="1"/>
          </p:nvPr>
        </p:nvSpPr>
        <p:spPr>
          <a:xfrm>
            <a:off x="838200" y="800100"/>
            <a:ext cx="716280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Action potentials: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propagated response.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remain the same size regardless of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 in </a:t>
            </a:r>
            <a:r>
              <a:rPr lang="en-US" altLang="en-US" sz="2000" b="1" dirty="0">
                <a:latin typeface="Tahoma" panose="020B0604030504040204" pitchFamily="34" charset="0"/>
                <a:ea typeface="Tahoma" panose="020B0604030504040204" pitchFamily="34" charset="0"/>
                <a:cs typeface="Tahoma" panose="020B0604030504040204" pitchFamily="34" charset="0"/>
              </a:rPr>
              <a:t>rate </a:t>
            </a:r>
            <a:r>
              <a:rPr lang="en-US" altLang="en-US" sz="2000" dirty="0">
                <a:latin typeface="Tahoma" panose="020B0604030504040204" pitchFamily="34" charset="0"/>
                <a:ea typeface="Tahoma" panose="020B0604030504040204" pitchFamily="34" charset="0"/>
                <a:cs typeface="Tahoma" panose="020B0604030504040204" pitchFamily="34" charset="0"/>
              </a:rPr>
              <a:t>to increase in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have a refractory period of 1 </a:t>
            </a:r>
            <a:r>
              <a:rPr lang="en-US" altLang="en-US" sz="2000" dirty="0" err="1">
                <a:latin typeface="Tahoma" panose="020B0604030504040204" pitchFamily="34" charset="0"/>
                <a:ea typeface="Tahoma" panose="020B0604030504040204" pitchFamily="34" charset="0"/>
                <a:cs typeface="Tahoma" panose="020B0604030504040204" pitchFamily="34" charset="0"/>
              </a:rPr>
              <a:t>ms</a:t>
            </a:r>
            <a:r>
              <a:rPr lang="en-US" altLang="en-US" sz="2000" dirty="0">
                <a:latin typeface="Tahoma" panose="020B0604030504040204" pitchFamily="34" charset="0"/>
                <a:ea typeface="Tahoma" panose="020B0604030504040204" pitchFamily="34" charset="0"/>
                <a:cs typeface="Tahoma" panose="020B0604030504040204" pitchFamily="34" charset="0"/>
              </a:rPr>
              <a:t> - </a:t>
            </a:r>
            <a:r>
              <a:rPr lang="en-US" altLang="en-US" sz="2000" b="1" dirty="0">
                <a:latin typeface="Tahoma" panose="020B0604030504040204" pitchFamily="34" charset="0"/>
                <a:ea typeface="Tahoma" panose="020B0604030504040204" pitchFamily="34" charset="0"/>
                <a:cs typeface="Tahoma" panose="020B0604030504040204" pitchFamily="34" charset="0"/>
              </a:rPr>
              <a:t>upper firing rate </a:t>
            </a:r>
            <a:r>
              <a:rPr lang="en-US" altLang="en-US" sz="2000" dirty="0">
                <a:latin typeface="Tahoma" panose="020B0604030504040204" pitchFamily="34" charset="0"/>
                <a:ea typeface="Tahoma" panose="020B0604030504040204" pitchFamily="34" charset="0"/>
                <a:cs typeface="Tahoma" panose="020B0604030504040204" pitchFamily="34" charset="0"/>
              </a:rPr>
              <a:t>is 500 to 800 impulses per second.</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spontaneous activity that occurs without stimulation (neuronal noise).</a:t>
            </a:r>
          </a:p>
        </p:txBody>
      </p:sp>
      <p:sp>
        <p:nvSpPr>
          <p:cNvPr id="33795" name="Date Placeholder 1">
            <a:extLst>
              <a:ext uri="{FF2B5EF4-FFF2-40B4-BE49-F238E27FC236}">
                <a16:creationId xmlns:a16="http://schemas.microsoft.com/office/drawing/2014/main" id="{EE05B481-9AF4-F94C-B6FF-1FDCCFEBD9E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D9888F8-8F4A-144E-B4DC-BCCEBEB728F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3796" name="Footer Placeholder 2">
            <a:extLst>
              <a:ext uri="{FF2B5EF4-FFF2-40B4-BE49-F238E27FC236}">
                <a16:creationId xmlns:a16="http://schemas.microsoft.com/office/drawing/2014/main" id="{90590B3B-5A73-3C45-A8FF-88E166A2C45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0B5D2456-7F45-814E-BEA2-67251C9F7F88}"/>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2.10 Response of a nerve fiber to (a) soft, (b) medium, and (c) strong stimulation. Increasing the stimulus strength increases both the rate and the regularity of nerve firing in this fiber.</a:t>
            </a:r>
          </a:p>
        </p:txBody>
      </p:sp>
      <p:pic>
        <p:nvPicPr>
          <p:cNvPr id="35842" name="Picture 4" descr="The figure illustrates the response of a nerve fiber to varying stimulus intensities over time. The main trend is that as stimulus intensity increases, the rate and regularity of nerve firing also increase. The horizontal axis represents time, and the vertical spikes represent nerve impulses or action potentials. The figure is divided into three rows, labeled (a), (b), and (c), which correspond to soft, medium, and strong stimulation, respectively. The dashed vertical lines indicate when the stimulus is applied (&quot;Pressure on&quot;) and removed (&quot;Pressure off&quot;).">
            <a:extLst>
              <a:ext uri="{FF2B5EF4-FFF2-40B4-BE49-F238E27FC236}">
                <a16:creationId xmlns:a16="http://schemas.microsoft.com/office/drawing/2014/main" id="{2F5D69F8-E115-DF42-8F8C-889AC5310B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742950"/>
            <a:ext cx="5257800"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2">
            <a:extLst>
              <a:ext uri="{FF2B5EF4-FFF2-40B4-BE49-F238E27FC236}">
                <a16:creationId xmlns:a16="http://schemas.microsoft.com/office/drawing/2014/main" id="{CDB2805F-6060-B840-BA6B-688A2A823E6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Stimulus Intensity &amp; Firing Rate</a:t>
            </a:r>
          </a:p>
        </p:txBody>
      </p:sp>
      <p:sp>
        <p:nvSpPr>
          <p:cNvPr id="35844" name="Date Placeholder 1">
            <a:extLst>
              <a:ext uri="{FF2B5EF4-FFF2-40B4-BE49-F238E27FC236}">
                <a16:creationId xmlns:a16="http://schemas.microsoft.com/office/drawing/2014/main" id="{4CA4627A-B8F5-0E4F-8B43-924A60A46B1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AC1371-0779-BB4C-A035-9E911F29B3A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5846" name="TextBox 1">
            <a:extLst>
              <a:ext uri="{FF2B5EF4-FFF2-40B4-BE49-F238E27FC236}">
                <a16:creationId xmlns:a16="http://schemas.microsoft.com/office/drawing/2014/main" id="{03E9264F-A3F5-6F47-80E2-F661537094A4}"/>
              </a:ext>
            </a:extLst>
          </p:cNvPr>
          <p:cNvSpPr txBox="1">
            <a:spLocks noChangeArrowheads="1"/>
          </p:cNvSpPr>
          <p:nvPr/>
        </p:nvSpPr>
        <p:spPr bwMode="auto">
          <a:xfrm>
            <a:off x="1314450" y="971551"/>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Soft pressure</a:t>
            </a:r>
          </a:p>
        </p:txBody>
      </p:sp>
      <p:sp>
        <p:nvSpPr>
          <p:cNvPr id="35847" name="TextBox 7">
            <a:extLst>
              <a:ext uri="{FF2B5EF4-FFF2-40B4-BE49-F238E27FC236}">
                <a16:creationId xmlns:a16="http://schemas.microsoft.com/office/drawing/2014/main" id="{050A81E7-E8C5-CC46-B259-77B662C198B9}"/>
              </a:ext>
            </a:extLst>
          </p:cNvPr>
          <p:cNvSpPr txBox="1">
            <a:spLocks noChangeArrowheads="1"/>
          </p:cNvSpPr>
          <p:nvPr/>
        </p:nvSpPr>
        <p:spPr bwMode="auto">
          <a:xfrm>
            <a:off x="1275160" y="1947863"/>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Medium pressure</a:t>
            </a:r>
          </a:p>
        </p:txBody>
      </p:sp>
      <p:sp>
        <p:nvSpPr>
          <p:cNvPr id="35848" name="TextBox 8">
            <a:extLst>
              <a:ext uri="{FF2B5EF4-FFF2-40B4-BE49-F238E27FC236}">
                <a16:creationId xmlns:a16="http://schemas.microsoft.com/office/drawing/2014/main" id="{D3CF4D5A-592D-464E-AC35-7656D17F328E}"/>
              </a:ext>
            </a:extLst>
          </p:cNvPr>
          <p:cNvSpPr txBox="1">
            <a:spLocks noChangeArrowheads="1"/>
          </p:cNvSpPr>
          <p:nvPr/>
        </p:nvSpPr>
        <p:spPr bwMode="auto">
          <a:xfrm>
            <a:off x="1328738" y="3063479"/>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Strong pressure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4" descr="The diagram illustrates the process of synaptic transmission of nerve impulses. Panel (a) shows a stimulus being received by a receptor, which then triggers a nerve impulse along an axon towards a receiving neuron. The diagram then zooms into the junction between the axon of a sending neuron and the receiving neuron in panel (b). This junction, known as the synapse, shows synaptic vesicles filled with neurotransmitter molecules being released from the axon of the sending neuron into the synaptic cleft. These neurotransmitter molecules are then shown in panel (c) binding to specific receptor sites on the membrane of the receiving neuron. The visual elements emphasize the flow of information from one neuron to another through chemical signaling at the synapse.">
            <a:extLst>
              <a:ext uri="{FF2B5EF4-FFF2-40B4-BE49-F238E27FC236}">
                <a16:creationId xmlns:a16="http://schemas.microsoft.com/office/drawing/2014/main" id="{BA59CB00-07A8-A54E-81D3-225A2084D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2650" y="685800"/>
            <a:ext cx="2419350" cy="433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0" name="Rectangle 2">
            <a:extLst>
              <a:ext uri="{FF2B5EF4-FFF2-40B4-BE49-F238E27FC236}">
                <a16:creationId xmlns:a16="http://schemas.microsoft.com/office/drawing/2014/main" id="{C3D6827B-86A0-D54A-8598-57D6E402C09E}"/>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Synaptic Transmission of Impulses </a:t>
            </a:r>
          </a:p>
        </p:txBody>
      </p:sp>
      <p:sp>
        <p:nvSpPr>
          <p:cNvPr id="37891" name="Rectangle 3">
            <a:extLst>
              <a:ext uri="{FF2B5EF4-FFF2-40B4-BE49-F238E27FC236}">
                <a16:creationId xmlns:a16="http://schemas.microsoft.com/office/drawing/2014/main" id="{8DB2E0CE-6C0C-4D4C-9A99-A72D9976CA4E}"/>
              </a:ext>
            </a:extLst>
          </p:cNvPr>
          <p:cNvSpPr>
            <a:spLocks noGrp="1" noChangeArrowheads="1"/>
          </p:cNvSpPr>
          <p:nvPr>
            <p:ph type="body" idx="1"/>
          </p:nvPr>
        </p:nvSpPr>
        <p:spPr>
          <a:xfrm>
            <a:off x="838200" y="800100"/>
            <a:ext cx="493395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Neurotransmitters are: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released by the presynaptic neuron from vesicles.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received by the postsynaptic neuron on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matched like a key to a lock into specific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used as triggers for voltage change in the postsynaptic neuron. </a:t>
            </a:r>
          </a:p>
        </p:txBody>
      </p:sp>
      <p:sp>
        <p:nvSpPr>
          <p:cNvPr id="37892" name="Date Placeholder 1">
            <a:extLst>
              <a:ext uri="{FF2B5EF4-FFF2-40B4-BE49-F238E27FC236}">
                <a16:creationId xmlns:a16="http://schemas.microsoft.com/office/drawing/2014/main" id="{1A67EFEC-74DE-7943-8D65-9A3A7E7BC43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AA026FD-8174-A943-8DC8-503C1A0776A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7893" name="Footer Placeholder 2">
            <a:extLst>
              <a:ext uri="{FF2B5EF4-FFF2-40B4-BE49-F238E27FC236}">
                <a16:creationId xmlns:a16="http://schemas.microsoft.com/office/drawing/2014/main" id="{846D9E54-4F23-D64D-BC34-4290BAFE5B7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7" name="Picture 5" descr="The diagram is a stylized, 3D illustration of two nerve cells, or neurons, communicating with each other at a synapse. The title &quot;Synaptic Transmission&quot; is prominently displayed in a yellow, script-like font across the bottom of the image.&#10;&#10;In the foreground, several bulbous, orange structures with curved, tube-like connections dominate the scene. These likely represent the axon terminals of one neuron, forming part of the synapse. These structures are set against a dark, purple, and abstract background, suggesting the biological environment of the nervous system.&#10;&#10;To the right of these structures, a smaller, more detailed depiction of a neuron is visible. It features a central, glowing orange cell body from which numerous thin, branching dendrites extend. A single axon extends downwards from the cell body, terminating near the foreground structures and emitting a bright white light or impulse, symbolizing the transmission of a signal. This element visually reinforces the concept of &quot;synaptic transmission&quot; described in the title. The overall aesthetic is somewhat abstract and illustrative, typical of educational graphics.">
            <a:extLst>
              <a:ext uri="{FF2B5EF4-FFF2-40B4-BE49-F238E27FC236}">
                <a16:creationId xmlns:a16="http://schemas.microsoft.com/office/drawing/2014/main" id="{1DE6042D-1442-B946-9E36-76566AB57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0838" y="1323975"/>
            <a:ext cx="3362325" cy="249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8" name="Rectangle 2">
            <a:extLst>
              <a:ext uri="{FF2B5EF4-FFF2-40B4-BE49-F238E27FC236}">
                <a16:creationId xmlns:a16="http://schemas.microsoft.com/office/drawing/2014/main" id="{243AF993-D135-BF4A-A470-8F98CC1B5A78}"/>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Video: Synaptic Transmission</a:t>
            </a:r>
          </a:p>
        </p:txBody>
      </p:sp>
      <p:sp>
        <p:nvSpPr>
          <p:cNvPr id="39939" name="Date Placeholder 1">
            <a:extLst>
              <a:ext uri="{FF2B5EF4-FFF2-40B4-BE49-F238E27FC236}">
                <a16:creationId xmlns:a16="http://schemas.microsoft.com/office/drawing/2014/main" id="{0E06D05A-9384-A44A-820F-185B0499EAC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276D481-585E-C044-BF9C-683D2527731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9940" name="Footer Placeholder 2">
            <a:extLst>
              <a:ext uri="{FF2B5EF4-FFF2-40B4-BE49-F238E27FC236}">
                <a16:creationId xmlns:a16="http://schemas.microsoft.com/office/drawing/2014/main" id="{21B925D6-0888-864C-BF30-D9A58E43C6F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B541A588-BDDC-8D40-AC6C-42FBB1101FE8}"/>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Types of Neurotransmitters</a:t>
            </a:r>
          </a:p>
        </p:txBody>
      </p:sp>
      <p:sp>
        <p:nvSpPr>
          <p:cNvPr id="41986" name="Rectangle 3">
            <a:extLst>
              <a:ext uri="{FF2B5EF4-FFF2-40B4-BE49-F238E27FC236}">
                <a16:creationId xmlns:a16="http://schemas.microsoft.com/office/drawing/2014/main" id="{A38AEB4D-F70C-1943-B6C1-490BB67F288E}"/>
              </a:ext>
            </a:extLst>
          </p:cNvPr>
          <p:cNvSpPr>
            <a:spLocks noGrp="1" noChangeArrowheads="1"/>
          </p:cNvSpPr>
          <p:nvPr>
            <p:ph type="body" idx="1"/>
          </p:nvPr>
        </p:nvSpPr>
        <p:spPr>
          <a:xfrm>
            <a:off x="838200" y="800100"/>
            <a:ext cx="44767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Excitatory transmitters - cause depolarization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positive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Increases the likelihood of an action potential</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Inhibitory transmitters - cause hyperpolarization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negative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Decreases the likelihood of an action potential</a:t>
            </a:r>
          </a:p>
        </p:txBody>
      </p:sp>
      <p:pic>
        <p:nvPicPr>
          <p:cNvPr id="41988" name="Picture 4" descr="1. The main trend shown is how excitatory and inhibitory neurotransmitters affect the charge inside a nerve fiber, influencing the likelihood of an action potential. Panel (a) shows depolarization caused by excitatory neurotransmitters, while panel (b) shows hyperpolarization caused by inhibitory neurotransmitters.&#10;2. The y-axis represents the charge inside the fiber, measured in arbitrary units, with values ranging from -70 to 0. The x-axis represents time, showing the progression of the charge changes after the neurotransmitter's action. There is also a dashed line indicating the &quot;Level to trigger an action potential.&quot;&#10;3. The context is the effect of different types of neurotransmitters on the electrical state of a neuron. Excitatory neurotransmitters lead to depolarization, making the inside of the neuron less negative and increasing the chance of firing an action potential. Inhibitory neurotransmitters lead to hyperpolarization, making the inside of the neuron more negative and decreasing the chance of firing an action potential.">
            <a:extLst>
              <a:ext uri="{FF2B5EF4-FFF2-40B4-BE49-F238E27FC236}">
                <a16:creationId xmlns:a16="http://schemas.microsoft.com/office/drawing/2014/main" id="{2A4870DD-9E4C-2949-B837-14A1B98BA0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2087" y="742950"/>
            <a:ext cx="2968886"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Date Placeholder 1">
            <a:extLst>
              <a:ext uri="{FF2B5EF4-FFF2-40B4-BE49-F238E27FC236}">
                <a16:creationId xmlns:a16="http://schemas.microsoft.com/office/drawing/2014/main" id="{A9CC91C4-FFD9-C94D-972B-9F653DE2C69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88661226-C6A5-3C48-B740-EDFE3FC5402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1990" name="Footer Placeholder 2">
            <a:extLst>
              <a:ext uri="{FF2B5EF4-FFF2-40B4-BE49-F238E27FC236}">
                <a16:creationId xmlns:a16="http://schemas.microsoft.com/office/drawing/2014/main" id="{8A7C94E4-4EFF-1B42-9929-3CC056F01CB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1987" name="Rectangle 2">
            <a:extLst>
              <a:ext uri="{FF2B5EF4-FFF2-40B4-BE49-F238E27FC236}">
                <a16:creationId xmlns:a16="http://schemas.microsoft.com/office/drawing/2014/main" id="{98AE3C26-6566-7442-8CE7-1478B61147AF}"/>
              </a:ext>
            </a:extLst>
          </p:cNvPr>
          <p:cNvSpPr txBox="1">
            <a:spLocks noChangeArrowheads="1"/>
          </p:cNvSpPr>
          <p:nvPr/>
        </p:nvSpPr>
        <p:spPr bwMode="auto">
          <a:xfrm>
            <a:off x="3086100" y="455295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2.12 (a) Excitatory transmitters cause depolarization, an increased positive charge inside the neuron. (b) Inhibitory transmitters cause </a:t>
            </a:r>
            <a:r>
              <a:rPr lang="en-US" altLang="en-US" sz="975" dirty="0" err="1">
                <a:latin typeface="Arial" panose="020B0604020202020204" pitchFamily="34" charset="0"/>
              </a:rPr>
              <a:t>hyperpolization</a:t>
            </a:r>
            <a:r>
              <a:rPr lang="en-US" altLang="en-US" sz="975" dirty="0">
                <a:latin typeface="Arial" panose="020B0604020202020204" pitchFamily="34" charset="0"/>
              </a:rPr>
              <a:t>, an increased negative charge inside the axon. The charge inside the axon must reach the dashed line to trigger an action potential.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459BB17C-9678-4D44-87CF-CA7550244BF5}"/>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Neural Circuits</a:t>
            </a:r>
          </a:p>
        </p:txBody>
      </p:sp>
      <p:sp>
        <p:nvSpPr>
          <p:cNvPr id="44034" name="Rectangle 3">
            <a:extLst>
              <a:ext uri="{FF2B5EF4-FFF2-40B4-BE49-F238E27FC236}">
                <a16:creationId xmlns:a16="http://schemas.microsoft.com/office/drawing/2014/main" id="{B13179A6-3E42-6048-BA00-22A9D9723CDC}"/>
              </a:ext>
            </a:extLst>
          </p:cNvPr>
          <p:cNvSpPr>
            <a:spLocks noGrp="1" noChangeArrowheads="1"/>
          </p:cNvSpPr>
          <p:nvPr>
            <p:ph type="body" idx="1"/>
          </p:nvPr>
        </p:nvSpPr>
        <p:spPr>
          <a:xfrm>
            <a:off x="838200" y="742950"/>
            <a:ext cx="7543800" cy="33147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Groups of neurons connected by excitatory and inhibitory synapses</a:t>
            </a:r>
          </a:p>
          <a:p>
            <a:r>
              <a:rPr lang="en-US" altLang="en-US" sz="2200" dirty="0">
                <a:latin typeface="Tahoma" panose="020B0604030504040204" pitchFamily="34" charset="0"/>
                <a:ea typeface="Tahoma" panose="020B0604030504040204" pitchFamily="34" charset="0"/>
                <a:cs typeface="Tahoma" panose="020B0604030504040204" pitchFamily="34" charset="0"/>
              </a:rPr>
              <a:t>A simple circuit has no convergence and only excitatory inputs.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 into each receptor has no effect on the output of neighboring circuits.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Each circuit can only indicate single spot of stimulation. </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4035" name="Date Placeholder 1">
            <a:extLst>
              <a:ext uri="{FF2B5EF4-FFF2-40B4-BE49-F238E27FC236}">
                <a16:creationId xmlns:a16="http://schemas.microsoft.com/office/drawing/2014/main" id="{EC46ED55-ADE4-E445-B9D9-67CB104E62D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D8623FCF-D56F-F940-94FE-25FED5B8C84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4036" name="Footer Placeholder 2">
            <a:extLst>
              <a:ext uri="{FF2B5EF4-FFF2-40B4-BE49-F238E27FC236}">
                <a16:creationId xmlns:a16="http://schemas.microsoft.com/office/drawing/2014/main" id="{B1A50123-1258-FB45-BA11-529557439C6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descr="The graph shows that the firing rate of &quot;B&quot; remains constant regardless of the number of receptors stimulated. The y-axis represents the firing rate of &quot;B&quot;, and the x-axis represents the number of receptors stimulated, ranging from 1-7. The data points are plotted at a firing rate of 1 across all tested combinations of stimulated receptors.">
            <a:extLst>
              <a:ext uri="{FF2B5EF4-FFF2-40B4-BE49-F238E27FC236}">
                <a16:creationId xmlns:a16="http://schemas.microsoft.com/office/drawing/2014/main" id="{C70ED361-EFB2-2F41-9530-9E97A0EBC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27498"/>
            <a:ext cx="6724650" cy="3288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Rectangle 2">
            <a:extLst>
              <a:ext uri="{FF2B5EF4-FFF2-40B4-BE49-F238E27FC236}">
                <a16:creationId xmlns:a16="http://schemas.microsoft.com/office/drawing/2014/main" id="{287FE222-E070-EC4B-8845-46E14C8282B7}"/>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Simple Circuit</a:t>
            </a:r>
          </a:p>
        </p:txBody>
      </p:sp>
      <p:sp>
        <p:nvSpPr>
          <p:cNvPr id="46084" name="Date Placeholder 1">
            <a:extLst>
              <a:ext uri="{FF2B5EF4-FFF2-40B4-BE49-F238E27FC236}">
                <a16:creationId xmlns:a16="http://schemas.microsoft.com/office/drawing/2014/main" id="{7ECAD3A6-2397-B342-9809-8AFFDDF27B0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4DF197-13D8-814D-B686-7C57BD2C838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6085" name="Footer Placeholder 2">
            <a:extLst>
              <a:ext uri="{FF2B5EF4-FFF2-40B4-BE49-F238E27FC236}">
                <a16:creationId xmlns:a16="http://schemas.microsoft.com/office/drawing/2014/main" id="{6480D1FE-63CC-144E-A32C-3E997D24B1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6081" name="Rectangle 2">
            <a:extLst>
              <a:ext uri="{FF2B5EF4-FFF2-40B4-BE49-F238E27FC236}">
                <a16:creationId xmlns:a16="http://schemas.microsoft.com/office/drawing/2014/main" id="{1937F5B3-15AF-F14A-9C16-E91A37DA7548}"/>
              </a:ext>
            </a:extLst>
          </p:cNvPr>
          <p:cNvSpPr>
            <a:spLocks noGrp="1" noChangeArrowheads="1"/>
          </p:cNvSpPr>
          <p:nvPr>
            <p:ph type="body" idx="1"/>
          </p:nvPr>
        </p:nvSpPr>
        <p:spPr>
          <a:xfrm>
            <a:off x="1752600" y="3929659"/>
            <a:ext cx="6057900" cy="1028700"/>
          </a:xfrm>
          <a:solidFill>
            <a:schemeClr val="bg1"/>
          </a:solidFill>
        </p:spPr>
        <p:txBody>
          <a:bodyPr anchor="b"/>
          <a:lstStyle/>
          <a:p>
            <a:pPr marL="0" indent="0">
              <a:lnSpc>
                <a:spcPct val="80000"/>
              </a:lnSpc>
              <a:buNone/>
            </a:pPr>
            <a:r>
              <a:rPr lang="en-US" altLang="en-US" sz="1100" dirty="0">
                <a:latin typeface="Arial" panose="020B0604020202020204" pitchFamily="34" charset="0"/>
                <a:ea typeface="ＭＳ Ｐゴシック" panose="020B0600070205080204" pitchFamily="34" charset="-128"/>
              </a:rPr>
              <a:t>Figure 2.14  Left: A circuit with no convergence. Right: Response of neuron B as we increase the number of receptors stimulated. </a:t>
            </a:r>
          </a:p>
          <a:p>
            <a:pPr marL="0" indent="0">
              <a:lnSpc>
                <a:spcPct val="80000"/>
              </a:lnSpc>
              <a:buNone/>
            </a:pPr>
            <a:endParaRPr lang="en-US" altLang="en-US" sz="110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852728C6-1D04-884C-BC1E-29229FC72568}"/>
              </a:ext>
            </a:extLst>
          </p:cNvPr>
          <p:cNvSpPr>
            <a:spLocks noGrp="1" noChangeArrowheads="1"/>
          </p:cNvSpPr>
          <p:nvPr>
            <p:ph type="title"/>
          </p:nvPr>
        </p:nvSpPr>
        <p:spPr>
          <a:xfrm>
            <a:off x="2819400" y="0"/>
            <a:ext cx="5829300" cy="628650"/>
          </a:xfrm>
        </p:spPr>
        <p:txBody>
          <a:bodyPr/>
          <a:lstStyle/>
          <a:p>
            <a:r>
              <a:rPr lang="en-US" altLang="en-US" dirty="0">
                <a:ea typeface="ＭＳ Ｐゴシック" panose="020B0600070205080204" pitchFamily="34" charset="-128"/>
              </a:rPr>
              <a:t>Neural Circuits - continued</a:t>
            </a:r>
          </a:p>
        </p:txBody>
      </p:sp>
      <p:sp>
        <p:nvSpPr>
          <p:cNvPr id="48130" name="Rectangle 3">
            <a:extLst>
              <a:ext uri="{FF2B5EF4-FFF2-40B4-BE49-F238E27FC236}">
                <a16:creationId xmlns:a16="http://schemas.microsoft.com/office/drawing/2014/main" id="{2BEBEFA9-968C-ED41-A622-D6A6B2FDEFCB}"/>
              </a:ext>
            </a:extLst>
          </p:cNvPr>
          <p:cNvSpPr>
            <a:spLocks noGrp="1" noChangeArrowheads="1"/>
          </p:cNvSpPr>
          <p:nvPr>
            <p:ph type="body" idx="1"/>
          </p:nvPr>
        </p:nvSpPr>
        <p:spPr>
          <a:xfrm>
            <a:off x="838200" y="800100"/>
            <a:ext cx="7162800" cy="3714750"/>
          </a:xfrm>
        </p:spPr>
        <p:txBody>
          <a:bodyPr/>
          <a:lstStyle/>
          <a:p>
            <a:pPr>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only excitatory connections</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Input from each receptor summates into the next neuron in the circuit.</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from convergent system varies based on input. </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of circuit can indicate single input and increases output as length of stimulus increases.</a:t>
            </a:r>
          </a:p>
          <a:p>
            <a:pPr>
              <a:lnSpc>
                <a:spcPct val="90000"/>
              </a:lnSpc>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8131" name="Date Placeholder 1">
            <a:extLst>
              <a:ext uri="{FF2B5EF4-FFF2-40B4-BE49-F238E27FC236}">
                <a16:creationId xmlns:a16="http://schemas.microsoft.com/office/drawing/2014/main" id="{4F713B7E-6B3C-F740-8791-73360FAAD4E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26E8EA8A-C5ED-3D42-835A-8DDD24CC3EF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8132" name="Footer Placeholder 2">
            <a:extLst>
              <a:ext uri="{FF2B5EF4-FFF2-40B4-BE49-F238E27FC236}">
                <a16:creationId xmlns:a16="http://schemas.microsoft.com/office/drawing/2014/main" id="{249F881E-B95F-904C-BCBC-0DD5F95CC7B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4" descr="The graph shows a positive linear relationship between the number of receptors stimulated and the firing rate of neuron B. The x-axis represents the number of receptors stimulated, indicated by numerical ranges like &quot;4&quot;, &quot;3-5&quot;, &quot;2-6&quot;, and &quot;1-7&quot;, corresponding to specific combinations of stimulated receptors. The y-axis represents the firing rate of neuron B, measured in some arbitrary units, increasing from 0 to 7. As more receptors are stimulated, the firing rate of neuron B increases proportionally.">
            <a:extLst>
              <a:ext uri="{FF2B5EF4-FFF2-40B4-BE49-F238E27FC236}">
                <a16:creationId xmlns:a16="http://schemas.microsoft.com/office/drawing/2014/main" id="{FB714A6D-0A97-914F-A674-D4C6885F3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4406"/>
            <a:ext cx="6724650"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Rectangle 2">
            <a:extLst>
              <a:ext uri="{FF2B5EF4-FFF2-40B4-BE49-F238E27FC236}">
                <a16:creationId xmlns:a16="http://schemas.microsoft.com/office/drawing/2014/main" id="{F7F0ECFB-379D-8B47-BA76-1D7331E42C39}"/>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only)</a:t>
            </a:r>
          </a:p>
        </p:txBody>
      </p:sp>
      <p:sp>
        <p:nvSpPr>
          <p:cNvPr id="50180" name="Date Placeholder 1">
            <a:extLst>
              <a:ext uri="{FF2B5EF4-FFF2-40B4-BE49-F238E27FC236}">
                <a16:creationId xmlns:a16="http://schemas.microsoft.com/office/drawing/2014/main" id="{6D3BA7C0-4043-2E4C-AA4F-9FC663244EF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53A7F3-7BBF-C84B-B546-6681C34CB9D4}"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0181" name="Footer Placeholder 2">
            <a:extLst>
              <a:ext uri="{FF2B5EF4-FFF2-40B4-BE49-F238E27FC236}">
                <a16:creationId xmlns:a16="http://schemas.microsoft.com/office/drawing/2014/main" id="{2CA4D844-FEED-C64A-9202-6742A47DB3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0177" name="Rectangle 2">
            <a:extLst>
              <a:ext uri="{FF2B5EF4-FFF2-40B4-BE49-F238E27FC236}">
                <a16:creationId xmlns:a16="http://schemas.microsoft.com/office/drawing/2014/main" id="{BA750772-B1FC-1D42-83F8-5C8A2A66EEF4}"/>
              </a:ext>
            </a:extLst>
          </p:cNvPr>
          <p:cNvSpPr>
            <a:spLocks noGrp="1" noChangeArrowheads="1"/>
          </p:cNvSpPr>
          <p:nvPr>
            <p:ph type="body" idx="1"/>
          </p:nvPr>
        </p:nvSpPr>
        <p:spPr>
          <a:xfrm>
            <a:off x="154305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2.15 Circuit with convergence added.  Neuron B now receives inputs form all of the receptors, so increasing the size of the stimulus increases the size of neuron B’s response. </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2EF97950-B022-5641-8CCB-2A33BB852E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Circuits - continued</a:t>
            </a:r>
          </a:p>
        </p:txBody>
      </p:sp>
      <p:sp>
        <p:nvSpPr>
          <p:cNvPr id="52226" name="Rectangle 3">
            <a:extLst>
              <a:ext uri="{FF2B5EF4-FFF2-40B4-BE49-F238E27FC236}">
                <a16:creationId xmlns:a16="http://schemas.microsoft.com/office/drawing/2014/main" id="{A3842CE8-0A07-C843-9F27-78BDDA32D80E}"/>
              </a:ext>
            </a:extLst>
          </p:cNvPr>
          <p:cNvSpPr>
            <a:spLocks noGrp="1" noChangeArrowheads="1"/>
          </p:cNvSpPr>
          <p:nvPr>
            <p:ph type="body" idx="1"/>
          </p:nvPr>
        </p:nvSpPr>
        <p:spPr>
          <a:xfrm>
            <a:off x="838200" y="857250"/>
            <a:ext cx="731520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excitatory and inhibitory connections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Inputs from receptors summate to determine output of circuit.</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Summation of inputs result in:</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weak response for single inputs and long stimuli.</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maximum firing rate for medium length stimulus.</a:t>
            </a:r>
          </a:p>
        </p:txBody>
      </p:sp>
      <p:sp>
        <p:nvSpPr>
          <p:cNvPr id="52227" name="Date Placeholder 1">
            <a:extLst>
              <a:ext uri="{FF2B5EF4-FFF2-40B4-BE49-F238E27FC236}">
                <a16:creationId xmlns:a16="http://schemas.microsoft.com/office/drawing/2014/main" id="{E92AF40F-F759-7143-B9AA-BE62D5E47AB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87D3394-5D47-E347-AB22-B4D673BB959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2228" name="Footer Placeholder 2">
            <a:extLst>
              <a:ext uri="{FF2B5EF4-FFF2-40B4-BE49-F238E27FC236}">
                <a16:creationId xmlns:a16="http://schemas.microsoft.com/office/drawing/2014/main" id="{CC9CF3DC-8D34-7444-B61C-BBD59BF6E59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4" descr="Here's the alt text for the image:&#10;&#10;**1. Main Trend:** The firing rate of neuron B initially increases as more adjacent receptors are stimulated, peaks when receptors 3-5 are stimulated, and then decreases as the stimulated receptors spread further apart.&#10;&#10;**2. Axes:**&#10;*   The horizontal axis represents the range of sensory receptors that are stimulated.&#10;*   The vertical axis represents the firing rate of neuron B, which is a measure of its activity.">
            <a:extLst>
              <a:ext uri="{FF2B5EF4-FFF2-40B4-BE49-F238E27FC236}">
                <a16:creationId xmlns:a16="http://schemas.microsoft.com/office/drawing/2014/main" id="{714F309C-8D1D-EA4E-867C-CDD00459E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7979"/>
            <a:ext cx="6724650" cy="3207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Rectangle 2">
            <a:extLst>
              <a:ext uri="{FF2B5EF4-FFF2-40B4-BE49-F238E27FC236}">
                <a16:creationId xmlns:a16="http://schemas.microsoft.com/office/drawing/2014/main" id="{A180A7FD-9A3A-BB4A-9740-9339A34B46DE}"/>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and -)</a:t>
            </a:r>
          </a:p>
        </p:txBody>
      </p:sp>
      <p:sp>
        <p:nvSpPr>
          <p:cNvPr id="54276" name="Date Placeholder 1">
            <a:extLst>
              <a:ext uri="{FF2B5EF4-FFF2-40B4-BE49-F238E27FC236}">
                <a16:creationId xmlns:a16="http://schemas.microsoft.com/office/drawing/2014/main" id="{8C065D47-ACB1-A24C-8CDC-BC72394E4B9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FAE63AC-C0BB-F840-8EA9-02B6CDB2AEFA}"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4277" name="Footer Placeholder 2">
            <a:extLst>
              <a:ext uri="{FF2B5EF4-FFF2-40B4-BE49-F238E27FC236}">
                <a16:creationId xmlns:a16="http://schemas.microsoft.com/office/drawing/2014/main" id="{90D03CF9-D342-E64E-AB7D-C062862EEE9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4273" name="Rectangle 2">
            <a:extLst>
              <a:ext uri="{FF2B5EF4-FFF2-40B4-BE49-F238E27FC236}">
                <a16:creationId xmlns:a16="http://schemas.microsoft.com/office/drawing/2014/main" id="{42B53E02-15EA-2744-8B4C-569F94091F3E}"/>
              </a:ext>
            </a:extLst>
          </p:cNvPr>
          <p:cNvSpPr>
            <a:spLocks noGrp="1" noChangeArrowheads="1"/>
          </p:cNvSpPr>
          <p:nvPr>
            <p:ph type="body" idx="1"/>
          </p:nvPr>
        </p:nvSpPr>
        <p:spPr>
          <a:xfrm>
            <a:off x="156210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2.16 Circuit with convergence and inhibition.  Because stimulation of the receptors on the side (1, 2, 6, and 7) sends inhibition to neuron B, neuron B responds best when just the center (3 - 5) are stimulated.</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88937661-DA07-5A44-BFE1-A8D7B8E0FB7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Receptive Fields</a:t>
            </a:r>
          </a:p>
        </p:txBody>
      </p:sp>
      <p:sp>
        <p:nvSpPr>
          <p:cNvPr id="56322" name="Rectangle 3">
            <a:extLst>
              <a:ext uri="{FF2B5EF4-FFF2-40B4-BE49-F238E27FC236}">
                <a16:creationId xmlns:a16="http://schemas.microsoft.com/office/drawing/2014/main" id="{8DF77118-826D-634D-89C5-4281FBB2C9CE}"/>
              </a:ext>
            </a:extLst>
          </p:cNvPr>
          <p:cNvSpPr>
            <a:spLocks noGrp="1" noChangeArrowheads="1"/>
          </p:cNvSpPr>
          <p:nvPr>
            <p:ph type="body" idx="1"/>
          </p:nvPr>
        </p:nvSpPr>
        <p:spPr>
          <a:xfrm>
            <a:off x="838200" y="857250"/>
            <a:ext cx="664845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Area of receptors that affects firing rate of a given neuron in the circuit</a:t>
            </a:r>
          </a:p>
          <a:p>
            <a:r>
              <a:rPr lang="en-US" altLang="en-US" sz="2200" dirty="0">
                <a:latin typeface="Tahoma" panose="020B0604030504040204" pitchFamily="34" charset="0"/>
                <a:ea typeface="Tahoma" panose="020B0604030504040204" pitchFamily="34" charset="0"/>
                <a:cs typeface="Tahoma" panose="020B0604030504040204" pitchFamily="34" charset="0"/>
              </a:rPr>
              <a:t>Receptive fields are determined by monitoring single cell responses.</a:t>
            </a:r>
          </a:p>
          <a:p>
            <a:r>
              <a:rPr lang="en-US" altLang="en-US" sz="2200" dirty="0">
                <a:latin typeface="Tahoma" panose="020B0604030504040204" pitchFamily="34" charset="0"/>
                <a:ea typeface="Tahoma" panose="020B0604030504040204" pitchFamily="34" charset="0"/>
                <a:cs typeface="Tahoma" panose="020B0604030504040204" pitchFamily="34" charset="0"/>
              </a:rPr>
              <a:t>Research example for vision</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Stimulus is presented to retina and response of cell is measured by an electrode.</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56323" name="Date Placeholder 1">
            <a:extLst>
              <a:ext uri="{FF2B5EF4-FFF2-40B4-BE49-F238E27FC236}">
                <a16:creationId xmlns:a16="http://schemas.microsoft.com/office/drawing/2014/main" id="{956906F3-2F83-E646-9BE8-D15A32EF22C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663A2362-48F3-BD45-92E8-E73CA65DEB0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6324" name="Footer Placeholder 2">
            <a:extLst>
              <a:ext uri="{FF2B5EF4-FFF2-40B4-BE49-F238E27FC236}">
                <a16:creationId xmlns:a16="http://schemas.microsoft.com/office/drawing/2014/main" id="{B50FD2F6-6045-2B4A-B8DD-2C384CC28BE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E805CBD8-F62E-4A47-A08D-28F696590563}"/>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Center-Surround Receptive Fields</a:t>
            </a:r>
          </a:p>
        </p:txBody>
      </p:sp>
      <p:sp>
        <p:nvSpPr>
          <p:cNvPr id="58370" name="Rectangle 3">
            <a:extLst>
              <a:ext uri="{FF2B5EF4-FFF2-40B4-BE49-F238E27FC236}">
                <a16:creationId xmlns:a16="http://schemas.microsoft.com/office/drawing/2014/main" id="{A100A91A-EA16-0A4D-9252-905E8921CAC9}"/>
              </a:ext>
            </a:extLst>
          </p:cNvPr>
          <p:cNvSpPr>
            <a:spLocks noGrp="1" noChangeArrowheads="1"/>
          </p:cNvSpPr>
          <p:nvPr>
            <p:ph type="body" idx="1"/>
          </p:nvPr>
        </p:nvSpPr>
        <p:spPr>
          <a:xfrm>
            <a:off x="838200" y="800100"/>
            <a:ext cx="4305300" cy="3714750"/>
          </a:xfrm>
        </p:spPr>
        <p:txBody>
          <a:bodyPr/>
          <a:lstStyle/>
          <a:p>
            <a:r>
              <a:rPr lang="en-US" altLang="en-US" sz="1800" dirty="0">
                <a:latin typeface="Arial" panose="020B0604020202020204" pitchFamily="34" charset="0"/>
                <a:ea typeface="ＭＳ Ｐゴシック" panose="020B0600070205080204" pitchFamily="34" charset="-128"/>
              </a:rPr>
              <a:t>Excitatory and inhibitory effects are found in receptive fields.</a:t>
            </a:r>
          </a:p>
          <a:p>
            <a:r>
              <a:rPr lang="en-US" altLang="en-US" sz="1800" dirty="0">
                <a:latin typeface="Arial" panose="020B0604020202020204" pitchFamily="34" charset="0"/>
                <a:ea typeface="ＭＳ Ｐゴシック" panose="020B0600070205080204" pitchFamily="34" charset="-128"/>
              </a:rPr>
              <a:t>Center and surround areas of receptive fields result in:</a:t>
            </a:r>
          </a:p>
          <a:p>
            <a:pPr lvl="1"/>
            <a:r>
              <a:rPr lang="en-US" altLang="en-US" sz="1800" dirty="0">
                <a:latin typeface="Arial" panose="020B0604020202020204" pitchFamily="34" charset="0"/>
                <a:ea typeface="ＭＳ Ｐゴシック" panose="020B0600070205080204" pitchFamily="34" charset="-128"/>
              </a:rPr>
              <a:t>Excitatory-center-inhibitory surround</a:t>
            </a:r>
          </a:p>
          <a:p>
            <a:pPr lvl="1"/>
            <a:r>
              <a:rPr lang="en-US" altLang="en-US" sz="1800" dirty="0">
                <a:latin typeface="Arial" panose="020B0604020202020204" pitchFamily="34" charset="0"/>
                <a:ea typeface="ＭＳ Ｐゴシック" panose="020B0600070205080204" pitchFamily="34" charset="-128"/>
              </a:rPr>
              <a:t>Inhibitory-center-excitatory surround</a:t>
            </a:r>
          </a:p>
          <a:p>
            <a:pPr>
              <a:spcBef>
                <a:spcPct val="30000"/>
              </a:spcBef>
            </a:pPr>
            <a:endParaRPr lang="en-US" altLang="en-US" sz="1800" dirty="0">
              <a:latin typeface="Arial" panose="020B0604020202020204" pitchFamily="34" charset="0"/>
              <a:ea typeface="ＭＳ Ｐゴシック" panose="020B0600070205080204" pitchFamily="34" charset="-128"/>
            </a:endParaRPr>
          </a:p>
        </p:txBody>
      </p:sp>
      <p:pic>
        <p:nvPicPr>
          <p:cNvPr id="58372" name="Picture 4" descr="The diagram illustrates the concept of center-surround receptive fields in neuroscience, explaining how neurons in the visual system respond to light.&#10;&#10;**Part (a)** shows a simplified visual field represented by a blue plane with labels &quot;A&quot; at the top and bottom corners. Superimposed on this plane is an oval-shaped region, representing a receptive field. This receptive field is divided into two concentric zones: a central inner circle labeled &quot;B&quot; and a surrounding annular region labeled &quot;C&quot;. Inside the central circle &quot;B&quot;, there are several green plus signs (&quot;+&quot;), indicating areas of excitatory influence. The surrounding region &quot;C&quot; contains red minus signs (&quot;-&quot;), signifying inhibitory influences. To the right of this visual field representation are three spike train diagrams labeled A, B, and C, corresponding to the labels in the visual field. Diagram A shows a sparse, irregular pattern of spikes. Diagram B shows a dense, sustained train of spikes, particularly around the &quot;On&quot; mark. Diagram C shows an initial spike followed by a burst of spikes around the &quot;Off&quot; mark. The arrows labeled &quot;On&quot; and &quot;Off&quot; likely represent the timing of light stimuli.&#10;&#10;**Part (b)** provides a more abstract, top-down view of a receptive field, clearly labeled as &quot;Receptive field&quot;. This depiction is circular, with a central inner circle containing multiple green plus signs (&quot;+&quot;) and a surrounding outer ring containing red minus signs (&quot;-&quot;). This visually reinforces the spatial organization of excitatory and inhibitory areas within a receptive field.&#10;&#10;**Contextual Relationship:** The diagrams visually represent the organization of receptive fields, where a central area (B) has one type of effect (excitatory, indicated by '+') and the surrounding area (C) has the opposite effect (inhibitory, indicated by '-'). The spike train diagrams in (a) demonstrate the functional consequences of this organization. For instance, if light falls only on the center (B), the neuron will fire strongly (diagram B). If light falls on the surround (C), the neuron will be inhibited. If light covers both center and surround, the net effect might be less pronounced or even inhibitory depending on the relative strengths. The diagram in (b) serves as a schematic summary of this center-surround organization. The context provided about &quot;Excitatory and inhibitory effects&quot; and the two types of receptive fields (&quot;Excitatory-center-inhibitory surround&quot; and &quot;Inhibitory-center-excitatory surround&quot;) are directly illustrated by the plus and minus signs in the diagrams and the different spike train responses.">
            <a:extLst>
              <a:ext uri="{FF2B5EF4-FFF2-40B4-BE49-F238E27FC236}">
                <a16:creationId xmlns:a16="http://schemas.microsoft.com/office/drawing/2014/main" id="{37F877B3-1280-AF4E-AAB5-48F08D308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1" y="800100"/>
            <a:ext cx="2755106" cy="2996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Date Placeholder 1">
            <a:extLst>
              <a:ext uri="{FF2B5EF4-FFF2-40B4-BE49-F238E27FC236}">
                <a16:creationId xmlns:a16="http://schemas.microsoft.com/office/drawing/2014/main" id="{30FE83BA-2906-7045-BA97-3586B89444F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CBF63094-845F-214C-B38E-564E2883750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8374" name="Footer Placeholder 2">
            <a:extLst>
              <a:ext uri="{FF2B5EF4-FFF2-40B4-BE49-F238E27FC236}">
                <a16:creationId xmlns:a16="http://schemas.microsoft.com/office/drawing/2014/main" id="{373BE9A4-F0C0-1942-ACA3-AFC5A516162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58371" name="Rectangle 2">
            <a:extLst>
              <a:ext uri="{FF2B5EF4-FFF2-40B4-BE49-F238E27FC236}">
                <a16:creationId xmlns:a16="http://schemas.microsoft.com/office/drawing/2014/main" id="{710E4F6F-FCFA-C541-8DE6-1D6A95EAD5DE}"/>
              </a:ext>
            </a:extLst>
          </p:cNvPr>
          <p:cNvSpPr txBox="1">
            <a:spLocks noChangeArrowheads="1"/>
          </p:cNvSpPr>
          <p:nvPr/>
        </p:nvSpPr>
        <p:spPr bwMode="auto">
          <a:xfrm>
            <a:off x="2781300" y="4069555"/>
            <a:ext cx="6057900" cy="945357"/>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2.18  (a) Response of a ganglion cell in the cat’s retina to stimulation: outside the cell’s receptive field (area A on the screen); inside the excitatory area of the cell’s receptive field (area B); and inside the inhibitory area of the cell’s receptive field (area C).  (b) The receptive field is shown without the screen.</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250E0A04-7880-1949-95A0-19350CFDB1FF}"/>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Center-Surround Antagonism</a:t>
            </a:r>
          </a:p>
        </p:txBody>
      </p:sp>
      <p:sp>
        <p:nvSpPr>
          <p:cNvPr id="60418" name="Rectangle 3">
            <a:extLst>
              <a:ext uri="{FF2B5EF4-FFF2-40B4-BE49-F238E27FC236}">
                <a16:creationId xmlns:a16="http://schemas.microsoft.com/office/drawing/2014/main" id="{0C0529C7-2EF1-0E49-A11E-2E2F54953DB4}"/>
              </a:ext>
            </a:extLst>
          </p:cNvPr>
          <p:cNvSpPr>
            <a:spLocks noGrp="1" noChangeArrowheads="1"/>
          </p:cNvSpPr>
          <p:nvPr>
            <p:ph type="body" idx="1"/>
          </p:nvPr>
        </p:nvSpPr>
        <p:spPr>
          <a:xfrm>
            <a:off x="838200" y="742950"/>
            <a:ext cx="7162800" cy="3657600"/>
          </a:xfrm>
        </p:spPr>
        <p:txBody>
          <a:bodyPr/>
          <a:lstStyle/>
          <a:p>
            <a:r>
              <a:rPr lang="en-US" altLang="en-US" sz="2100" dirty="0">
                <a:latin typeface="Arial" panose="020B0604020202020204" pitchFamily="34" charset="0"/>
                <a:ea typeface="ＭＳ Ｐゴシック" panose="020B0600070205080204" pitchFamily="34" charset="-128"/>
              </a:rPr>
              <a:t>Output of center-surround receptive fields changes depending on area stimulated:</a:t>
            </a:r>
          </a:p>
          <a:p>
            <a:pPr lvl="1"/>
            <a:r>
              <a:rPr lang="en-US" altLang="en-US" sz="1800" dirty="0">
                <a:latin typeface="Arial" panose="020B0604020202020204" pitchFamily="34" charset="0"/>
                <a:ea typeface="ＭＳ Ｐゴシック" panose="020B0600070205080204" pitchFamily="34" charset="-128"/>
              </a:rPr>
              <a:t>Highest response when only the excitatory area is stimulated </a:t>
            </a:r>
          </a:p>
          <a:p>
            <a:pPr lvl="1"/>
            <a:r>
              <a:rPr lang="en-US" altLang="en-US" sz="1800" dirty="0">
                <a:latin typeface="Arial" panose="020B0604020202020204" pitchFamily="34" charset="0"/>
                <a:ea typeface="ＭＳ Ｐゴシック" panose="020B0600070205080204" pitchFamily="34" charset="-128"/>
              </a:rPr>
              <a:t>Lowest response when only the inhibitory area is stimulated</a:t>
            </a:r>
          </a:p>
          <a:p>
            <a:pPr lvl="1"/>
            <a:r>
              <a:rPr lang="en-US" altLang="en-US" sz="1800" dirty="0">
                <a:latin typeface="Arial" panose="020B0604020202020204" pitchFamily="34" charset="0"/>
                <a:ea typeface="ＭＳ Ｐゴシック" panose="020B0600070205080204" pitchFamily="34" charset="-128"/>
              </a:rPr>
              <a:t>Intermediate responses when both areas are stimulated</a:t>
            </a:r>
            <a:r>
              <a:rPr lang="en-US" altLang="en-US" sz="1800" dirty="0">
                <a:ea typeface="ＭＳ Ｐゴシック" panose="020B0600070205080204" pitchFamily="34" charset="-128"/>
              </a:rPr>
              <a:t> </a:t>
            </a:r>
          </a:p>
          <a:p>
            <a:pPr>
              <a:spcBef>
                <a:spcPct val="30000"/>
              </a:spcBef>
            </a:pPr>
            <a:endParaRPr lang="en-US" altLang="en-US" sz="2100" dirty="0">
              <a:latin typeface="Arial" panose="020B0604020202020204" pitchFamily="34" charset="0"/>
              <a:ea typeface="ＭＳ Ｐゴシック" panose="020B0600070205080204" pitchFamily="34" charset="-128"/>
            </a:endParaRPr>
          </a:p>
        </p:txBody>
      </p:sp>
      <p:pic>
        <p:nvPicPr>
          <p:cNvPr id="60420" name="Picture 4" descr="1. **Main Trend:** The diagrams illustrate how stimulating different parts of a receptive field affects the output response, with the highest response occurring when only the center is stimulated, and the lowest when only the surround is stimulated.&#10;&#10;2. **Axes:** The upper row of diagrams represents the receptive field, showing an inner excitatory &quot;center&quot; (indicated by orange and plus signs in diagram (a)) and an outer inhibitory &quot;surround&quot; (indicated by minus signs in diagram (a)). The lower row of diagrams represents the neural output as a series of vertical bars, where the height and frequency of the bars indicate the strength of the neural response. The horizontal axis of these output graphs is time, with an &quot;On&quot; marker indicating when stimulation begins. The vertical axis represents the neural response, with higher bars indicating a stronger response.">
            <a:extLst>
              <a:ext uri="{FF2B5EF4-FFF2-40B4-BE49-F238E27FC236}">
                <a16:creationId xmlns:a16="http://schemas.microsoft.com/office/drawing/2014/main" id="{F1FFBC5B-DBB9-5B4C-A158-741842E37B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488073"/>
            <a:ext cx="4495800" cy="1969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Date Placeholder 1">
            <a:extLst>
              <a:ext uri="{FF2B5EF4-FFF2-40B4-BE49-F238E27FC236}">
                <a16:creationId xmlns:a16="http://schemas.microsoft.com/office/drawing/2014/main" id="{E5C61688-2CFC-9149-BFAC-42F4DD271F9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E7C537CA-840A-2542-9048-3F7167C6FE7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0422" name="Footer Placeholder 2">
            <a:extLst>
              <a:ext uri="{FF2B5EF4-FFF2-40B4-BE49-F238E27FC236}">
                <a16:creationId xmlns:a16="http://schemas.microsoft.com/office/drawing/2014/main" id="{27F08951-E2EE-5444-AF8D-877C780E32A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0419" name="Rectangle 2">
            <a:extLst>
              <a:ext uri="{FF2B5EF4-FFF2-40B4-BE49-F238E27FC236}">
                <a16:creationId xmlns:a16="http://schemas.microsoft.com/office/drawing/2014/main" id="{31221572-0423-B94C-AAE5-546C2798D218}"/>
              </a:ext>
            </a:extLst>
          </p:cNvPr>
          <p:cNvSpPr txBox="1">
            <a:spLocks noChangeArrowheads="1"/>
          </p:cNvSpPr>
          <p:nvPr/>
        </p:nvSpPr>
        <p:spPr bwMode="auto">
          <a:xfrm>
            <a:off x="1676400" y="4343400"/>
            <a:ext cx="6057900" cy="80010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2.19  Response of an excitatory-center-inhibitory-surround receptive field as stimulus size is increased. Shading indicates the area stimulated with light. The response to the stimulus is indicated below each receptive field. The largest response occurs when the entire excitatory area is illuminated, as in (b).  Increasing stimulus size further causes a decrease in firing due to center-surround antagonism. </a:t>
            </a:r>
            <a:r>
              <a:rPr lang="en-US" altLang="en-US" sz="975" i="1" dirty="0">
                <a:latin typeface="Arial" panose="020B0604020202020204" pitchFamily="34" charset="0"/>
              </a:rPr>
              <a:t>(Adapted from Hubel and Wiesel, 1961.)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3C3B9707-35E6-654B-878B-1F40216E5360}"/>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Specificity Encoding</a:t>
            </a:r>
          </a:p>
        </p:txBody>
      </p:sp>
      <p:sp>
        <p:nvSpPr>
          <p:cNvPr id="62466" name="Rectangle 3">
            <a:extLst>
              <a:ext uri="{FF2B5EF4-FFF2-40B4-BE49-F238E27FC236}">
                <a16:creationId xmlns:a16="http://schemas.microsoft.com/office/drawing/2014/main" id="{6077F66F-2E9A-8D42-BA91-E68903C0DDA5}"/>
              </a:ext>
            </a:extLst>
          </p:cNvPr>
          <p:cNvSpPr>
            <a:spLocks noGrp="1" noChangeArrowheads="1"/>
          </p:cNvSpPr>
          <p:nvPr>
            <p:ph type="body" idx="1"/>
          </p:nvPr>
        </p:nvSpPr>
        <p:spPr>
          <a:xfrm>
            <a:off x="838200" y="742950"/>
            <a:ext cx="5791200" cy="3771900"/>
          </a:xfrm>
        </p:spPr>
        <p:txBody>
          <a:bodyPr/>
          <a:lstStyle/>
          <a:p>
            <a:pPr>
              <a:spcBef>
                <a:spcPct val="30000"/>
              </a:spcBef>
            </a:pPr>
            <a:r>
              <a:rPr lang="en-US" altLang="en-US" b="1" dirty="0">
                <a:latin typeface="Arial" panose="020B0604020202020204" pitchFamily="34" charset="0"/>
                <a:ea typeface="ＭＳ Ｐゴシック" panose="020B0600070205080204" pitchFamily="34" charset="-128"/>
              </a:rPr>
              <a:t>Specificity coding </a:t>
            </a:r>
            <a:r>
              <a:rPr lang="en-US" altLang="en-US" dirty="0">
                <a:latin typeface="Arial" panose="020B0604020202020204" pitchFamily="34" charset="0"/>
                <a:ea typeface="ＭＳ Ｐゴシック" panose="020B0600070205080204" pitchFamily="34" charset="-128"/>
              </a:rPr>
              <a:t>- specific </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neurons responding to specific</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stimuli</a:t>
            </a:r>
          </a:p>
          <a:p>
            <a:pPr lvl="1">
              <a:spcBef>
                <a:spcPct val="30000"/>
              </a:spcBef>
            </a:pPr>
            <a:r>
              <a:rPr lang="en-US" altLang="en-US" sz="1500" dirty="0">
                <a:latin typeface="Arial" panose="020B0604020202020204" pitchFamily="34" charset="0"/>
                <a:ea typeface="ＭＳ Ｐゴシック" panose="020B0600070205080204" pitchFamily="34" charset="-128"/>
              </a:rPr>
              <a:t>Leads to the “grandmother cell” hypothesis</a:t>
            </a:r>
          </a:p>
          <a:p>
            <a:pPr lvl="1">
              <a:spcBef>
                <a:spcPct val="30000"/>
              </a:spcBef>
            </a:pPr>
            <a:r>
              <a:rPr lang="en-US" altLang="en-US" sz="1500" dirty="0">
                <a:latin typeface="Arial" panose="020B0604020202020204" pitchFamily="34" charset="0"/>
                <a:ea typeface="ＭＳ Ｐゴシック" panose="020B0600070205080204" pitchFamily="34" charset="-128"/>
              </a:rPr>
              <a:t>Cells in the hippocampus that respond to </a:t>
            </a:r>
            <a:br>
              <a:rPr lang="en-US" altLang="en-US" sz="1500" dirty="0">
                <a:latin typeface="Arial" panose="020B0604020202020204" pitchFamily="34" charset="0"/>
                <a:ea typeface="ＭＳ Ｐゴシック" panose="020B0600070205080204" pitchFamily="34" charset="-128"/>
              </a:rPr>
            </a:br>
            <a:r>
              <a:rPr lang="en-US" altLang="en-US" sz="1500" dirty="0">
                <a:latin typeface="Arial" panose="020B0604020202020204" pitchFamily="34" charset="0"/>
                <a:ea typeface="ＭＳ Ｐゴシック" panose="020B0600070205080204" pitchFamily="34" charset="-128"/>
              </a:rPr>
              <a:t>concepts such as Halle Berry.</a:t>
            </a:r>
          </a:p>
          <a:p>
            <a:pPr lvl="1">
              <a:spcBef>
                <a:spcPct val="30000"/>
              </a:spcBef>
            </a:pPr>
            <a:endParaRPr lang="en-US" altLang="en-US" sz="1500" dirty="0">
              <a:latin typeface="Arial" panose="020B0604020202020204" pitchFamily="34" charset="0"/>
              <a:ea typeface="ＭＳ Ｐゴシック" panose="020B0600070205080204" pitchFamily="34" charset="-128"/>
            </a:endParaRPr>
          </a:p>
          <a:p>
            <a:pPr>
              <a:spcBef>
                <a:spcPct val="30000"/>
              </a:spcBef>
            </a:pPr>
            <a:r>
              <a:rPr lang="en-US" altLang="en-US" dirty="0">
                <a:latin typeface="Arial" panose="020B0604020202020204" pitchFamily="34" charset="0"/>
                <a:ea typeface="ＭＳ Ｐゴシック" panose="020B0600070205080204" pitchFamily="34" charset="-128"/>
              </a:rPr>
              <a:t>Problems with specificity coding:</a:t>
            </a:r>
          </a:p>
          <a:p>
            <a:pPr lvl="1">
              <a:spcBef>
                <a:spcPct val="30000"/>
              </a:spcBef>
            </a:pPr>
            <a:r>
              <a:rPr lang="en-US" altLang="en-US" sz="1500" dirty="0">
                <a:latin typeface="Arial" panose="020B0604020202020204" pitchFamily="34" charset="0"/>
                <a:ea typeface="ＭＳ Ｐゴシック" panose="020B0600070205080204" pitchFamily="34" charset="-128"/>
              </a:rPr>
              <a:t>Too many different stimuli to assign specific neurons</a:t>
            </a:r>
          </a:p>
          <a:p>
            <a:pPr lvl="1">
              <a:spcBef>
                <a:spcPct val="30000"/>
              </a:spcBef>
            </a:pPr>
            <a:r>
              <a:rPr lang="en-US" altLang="en-US" sz="1500" dirty="0">
                <a:latin typeface="Arial" panose="020B0604020202020204" pitchFamily="34" charset="0"/>
                <a:ea typeface="ＭＳ Ｐゴシック" panose="020B0600070205080204" pitchFamily="34" charset="-128"/>
              </a:rPr>
              <a:t>Most neurons respond to a number of different stimuli.</a:t>
            </a:r>
          </a:p>
        </p:txBody>
      </p:sp>
      <p:pic>
        <p:nvPicPr>
          <p:cNvPr id="62468" name="Picture 4" descr="**Main Trend:** The diagram illustrates the concept of specificity coding in neural responses, where distinct stimuli elicit activity in specific neurons.&#10;&#10;**Axes:** The vertical axis implicitly represents different stimuli (people in this case) and the activity of different neurons. The horizontal axis represents time, with vertical spikes indicating neural firing.&#10;&#10;**Explanation:** For stimulus (a) Bill, Neuron 1 shows a burst of activity, while Neurons 2 and 3 are inactive. For stimulus (b) Mary, Neuron 2 is active, and Neurons 1 and 3 are inactive. For stimulus (c) Raphael, Neuron 3 is active, and Neurons 1 and 2 are inactive. This pattern demonstrates that each specific stimulus is associated with the activation of a unique neuron.">
            <a:extLst>
              <a:ext uri="{FF2B5EF4-FFF2-40B4-BE49-F238E27FC236}">
                <a16:creationId xmlns:a16="http://schemas.microsoft.com/office/drawing/2014/main" id="{7FB89131-5184-ED4D-9052-86DA64B90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6950" y="742950"/>
            <a:ext cx="2686050" cy="2567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Date Placeholder 1">
            <a:extLst>
              <a:ext uri="{FF2B5EF4-FFF2-40B4-BE49-F238E27FC236}">
                <a16:creationId xmlns:a16="http://schemas.microsoft.com/office/drawing/2014/main" id="{D8B5F911-D511-714A-8763-50AF0F6920A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79E9236-5184-CA4C-AEA4-0E73484E332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2470" name="Footer Placeholder 2">
            <a:extLst>
              <a:ext uri="{FF2B5EF4-FFF2-40B4-BE49-F238E27FC236}">
                <a16:creationId xmlns:a16="http://schemas.microsoft.com/office/drawing/2014/main" id="{609A1AA8-8DB0-2D46-9777-3F6333270E8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2467" name="Rectangle 2">
            <a:extLst>
              <a:ext uri="{FF2B5EF4-FFF2-40B4-BE49-F238E27FC236}">
                <a16:creationId xmlns:a16="http://schemas.microsoft.com/office/drawing/2014/main" id="{79366FD2-89E8-8345-85CC-52310112EFB3}"/>
              </a:ext>
            </a:extLst>
          </p:cNvPr>
          <p:cNvSpPr txBox="1">
            <a:spLocks noChangeArrowheads="1"/>
          </p:cNvSpPr>
          <p:nvPr/>
        </p:nvSpPr>
        <p:spPr bwMode="auto">
          <a:xfrm>
            <a:off x="2857500" y="44958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2.21 How faces could be coded by specificity coding. Each face causes one specialized neuron to respond.</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C97D915E-8B6E-F74C-84B9-898BAF951299}"/>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Distributed Encoding</a:t>
            </a:r>
          </a:p>
        </p:txBody>
      </p:sp>
      <p:sp>
        <p:nvSpPr>
          <p:cNvPr id="64514" name="Rectangle 3">
            <a:extLst>
              <a:ext uri="{FF2B5EF4-FFF2-40B4-BE49-F238E27FC236}">
                <a16:creationId xmlns:a16="http://schemas.microsoft.com/office/drawing/2014/main" id="{5BA3B80B-CC71-F245-B5EC-185BB5844F69}"/>
              </a:ext>
            </a:extLst>
          </p:cNvPr>
          <p:cNvSpPr>
            <a:spLocks noGrp="1" noChangeArrowheads="1"/>
          </p:cNvSpPr>
          <p:nvPr>
            <p:ph type="body" idx="1"/>
          </p:nvPr>
        </p:nvSpPr>
        <p:spPr>
          <a:xfrm>
            <a:off x="838200" y="742950"/>
            <a:ext cx="5391150" cy="3771900"/>
          </a:xfrm>
        </p:spPr>
        <p:txBody>
          <a:bodyPr/>
          <a:lstStyle/>
          <a:p>
            <a:pPr>
              <a:spcBef>
                <a:spcPct val="30000"/>
              </a:spcBef>
            </a:pPr>
            <a:r>
              <a:rPr lang="en-US" altLang="en-US" sz="2100" b="1" dirty="0">
                <a:latin typeface="Arial" panose="020B0604020202020204" pitchFamily="34" charset="0"/>
                <a:ea typeface="ＭＳ Ｐゴシック" panose="020B0600070205080204" pitchFamily="34" charset="-128"/>
              </a:rPr>
              <a:t>Distributed coding </a:t>
            </a:r>
            <a:r>
              <a:rPr lang="en-US" altLang="en-US" sz="2100" dirty="0">
                <a:latin typeface="Arial" panose="020B0604020202020204" pitchFamily="34" charset="0"/>
                <a:ea typeface="ＭＳ Ｐゴシック" panose="020B0600070205080204" pitchFamily="34" charset="-128"/>
              </a:rPr>
              <a:t>- pattern of firing across many neurons codes specific objects</a:t>
            </a:r>
          </a:p>
          <a:p>
            <a:pPr lvl="1">
              <a:spcBef>
                <a:spcPct val="30000"/>
              </a:spcBef>
            </a:pPr>
            <a:r>
              <a:rPr lang="en-US" altLang="en-US" dirty="0">
                <a:latin typeface="Arial" panose="020B0604020202020204" pitchFamily="34" charset="0"/>
                <a:ea typeface="ＭＳ Ｐゴシック" panose="020B0600070205080204" pitchFamily="34" charset="-128"/>
              </a:rPr>
              <a:t>Large number of stimuli can be coded by a few neurons.</a:t>
            </a:r>
            <a:endParaRPr lang="en-US" altLang="en-US" sz="2400" dirty="0">
              <a:latin typeface="Arial" panose="020B0604020202020204" pitchFamily="34" charset="0"/>
              <a:ea typeface="ＭＳ Ｐゴシック" panose="020B0600070205080204" pitchFamily="34" charset="-128"/>
            </a:endParaRPr>
          </a:p>
        </p:txBody>
      </p:sp>
      <p:pic>
        <p:nvPicPr>
          <p:cNvPr id="64516" name="Picture 4" descr="The diagram illustrates the concept of &quot;distributed encoding&quot; in sensory coding. The leftmost column, labeled &quot;Stimulus,&quot; displays portraits of four individuals: (a) Bill, (b) Mary, (c) Raphael, and (d) Roger. To the right of each stimulus image, three horizontal timelines are shown, representing the firing patterns of &quot;Neuron 1,&quot; &quot;Neuron 2,&quot; and &quot;Neuron 3.&quot; Each vertical tick mark on these timelines signifies a neural impulse or &quot;spike.&quot;&#10;&#10;For Bill, Neuron 1 shows a dense cluster of spikes, while Neurons 2 and 3 exhibit sparse, distinct groups of spikes. Mary's representation shows sparse spikes in Neuron 1 and dense clusters in Neurons 2 and 3. Raphael's stimulus is associated with dense spikes in Neuron 1 and sparse spikes in Neurons 2 and 3. Finally, Roger's stimulus is linked to sparse spikes in Neuron 1, sparse spikes in Neuron 2, and dense spikes in Neuron 3. The text explains that a pattern of firing across many neurons encodes specific objects, and a large number of stimuli can be coded by a few neurons, which this visual demonstrates by showing how different combinations of neural firing patterns can represent different stimuli (individuals in this case).">
            <a:extLst>
              <a:ext uri="{FF2B5EF4-FFF2-40B4-BE49-F238E27FC236}">
                <a16:creationId xmlns:a16="http://schemas.microsoft.com/office/drawing/2014/main" id="{607B50F4-BEC9-0048-A7C5-DDBE3CBBF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846137"/>
            <a:ext cx="2743200" cy="340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Date Placeholder 1">
            <a:extLst>
              <a:ext uri="{FF2B5EF4-FFF2-40B4-BE49-F238E27FC236}">
                <a16:creationId xmlns:a16="http://schemas.microsoft.com/office/drawing/2014/main" id="{05719AE2-C87A-894B-9616-EBABFCB222C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B959C51-B313-E149-BF84-930006D54CF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4518" name="Footer Placeholder 2">
            <a:extLst>
              <a:ext uri="{FF2B5EF4-FFF2-40B4-BE49-F238E27FC236}">
                <a16:creationId xmlns:a16="http://schemas.microsoft.com/office/drawing/2014/main" id="{9FCB42F5-D118-5C4E-AA1F-4CCC6763623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4515" name="Rectangle 2">
            <a:extLst>
              <a:ext uri="{FF2B5EF4-FFF2-40B4-BE49-F238E27FC236}">
                <a16:creationId xmlns:a16="http://schemas.microsoft.com/office/drawing/2014/main" id="{38FC451D-1F6A-0B4A-B747-1A638D4138F9}"/>
              </a:ext>
            </a:extLst>
          </p:cNvPr>
          <p:cNvSpPr txBox="1">
            <a:spLocks noChangeArrowheads="1"/>
          </p:cNvSpPr>
          <p:nvPr/>
        </p:nvSpPr>
        <p:spPr bwMode="auto">
          <a:xfrm>
            <a:off x="2641895" y="45720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2.23 How faces could be coded by distributed coding. Each face causes all the neurons to fire, but the pattern of firing is different for each face.  One advantage of this method of coding is that many faces could be represented by the firing of the three neurons.</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Date Placeholder 3">
            <a:extLst>
              <a:ext uri="{FF2B5EF4-FFF2-40B4-BE49-F238E27FC236}">
                <a16:creationId xmlns:a16="http://schemas.microsoft.com/office/drawing/2014/main" id="{D2F0672F-AB6B-404A-80BB-928A1AF57C9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8F77D5-90D3-0F4B-A09D-99FD626BD4C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6562" name="Footer Placeholder 4">
            <a:extLst>
              <a:ext uri="{FF2B5EF4-FFF2-40B4-BE49-F238E27FC236}">
                <a16:creationId xmlns:a16="http://schemas.microsoft.com/office/drawing/2014/main" id="{EBF249F9-01DA-AF4E-8285-ABA44C3D28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6563" name="Rectangle 2">
            <a:extLst>
              <a:ext uri="{FF2B5EF4-FFF2-40B4-BE49-F238E27FC236}">
                <a16:creationId xmlns:a16="http://schemas.microsoft.com/office/drawing/2014/main" id="{CAE3E9D9-27AC-0A42-A9EB-8E0BD44D64A0}"/>
              </a:ext>
            </a:extLst>
          </p:cNvPr>
          <p:cNvSpPr>
            <a:spLocks noGrp="1" noChangeArrowheads="1"/>
          </p:cNvSpPr>
          <p:nvPr>
            <p:ph type="title"/>
          </p:nvPr>
        </p:nvSpPr>
        <p:spPr/>
        <p:txBody>
          <a:bodyPr/>
          <a:lstStyle/>
          <a:p>
            <a:r>
              <a:rPr lang="en-US" altLang="en-US">
                <a:ea typeface="ＭＳ Ｐゴシック" panose="020B0600070205080204" pitchFamily="34" charset="-128"/>
              </a:rPr>
              <a:t>Upcoming</a:t>
            </a:r>
          </a:p>
        </p:txBody>
      </p:sp>
      <p:sp>
        <p:nvSpPr>
          <p:cNvPr id="66564" name="Rectangle 3">
            <a:extLst>
              <a:ext uri="{FF2B5EF4-FFF2-40B4-BE49-F238E27FC236}">
                <a16:creationId xmlns:a16="http://schemas.microsoft.com/office/drawing/2014/main" id="{593F7533-4B1D-7149-83E7-9B72C20ACC1E}"/>
              </a:ext>
            </a:extLst>
          </p:cNvPr>
          <p:cNvSpPr>
            <a:spLocks noGrp="1" noChangeArrowheads="1"/>
          </p:cNvSpPr>
          <p:nvPr>
            <p:ph type="body" idx="1"/>
          </p:nvPr>
        </p:nvSpPr>
        <p:spPr>
          <a:xfrm>
            <a:off x="838200" y="685800"/>
            <a:ext cx="8001000" cy="4171950"/>
          </a:xfrm>
        </p:spPr>
        <p:txBody>
          <a:bodyPr/>
          <a:lstStyle/>
          <a:p>
            <a:r>
              <a:rPr lang="en-US" altLang="en-US" dirty="0">
                <a:ea typeface="ＭＳ Ｐゴシック" panose="020B0600070205080204" pitchFamily="34" charset="-128"/>
              </a:rPr>
              <a:t>Neuroimaging</a:t>
            </a:r>
          </a:p>
          <a:p>
            <a:r>
              <a:rPr lang="en-US" altLang="en-US" dirty="0">
                <a:ea typeface="ＭＳ Ｐゴシック" panose="020B0600070205080204" pitchFamily="34" charset="-128"/>
              </a:rPr>
              <a:t>Bottom-up vs. Top-down Processing</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Extra Readings</a:t>
            </a:r>
          </a:p>
          <a:p>
            <a:pPr lvl="1"/>
            <a:r>
              <a:rPr lang="en-US" altLang="en-US" dirty="0">
                <a:ea typeface="ＭＳ Ｐゴシック" panose="020B0600070205080204" pitchFamily="34" charset="-128"/>
              </a:rPr>
              <a:t>Download from Web site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8A11D940-1180-984D-A7AF-5F76851C2D9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Basics of Neural Signals</a:t>
            </a:r>
          </a:p>
        </p:txBody>
      </p:sp>
      <p:sp>
        <p:nvSpPr>
          <p:cNvPr id="68610" name="Rectangle 3">
            <a:extLst>
              <a:ext uri="{FF2B5EF4-FFF2-40B4-BE49-F238E27FC236}">
                <a16:creationId xmlns:a16="http://schemas.microsoft.com/office/drawing/2014/main" id="{48267FC9-2229-9A4C-93EE-650A4BA91DE6}"/>
              </a:ext>
            </a:extLst>
          </p:cNvPr>
          <p:cNvSpPr>
            <a:spLocks noGrp="1" noChangeArrowheads="1"/>
          </p:cNvSpPr>
          <p:nvPr>
            <p:ph type="body" idx="1"/>
          </p:nvPr>
        </p:nvSpPr>
        <p:spPr>
          <a:xfrm>
            <a:off x="838200" y="800100"/>
            <a:ext cx="6648450" cy="3714750"/>
          </a:xfrm>
        </p:spPr>
        <p:txBody>
          <a:bodyPr/>
          <a:lstStyle/>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Neurons are surrounded by a solution containing ions.</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Ions carry an electrical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Sodium ions (Na</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Chlorine ions (Cl</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negative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Potassium ions (K</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Electrical signals are generated when such ions cross the membranes of neurons.</a:t>
            </a:r>
          </a:p>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Membranes have selective permeability. </a:t>
            </a:r>
          </a:p>
        </p:txBody>
      </p:sp>
      <p:sp>
        <p:nvSpPr>
          <p:cNvPr id="68611" name="Date Placeholder 1">
            <a:extLst>
              <a:ext uri="{FF2B5EF4-FFF2-40B4-BE49-F238E27FC236}">
                <a16:creationId xmlns:a16="http://schemas.microsoft.com/office/drawing/2014/main" id="{0CF841D2-514E-524B-A64A-B4B7484FCE8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19DF38F-5532-6442-94AE-33CEAF1922F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8612" name="Footer Placeholder 2">
            <a:extLst>
              <a:ext uri="{FF2B5EF4-FFF2-40B4-BE49-F238E27FC236}">
                <a16:creationId xmlns:a16="http://schemas.microsoft.com/office/drawing/2014/main" id="{B0427ED6-163E-BA48-AF21-C8A9EFBAED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7" name="Picture 4" descr="A diagram shows a cross-section of a nerve fiber. The nerve fiber is depicted as a yellow, hollow tube with an orange interior. Surrounding and within the nerve fiber are circular representations of ions. Blue circles labeled &quot;Na+&quot; are shown mostly outside the nerve fiber, while red circles labeled &quot;K+&quot; are shown mostly inside the nerve fiber. The distribution of these ions visually represents the ionic gradient across the nerve fiber membrane.">
            <a:extLst>
              <a:ext uri="{FF2B5EF4-FFF2-40B4-BE49-F238E27FC236}">
                <a16:creationId xmlns:a16="http://schemas.microsoft.com/office/drawing/2014/main" id="{41B8919D-8B06-C742-91C9-DCC2CAC86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7862" y="1013223"/>
            <a:ext cx="5195888" cy="3107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8" name="Rectangle 2">
            <a:extLst>
              <a:ext uri="{FF2B5EF4-FFF2-40B4-BE49-F238E27FC236}">
                <a16:creationId xmlns:a16="http://schemas.microsoft.com/office/drawing/2014/main" id="{ADF337A6-DA9D-A04A-9C0D-8EC0007C4AF2}"/>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a:latin typeface="Arial" panose="020B0604020202020204" pitchFamily="34" charset="0"/>
                <a:ea typeface="ＭＳ Ｐゴシック" panose="020B0600070205080204" pitchFamily="34" charset="-128"/>
              </a:rPr>
              <a:t>Figure 2.8 A nerve fiber, showing the high concentration of sodium outside the fiber and potassium inside the fiber.  Other ions, such as negatively charged chlorine, are not shown.</a:t>
            </a:r>
          </a:p>
        </p:txBody>
      </p:sp>
      <p:sp>
        <p:nvSpPr>
          <p:cNvPr id="70659" name="Date Placeholder 1">
            <a:extLst>
              <a:ext uri="{FF2B5EF4-FFF2-40B4-BE49-F238E27FC236}">
                <a16:creationId xmlns:a16="http://schemas.microsoft.com/office/drawing/2014/main" id="{904DD699-08DA-8D4F-AF76-BBB7E3A9A02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021D0A5-06AD-4745-95DC-214FE699ED17}"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70660" name="Footer Placeholder 2">
            <a:extLst>
              <a:ext uri="{FF2B5EF4-FFF2-40B4-BE49-F238E27FC236}">
                <a16:creationId xmlns:a16="http://schemas.microsoft.com/office/drawing/2014/main" id="{CF8DC108-FD50-DD4F-B81C-629F0111284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theme/theme1.xml><?xml version="1.0" encoding="utf-8"?>
<a:theme xmlns:a="http://schemas.openxmlformats.org/drawingml/2006/main" name="35-audio">
  <a:themeElements>
    <a:clrScheme name="">
      <a:dk1>
        <a:srgbClr val="000000"/>
      </a:dk1>
      <a:lt1>
        <a:srgbClr val="FFFFFF"/>
      </a:lt1>
      <a:dk2>
        <a:srgbClr val="000000"/>
      </a:dk2>
      <a:lt2>
        <a:srgbClr val="5E574E"/>
      </a:lt2>
      <a:accent1>
        <a:srgbClr val="0080FF"/>
      </a:accent1>
      <a:accent2>
        <a:srgbClr val="FFCC00"/>
      </a:accent2>
      <a:accent3>
        <a:srgbClr val="FFFFFF"/>
      </a:accent3>
      <a:accent4>
        <a:srgbClr val="000000"/>
      </a:accent4>
      <a:accent5>
        <a:srgbClr val="AAC0FF"/>
      </a:accent5>
      <a:accent6>
        <a:srgbClr val="E7B900"/>
      </a:accent6>
      <a:hlink>
        <a:srgbClr val="3366CC"/>
      </a:hlink>
      <a:folHlink>
        <a:srgbClr val="808000"/>
      </a:folHlink>
    </a:clrScheme>
    <a:fontScheme name="35-audio">
      <a:majorFont>
        <a:latin typeface="Arial"/>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lnDef>
  </a:objectDefaults>
  <a:extraClrSchemeLst>
    <a:extraClrScheme>
      <a:clrScheme name="35-audio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35-audio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5-audio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35-audio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35-audio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35-audio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8">
        <a:dk1>
          <a:srgbClr val="000000"/>
        </a:dk1>
        <a:lt1>
          <a:srgbClr val="FFFFFF"/>
        </a:lt1>
        <a:dk2>
          <a:srgbClr val="000066"/>
        </a:dk2>
        <a:lt2>
          <a:srgbClr val="FFFF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WalkerB HD:Users:walkerb:Bruce:Classes:6750-HCI:PPT Slides:35-audio.ppt</Template>
  <TotalTime>7158</TotalTime>
  <Words>1573</Words>
  <Application>Microsoft Macintosh PowerPoint</Application>
  <PresentationFormat>On-screen Show (16:9)</PresentationFormat>
  <Paragraphs>223</Paragraphs>
  <Slides>29</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Comic Sans MS</vt:lpstr>
      <vt:lpstr>Tahoma</vt:lpstr>
      <vt:lpstr>Times</vt:lpstr>
      <vt:lpstr>Wingdings</vt:lpstr>
      <vt:lpstr>35-audio</vt:lpstr>
      <vt:lpstr>Physiology of Perception</vt:lpstr>
      <vt:lpstr>Reminder: Outline of Topics</vt:lpstr>
      <vt:lpstr>Overview</vt:lpstr>
      <vt:lpstr>Brain as Center of Perception</vt:lpstr>
      <vt:lpstr>Made Up of Neurons…</vt:lpstr>
      <vt:lpstr>Basic Brain Structure</vt:lpstr>
      <vt:lpstr>PowerPoint Presentation</vt:lpstr>
      <vt:lpstr>Neurons: Transduction &amp; Transmission</vt:lpstr>
      <vt:lpstr>Neurons: Transduction &amp; Transmission</vt:lpstr>
      <vt:lpstr>Neural Signals</vt:lpstr>
      <vt:lpstr>Properties of Action Potentials</vt:lpstr>
      <vt:lpstr>Stimulus Intensity &amp; Firing Rate</vt:lpstr>
      <vt:lpstr>Synaptic Transmission of Impulses </vt:lpstr>
      <vt:lpstr>Video: Synaptic Transmission</vt:lpstr>
      <vt:lpstr>Types of Neurotransmitters</vt:lpstr>
      <vt:lpstr>Neural Circuits</vt:lpstr>
      <vt:lpstr>Simple Circuit</vt:lpstr>
      <vt:lpstr>Neural Circuits - continued</vt:lpstr>
      <vt:lpstr>Convergent Circuits (+ only)</vt:lpstr>
      <vt:lpstr>Neural Circuits - continued</vt:lpstr>
      <vt:lpstr>Convergent Circuits (+ and -)</vt:lpstr>
      <vt:lpstr>Receptive Fields</vt:lpstr>
      <vt:lpstr>Center-Surround Receptive Fields</vt:lpstr>
      <vt:lpstr>Center-Surround Antagonism</vt:lpstr>
      <vt:lpstr>Sensory Code: Specificity Encoding</vt:lpstr>
      <vt:lpstr>Sensory Code: Distributed Encoding</vt:lpstr>
      <vt:lpstr>Upcoming</vt:lpstr>
      <vt:lpstr>Basics of Neural Signals</vt:lpstr>
      <vt:lpstr>PowerPoint Presentation</vt:lpstr>
    </vt:vector>
  </TitlesOfParts>
  <Company>Georgia Tech Psychology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Sensation &amp; Perception</dc:title>
  <dc:creator>Bruce Walker</dc:creator>
  <cp:lastModifiedBy>Walker, Bruce N</cp:lastModifiedBy>
  <cp:revision>51</cp:revision>
  <cp:lastPrinted>2002-12-30T22:33:12Z</cp:lastPrinted>
  <dcterms:created xsi:type="dcterms:W3CDTF">2012-01-20T02:14:24Z</dcterms:created>
  <dcterms:modified xsi:type="dcterms:W3CDTF">2021-01-24T21:07:41Z</dcterms:modified>
</cp:coreProperties>
</file>