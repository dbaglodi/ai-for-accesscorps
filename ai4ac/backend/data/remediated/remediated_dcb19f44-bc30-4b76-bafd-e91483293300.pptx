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31"/>
  </p:notesMasterIdLst>
  <p:handoutMasterIdLst>
    <p:handoutMasterId r:id="rId32"/>
  </p:handoutMasterIdLst>
  <p:sldIdLst>
    <p:sldId id="256" r:id="rId2"/>
    <p:sldId id="328" r:id="rId3"/>
    <p:sldId id="257" r:id="rId4"/>
    <p:sldId id="269" r:id="rId5"/>
    <p:sldId id="276" r:id="rId6"/>
    <p:sldId id="286" r:id="rId7"/>
    <p:sldId id="287" r:id="rId8"/>
    <p:sldId id="325" r:id="rId9"/>
    <p:sldId id="288" r:id="rId10"/>
    <p:sldId id="292" r:id="rId11"/>
    <p:sldId id="296" r:id="rId12"/>
    <p:sldId id="297" r:id="rId13"/>
    <p:sldId id="298" r:id="rId14"/>
    <p:sldId id="300" r:id="rId15"/>
    <p:sldId id="301" r:id="rId16"/>
    <p:sldId id="304" r:id="rId17"/>
    <p:sldId id="305" r:id="rId18"/>
    <p:sldId id="306" r:id="rId19"/>
    <p:sldId id="307" r:id="rId20"/>
    <p:sldId id="308" r:id="rId21"/>
    <p:sldId id="309" r:id="rId22"/>
    <p:sldId id="310" r:id="rId23"/>
    <p:sldId id="312" r:id="rId24"/>
    <p:sldId id="314" r:id="rId25"/>
    <p:sldId id="316" r:id="rId26"/>
    <p:sldId id="319" r:id="rId27"/>
    <p:sldId id="268" r:id="rId28"/>
    <p:sldId id="326" r:id="rId29"/>
    <p:sldId id="327" r:id="rId30"/>
  </p:sldIdLst>
  <p:sldSz cx="9144000" cy="5143500" type="screen16x9"/>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38"/>
  </p:normalViewPr>
  <p:slideViewPr>
    <p:cSldViewPr>
      <p:cViewPr varScale="1">
        <p:scale>
          <a:sx n="151" d="100"/>
          <a:sy n="151" d="100"/>
        </p:scale>
        <p:origin x="520" y="176"/>
      </p:cViewPr>
      <p:guideLst>
        <p:guide orient="horz" pos="1620"/>
        <p:guide pos="2880"/>
      </p:guideLst>
    </p:cSldViewPr>
  </p:slideViewPr>
  <p:outlineViewPr>
    <p:cViewPr>
      <p:scale>
        <a:sx n="33" d="100"/>
        <a:sy n="33" d="100"/>
      </p:scale>
      <p:origin x="0" y="18536"/>
    </p:cViewPr>
  </p:outlineViewPr>
  <p:notesTextViewPr>
    <p:cViewPr>
      <p:scale>
        <a:sx n="100" d="100"/>
        <a:sy n="100" d="100"/>
      </p:scale>
      <p:origin x="0" y="0"/>
    </p:cViewPr>
  </p:notesTextViewPr>
  <p:sorterViewPr>
    <p:cViewPr>
      <p:scale>
        <a:sx n="200" d="100"/>
        <a:sy n="2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13F558A9-DA8C-0A4A-A9D6-28E17870D4BD}"/>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11267" name="Rectangle 3">
            <a:extLst>
              <a:ext uri="{FF2B5EF4-FFF2-40B4-BE49-F238E27FC236}">
                <a16:creationId xmlns:a16="http://schemas.microsoft.com/office/drawing/2014/main" id="{600705CB-591E-D340-B556-AB4ACC36EBB8}"/>
              </a:ext>
            </a:extLst>
          </p:cNvPr>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pitchFamily="-110" charset="0"/>
                <a:ea typeface="+mn-ea"/>
              </a:defRPr>
            </a:lvl1pPr>
          </a:lstStyle>
          <a:p>
            <a:pPr>
              <a:defRPr/>
            </a:pPr>
            <a:endParaRPr lang="en-US"/>
          </a:p>
        </p:txBody>
      </p:sp>
      <p:sp>
        <p:nvSpPr>
          <p:cNvPr id="11268" name="Rectangle 4">
            <a:extLst>
              <a:ext uri="{FF2B5EF4-FFF2-40B4-BE49-F238E27FC236}">
                <a16:creationId xmlns:a16="http://schemas.microsoft.com/office/drawing/2014/main" id="{AF3A6860-2E4E-5C43-9346-C44984AD63E6}"/>
              </a:ext>
            </a:extLst>
          </p:cNvPr>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11269" name="Rectangle 5">
            <a:extLst>
              <a:ext uri="{FF2B5EF4-FFF2-40B4-BE49-F238E27FC236}">
                <a16:creationId xmlns:a16="http://schemas.microsoft.com/office/drawing/2014/main" id="{0CE811E3-AE1A-5A42-B453-E883C13CD3A4}"/>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charset="0"/>
                <a:ea typeface="ＭＳ Ｐゴシック" charset="-128"/>
              </a:defRPr>
            </a:lvl1pPr>
          </a:lstStyle>
          <a:p>
            <a:pPr>
              <a:defRPr/>
            </a:pPr>
            <a:fld id="{E1326EE1-770B-5044-B269-2293F993D78F}"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E3F1E7CE-B704-5B46-9A09-9D8D78B6AE99}"/>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43011" name="Rectangle 3">
            <a:extLst>
              <a:ext uri="{FF2B5EF4-FFF2-40B4-BE49-F238E27FC236}">
                <a16:creationId xmlns:a16="http://schemas.microsoft.com/office/drawing/2014/main" id="{08BBAAEB-51AC-5C4C-B0B0-F67056DD0FB6}"/>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pitchFamily="-110" charset="0"/>
                <a:ea typeface="+mn-ea"/>
              </a:defRPr>
            </a:lvl1pPr>
          </a:lstStyle>
          <a:p>
            <a:pPr>
              <a:defRPr/>
            </a:pPr>
            <a:endParaRPr lang="en-US"/>
          </a:p>
        </p:txBody>
      </p:sp>
      <p:sp>
        <p:nvSpPr>
          <p:cNvPr id="13316" name="Rectangle 4">
            <a:extLst>
              <a:ext uri="{FF2B5EF4-FFF2-40B4-BE49-F238E27FC236}">
                <a16:creationId xmlns:a16="http://schemas.microsoft.com/office/drawing/2014/main" id="{239BCA80-B535-0A4F-95BC-1F3B6D974DB8}"/>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3" name="Rectangle 5">
            <a:extLst>
              <a:ext uri="{FF2B5EF4-FFF2-40B4-BE49-F238E27FC236}">
                <a16:creationId xmlns:a16="http://schemas.microsoft.com/office/drawing/2014/main" id="{33C9E59B-4658-BE47-9963-4BB72D8AE619}"/>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3014" name="Rectangle 6">
            <a:extLst>
              <a:ext uri="{FF2B5EF4-FFF2-40B4-BE49-F238E27FC236}">
                <a16:creationId xmlns:a16="http://schemas.microsoft.com/office/drawing/2014/main" id="{11C0D8D2-8A4B-754B-A07D-6617721D8BE3}"/>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43015" name="Rectangle 7">
            <a:extLst>
              <a:ext uri="{FF2B5EF4-FFF2-40B4-BE49-F238E27FC236}">
                <a16:creationId xmlns:a16="http://schemas.microsoft.com/office/drawing/2014/main" id="{1B1B4E08-1B91-BE4E-A3F6-841920412614}"/>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charset="0"/>
                <a:ea typeface="ＭＳ Ｐゴシック" charset="-128"/>
              </a:defRPr>
            </a:lvl1pPr>
          </a:lstStyle>
          <a:p>
            <a:pPr>
              <a:defRPr/>
            </a:pPr>
            <a:fld id="{EBA2F6CF-D245-AE40-B035-DD9CA7F120A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10" charset="0"/>
        <a:ea typeface="ＭＳ Ｐゴシック" charset="-128"/>
        <a:cs typeface="+mn-cs"/>
      </a:defRPr>
    </a:lvl1pPr>
    <a:lvl2pPr marL="4572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2pPr>
    <a:lvl3pPr marL="9144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3pPr>
    <a:lvl4pPr marL="13716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4pPr>
    <a:lvl5pPr marL="18288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D9BAB331-E797-3E44-BEBB-E17657056E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DCE2B21B-6094-064D-B292-99F66B598B11}" type="slidenum">
              <a:rPr lang="en-US" altLang="en-US" sz="1200" smtClean="0"/>
              <a:pPr/>
              <a:t>1</a:t>
            </a:fld>
            <a:endParaRPr lang="en-US" altLang="en-US" sz="1200"/>
          </a:p>
        </p:txBody>
      </p:sp>
      <p:sp>
        <p:nvSpPr>
          <p:cNvPr id="16386" name="Rectangle 2">
            <a:extLst>
              <a:ext uri="{FF2B5EF4-FFF2-40B4-BE49-F238E27FC236}">
                <a16:creationId xmlns:a16="http://schemas.microsoft.com/office/drawing/2014/main" id="{2CD11686-6F80-A444-AEE4-DCA41A984AFF}"/>
              </a:ext>
            </a:extLst>
          </p:cNvPr>
          <p:cNvSpPr>
            <a:spLocks noGrp="1" noRot="1" noChangeAspect="1" noChangeArrowheads="1" noTextEdit="1"/>
          </p:cNvSpPr>
          <p:nvPr>
            <p:ph type="sldImg"/>
          </p:nvPr>
        </p:nvSpPr>
        <p:spPr>
          <a:xfrm>
            <a:off x="381000" y="685800"/>
            <a:ext cx="6096000" cy="3429000"/>
          </a:xfrm>
          <a:ln/>
        </p:spPr>
      </p:sp>
      <p:sp>
        <p:nvSpPr>
          <p:cNvPr id="16387" name="Rectangle 3">
            <a:extLst>
              <a:ext uri="{FF2B5EF4-FFF2-40B4-BE49-F238E27FC236}">
                <a16:creationId xmlns:a16="http://schemas.microsoft.com/office/drawing/2014/main" id="{117B5C69-F248-B34F-BDE5-CEC38FF56A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279E30D2-E615-954C-B0C9-2124F66A04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FC0F0B0-1D28-3D46-B8C1-8534A751C016}" type="slidenum">
              <a:rPr lang="en-US" altLang="en-US" sz="1200" smtClean="0"/>
              <a:pPr/>
              <a:t>3</a:t>
            </a:fld>
            <a:endParaRPr lang="en-US" altLang="en-US" sz="1200"/>
          </a:p>
        </p:txBody>
      </p:sp>
      <p:sp>
        <p:nvSpPr>
          <p:cNvPr id="18434" name="Rectangle 2">
            <a:extLst>
              <a:ext uri="{FF2B5EF4-FFF2-40B4-BE49-F238E27FC236}">
                <a16:creationId xmlns:a16="http://schemas.microsoft.com/office/drawing/2014/main" id="{FEE0D0F6-533B-2248-AD10-AB98B9AD9D16}"/>
              </a:ext>
            </a:extLst>
          </p:cNvPr>
          <p:cNvSpPr>
            <a:spLocks noGrp="1" noRot="1" noChangeAspect="1" noChangeArrowheads="1" noTextEdit="1"/>
          </p:cNvSpPr>
          <p:nvPr>
            <p:ph type="sldImg"/>
          </p:nvPr>
        </p:nvSpPr>
        <p:spPr>
          <a:xfrm>
            <a:off x="381000" y="685800"/>
            <a:ext cx="6096000" cy="3429000"/>
          </a:xfrm>
          <a:ln/>
        </p:spPr>
      </p:sp>
      <p:sp>
        <p:nvSpPr>
          <p:cNvPr id="18435" name="Rectangle 3">
            <a:extLst>
              <a:ext uri="{FF2B5EF4-FFF2-40B4-BE49-F238E27FC236}">
                <a16:creationId xmlns:a16="http://schemas.microsoft.com/office/drawing/2014/main" id="{D778F79E-8D22-C842-8B85-D3C7E3FA5D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BFB05557-4DD7-9241-9D3A-36B408B032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08289F4B-38A2-F443-BB95-7E2E014086A9}" type="slidenum">
              <a:rPr lang="en-US" altLang="en-US" sz="1200" smtClean="0"/>
              <a:pPr/>
              <a:t>4</a:t>
            </a:fld>
            <a:endParaRPr lang="en-US" altLang="en-US" sz="1200"/>
          </a:p>
        </p:txBody>
      </p:sp>
      <p:sp>
        <p:nvSpPr>
          <p:cNvPr id="20482" name="Rectangle 2">
            <a:extLst>
              <a:ext uri="{FF2B5EF4-FFF2-40B4-BE49-F238E27FC236}">
                <a16:creationId xmlns:a16="http://schemas.microsoft.com/office/drawing/2014/main" id="{03E90D78-ADCB-674B-85A8-C19868155A58}"/>
              </a:ext>
            </a:extLst>
          </p:cNvPr>
          <p:cNvSpPr>
            <a:spLocks noGrp="1" noRot="1" noChangeAspect="1" noChangeArrowheads="1" noTextEdit="1"/>
          </p:cNvSpPr>
          <p:nvPr>
            <p:ph type="sldImg"/>
          </p:nvPr>
        </p:nvSpPr>
        <p:spPr>
          <a:xfrm>
            <a:off x="381000" y="685800"/>
            <a:ext cx="6096000" cy="3429000"/>
          </a:xfrm>
          <a:ln/>
        </p:spPr>
      </p:sp>
      <p:sp>
        <p:nvSpPr>
          <p:cNvPr id="20483" name="Rectangle 3">
            <a:extLst>
              <a:ext uri="{FF2B5EF4-FFF2-40B4-BE49-F238E27FC236}">
                <a16:creationId xmlns:a16="http://schemas.microsoft.com/office/drawing/2014/main" id="{B0F22141-D9B4-044A-9F1B-59F8A077CF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0F5C0031-C48D-3446-B7AD-3B9171E548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AC0A6925-F32A-5649-9A77-A1B5FCC1DF2F}" type="slidenum">
              <a:rPr lang="en-US" altLang="en-US" sz="1200" smtClean="0"/>
              <a:pPr/>
              <a:t>5</a:t>
            </a:fld>
            <a:endParaRPr lang="en-US" altLang="en-US" sz="1200"/>
          </a:p>
        </p:txBody>
      </p:sp>
      <p:sp>
        <p:nvSpPr>
          <p:cNvPr id="22530" name="Rectangle 2">
            <a:extLst>
              <a:ext uri="{FF2B5EF4-FFF2-40B4-BE49-F238E27FC236}">
                <a16:creationId xmlns:a16="http://schemas.microsoft.com/office/drawing/2014/main" id="{4482657A-98B1-9D43-9AF7-52D7102F8DF9}"/>
              </a:ext>
            </a:extLst>
          </p:cNvPr>
          <p:cNvSpPr>
            <a:spLocks noGrp="1" noRot="1" noChangeAspect="1" noChangeArrowheads="1" noTextEdit="1"/>
          </p:cNvSpPr>
          <p:nvPr>
            <p:ph type="sldImg"/>
          </p:nvPr>
        </p:nvSpPr>
        <p:spPr>
          <a:xfrm>
            <a:off x="381000" y="685800"/>
            <a:ext cx="6096000" cy="3429000"/>
          </a:xfrm>
          <a:ln/>
        </p:spPr>
      </p:sp>
      <p:sp>
        <p:nvSpPr>
          <p:cNvPr id="22531" name="Rectangle 3">
            <a:extLst>
              <a:ext uri="{FF2B5EF4-FFF2-40B4-BE49-F238E27FC236}">
                <a16:creationId xmlns:a16="http://schemas.microsoft.com/office/drawing/2014/main" id="{47B59028-2F3E-B049-95D4-304CEB9565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9C872A02-86E7-D349-971C-E4EFD26C50C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B2B1064-FB65-C948-BB30-A23CFD71F264}" type="slidenum">
              <a:rPr lang="en-US" altLang="en-US" sz="1200" smtClean="0"/>
              <a:pPr/>
              <a:t>6</a:t>
            </a:fld>
            <a:endParaRPr lang="en-US" altLang="en-US" sz="1200"/>
          </a:p>
        </p:txBody>
      </p:sp>
      <p:sp>
        <p:nvSpPr>
          <p:cNvPr id="24578" name="Rectangle 2">
            <a:extLst>
              <a:ext uri="{FF2B5EF4-FFF2-40B4-BE49-F238E27FC236}">
                <a16:creationId xmlns:a16="http://schemas.microsoft.com/office/drawing/2014/main" id="{0284A813-4981-594F-B220-65DEC1F2733E}"/>
              </a:ext>
            </a:extLst>
          </p:cNvPr>
          <p:cNvSpPr>
            <a:spLocks noGrp="1" noRot="1" noChangeAspect="1" noChangeArrowheads="1" noTextEdit="1"/>
          </p:cNvSpPr>
          <p:nvPr>
            <p:ph type="sldImg"/>
          </p:nvPr>
        </p:nvSpPr>
        <p:spPr>
          <a:xfrm>
            <a:off x="381000" y="685800"/>
            <a:ext cx="6096000" cy="3429000"/>
          </a:xfrm>
          <a:ln/>
        </p:spPr>
      </p:sp>
      <p:sp>
        <p:nvSpPr>
          <p:cNvPr id="24579" name="Rectangle 3">
            <a:extLst>
              <a:ext uri="{FF2B5EF4-FFF2-40B4-BE49-F238E27FC236}">
                <a16:creationId xmlns:a16="http://schemas.microsoft.com/office/drawing/2014/main" id="{12863047-9B60-BD49-99AC-BB6E6F5F340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80459D58-1A5D-3947-B5D8-E34AE6FD2E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3FEB8D92-5D75-4E41-9902-CBAE81064C62}" type="slidenum">
              <a:rPr lang="en-US" altLang="en-US" sz="1200" smtClean="0"/>
              <a:pPr/>
              <a:t>7</a:t>
            </a:fld>
            <a:endParaRPr lang="en-US" altLang="en-US" sz="1200"/>
          </a:p>
        </p:txBody>
      </p:sp>
      <p:sp>
        <p:nvSpPr>
          <p:cNvPr id="26626" name="Rectangle 2">
            <a:extLst>
              <a:ext uri="{FF2B5EF4-FFF2-40B4-BE49-F238E27FC236}">
                <a16:creationId xmlns:a16="http://schemas.microsoft.com/office/drawing/2014/main" id="{6E74BE94-D453-BE46-99BB-8F110FEB698D}"/>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26627" name="Rectangle 3">
            <a:extLst>
              <a:ext uri="{FF2B5EF4-FFF2-40B4-BE49-F238E27FC236}">
                <a16:creationId xmlns:a16="http://schemas.microsoft.com/office/drawing/2014/main" id="{E761AF3C-9833-CC4B-9C02-D9A3FCF90337}"/>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CDB30AC7-22BA-314D-9FB1-28914E5DB5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EBD3D8DE-791C-5347-9826-D10E8AFA3F13}" type="slidenum">
              <a:rPr lang="en-US" altLang="en-US" sz="1200" smtClean="0"/>
              <a:pPr/>
              <a:t>8</a:t>
            </a:fld>
            <a:endParaRPr lang="en-US" altLang="en-US" sz="1200"/>
          </a:p>
        </p:txBody>
      </p:sp>
      <p:sp>
        <p:nvSpPr>
          <p:cNvPr id="28674" name="Rectangle 2">
            <a:extLst>
              <a:ext uri="{FF2B5EF4-FFF2-40B4-BE49-F238E27FC236}">
                <a16:creationId xmlns:a16="http://schemas.microsoft.com/office/drawing/2014/main" id="{0CD75608-B2AB-734A-8BB0-789E1B71177D}"/>
              </a:ext>
            </a:extLst>
          </p:cNvPr>
          <p:cNvSpPr>
            <a:spLocks noGrp="1" noRot="1" noChangeAspect="1" noChangeArrowheads="1" noTextEdit="1"/>
          </p:cNvSpPr>
          <p:nvPr>
            <p:ph type="sldImg"/>
          </p:nvPr>
        </p:nvSpPr>
        <p:spPr>
          <a:xfrm>
            <a:off x="381000" y="685800"/>
            <a:ext cx="6096000" cy="3429000"/>
          </a:xfrm>
          <a:ln/>
        </p:spPr>
      </p:sp>
      <p:sp>
        <p:nvSpPr>
          <p:cNvPr id="28675" name="Rectangle 3">
            <a:extLst>
              <a:ext uri="{FF2B5EF4-FFF2-40B4-BE49-F238E27FC236}">
                <a16:creationId xmlns:a16="http://schemas.microsoft.com/office/drawing/2014/main" id="{50CD4570-DC87-7A4D-BA94-F394092EB8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78C42032-8C53-4040-9734-2362D39328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3E034A6-42EB-2E45-B73E-C9DA2FBCBE24}" type="slidenum">
              <a:rPr lang="en-US" altLang="en-US" sz="1200" smtClean="0"/>
              <a:pPr/>
              <a:t>9</a:t>
            </a:fld>
            <a:endParaRPr lang="en-US" altLang="en-US" sz="1200"/>
          </a:p>
        </p:txBody>
      </p:sp>
      <p:sp>
        <p:nvSpPr>
          <p:cNvPr id="30722" name="Rectangle 2">
            <a:extLst>
              <a:ext uri="{FF2B5EF4-FFF2-40B4-BE49-F238E27FC236}">
                <a16:creationId xmlns:a16="http://schemas.microsoft.com/office/drawing/2014/main" id="{A560BA01-F890-5B41-BC3B-0BFDB8FE4EE3}"/>
              </a:ext>
            </a:extLst>
          </p:cNvPr>
          <p:cNvSpPr>
            <a:spLocks noGrp="1" noRot="1" noChangeAspect="1" noChangeArrowheads="1" noTextEdit="1"/>
          </p:cNvSpPr>
          <p:nvPr>
            <p:ph type="sldImg"/>
          </p:nvPr>
        </p:nvSpPr>
        <p:spPr>
          <a:xfrm>
            <a:off x="381000" y="685800"/>
            <a:ext cx="6096000" cy="3429000"/>
          </a:xfrm>
          <a:ln/>
        </p:spPr>
      </p:sp>
      <p:sp>
        <p:nvSpPr>
          <p:cNvPr id="30723" name="Rectangle 3">
            <a:extLst>
              <a:ext uri="{FF2B5EF4-FFF2-40B4-BE49-F238E27FC236}">
                <a16:creationId xmlns:a16="http://schemas.microsoft.com/office/drawing/2014/main" id="{E6E447F0-CDE8-8340-BDB0-82D92EEEF79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0E4B206B-4629-7940-AEDA-088CE17AFA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E4600EB2-3F10-7C49-B268-BFE0508D8167}" type="slidenum">
              <a:rPr lang="en-US" altLang="en-US" sz="1200" smtClean="0"/>
              <a:pPr/>
              <a:t>10</a:t>
            </a:fld>
            <a:endParaRPr lang="en-US" altLang="en-US" sz="1200"/>
          </a:p>
        </p:txBody>
      </p:sp>
      <p:sp>
        <p:nvSpPr>
          <p:cNvPr id="32770" name="Rectangle 2">
            <a:extLst>
              <a:ext uri="{FF2B5EF4-FFF2-40B4-BE49-F238E27FC236}">
                <a16:creationId xmlns:a16="http://schemas.microsoft.com/office/drawing/2014/main" id="{6DCD66F7-9241-6E42-88B5-349C60B8F686}"/>
              </a:ext>
            </a:extLst>
          </p:cNvPr>
          <p:cNvSpPr>
            <a:spLocks noGrp="1" noRot="1" noChangeAspect="1" noChangeArrowheads="1" noTextEdit="1"/>
          </p:cNvSpPr>
          <p:nvPr>
            <p:ph type="sldImg"/>
          </p:nvPr>
        </p:nvSpPr>
        <p:spPr>
          <a:xfrm>
            <a:off x="381000" y="685800"/>
            <a:ext cx="6096000" cy="3429000"/>
          </a:xfrm>
          <a:ln/>
        </p:spPr>
      </p:sp>
      <p:sp>
        <p:nvSpPr>
          <p:cNvPr id="32771" name="Rectangle 3">
            <a:extLst>
              <a:ext uri="{FF2B5EF4-FFF2-40B4-BE49-F238E27FC236}">
                <a16:creationId xmlns:a16="http://schemas.microsoft.com/office/drawing/2014/main" id="{E21ED039-0736-A045-ADC2-347AD1394F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680FEE61-3EA3-2C49-A617-EEDD5FCDD5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CDC6572F-9CD6-3F4D-B656-ED08FB64CAB1}" type="slidenum">
              <a:rPr lang="en-US" altLang="en-US" sz="1200" smtClean="0"/>
              <a:pPr/>
              <a:t>11</a:t>
            </a:fld>
            <a:endParaRPr lang="en-US" altLang="en-US" sz="1200"/>
          </a:p>
        </p:txBody>
      </p:sp>
      <p:sp>
        <p:nvSpPr>
          <p:cNvPr id="34818" name="Rectangle 2">
            <a:extLst>
              <a:ext uri="{FF2B5EF4-FFF2-40B4-BE49-F238E27FC236}">
                <a16:creationId xmlns:a16="http://schemas.microsoft.com/office/drawing/2014/main" id="{5C01FEA8-76FA-A847-9BDA-5AE6C50923E9}"/>
              </a:ext>
            </a:extLst>
          </p:cNvPr>
          <p:cNvSpPr>
            <a:spLocks noGrp="1" noRot="1" noChangeAspect="1" noChangeArrowheads="1" noTextEdit="1"/>
          </p:cNvSpPr>
          <p:nvPr>
            <p:ph type="sldImg"/>
          </p:nvPr>
        </p:nvSpPr>
        <p:spPr>
          <a:xfrm>
            <a:off x="381000" y="685800"/>
            <a:ext cx="6096000" cy="3429000"/>
          </a:xfrm>
          <a:ln/>
        </p:spPr>
      </p:sp>
      <p:sp>
        <p:nvSpPr>
          <p:cNvPr id="34819" name="Rectangle 3">
            <a:extLst>
              <a:ext uri="{FF2B5EF4-FFF2-40B4-BE49-F238E27FC236}">
                <a16:creationId xmlns:a16="http://schemas.microsoft.com/office/drawing/2014/main" id="{5B219D65-454F-3D4A-9A56-78C2BF1181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5CE4C6E6-56B4-0448-ADA6-FADE7997D9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A59C21F5-AC1F-6C44-8225-0BBB2A221D3F}" type="slidenum">
              <a:rPr lang="en-US" altLang="en-US" sz="1200" smtClean="0"/>
              <a:pPr/>
              <a:t>12</a:t>
            </a:fld>
            <a:endParaRPr lang="en-US" altLang="en-US" sz="1200"/>
          </a:p>
        </p:txBody>
      </p:sp>
      <p:sp>
        <p:nvSpPr>
          <p:cNvPr id="36866" name="Rectangle 2">
            <a:extLst>
              <a:ext uri="{FF2B5EF4-FFF2-40B4-BE49-F238E27FC236}">
                <a16:creationId xmlns:a16="http://schemas.microsoft.com/office/drawing/2014/main" id="{1E0FC249-816C-F043-9175-3880D51C82DB}"/>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36867" name="Rectangle 3">
            <a:extLst>
              <a:ext uri="{FF2B5EF4-FFF2-40B4-BE49-F238E27FC236}">
                <a16:creationId xmlns:a16="http://schemas.microsoft.com/office/drawing/2014/main" id="{4F645025-64D3-754B-93E9-D55DF99A47BB}"/>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54A89F74-16D8-5144-BCE6-872091AEF04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C617417-CD43-3D4A-8ADE-1DCA8D9ABAF3}" type="slidenum">
              <a:rPr lang="en-US" altLang="en-US" sz="1200" smtClean="0"/>
              <a:pPr/>
              <a:t>13</a:t>
            </a:fld>
            <a:endParaRPr lang="en-US" altLang="en-US" sz="1200"/>
          </a:p>
        </p:txBody>
      </p:sp>
      <p:sp>
        <p:nvSpPr>
          <p:cNvPr id="38914" name="Rectangle 2">
            <a:extLst>
              <a:ext uri="{FF2B5EF4-FFF2-40B4-BE49-F238E27FC236}">
                <a16:creationId xmlns:a16="http://schemas.microsoft.com/office/drawing/2014/main" id="{12EC4778-71CC-D147-8F88-FB66169D6DFE}"/>
              </a:ext>
            </a:extLst>
          </p:cNvPr>
          <p:cNvSpPr>
            <a:spLocks noGrp="1" noRot="1" noChangeAspect="1" noChangeArrowheads="1" noTextEdit="1"/>
          </p:cNvSpPr>
          <p:nvPr>
            <p:ph type="sldImg"/>
          </p:nvPr>
        </p:nvSpPr>
        <p:spPr>
          <a:xfrm>
            <a:off x="381000" y="685800"/>
            <a:ext cx="6096000" cy="3429000"/>
          </a:xfrm>
          <a:ln/>
        </p:spPr>
      </p:sp>
      <p:sp>
        <p:nvSpPr>
          <p:cNvPr id="38915" name="Rectangle 3">
            <a:extLst>
              <a:ext uri="{FF2B5EF4-FFF2-40B4-BE49-F238E27FC236}">
                <a16:creationId xmlns:a16="http://schemas.microsoft.com/office/drawing/2014/main" id="{547664E5-2A3C-E346-ACAB-020C19D760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F5A8C933-A186-BC43-8512-F36FEB8CFD3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CEDEAEA-D266-7840-8459-D90A0CDD0E1C}" type="slidenum">
              <a:rPr lang="en-US" altLang="en-US" sz="1200" smtClean="0"/>
              <a:pPr/>
              <a:t>14</a:t>
            </a:fld>
            <a:endParaRPr lang="en-US" altLang="en-US" sz="1200"/>
          </a:p>
        </p:txBody>
      </p:sp>
      <p:sp>
        <p:nvSpPr>
          <p:cNvPr id="40962" name="Rectangle 2">
            <a:extLst>
              <a:ext uri="{FF2B5EF4-FFF2-40B4-BE49-F238E27FC236}">
                <a16:creationId xmlns:a16="http://schemas.microsoft.com/office/drawing/2014/main" id="{5995B5E6-6177-5744-B156-E03ACF3A49CE}"/>
              </a:ext>
            </a:extLst>
          </p:cNvPr>
          <p:cNvSpPr>
            <a:spLocks noGrp="1" noRot="1" noChangeAspect="1" noChangeArrowheads="1" noTextEdit="1"/>
          </p:cNvSpPr>
          <p:nvPr>
            <p:ph type="sldImg"/>
          </p:nvPr>
        </p:nvSpPr>
        <p:spPr>
          <a:xfrm>
            <a:off x="381000" y="685800"/>
            <a:ext cx="6096000" cy="3429000"/>
          </a:xfrm>
          <a:ln/>
        </p:spPr>
      </p:sp>
      <p:sp>
        <p:nvSpPr>
          <p:cNvPr id="40963" name="Rectangle 3">
            <a:extLst>
              <a:ext uri="{FF2B5EF4-FFF2-40B4-BE49-F238E27FC236}">
                <a16:creationId xmlns:a16="http://schemas.microsoft.com/office/drawing/2014/main" id="{476EA1FD-8DBB-E04F-B72F-02AA31AD15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C9B67EAC-17D0-484D-BE1C-9942CF7CE9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E41E98D6-6CFA-334E-903B-675863571BCB}" type="slidenum">
              <a:rPr lang="en-US" altLang="en-US" sz="1200" smtClean="0"/>
              <a:pPr/>
              <a:t>15</a:t>
            </a:fld>
            <a:endParaRPr lang="en-US" altLang="en-US" sz="1200"/>
          </a:p>
        </p:txBody>
      </p:sp>
      <p:sp>
        <p:nvSpPr>
          <p:cNvPr id="43010" name="Rectangle 2">
            <a:extLst>
              <a:ext uri="{FF2B5EF4-FFF2-40B4-BE49-F238E27FC236}">
                <a16:creationId xmlns:a16="http://schemas.microsoft.com/office/drawing/2014/main" id="{14CE1EEF-CD36-544F-BFFE-F2C906813B33}"/>
              </a:ext>
            </a:extLst>
          </p:cNvPr>
          <p:cNvSpPr>
            <a:spLocks noGrp="1" noRot="1" noChangeAspect="1" noChangeArrowheads="1" noTextEdit="1"/>
          </p:cNvSpPr>
          <p:nvPr>
            <p:ph type="sldImg"/>
          </p:nvPr>
        </p:nvSpPr>
        <p:spPr>
          <a:xfrm>
            <a:off x="381000" y="685800"/>
            <a:ext cx="6096000" cy="3429000"/>
          </a:xfrm>
          <a:ln/>
        </p:spPr>
      </p:sp>
      <p:sp>
        <p:nvSpPr>
          <p:cNvPr id="43011" name="Rectangle 3">
            <a:extLst>
              <a:ext uri="{FF2B5EF4-FFF2-40B4-BE49-F238E27FC236}">
                <a16:creationId xmlns:a16="http://schemas.microsoft.com/office/drawing/2014/main" id="{18A232AC-38D2-034A-8B2E-C15FD1F0F70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580023FD-EEC4-6449-84F2-26EB6D36836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4AEF171-57C5-154E-A80D-79188824DFCE}" type="slidenum">
              <a:rPr lang="en-US" altLang="en-US" sz="1200" smtClean="0"/>
              <a:pPr/>
              <a:t>16</a:t>
            </a:fld>
            <a:endParaRPr lang="en-US" altLang="en-US" sz="1200"/>
          </a:p>
        </p:txBody>
      </p:sp>
      <p:sp>
        <p:nvSpPr>
          <p:cNvPr id="45058" name="Rectangle 2">
            <a:extLst>
              <a:ext uri="{FF2B5EF4-FFF2-40B4-BE49-F238E27FC236}">
                <a16:creationId xmlns:a16="http://schemas.microsoft.com/office/drawing/2014/main" id="{95B831F9-0F6A-F04B-B831-1B27C94F3054}"/>
              </a:ext>
            </a:extLst>
          </p:cNvPr>
          <p:cNvSpPr>
            <a:spLocks noGrp="1" noRot="1" noChangeAspect="1" noChangeArrowheads="1" noTextEdit="1"/>
          </p:cNvSpPr>
          <p:nvPr>
            <p:ph type="sldImg"/>
          </p:nvPr>
        </p:nvSpPr>
        <p:spPr>
          <a:xfrm>
            <a:off x="381000" y="685800"/>
            <a:ext cx="6096000" cy="3429000"/>
          </a:xfrm>
          <a:ln/>
        </p:spPr>
      </p:sp>
      <p:sp>
        <p:nvSpPr>
          <p:cNvPr id="45059" name="Rectangle 3">
            <a:extLst>
              <a:ext uri="{FF2B5EF4-FFF2-40B4-BE49-F238E27FC236}">
                <a16:creationId xmlns:a16="http://schemas.microsoft.com/office/drawing/2014/main" id="{67FA9997-5E0D-5741-9607-A297E4E3894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BC5BA006-616D-354F-AB12-042D5790D0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753E1EF3-3263-DC47-A67D-A736E7ACF3D3}" type="slidenum">
              <a:rPr lang="en-US" altLang="en-US" sz="1200" smtClean="0"/>
              <a:pPr/>
              <a:t>17</a:t>
            </a:fld>
            <a:endParaRPr lang="en-US" altLang="en-US" sz="1200"/>
          </a:p>
        </p:txBody>
      </p:sp>
      <p:sp>
        <p:nvSpPr>
          <p:cNvPr id="47106" name="Rectangle 2">
            <a:extLst>
              <a:ext uri="{FF2B5EF4-FFF2-40B4-BE49-F238E27FC236}">
                <a16:creationId xmlns:a16="http://schemas.microsoft.com/office/drawing/2014/main" id="{6D666652-57C7-5340-9D11-C8E1EC8DF43A}"/>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47107" name="Rectangle 3">
            <a:extLst>
              <a:ext uri="{FF2B5EF4-FFF2-40B4-BE49-F238E27FC236}">
                <a16:creationId xmlns:a16="http://schemas.microsoft.com/office/drawing/2014/main" id="{BBCA6982-6CD2-6944-92FD-A2DA5BB528D2}"/>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353927FD-A8F4-7645-8B49-8D28805845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A39F931C-6838-6641-B9BD-C24F7F44BFD4}" type="slidenum">
              <a:rPr lang="en-US" altLang="en-US" sz="1200" smtClean="0"/>
              <a:pPr/>
              <a:t>18</a:t>
            </a:fld>
            <a:endParaRPr lang="en-US" altLang="en-US" sz="1200"/>
          </a:p>
        </p:txBody>
      </p:sp>
      <p:sp>
        <p:nvSpPr>
          <p:cNvPr id="49154" name="Rectangle 2">
            <a:extLst>
              <a:ext uri="{FF2B5EF4-FFF2-40B4-BE49-F238E27FC236}">
                <a16:creationId xmlns:a16="http://schemas.microsoft.com/office/drawing/2014/main" id="{4034AA3B-CE9B-C34F-A971-15F87039F1D0}"/>
              </a:ext>
            </a:extLst>
          </p:cNvPr>
          <p:cNvSpPr>
            <a:spLocks noGrp="1" noRot="1" noChangeAspect="1" noChangeArrowheads="1" noTextEdit="1"/>
          </p:cNvSpPr>
          <p:nvPr>
            <p:ph type="sldImg"/>
          </p:nvPr>
        </p:nvSpPr>
        <p:spPr>
          <a:xfrm>
            <a:off x="381000" y="685800"/>
            <a:ext cx="6096000" cy="3429000"/>
          </a:xfrm>
          <a:ln/>
        </p:spPr>
      </p:sp>
      <p:sp>
        <p:nvSpPr>
          <p:cNvPr id="49155" name="Rectangle 3">
            <a:extLst>
              <a:ext uri="{FF2B5EF4-FFF2-40B4-BE49-F238E27FC236}">
                <a16:creationId xmlns:a16="http://schemas.microsoft.com/office/drawing/2014/main" id="{15F73C26-3C08-2F4C-808C-004118B593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id="{6A4F6725-D5C7-9F49-AE23-2A21FDE19E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C0C47261-F674-104D-805A-82E1427A4F72}" type="slidenum">
              <a:rPr lang="en-US" altLang="en-US" sz="1200" smtClean="0"/>
              <a:pPr/>
              <a:t>19</a:t>
            </a:fld>
            <a:endParaRPr lang="en-US" altLang="en-US" sz="1200"/>
          </a:p>
        </p:txBody>
      </p:sp>
      <p:sp>
        <p:nvSpPr>
          <p:cNvPr id="51202" name="Rectangle 2">
            <a:extLst>
              <a:ext uri="{FF2B5EF4-FFF2-40B4-BE49-F238E27FC236}">
                <a16:creationId xmlns:a16="http://schemas.microsoft.com/office/drawing/2014/main" id="{A72B6142-9053-1A45-80E5-DCF57A70AA35}"/>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51203" name="Rectangle 3">
            <a:extLst>
              <a:ext uri="{FF2B5EF4-FFF2-40B4-BE49-F238E27FC236}">
                <a16:creationId xmlns:a16="http://schemas.microsoft.com/office/drawing/2014/main" id="{C07DA4DF-6E07-1344-81C2-4DB9F55D155D}"/>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3BBF598C-EFE3-CE43-BA72-A3EC38888B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C90CBC27-A2E0-624F-9177-135995E547A6}" type="slidenum">
              <a:rPr lang="en-US" altLang="en-US" sz="1200" smtClean="0"/>
              <a:pPr/>
              <a:t>20</a:t>
            </a:fld>
            <a:endParaRPr lang="en-US" altLang="en-US" sz="1200"/>
          </a:p>
        </p:txBody>
      </p:sp>
      <p:sp>
        <p:nvSpPr>
          <p:cNvPr id="53250" name="Rectangle 2">
            <a:extLst>
              <a:ext uri="{FF2B5EF4-FFF2-40B4-BE49-F238E27FC236}">
                <a16:creationId xmlns:a16="http://schemas.microsoft.com/office/drawing/2014/main" id="{DAE20997-D217-984E-AC19-C5247688C062}"/>
              </a:ext>
            </a:extLst>
          </p:cNvPr>
          <p:cNvSpPr>
            <a:spLocks noGrp="1" noRot="1" noChangeAspect="1" noChangeArrowheads="1" noTextEdit="1"/>
          </p:cNvSpPr>
          <p:nvPr>
            <p:ph type="sldImg"/>
          </p:nvPr>
        </p:nvSpPr>
        <p:spPr>
          <a:xfrm>
            <a:off x="381000" y="685800"/>
            <a:ext cx="6096000" cy="3429000"/>
          </a:xfrm>
          <a:ln/>
        </p:spPr>
      </p:sp>
      <p:sp>
        <p:nvSpPr>
          <p:cNvPr id="53251" name="Rectangle 3">
            <a:extLst>
              <a:ext uri="{FF2B5EF4-FFF2-40B4-BE49-F238E27FC236}">
                <a16:creationId xmlns:a16="http://schemas.microsoft.com/office/drawing/2014/main" id="{6208C768-C685-F745-B371-0411BB13BD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91C21289-99D5-864C-9BA1-40D28DE3A22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7CC6A1A8-D8B5-224E-800E-7E3FA83B9D06}" type="slidenum">
              <a:rPr lang="en-US" altLang="en-US" sz="1200" smtClean="0"/>
              <a:pPr/>
              <a:t>21</a:t>
            </a:fld>
            <a:endParaRPr lang="en-US" altLang="en-US" sz="1200"/>
          </a:p>
        </p:txBody>
      </p:sp>
      <p:sp>
        <p:nvSpPr>
          <p:cNvPr id="55298" name="Rectangle 2">
            <a:extLst>
              <a:ext uri="{FF2B5EF4-FFF2-40B4-BE49-F238E27FC236}">
                <a16:creationId xmlns:a16="http://schemas.microsoft.com/office/drawing/2014/main" id="{3615589A-5D37-E34B-9571-A922BAE4F031}"/>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55299" name="Rectangle 3">
            <a:extLst>
              <a:ext uri="{FF2B5EF4-FFF2-40B4-BE49-F238E27FC236}">
                <a16:creationId xmlns:a16="http://schemas.microsoft.com/office/drawing/2014/main" id="{E91332A6-274D-8740-87CE-D1E83163FDD5}"/>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a:extLst>
              <a:ext uri="{FF2B5EF4-FFF2-40B4-BE49-F238E27FC236}">
                <a16:creationId xmlns:a16="http://schemas.microsoft.com/office/drawing/2014/main" id="{855B6762-CFC3-9F42-8537-BCBAF93B1D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253050FE-8CA7-AE4B-A70F-D58A37BABE11}" type="slidenum">
              <a:rPr lang="en-US" altLang="en-US" sz="1200" smtClean="0"/>
              <a:pPr/>
              <a:t>22</a:t>
            </a:fld>
            <a:endParaRPr lang="en-US" altLang="en-US" sz="1200"/>
          </a:p>
        </p:txBody>
      </p:sp>
      <p:sp>
        <p:nvSpPr>
          <p:cNvPr id="57346" name="Rectangle 2">
            <a:extLst>
              <a:ext uri="{FF2B5EF4-FFF2-40B4-BE49-F238E27FC236}">
                <a16:creationId xmlns:a16="http://schemas.microsoft.com/office/drawing/2014/main" id="{2AA16590-9606-CF49-B7BA-117676016D43}"/>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57347" name="Rectangle 3">
            <a:extLst>
              <a:ext uri="{FF2B5EF4-FFF2-40B4-BE49-F238E27FC236}">
                <a16:creationId xmlns:a16="http://schemas.microsoft.com/office/drawing/2014/main" id="{D6F7C511-80BA-BE4C-B8B0-CEF0E95B4B13}"/>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a:latin typeface="Times" pitchFamily="2" charset="0"/>
                <a:ea typeface="ＭＳ Ｐゴシック" panose="020B0600070205080204" pitchFamily="34" charset="-128"/>
              </a:rPr>
              <a:t>Important to emphasize that the receptive field is on the retina.  Students tend to forget this as you work your way through the explanation of more specifically tuned neurons further into the system.</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a:extLst>
              <a:ext uri="{FF2B5EF4-FFF2-40B4-BE49-F238E27FC236}">
                <a16:creationId xmlns:a16="http://schemas.microsoft.com/office/drawing/2014/main" id="{63CEBBEC-F901-8B45-8AE6-4E0E7598241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3A98F82-EC9A-644A-B244-1CCB3A789304}" type="slidenum">
              <a:rPr lang="en-US" altLang="en-US" sz="1200" smtClean="0"/>
              <a:pPr/>
              <a:t>23</a:t>
            </a:fld>
            <a:endParaRPr lang="en-US" altLang="en-US" sz="1200"/>
          </a:p>
        </p:txBody>
      </p:sp>
      <p:sp>
        <p:nvSpPr>
          <p:cNvPr id="59394" name="Rectangle 2">
            <a:extLst>
              <a:ext uri="{FF2B5EF4-FFF2-40B4-BE49-F238E27FC236}">
                <a16:creationId xmlns:a16="http://schemas.microsoft.com/office/drawing/2014/main" id="{5A6EE83F-2666-AE45-9680-463949BC37FD}"/>
              </a:ext>
            </a:extLst>
          </p:cNvPr>
          <p:cNvSpPr>
            <a:spLocks noGrp="1" noRot="1" noChangeAspect="1" noChangeArrowheads="1" noTextEdit="1"/>
          </p:cNvSpPr>
          <p:nvPr>
            <p:ph type="sldImg"/>
          </p:nvPr>
        </p:nvSpPr>
        <p:spPr>
          <a:xfrm>
            <a:off x="381000" y="685800"/>
            <a:ext cx="6096000" cy="3429000"/>
          </a:xfrm>
          <a:ln/>
        </p:spPr>
      </p:sp>
      <p:sp>
        <p:nvSpPr>
          <p:cNvPr id="59395" name="Rectangle 3">
            <a:extLst>
              <a:ext uri="{FF2B5EF4-FFF2-40B4-BE49-F238E27FC236}">
                <a16:creationId xmlns:a16="http://schemas.microsoft.com/office/drawing/2014/main" id="{AFE381F7-7A23-914C-9D8D-EB61D8AD84F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a:extLst>
              <a:ext uri="{FF2B5EF4-FFF2-40B4-BE49-F238E27FC236}">
                <a16:creationId xmlns:a16="http://schemas.microsoft.com/office/drawing/2014/main" id="{C9ACFEA2-5C9E-CD40-B6DB-128D57BD45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533B43F3-259C-434E-A071-E40D362BAA33}" type="slidenum">
              <a:rPr lang="en-US" altLang="en-US" sz="1200" smtClean="0"/>
              <a:pPr/>
              <a:t>24</a:t>
            </a:fld>
            <a:endParaRPr lang="en-US" altLang="en-US" sz="1200"/>
          </a:p>
        </p:txBody>
      </p:sp>
      <p:sp>
        <p:nvSpPr>
          <p:cNvPr id="61442" name="Rectangle 2">
            <a:extLst>
              <a:ext uri="{FF2B5EF4-FFF2-40B4-BE49-F238E27FC236}">
                <a16:creationId xmlns:a16="http://schemas.microsoft.com/office/drawing/2014/main" id="{94AE4C3E-9FC3-6C41-BBA6-206708FD7E9F}"/>
              </a:ext>
            </a:extLst>
          </p:cNvPr>
          <p:cNvSpPr>
            <a:spLocks noGrp="1" noRot="1" noChangeAspect="1" noChangeArrowheads="1" noTextEdit="1"/>
          </p:cNvSpPr>
          <p:nvPr>
            <p:ph type="sldImg"/>
          </p:nvPr>
        </p:nvSpPr>
        <p:spPr>
          <a:xfrm>
            <a:off x="381000" y="685800"/>
            <a:ext cx="6096000" cy="3429000"/>
          </a:xfrm>
          <a:ln/>
        </p:spPr>
      </p:sp>
      <p:sp>
        <p:nvSpPr>
          <p:cNvPr id="61443" name="Rectangle 3">
            <a:extLst>
              <a:ext uri="{FF2B5EF4-FFF2-40B4-BE49-F238E27FC236}">
                <a16:creationId xmlns:a16="http://schemas.microsoft.com/office/drawing/2014/main" id="{90B90274-6809-6F42-B8C0-E905A66C224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a:extLst>
              <a:ext uri="{FF2B5EF4-FFF2-40B4-BE49-F238E27FC236}">
                <a16:creationId xmlns:a16="http://schemas.microsoft.com/office/drawing/2014/main" id="{6A90AFE9-E38F-E94B-A4E5-421B68FD31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7DACD68-58F9-5045-84AA-F03D4C9421BB}" type="slidenum">
              <a:rPr lang="en-US" altLang="en-US" sz="1200" smtClean="0"/>
              <a:pPr/>
              <a:t>25</a:t>
            </a:fld>
            <a:endParaRPr lang="en-US" altLang="en-US" sz="1200"/>
          </a:p>
        </p:txBody>
      </p:sp>
      <p:sp>
        <p:nvSpPr>
          <p:cNvPr id="63490" name="Rectangle 2">
            <a:extLst>
              <a:ext uri="{FF2B5EF4-FFF2-40B4-BE49-F238E27FC236}">
                <a16:creationId xmlns:a16="http://schemas.microsoft.com/office/drawing/2014/main" id="{2A9924F6-22BF-3443-A9E3-88296A7AD0F0}"/>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63491" name="Rectangle 3">
            <a:extLst>
              <a:ext uri="{FF2B5EF4-FFF2-40B4-BE49-F238E27FC236}">
                <a16:creationId xmlns:a16="http://schemas.microsoft.com/office/drawing/2014/main" id="{C4DC1D3A-E739-3C49-979D-C97D09EB465B}"/>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55B23B04-DC00-8B4A-980E-8FF422F0C13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D7EAFE8A-11C4-564E-94A5-5141107C5F1E}" type="slidenum">
              <a:rPr lang="en-US" altLang="en-US" sz="1200" smtClean="0"/>
              <a:pPr/>
              <a:t>26</a:t>
            </a:fld>
            <a:endParaRPr lang="en-US" altLang="en-US" sz="1200"/>
          </a:p>
        </p:txBody>
      </p:sp>
      <p:sp>
        <p:nvSpPr>
          <p:cNvPr id="65538" name="Rectangle 2">
            <a:extLst>
              <a:ext uri="{FF2B5EF4-FFF2-40B4-BE49-F238E27FC236}">
                <a16:creationId xmlns:a16="http://schemas.microsoft.com/office/drawing/2014/main" id="{1DAF2432-E704-C341-A8B1-A3A9209D20A0}"/>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65539" name="Rectangle 3">
            <a:extLst>
              <a:ext uri="{FF2B5EF4-FFF2-40B4-BE49-F238E27FC236}">
                <a16:creationId xmlns:a16="http://schemas.microsoft.com/office/drawing/2014/main" id="{D4DA86AD-77CA-3843-82D6-388D5D51E711}"/>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a:extLst>
              <a:ext uri="{FF2B5EF4-FFF2-40B4-BE49-F238E27FC236}">
                <a16:creationId xmlns:a16="http://schemas.microsoft.com/office/drawing/2014/main" id="{A92BE941-87AF-CA4F-97E0-45429FE879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E97CFD5-89F9-F34C-B2E3-5C18D4E96528}" type="slidenum">
              <a:rPr lang="en-US" altLang="en-US" sz="1200" smtClean="0"/>
              <a:pPr/>
              <a:t>27</a:t>
            </a:fld>
            <a:endParaRPr lang="en-US" altLang="en-US" sz="1200"/>
          </a:p>
        </p:txBody>
      </p:sp>
      <p:sp>
        <p:nvSpPr>
          <p:cNvPr id="67586" name="Rectangle 2">
            <a:extLst>
              <a:ext uri="{FF2B5EF4-FFF2-40B4-BE49-F238E27FC236}">
                <a16:creationId xmlns:a16="http://schemas.microsoft.com/office/drawing/2014/main" id="{54F3312B-0130-B640-A470-D61632AD39E9}"/>
              </a:ext>
            </a:extLst>
          </p:cNvPr>
          <p:cNvSpPr>
            <a:spLocks noGrp="1" noRot="1" noChangeAspect="1" noChangeArrowheads="1" noTextEdit="1"/>
          </p:cNvSpPr>
          <p:nvPr>
            <p:ph type="sldImg"/>
          </p:nvPr>
        </p:nvSpPr>
        <p:spPr>
          <a:xfrm>
            <a:off x="381000" y="685800"/>
            <a:ext cx="6096000" cy="3429000"/>
          </a:xfrm>
          <a:ln/>
        </p:spPr>
      </p:sp>
      <p:sp>
        <p:nvSpPr>
          <p:cNvPr id="67587" name="Rectangle 3">
            <a:extLst>
              <a:ext uri="{FF2B5EF4-FFF2-40B4-BE49-F238E27FC236}">
                <a16:creationId xmlns:a16="http://schemas.microsoft.com/office/drawing/2014/main" id="{A8C9C5BB-09C1-B544-8903-E1487D14A2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a:extLst>
              <a:ext uri="{FF2B5EF4-FFF2-40B4-BE49-F238E27FC236}">
                <a16:creationId xmlns:a16="http://schemas.microsoft.com/office/drawing/2014/main" id="{03FC13F9-EAA9-1345-BEFC-77268DFD6B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2081C2A7-EF6D-9241-8164-0D99AFCAB934}" type="slidenum">
              <a:rPr lang="en-US" altLang="en-US" sz="1200" smtClean="0"/>
              <a:pPr/>
              <a:t>28</a:t>
            </a:fld>
            <a:endParaRPr lang="en-US" altLang="en-US" sz="1200"/>
          </a:p>
        </p:txBody>
      </p:sp>
      <p:sp>
        <p:nvSpPr>
          <p:cNvPr id="69634" name="Rectangle 2">
            <a:extLst>
              <a:ext uri="{FF2B5EF4-FFF2-40B4-BE49-F238E27FC236}">
                <a16:creationId xmlns:a16="http://schemas.microsoft.com/office/drawing/2014/main" id="{41AC8CE9-6CEC-8845-8C73-6799B8ED8E36}"/>
              </a:ext>
            </a:extLst>
          </p:cNvPr>
          <p:cNvSpPr>
            <a:spLocks noGrp="1" noRot="1" noChangeAspect="1" noChangeArrowheads="1" noTextEdit="1"/>
          </p:cNvSpPr>
          <p:nvPr>
            <p:ph type="sldImg"/>
          </p:nvPr>
        </p:nvSpPr>
        <p:spPr>
          <a:xfrm>
            <a:off x="381000" y="685800"/>
            <a:ext cx="6096000" cy="3429000"/>
          </a:xfrm>
          <a:ln/>
        </p:spPr>
      </p:sp>
      <p:sp>
        <p:nvSpPr>
          <p:cNvPr id="69635" name="Rectangle 3">
            <a:extLst>
              <a:ext uri="{FF2B5EF4-FFF2-40B4-BE49-F238E27FC236}">
                <a16:creationId xmlns:a16="http://schemas.microsoft.com/office/drawing/2014/main" id="{737ABBE3-6A34-5641-97C7-88174E6EE0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a:extLst>
              <a:ext uri="{FF2B5EF4-FFF2-40B4-BE49-F238E27FC236}">
                <a16:creationId xmlns:a16="http://schemas.microsoft.com/office/drawing/2014/main" id="{4A5D49CE-A171-6946-B365-DDADB6907A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9CFDE03A-E109-9B4A-9BA0-4428192B3339}" type="slidenum">
              <a:rPr lang="en-US" altLang="en-US" sz="1200" smtClean="0"/>
              <a:pPr/>
              <a:t>29</a:t>
            </a:fld>
            <a:endParaRPr lang="en-US" altLang="en-US" sz="1200"/>
          </a:p>
        </p:txBody>
      </p:sp>
      <p:sp>
        <p:nvSpPr>
          <p:cNvPr id="71682" name="Rectangle 2">
            <a:extLst>
              <a:ext uri="{FF2B5EF4-FFF2-40B4-BE49-F238E27FC236}">
                <a16:creationId xmlns:a16="http://schemas.microsoft.com/office/drawing/2014/main" id="{AAC72180-D57D-FC43-B13D-84E93E77BCA3}"/>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71683" name="Rectangle 3">
            <a:extLst>
              <a:ext uri="{FF2B5EF4-FFF2-40B4-BE49-F238E27FC236}">
                <a16:creationId xmlns:a16="http://schemas.microsoft.com/office/drawing/2014/main" id="{232F6B42-0A32-EA46-88F2-83867B602A7B}"/>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8">
            <a:extLst>
              <a:ext uri="{FF2B5EF4-FFF2-40B4-BE49-F238E27FC236}">
                <a16:creationId xmlns:a16="http://schemas.microsoft.com/office/drawing/2014/main" id="{2BF0DFA3-6678-FE4F-9B23-A65370E613A3}"/>
              </a:ext>
            </a:extLst>
          </p:cNvPr>
          <p:cNvGrpSpPr>
            <a:grpSpLocks/>
          </p:cNvGrpSpPr>
          <p:nvPr/>
        </p:nvGrpSpPr>
        <p:grpSpPr bwMode="auto">
          <a:xfrm flipH="1">
            <a:off x="1447800" y="1714500"/>
            <a:ext cx="7010400" cy="57150"/>
            <a:chOff x="0" y="905"/>
            <a:chExt cx="5282" cy="103"/>
          </a:xfrm>
        </p:grpSpPr>
        <p:grpSp>
          <p:nvGrpSpPr>
            <p:cNvPr id="5" name="Group 9">
              <a:extLst>
                <a:ext uri="{FF2B5EF4-FFF2-40B4-BE49-F238E27FC236}">
                  <a16:creationId xmlns:a16="http://schemas.microsoft.com/office/drawing/2014/main" id="{4EECC484-F07B-D844-B96E-20DE1C623310}"/>
                </a:ext>
              </a:extLst>
            </p:cNvPr>
            <p:cNvGrpSpPr>
              <a:grpSpLocks/>
            </p:cNvGrpSpPr>
            <p:nvPr/>
          </p:nvGrpSpPr>
          <p:grpSpPr bwMode="auto">
            <a:xfrm>
              <a:off x="5158" y="905"/>
              <a:ext cx="124" cy="103"/>
              <a:chOff x="5158" y="905"/>
              <a:chExt cx="124" cy="103"/>
            </a:xfrm>
          </p:grpSpPr>
          <p:sp>
            <p:nvSpPr>
              <p:cNvPr id="20" name="Rectangle 10">
                <a:extLst>
                  <a:ext uri="{FF2B5EF4-FFF2-40B4-BE49-F238E27FC236}">
                    <a16:creationId xmlns:a16="http://schemas.microsoft.com/office/drawing/2014/main" id="{91626018-4216-C44E-935D-29470EB3D851}"/>
                  </a:ext>
                </a:extLst>
              </p:cNvPr>
              <p:cNvSpPr>
                <a:spLocks noChangeArrowheads="1"/>
              </p:cNvSpPr>
              <p:nvPr/>
            </p:nvSpPr>
            <p:spPr bwMode="auto">
              <a:xfrm>
                <a:off x="5252" y="905"/>
                <a:ext cx="3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21" name="Rectangle 11">
                <a:extLst>
                  <a:ext uri="{FF2B5EF4-FFF2-40B4-BE49-F238E27FC236}">
                    <a16:creationId xmlns:a16="http://schemas.microsoft.com/office/drawing/2014/main" id="{2DD35798-8B32-104F-9D81-EB25BE868D6D}"/>
                  </a:ext>
                </a:extLst>
              </p:cNvPr>
              <p:cNvSpPr>
                <a:spLocks noChangeArrowheads="1"/>
              </p:cNvSpPr>
              <p:nvPr/>
            </p:nvSpPr>
            <p:spPr bwMode="auto">
              <a:xfrm>
                <a:off x="5158" y="905"/>
                <a:ext cx="6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6" name="Group 12">
              <a:extLst>
                <a:ext uri="{FF2B5EF4-FFF2-40B4-BE49-F238E27FC236}">
                  <a16:creationId xmlns:a16="http://schemas.microsoft.com/office/drawing/2014/main" id="{410B0E2B-ED30-F148-9DF9-F82C0399D91F}"/>
                </a:ext>
              </a:extLst>
            </p:cNvPr>
            <p:cNvGrpSpPr>
              <a:grpSpLocks/>
            </p:cNvGrpSpPr>
            <p:nvPr/>
          </p:nvGrpSpPr>
          <p:grpSpPr bwMode="auto">
            <a:xfrm>
              <a:off x="4848" y="905"/>
              <a:ext cx="263" cy="103"/>
              <a:chOff x="4848" y="905"/>
              <a:chExt cx="263" cy="103"/>
            </a:xfrm>
          </p:grpSpPr>
          <p:sp>
            <p:nvSpPr>
              <p:cNvPr id="18" name="Rectangle 13">
                <a:extLst>
                  <a:ext uri="{FF2B5EF4-FFF2-40B4-BE49-F238E27FC236}">
                    <a16:creationId xmlns:a16="http://schemas.microsoft.com/office/drawing/2014/main" id="{0064018A-4062-D541-9C90-9063B79D7378}"/>
                  </a:ext>
                </a:extLst>
              </p:cNvPr>
              <p:cNvSpPr>
                <a:spLocks noChangeArrowheads="1"/>
              </p:cNvSpPr>
              <p:nvPr/>
            </p:nvSpPr>
            <p:spPr bwMode="auto">
              <a:xfrm>
                <a:off x="5018" y="905"/>
                <a:ext cx="93"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9" name="Rectangle 14">
                <a:extLst>
                  <a:ext uri="{FF2B5EF4-FFF2-40B4-BE49-F238E27FC236}">
                    <a16:creationId xmlns:a16="http://schemas.microsoft.com/office/drawing/2014/main" id="{7F9D76DE-956F-734E-B3D8-2AC8390BC9AB}"/>
                  </a:ext>
                </a:extLst>
              </p:cNvPr>
              <p:cNvSpPr>
                <a:spLocks noChangeArrowheads="1"/>
              </p:cNvSpPr>
              <p:nvPr/>
            </p:nvSpPr>
            <p:spPr bwMode="auto">
              <a:xfrm>
                <a:off x="4848" y="905"/>
                <a:ext cx="12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7" name="Group 15">
              <a:extLst>
                <a:ext uri="{FF2B5EF4-FFF2-40B4-BE49-F238E27FC236}">
                  <a16:creationId xmlns:a16="http://schemas.microsoft.com/office/drawing/2014/main" id="{E63D0747-76BA-AD4F-B0D3-B9977085A9A8}"/>
                </a:ext>
              </a:extLst>
            </p:cNvPr>
            <p:cNvGrpSpPr>
              <a:grpSpLocks/>
            </p:cNvGrpSpPr>
            <p:nvPr/>
          </p:nvGrpSpPr>
          <p:grpSpPr bwMode="auto">
            <a:xfrm>
              <a:off x="4418" y="905"/>
              <a:ext cx="386" cy="103"/>
              <a:chOff x="4418" y="905"/>
              <a:chExt cx="386" cy="103"/>
            </a:xfrm>
          </p:grpSpPr>
          <p:sp>
            <p:nvSpPr>
              <p:cNvPr id="16" name="Rectangle 16">
                <a:extLst>
                  <a:ext uri="{FF2B5EF4-FFF2-40B4-BE49-F238E27FC236}">
                    <a16:creationId xmlns:a16="http://schemas.microsoft.com/office/drawing/2014/main" id="{A7BEA727-32DF-5D41-BD04-18AC55BBC120}"/>
                  </a:ext>
                </a:extLst>
              </p:cNvPr>
              <p:cNvSpPr>
                <a:spLocks noChangeArrowheads="1"/>
              </p:cNvSpPr>
              <p:nvPr/>
            </p:nvSpPr>
            <p:spPr bwMode="auto">
              <a:xfrm>
                <a:off x="4650" y="905"/>
                <a:ext cx="152"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7" name="Rectangle 17">
                <a:extLst>
                  <a:ext uri="{FF2B5EF4-FFF2-40B4-BE49-F238E27FC236}">
                    <a16:creationId xmlns:a16="http://schemas.microsoft.com/office/drawing/2014/main" id="{CD0D6B13-774D-6844-B9F6-B98E2595A059}"/>
                  </a:ext>
                </a:extLst>
              </p:cNvPr>
              <p:cNvSpPr>
                <a:spLocks noChangeArrowheads="1"/>
              </p:cNvSpPr>
              <p:nvPr/>
            </p:nvSpPr>
            <p:spPr bwMode="auto">
              <a:xfrm>
                <a:off x="4418" y="905"/>
                <a:ext cx="189"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8" name="Group 18">
              <a:extLst>
                <a:ext uri="{FF2B5EF4-FFF2-40B4-BE49-F238E27FC236}">
                  <a16:creationId xmlns:a16="http://schemas.microsoft.com/office/drawing/2014/main" id="{C59C22A7-8E31-2340-BC3C-DF1F2C5C8B20}"/>
                </a:ext>
              </a:extLst>
            </p:cNvPr>
            <p:cNvGrpSpPr>
              <a:grpSpLocks/>
            </p:cNvGrpSpPr>
            <p:nvPr/>
          </p:nvGrpSpPr>
          <p:grpSpPr bwMode="auto">
            <a:xfrm>
              <a:off x="3183" y="905"/>
              <a:ext cx="1191" cy="103"/>
              <a:chOff x="3183" y="905"/>
              <a:chExt cx="1191" cy="103"/>
            </a:xfrm>
          </p:grpSpPr>
          <p:sp>
            <p:nvSpPr>
              <p:cNvPr id="12" name="Rectangle 19">
                <a:extLst>
                  <a:ext uri="{FF2B5EF4-FFF2-40B4-BE49-F238E27FC236}">
                    <a16:creationId xmlns:a16="http://schemas.microsoft.com/office/drawing/2014/main" id="{F4A82BE1-108E-A340-B04E-65120D3FB645}"/>
                  </a:ext>
                </a:extLst>
              </p:cNvPr>
              <p:cNvSpPr>
                <a:spLocks noChangeArrowheads="1"/>
              </p:cNvSpPr>
              <p:nvPr/>
            </p:nvSpPr>
            <p:spPr bwMode="auto">
              <a:xfrm>
                <a:off x="3558"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3" name="Rectangle 20">
                <a:extLst>
                  <a:ext uri="{FF2B5EF4-FFF2-40B4-BE49-F238E27FC236}">
                    <a16:creationId xmlns:a16="http://schemas.microsoft.com/office/drawing/2014/main" id="{4E496FE5-9BA5-D240-A35F-6A71D6F3E093}"/>
                  </a:ext>
                </a:extLst>
              </p:cNvPr>
              <p:cNvSpPr>
                <a:spLocks noChangeArrowheads="1"/>
              </p:cNvSpPr>
              <p:nvPr/>
            </p:nvSpPr>
            <p:spPr bwMode="auto">
              <a:xfrm>
                <a:off x="4156" y="905"/>
                <a:ext cx="218"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4" name="Rectangle 21">
                <a:extLst>
                  <a:ext uri="{FF2B5EF4-FFF2-40B4-BE49-F238E27FC236}">
                    <a16:creationId xmlns:a16="http://schemas.microsoft.com/office/drawing/2014/main" id="{51E1E95F-AC64-5C49-A40D-9888C30135A7}"/>
                  </a:ext>
                </a:extLst>
              </p:cNvPr>
              <p:cNvSpPr>
                <a:spLocks noChangeArrowheads="1"/>
              </p:cNvSpPr>
              <p:nvPr/>
            </p:nvSpPr>
            <p:spPr bwMode="auto">
              <a:xfrm>
                <a:off x="3865"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5" name="Rectangle 22">
                <a:extLst>
                  <a:ext uri="{FF2B5EF4-FFF2-40B4-BE49-F238E27FC236}">
                    <a16:creationId xmlns:a16="http://schemas.microsoft.com/office/drawing/2014/main" id="{DD5CE1D7-1411-5A48-8C1B-A21B1E12BED5}"/>
                  </a:ext>
                </a:extLst>
              </p:cNvPr>
              <p:cNvSpPr>
                <a:spLocks noChangeArrowheads="1"/>
              </p:cNvSpPr>
              <p:nvPr/>
            </p:nvSpPr>
            <p:spPr bwMode="auto">
              <a:xfrm>
                <a:off x="3183" y="905"/>
                <a:ext cx="315"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9" name="Group 23">
              <a:extLst>
                <a:ext uri="{FF2B5EF4-FFF2-40B4-BE49-F238E27FC236}">
                  <a16:creationId xmlns:a16="http://schemas.microsoft.com/office/drawing/2014/main" id="{44BF9323-685D-6D48-86F4-EADFA65249FB}"/>
                </a:ext>
              </a:extLst>
            </p:cNvPr>
            <p:cNvGrpSpPr>
              <a:grpSpLocks/>
            </p:cNvGrpSpPr>
            <p:nvPr/>
          </p:nvGrpSpPr>
          <p:grpSpPr bwMode="auto">
            <a:xfrm>
              <a:off x="0" y="905"/>
              <a:ext cx="3143" cy="103"/>
              <a:chOff x="0" y="905"/>
              <a:chExt cx="3143" cy="103"/>
            </a:xfrm>
          </p:grpSpPr>
          <p:sp>
            <p:nvSpPr>
              <p:cNvPr id="10" name="Rectangle 24">
                <a:extLst>
                  <a:ext uri="{FF2B5EF4-FFF2-40B4-BE49-F238E27FC236}">
                    <a16:creationId xmlns:a16="http://schemas.microsoft.com/office/drawing/2014/main" id="{73CE666A-E2B7-0346-ACEF-77FDCF4292F6}"/>
                  </a:ext>
                </a:extLst>
              </p:cNvPr>
              <p:cNvSpPr>
                <a:spLocks noChangeArrowheads="1"/>
              </p:cNvSpPr>
              <p:nvPr/>
            </p:nvSpPr>
            <p:spPr bwMode="auto">
              <a:xfrm>
                <a:off x="2799" y="905"/>
                <a:ext cx="344"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1" name="Rectangle 25">
                <a:extLst>
                  <a:ext uri="{FF2B5EF4-FFF2-40B4-BE49-F238E27FC236}">
                    <a16:creationId xmlns:a16="http://schemas.microsoft.com/office/drawing/2014/main" id="{2D786B34-D524-7040-924C-E406A7911E51}"/>
                  </a:ext>
                </a:extLst>
              </p:cNvPr>
              <p:cNvSpPr>
                <a:spLocks noChangeArrowheads="1"/>
              </p:cNvSpPr>
              <p:nvPr/>
            </p:nvSpPr>
            <p:spPr bwMode="auto">
              <a:xfrm>
                <a:off x="0" y="905"/>
                <a:ext cx="275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pic>
        <p:nvPicPr>
          <p:cNvPr id="22" name="Picture 26">
            <a:extLst>
              <a:ext uri="{FF2B5EF4-FFF2-40B4-BE49-F238E27FC236}">
                <a16:creationId xmlns:a16="http://schemas.microsoft.com/office/drawing/2014/main" id="{F2741114-EEEA-164F-95B1-06D66670F53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10829" t="11624" r="16043" b="11624"/>
          <a:stretch>
            <a:fillRect/>
          </a:stretch>
        </p:blipFill>
        <p:spPr bwMode="auto">
          <a:xfrm>
            <a:off x="0" y="971550"/>
            <a:ext cx="1963738" cy="1600200"/>
          </a:xfrm>
          <a:prstGeom prst="rect">
            <a:avLst/>
          </a:prstGeom>
          <a:noFill/>
          <a:ln>
            <a:noFill/>
          </a:ln>
          <a:extLst>
            <a:ext uri="{909E8E84-426E-40DD-AFC4-6F175D3DCCD1}">
              <a14:hiddenFill xmlns:a14="http://schemas.microsoft.com/office/drawing/2010/main">
                <a:solidFill>
                  <a:srgbClr val="FFFFFF">
                    <a:alpha val="9019"/>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9" name="Rectangle 3"/>
          <p:cNvSpPr>
            <a:spLocks noGrp="1" noChangeArrowheads="1"/>
          </p:cNvSpPr>
          <p:nvPr>
            <p:ph type="ctrTitle"/>
          </p:nvPr>
        </p:nvSpPr>
        <p:spPr>
          <a:xfrm>
            <a:off x="1905000" y="914400"/>
            <a:ext cx="6578600" cy="685800"/>
          </a:xfrm>
        </p:spPr>
        <p:txBody>
          <a:bodyPr/>
          <a:lstStyle>
            <a:lvl1pPr>
              <a:defRPr/>
            </a:lvl1pPr>
          </a:lstStyle>
          <a:p>
            <a:r>
              <a:rPr lang="en-US"/>
              <a:t>Click to edit Master title style</a:t>
            </a:r>
          </a:p>
        </p:txBody>
      </p:sp>
      <p:sp>
        <p:nvSpPr>
          <p:cNvPr id="4100" name="Rectangle 4"/>
          <p:cNvSpPr>
            <a:spLocks noGrp="1" noChangeArrowheads="1"/>
          </p:cNvSpPr>
          <p:nvPr>
            <p:ph type="subTitle" idx="1"/>
          </p:nvPr>
        </p:nvSpPr>
        <p:spPr>
          <a:xfrm>
            <a:off x="1981200" y="2914650"/>
            <a:ext cx="5638800" cy="1328738"/>
          </a:xfrm>
        </p:spPr>
        <p:txBody>
          <a:bodyPr/>
          <a:lstStyle>
            <a:lvl1pPr marL="0" indent="0">
              <a:buFont typeface="Wingdings" pitchFamily="-110" charset="2"/>
              <a:buNone/>
              <a:defRPr>
                <a:solidFill>
                  <a:srgbClr val="666666"/>
                </a:solidFill>
              </a:defRPr>
            </a:lvl1pPr>
          </a:lstStyle>
          <a:p>
            <a:r>
              <a:rPr lang="en-US"/>
              <a:t>Click to edit Master subtitle style</a:t>
            </a:r>
          </a:p>
        </p:txBody>
      </p:sp>
      <p:sp>
        <p:nvSpPr>
          <p:cNvPr id="23" name="Rectangle 5">
            <a:extLst>
              <a:ext uri="{FF2B5EF4-FFF2-40B4-BE49-F238E27FC236}">
                <a16:creationId xmlns:a16="http://schemas.microsoft.com/office/drawing/2014/main" id="{55CCE881-A8D4-2040-A268-84EF420CCD66}"/>
              </a:ext>
            </a:extLst>
          </p:cNvPr>
          <p:cNvSpPr>
            <a:spLocks noGrp="1" noChangeArrowheads="1"/>
          </p:cNvSpPr>
          <p:nvPr>
            <p:ph type="dt" sz="half" idx="10"/>
          </p:nvPr>
        </p:nvSpPr>
        <p:spPr>
          <a:xfrm>
            <a:off x="711200" y="4672012"/>
            <a:ext cx="1930400" cy="385763"/>
          </a:xfrm>
        </p:spPr>
        <p:txBody>
          <a:bodyPr/>
          <a:lstStyle>
            <a:lvl1pPr>
              <a:defRPr sz="1050">
                <a:solidFill>
                  <a:srgbClr val="5E574E"/>
                </a:solidFill>
                <a:latin typeface="Comic Sans MS" pitchFamily="-110" charset="0"/>
                <a:ea typeface="+mn-ea"/>
              </a:defRPr>
            </a:lvl1pPr>
          </a:lstStyle>
          <a:p>
            <a:pPr>
              <a:defRPr/>
            </a:pPr>
            <a:fld id="{A73CB773-CEC5-D440-8B91-1E178CEBBA26}" type="datetime4">
              <a:rPr lang="en-US"/>
              <a:pPr>
                <a:defRPr/>
              </a:pPr>
              <a:t>January 24, 2021</a:t>
            </a:fld>
            <a:endParaRPr lang="en-US"/>
          </a:p>
        </p:txBody>
      </p:sp>
      <p:sp>
        <p:nvSpPr>
          <p:cNvPr id="24" name="Rectangle 6">
            <a:extLst>
              <a:ext uri="{FF2B5EF4-FFF2-40B4-BE49-F238E27FC236}">
                <a16:creationId xmlns:a16="http://schemas.microsoft.com/office/drawing/2014/main" id="{117EEFB0-05C2-274F-BBA9-E6882B11D70E}"/>
              </a:ext>
            </a:extLst>
          </p:cNvPr>
          <p:cNvSpPr>
            <a:spLocks noGrp="1" noChangeArrowheads="1"/>
          </p:cNvSpPr>
          <p:nvPr>
            <p:ph type="ftr" sz="quarter" idx="11"/>
          </p:nvPr>
        </p:nvSpPr>
        <p:spPr>
          <a:xfrm>
            <a:off x="3149600" y="4672012"/>
            <a:ext cx="2844800" cy="385763"/>
          </a:xfrm>
        </p:spPr>
        <p:txBody>
          <a:bodyPr/>
          <a:lstStyle>
            <a:lvl1pPr>
              <a:defRPr sz="1050">
                <a:solidFill>
                  <a:srgbClr val="5E574E"/>
                </a:solidFill>
                <a:latin typeface="Comic Sans MS" pitchFamily="-110" charset="0"/>
                <a:ea typeface="+mn-ea"/>
              </a:defRPr>
            </a:lvl1pPr>
          </a:lstStyle>
          <a:p>
            <a:pPr>
              <a:defRPr/>
            </a:pPr>
            <a:r>
              <a:rPr lang="tr-TR"/>
              <a:t>PSYCH 4041 / 6014</a:t>
            </a:r>
            <a:endParaRPr lang="en-US"/>
          </a:p>
        </p:txBody>
      </p:sp>
      <p:sp>
        <p:nvSpPr>
          <p:cNvPr id="25" name="Rectangle 7">
            <a:extLst>
              <a:ext uri="{FF2B5EF4-FFF2-40B4-BE49-F238E27FC236}">
                <a16:creationId xmlns:a16="http://schemas.microsoft.com/office/drawing/2014/main" id="{64845BCB-98EA-844C-94A6-FB365159E848}"/>
              </a:ext>
            </a:extLst>
          </p:cNvPr>
          <p:cNvSpPr>
            <a:spLocks noGrp="1" noChangeArrowheads="1"/>
          </p:cNvSpPr>
          <p:nvPr>
            <p:ph type="sldNum" sz="quarter" idx="12"/>
          </p:nvPr>
        </p:nvSpPr>
        <p:spPr>
          <a:xfrm>
            <a:off x="6604000" y="4672012"/>
            <a:ext cx="1828800" cy="385763"/>
          </a:xfrm>
        </p:spPr>
        <p:txBody>
          <a:bodyPr/>
          <a:lstStyle>
            <a:lvl1pPr>
              <a:defRPr sz="1050">
                <a:solidFill>
                  <a:srgbClr val="5E574E"/>
                </a:solidFill>
                <a:latin typeface="Comic Sans MS" charset="0"/>
              </a:defRPr>
            </a:lvl1pPr>
          </a:lstStyle>
          <a:p>
            <a:pPr>
              <a:defRPr/>
            </a:pPr>
            <a:fld id="{92DC4404-2F15-3F45-8888-95924375BD0C}" type="slidenum">
              <a:rPr lang="en-US" altLang="en-US"/>
              <a:pPr>
                <a:defRPr/>
              </a:pPr>
              <a:t>‹#›</a:t>
            </a:fld>
            <a:endParaRPr lang="en-US" altLang="en-US"/>
          </a:p>
        </p:txBody>
      </p:sp>
    </p:spTree>
    <p:extLst>
      <p:ext uri="{BB962C8B-B14F-4D97-AF65-F5344CB8AC3E}">
        <p14:creationId xmlns:p14="http://schemas.microsoft.com/office/powerpoint/2010/main" val="3605342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2">
            <a:extLst>
              <a:ext uri="{FF2B5EF4-FFF2-40B4-BE49-F238E27FC236}">
                <a16:creationId xmlns:a16="http://schemas.microsoft.com/office/drawing/2014/main" id="{14707B4C-EF31-F647-A71D-AB9270757B77}"/>
              </a:ext>
            </a:extLst>
          </p:cNvPr>
          <p:cNvSpPr>
            <a:spLocks noGrp="1" noChangeArrowheads="1"/>
          </p:cNvSpPr>
          <p:nvPr>
            <p:ph type="dt" sz="half" idx="10"/>
          </p:nvPr>
        </p:nvSpPr>
        <p:spPr>
          <a:ln/>
        </p:spPr>
        <p:txBody>
          <a:bodyPr/>
          <a:lstStyle>
            <a:lvl1pPr>
              <a:defRPr/>
            </a:lvl1pPr>
          </a:lstStyle>
          <a:p>
            <a:pPr>
              <a:defRPr/>
            </a:pPr>
            <a:fld id="{112A986E-296C-E749-8F65-D992795A84A2}"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AF52C9EA-3740-1242-B25F-606A9B965FA4}"/>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DB0D6FD0-1E2B-B947-8AA4-2626311FAD57}"/>
              </a:ext>
            </a:extLst>
          </p:cNvPr>
          <p:cNvSpPr>
            <a:spLocks noGrp="1" noChangeArrowheads="1"/>
          </p:cNvSpPr>
          <p:nvPr>
            <p:ph type="sldNum" sz="quarter" idx="12"/>
          </p:nvPr>
        </p:nvSpPr>
        <p:spPr>
          <a:ln/>
        </p:spPr>
        <p:txBody>
          <a:bodyPr/>
          <a:lstStyle>
            <a:lvl1pPr>
              <a:defRPr/>
            </a:lvl1pPr>
          </a:lstStyle>
          <a:p>
            <a:pPr>
              <a:defRPr/>
            </a:pPr>
            <a:fld id="{4CA8C557-DD77-1748-8E31-6A889C9DF817}"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2975351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22">
            <a:extLst>
              <a:ext uri="{FF2B5EF4-FFF2-40B4-BE49-F238E27FC236}">
                <a16:creationId xmlns:a16="http://schemas.microsoft.com/office/drawing/2014/main" id="{2AAD0317-70F0-B94C-BB39-0ABC55091889}"/>
              </a:ext>
            </a:extLst>
          </p:cNvPr>
          <p:cNvSpPr>
            <a:spLocks noGrp="1" noChangeArrowheads="1"/>
          </p:cNvSpPr>
          <p:nvPr>
            <p:ph type="dt" sz="half" idx="10"/>
          </p:nvPr>
        </p:nvSpPr>
        <p:spPr>
          <a:ln/>
        </p:spPr>
        <p:txBody>
          <a:bodyPr/>
          <a:lstStyle>
            <a:lvl1pPr>
              <a:defRPr/>
            </a:lvl1pPr>
          </a:lstStyle>
          <a:p>
            <a:pPr>
              <a:defRPr/>
            </a:pPr>
            <a:fld id="{3AEFB91E-E5BD-EE4D-A07A-55C24F14E2A0}"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AF8651DA-9710-F84C-A4F3-F020DF00D2C8}"/>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507A8183-A5F2-6242-BF9B-0B1220BE0006}"/>
              </a:ext>
            </a:extLst>
          </p:cNvPr>
          <p:cNvSpPr>
            <a:spLocks noGrp="1" noChangeArrowheads="1"/>
          </p:cNvSpPr>
          <p:nvPr>
            <p:ph type="sldNum" sz="quarter" idx="12"/>
          </p:nvPr>
        </p:nvSpPr>
        <p:spPr>
          <a:ln/>
        </p:spPr>
        <p:txBody>
          <a:bodyPr/>
          <a:lstStyle>
            <a:lvl1pPr>
              <a:defRPr/>
            </a:lvl1pPr>
          </a:lstStyle>
          <a:p>
            <a:pPr>
              <a:defRPr/>
            </a:pPr>
            <a:fld id="{CBB7A264-F09C-6F45-A315-515D1A577834}"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33970800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685800"/>
            <a:ext cx="4229100" cy="41719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685800"/>
            <a:ext cx="4229100" cy="41719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2">
            <a:extLst>
              <a:ext uri="{FF2B5EF4-FFF2-40B4-BE49-F238E27FC236}">
                <a16:creationId xmlns:a16="http://schemas.microsoft.com/office/drawing/2014/main" id="{D983D188-7D1A-E241-87AB-E2B86283B338}"/>
              </a:ext>
            </a:extLst>
          </p:cNvPr>
          <p:cNvSpPr>
            <a:spLocks noGrp="1" noChangeArrowheads="1"/>
          </p:cNvSpPr>
          <p:nvPr>
            <p:ph type="dt" sz="half" idx="10"/>
          </p:nvPr>
        </p:nvSpPr>
        <p:spPr>
          <a:ln/>
        </p:spPr>
        <p:txBody>
          <a:bodyPr/>
          <a:lstStyle>
            <a:lvl1pPr>
              <a:defRPr/>
            </a:lvl1pPr>
          </a:lstStyle>
          <a:p>
            <a:pPr>
              <a:defRPr/>
            </a:pPr>
            <a:fld id="{5E4FAFA1-DCDB-CE44-B4D9-18A612C40F1D}" type="datetime4">
              <a:rPr lang="en-US" altLang="en-US"/>
              <a:pPr>
                <a:defRPr/>
              </a:pPr>
              <a:t>January 24, 2021</a:t>
            </a:fld>
            <a:endParaRPr lang="en-US" altLang="en-US" sz="1050">
              <a:latin typeface="Comic Sans MS" charset="0"/>
            </a:endParaRPr>
          </a:p>
        </p:txBody>
      </p:sp>
      <p:sp>
        <p:nvSpPr>
          <p:cNvPr id="6" name="Rectangle 23">
            <a:extLst>
              <a:ext uri="{FF2B5EF4-FFF2-40B4-BE49-F238E27FC236}">
                <a16:creationId xmlns:a16="http://schemas.microsoft.com/office/drawing/2014/main" id="{4A0E4F64-8C63-0343-95FD-3EEC79C18542}"/>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7" name="Rectangle 24">
            <a:extLst>
              <a:ext uri="{FF2B5EF4-FFF2-40B4-BE49-F238E27FC236}">
                <a16:creationId xmlns:a16="http://schemas.microsoft.com/office/drawing/2014/main" id="{65E5D3CE-E485-7646-A6AA-90EA12B0027B}"/>
              </a:ext>
            </a:extLst>
          </p:cNvPr>
          <p:cNvSpPr>
            <a:spLocks noGrp="1" noChangeArrowheads="1"/>
          </p:cNvSpPr>
          <p:nvPr>
            <p:ph type="sldNum" sz="quarter" idx="12"/>
          </p:nvPr>
        </p:nvSpPr>
        <p:spPr>
          <a:ln/>
        </p:spPr>
        <p:txBody>
          <a:bodyPr/>
          <a:lstStyle>
            <a:lvl1pPr>
              <a:defRPr/>
            </a:lvl1pPr>
          </a:lstStyle>
          <a:p>
            <a:pPr>
              <a:defRPr/>
            </a:pPr>
            <a:fld id="{7338305D-A1B6-6C4B-91E3-9F068766A850}"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4025012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2">
            <a:extLst>
              <a:ext uri="{FF2B5EF4-FFF2-40B4-BE49-F238E27FC236}">
                <a16:creationId xmlns:a16="http://schemas.microsoft.com/office/drawing/2014/main" id="{5CB8646C-A46B-4E4E-8ADB-C8886DE1E675}"/>
              </a:ext>
            </a:extLst>
          </p:cNvPr>
          <p:cNvSpPr>
            <a:spLocks noGrp="1" noChangeArrowheads="1"/>
          </p:cNvSpPr>
          <p:nvPr>
            <p:ph type="dt" sz="half" idx="10"/>
          </p:nvPr>
        </p:nvSpPr>
        <p:spPr>
          <a:ln/>
        </p:spPr>
        <p:txBody>
          <a:bodyPr/>
          <a:lstStyle>
            <a:lvl1pPr>
              <a:defRPr/>
            </a:lvl1pPr>
          </a:lstStyle>
          <a:p>
            <a:pPr>
              <a:defRPr/>
            </a:pPr>
            <a:fld id="{27BCF400-0009-1649-9396-428E256E23C8}" type="datetime4">
              <a:rPr lang="en-US" altLang="en-US"/>
              <a:pPr>
                <a:defRPr/>
              </a:pPr>
              <a:t>January 24, 2021</a:t>
            </a:fld>
            <a:endParaRPr lang="en-US" altLang="en-US" sz="1050">
              <a:latin typeface="Comic Sans MS" charset="0"/>
            </a:endParaRPr>
          </a:p>
        </p:txBody>
      </p:sp>
      <p:sp>
        <p:nvSpPr>
          <p:cNvPr id="8" name="Rectangle 23">
            <a:extLst>
              <a:ext uri="{FF2B5EF4-FFF2-40B4-BE49-F238E27FC236}">
                <a16:creationId xmlns:a16="http://schemas.microsoft.com/office/drawing/2014/main" id="{1EB6EA0A-C801-7F4A-A4F0-132FAB3E5286}"/>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9" name="Rectangle 24">
            <a:extLst>
              <a:ext uri="{FF2B5EF4-FFF2-40B4-BE49-F238E27FC236}">
                <a16:creationId xmlns:a16="http://schemas.microsoft.com/office/drawing/2014/main" id="{5CAEAF65-A737-AB43-855D-6546D3A5ECB8}"/>
              </a:ext>
            </a:extLst>
          </p:cNvPr>
          <p:cNvSpPr>
            <a:spLocks noGrp="1" noChangeArrowheads="1"/>
          </p:cNvSpPr>
          <p:nvPr>
            <p:ph type="sldNum" sz="quarter" idx="12"/>
          </p:nvPr>
        </p:nvSpPr>
        <p:spPr>
          <a:ln/>
        </p:spPr>
        <p:txBody>
          <a:bodyPr/>
          <a:lstStyle>
            <a:lvl1pPr>
              <a:defRPr/>
            </a:lvl1pPr>
          </a:lstStyle>
          <a:p>
            <a:pPr>
              <a:defRPr/>
            </a:pPr>
            <a:fld id="{13D68A71-039B-5F4A-92F9-F08AA422A93F}"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0359204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2">
            <a:extLst>
              <a:ext uri="{FF2B5EF4-FFF2-40B4-BE49-F238E27FC236}">
                <a16:creationId xmlns:a16="http://schemas.microsoft.com/office/drawing/2014/main" id="{712B48F9-A9C4-6F4E-8616-FFF2506BD13B}"/>
              </a:ext>
            </a:extLst>
          </p:cNvPr>
          <p:cNvSpPr>
            <a:spLocks noGrp="1" noChangeArrowheads="1"/>
          </p:cNvSpPr>
          <p:nvPr>
            <p:ph type="dt" sz="half" idx="10"/>
          </p:nvPr>
        </p:nvSpPr>
        <p:spPr>
          <a:ln/>
        </p:spPr>
        <p:txBody>
          <a:bodyPr/>
          <a:lstStyle>
            <a:lvl1pPr>
              <a:defRPr/>
            </a:lvl1pPr>
          </a:lstStyle>
          <a:p>
            <a:pPr>
              <a:defRPr/>
            </a:pPr>
            <a:fld id="{05C1A236-52B5-6846-AA88-0CB948869D36}" type="datetime4">
              <a:rPr lang="en-US" altLang="en-US"/>
              <a:pPr>
                <a:defRPr/>
              </a:pPr>
              <a:t>January 24, 2021</a:t>
            </a:fld>
            <a:endParaRPr lang="en-US" altLang="en-US" sz="1050">
              <a:latin typeface="Comic Sans MS" charset="0"/>
            </a:endParaRPr>
          </a:p>
        </p:txBody>
      </p:sp>
      <p:sp>
        <p:nvSpPr>
          <p:cNvPr id="4" name="Rectangle 23">
            <a:extLst>
              <a:ext uri="{FF2B5EF4-FFF2-40B4-BE49-F238E27FC236}">
                <a16:creationId xmlns:a16="http://schemas.microsoft.com/office/drawing/2014/main" id="{11CF4B62-1BDB-894C-9B3A-CD634D1EC811}"/>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5" name="Rectangle 24">
            <a:extLst>
              <a:ext uri="{FF2B5EF4-FFF2-40B4-BE49-F238E27FC236}">
                <a16:creationId xmlns:a16="http://schemas.microsoft.com/office/drawing/2014/main" id="{DB2E37E2-13A0-6E49-8851-171E23617D61}"/>
              </a:ext>
            </a:extLst>
          </p:cNvPr>
          <p:cNvSpPr>
            <a:spLocks noGrp="1" noChangeArrowheads="1"/>
          </p:cNvSpPr>
          <p:nvPr>
            <p:ph type="sldNum" sz="quarter" idx="12"/>
          </p:nvPr>
        </p:nvSpPr>
        <p:spPr>
          <a:ln/>
        </p:spPr>
        <p:txBody>
          <a:bodyPr/>
          <a:lstStyle>
            <a:lvl1pPr>
              <a:defRPr/>
            </a:lvl1pPr>
          </a:lstStyle>
          <a:p>
            <a:pPr>
              <a:defRPr/>
            </a:pPr>
            <a:fld id="{3C9020D5-0362-AA4E-A109-44DF4CF31443}"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5569991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2">
            <a:extLst>
              <a:ext uri="{FF2B5EF4-FFF2-40B4-BE49-F238E27FC236}">
                <a16:creationId xmlns:a16="http://schemas.microsoft.com/office/drawing/2014/main" id="{D5874594-CEEE-744E-84B5-849E1F7AD8F4}"/>
              </a:ext>
            </a:extLst>
          </p:cNvPr>
          <p:cNvSpPr>
            <a:spLocks noGrp="1" noChangeArrowheads="1"/>
          </p:cNvSpPr>
          <p:nvPr>
            <p:ph type="dt" sz="half" idx="10"/>
          </p:nvPr>
        </p:nvSpPr>
        <p:spPr>
          <a:ln/>
        </p:spPr>
        <p:txBody>
          <a:bodyPr/>
          <a:lstStyle>
            <a:lvl1pPr>
              <a:defRPr/>
            </a:lvl1pPr>
          </a:lstStyle>
          <a:p>
            <a:pPr>
              <a:defRPr/>
            </a:pPr>
            <a:fld id="{23FFD736-DE5F-F749-B213-A8CE00861415}" type="datetime4">
              <a:rPr lang="en-US" altLang="en-US"/>
              <a:pPr>
                <a:defRPr/>
              </a:pPr>
              <a:t>January 24, 2021</a:t>
            </a:fld>
            <a:endParaRPr lang="en-US" altLang="en-US" sz="1050">
              <a:latin typeface="Comic Sans MS" charset="0"/>
            </a:endParaRPr>
          </a:p>
        </p:txBody>
      </p:sp>
      <p:sp>
        <p:nvSpPr>
          <p:cNvPr id="3" name="Rectangle 23">
            <a:extLst>
              <a:ext uri="{FF2B5EF4-FFF2-40B4-BE49-F238E27FC236}">
                <a16:creationId xmlns:a16="http://schemas.microsoft.com/office/drawing/2014/main" id="{9F97AA66-02E4-5649-9500-0292003CC56A}"/>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4" name="Rectangle 24">
            <a:extLst>
              <a:ext uri="{FF2B5EF4-FFF2-40B4-BE49-F238E27FC236}">
                <a16:creationId xmlns:a16="http://schemas.microsoft.com/office/drawing/2014/main" id="{C311B7C1-252E-914D-8EE9-D1E9863162F9}"/>
              </a:ext>
            </a:extLst>
          </p:cNvPr>
          <p:cNvSpPr>
            <a:spLocks noGrp="1" noChangeArrowheads="1"/>
          </p:cNvSpPr>
          <p:nvPr>
            <p:ph type="sldNum" sz="quarter" idx="12"/>
          </p:nvPr>
        </p:nvSpPr>
        <p:spPr>
          <a:ln/>
        </p:spPr>
        <p:txBody>
          <a:bodyPr/>
          <a:lstStyle>
            <a:lvl1pPr>
              <a:defRPr/>
            </a:lvl1pPr>
          </a:lstStyle>
          <a:p>
            <a:pPr>
              <a:defRPr/>
            </a:pPr>
            <a:fld id="{D952FCBF-D95B-624A-BF6A-A7BAF479D36F}"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39252194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22">
            <a:extLst>
              <a:ext uri="{FF2B5EF4-FFF2-40B4-BE49-F238E27FC236}">
                <a16:creationId xmlns:a16="http://schemas.microsoft.com/office/drawing/2014/main" id="{1354F707-12BB-744C-8FC8-2953E48FF621}"/>
              </a:ext>
            </a:extLst>
          </p:cNvPr>
          <p:cNvSpPr>
            <a:spLocks noGrp="1" noChangeArrowheads="1"/>
          </p:cNvSpPr>
          <p:nvPr>
            <p:ph type="dt" sz="half" idx="10"/>
          </p:nvPr>
        </p:nvSpPr>
        <p:spPr>
          <a:ln/>
        </p:spPr>
        <p:txBody>
          <a:bodyPr/>
          <a:lstStyle>
            <a:lvl1pPr>
              <a:defRPr/>
            </a:lvl1pPr>
          </a:lstStyle>
          <a:p>
            <a:pPr>
              <a:defRPr/>
            </a:pPr>
            <a:fld id="{CB2ADCE5-956F-834A-A409-407A72483B89}" type="datetime4">
              <a:rPr lang="en-US" altLang="en-US"/>
              <a:pPr>
                <a:defRPr/>
              </a:pPr>
              <a:t>January 24, 2021</a:t>
            </a:fld>
            <a:endParaRPr lang="en-US" altLang="en-US" sz="1050">
              <a:latin typeface="Comic Sans MS" charset="0"/>
            </a:endParaRPr>
          </a:p>
        </p:txBody>
      </p:sp>
      <p:sp>
        <p:nvSpPr>
          <p:cNvPr id="6" name="Rectangle 23">
            <a:extLst>
              <a:ext uri="{FF2B5EF4-FFF2-40B4-BE49-F238E27FC236}">
                <a16:creationId xmlns:a16="http://schemas.microsoft.com/office/drawing/2014/main" id="{995A3012-1219-4446-A363-8328EACFBB8C}"/>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7" name="Rectangle 24">
            <a:extLst>
              <a:ext uri="{FF2B5EF4-FFF2-40B4-BE49-F238E27FC236}">
                <a16:creationId xmlns:a16="http://schemas.microsoft.com/office/drawing/2014/main" id="{F42558D7-C9A2-854D-A8A1-2D0CA7EE8700}"/>
              </a:ext>
            </a:extLst>
          </p:cNvPr>
          <p:cNvSpPr>
            <a:spLocks noGrp="1" noChangeArrowheads="1"/>
          </p:cNvSpPr>
          <p:nvPr>
            <p:ph type="sldNum" sz="quarter" idx="12"/>
          </p:nvPr>
        </p:nvSpPr>
        <p:spPr>
          <a:ln/>
        </p:spPr>
        <p:txBody>
          <a:bodyPr/>
          <a:lstStyle>
            <a:lvl1pPr>
              <a:defRPr/>
            </a:lvl1pPr>
          </a:lstStyle>
          <a:p>
            <a:pPr>
              <a:defRPr/>
            </a:pPr>
            <a:fld id="{4FB1910A-2DF3-0043-9E2A-C089A6856FA8}"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37321363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22">
            <a:extLst>
              <a:ext uri="{FF2B5EF4-FFF2-40B4-BE49-F238E27FC236}">
                <a16:creationId xmlns:a16="http://schemas.microsoft.com/office/drawing/2014/main" id="{23E52F24-7910-2844-9315-F77D36D773B9}"/>
              </a:ext>
            </a:extLst>
          </p:cNvPr>
          <p:cNvSpPr>
            <a:spLocks noGrp="1" noChangeArrowheads="1"/>
          </p:cNvSpPr>
          <p:nvPr>
            <p:ph type="dt" sz="half" idx="10"/>
          </p:nvPr>
        </p:nvSpPr>
        <p:spPr>
          <a:ln/>
        </p:spPr>
        <p:txBody>
          <a:bodyPr/>
          <a:lstStyle>
            <a:lvl1pPr>
              <a:defRPr/>
            </a:lvl1pPr>
          </a:lstStyle>
          <a:p>
            <a:pPr>
              <a:defRPr/>
            </a:pPr>
            <a:fld id="{2FA057AB-C79C-1149-90DD-23BCF6A31DA5}" type="datetime4">
              <a:rPr lang="en-US" altLang="en-US"/>
              <a:pPr>
                <a:defRPr/>
              </a:pPr>
              <a:t>January 24, 2021</a:t>
            </a:fld>
            <a:endParaRPr lang="en-US" altLang="en-US" sz="1050">
              <a:latin typeface="Comic Sans MS" charset="0"/>
            </a:endParaRPr>
          </a:p>
        </p:txBody>
      </p:sp>
      <p:sp>
        <p:nvSpPr>
          <p:cNvPr id="6" name="Rectangle 23">
            <a:extLst>
              <a:ext uri="{FF2B5EF4-FFF2-40B4-BE49-F238E27FC236}">
                <a16:creationId xmlns:a16="http://schemas.microsoft.com/office/drawing/2014/main" id="{CDED770D-6B48-A641-9A9A-7623117BDAB3}"/>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7" name="Rectangle 24">
            <a:extLst>
              <a:ext uri="{FF2B5EF4-FFF2-40B4-BE49-F238E27FC236}">
                <a16:creationId xmlns:a16="http://schemas.microsoft.com/office/drawing/2014/main" id="{7F135474-D82E-D843-9996-03A10F4E08FA}"/>
              </a:ext>
            </a:extLst>
          </p:cNvPr>
          <p:cNvSpPr>
            <a:spLocks noGrp="1" noChangeArrowheads="1"/>
          </p:cNvSpPr>
          <p:nvPr>
            <p:ph type="sldNum" sz="quarter" idx="12"/>
          </p:nvPr>
        </p:nvSpPr>
        <p:spPr>
          <a:ln/>
        </p:spPr>
        <p:txBody>
          <a:bodyPr/>
          <a:lstStyle>
            <a:lvl1pPr>
              <a:defRPr/>
            </a:lvl1pPr>
          </a:lstStyle>
          <a:p>
            <a:pPr>
              <a:defRPr/>
            </a:pPr>
            <a:fld id="{5BBC07B4-ED15-8846-84F1-50A2C8EAFF4C}"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2433675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2">
            <a:extLst>
              <a:ext uri="{FF2B5EF4-FFF2-40B4-BE49-F238E27FC236}">
                <a16:creationId xmlns:a16="http://schemas.microsoft.com/office/drawing/2014/main" id="{D8296CF9-48A2-BA47-BEA0-79EF5672269B}"/>
              </a:ext>
            </a:extLst>
          </p:cNvPr>
          <p:cNvSpPr>
            <a:spLocks noGrp="1" noChangeArrowheads="1"/>
          </p:cNvSpPr>
          <p:nvPr>
            <p:ph type="dt" sz="half" idx="10"/>
          </p:nvPr>
        </p:nvSpPr>
        <p:spPr>
          <a:ln/>
        </p:spPr>
        <p:txBody>
          <a:bodyPr/>
          <a:lstStyle>
            <a:lvl1pPr>
              <a:defRPr/>
            </a:lvl1pPr>
          </a:lstStyle>
          <a:p>
            <a:pPr>
              <a:defRPr/>
            </a:pPr>
            <a:fld id="{C803F449-C714-D941-B131-367F9A667454}"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BA5724E5-A14D-B641-AD1D-2E783797776B}"/>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8A458193-BBFD-E04F-A687-2A5AE30A49ED}"/>
              </a:ext>
            </a:extLst>
          </p:cNvPr>
          <p:cNvSpPr>
            <a:spLocks noGrp="1" noChangeArrowheads="1"/>
          </p:cNvSpPr>
          <p:nvPr>
            <p:ph type="sldNum" sz="quarter" idx="12"/>
          </p:nvPr>
        </p:nvSpPr>
        <p:spPr>
          <a:ln/>
        </p:spPr>
        <p:txBody>
          <a:bodyPr/>
          <a:lstStyle>
            <a:lvl1pPr>
              <a:defRPr/>
            </a:lvl1pPr>
          </a:lstStyle>
          <a:p>
            <a:pPr>
              <a:defRPr/>
            </a:pPr>
            <a:fld id="{70FFA6F9-1418-8D47-8D0E-60C39D47D43A}"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70643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57150"/>
            <a:ext cx="2152650" cy="4800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57150"/>
            <a:ext cx="6305550" cy="4800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2">
            <a:extLst>
              <a:ext uri="{FF2B5EF4-FFF2-40B4-BE49-F238E27FC236}">
                <a16:creationId xmlns:a16="http://schemas.microsoft.com/office/drawing/2014/main" id="{1416F2AB-B07D-C348-9891-3EAB4F4AF495}"/>
              </a:ext>
            </a:extLst>
          </p:cNvPr>
          <p:cNvSpPr>
            <a:spLocks noGrp="1" noChangeArrowheads="1"/>
          </p:cNvSpPr>
          <p:nvPr>
            <p:ph type="dt" sz="half" idx="10"/>
          </p:nvPr>
        </p:nvSpPr>
        <p:spPr>
          <a:ln/>
        </p:spPr>
        <p:txBody>
          <a:bodyPr/>
          <a:lstStyle>
            <a:lvl1pPr>
              <a:defRPr/>
            </a:lvl1pPr>
          </a:lstStyle>
          <a:p>
            <a:pPr>
              <a:defRPr/>
            </a:pPr>
            <a:fld id="{7C1FD5FC-7325-9548-916A-DB14BA561054}"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8AB9298A-C20E-9445-8B94-AC1D48A65A1A}"/>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EA201A15-5BAB-674E-AF74-73666A6C1ECB}"/>
              </a:ext>
            </a:extLst>
          </p:cNvPr>
          <p:cNvSpPr>
            <a:spLocks noGrp="1" noChangeArrowheads="1"/>
          </p:cNvSpPr>
          <p:nvPr>
            <p:ph type="sldNum" sz="quarter" idx="12"/>
          </p:nvPr>
        </p:nvSpPr>
        <p:spPr>
          <a:ln/>
        </p:spPr>
        <p:txBody>
          <a:bodyPr/>
          <a:lstStyle>
            <a:lvl1pPr>
              <a:defRPr/>
            </a:lvl1pPr>
          </a:lstStyle>
          <a:p>
            <a:pPr>
              <a:defRPr/>
            </a:pPr>
            <a:fld id="{FDCE4DA0-AD44-E04D-8521-286DB415784D}"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4681561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84DF1917-075B-F74E-8DF4-232714D60E1C}"/>
              </a:ext>
            </a:extLst>
          </p:cNvPr>
          <p:cNvGrpSpPr>
            <a:grpSpLocks/>
          </p:cNvGrpSpPr>
          <p:nvPr/>
        </p:nvGrpSpPr>
        <p:grpSpPr bwMode="auto">
          <a:xfrm flipH="1">
            <a:off x="0" y="628650"/>
            <a:ext cx="8686800" cy="57150"/>
            <a:chOff x="0" y="905"/>
            <a:chExt cx="5282" cy="103"/>
          </a:xfrm>
        </p:grpSpPr>
        <p:grpSp>
          <p:nvGrpSpPr>
            <p:cNvPr id="1034" name="Group 3">
              <a:extLst>
                <a:ext uri="{FF2B5EF4-FFF2-40B4-BE49-F238E27FC236}">
                  <a16:creationId xmlns:a16="http://schemas.microsoft.com/office/drawing/2014/main" id="{8E1007EE-E9AD-004F-80F3-FDB32ADF9000}"/>
                </a:ext>
              </a:extLst>
            </p:cNvPr>
            <p:cNvGrpSpPr>
              <a:grpSpLocks/>
            </p:cNvGrpSpPr>
            <p:nvPr/>
          </p:nvGrpSpPr>
          <p:grpSpPr bwMode="auto">
            <a:xfrm>
              <a:off x="5158" y="905"/>
              <a:ext cx="124" cy="103"/>
              <a:chOff x="5158" y="905"/>
              <a:chExt cx="124" cy="103"/>
            </a:xfrm>
          </p:grpSpPr>
          <p:sp>
            <p:nvSpPr>
              <p:cNvPr id="1049" name="Rectangle 4">
                <a:extLst>
                  <a:ext uri="{FF2B5EF4-FFF2-40B4-BE49-F238E27FC236}">
                    <a16:creationId xmlns:a16="http://schemas.microsoft.com/office/drawing/2014/main" id="{B40944D2-73B7-3A45-9BDC-A2B98BC446F1}"/>
                  </a:ext>
                </a:extLst>
              </p:cNvPr>
              <p:cNvSpPr>
                <a:spLocks noChangeArrowheads="1"/>
              </p:cNvSpPr>
              <p:nvPr/>
            </p:nvSpPr>
            <p:spPr bwMode="auto">
              <a:xfrm>
                <a:off x="5252" y="905"/>
                <a:ext cx="3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50" name="Rectangle 5">
                <a:extLst>
                  <a:ext uri="{FF2B5EF4-FFF2-40B4-BE49-F238E27FC236}">
                    <a16:creationId xmlns:a16="http://schemas.microsoft.com/office/drawing/2014/main" id="{EB75D277-517D-844A-BFBC-163D8B6AFBAB}"/>
                  </a:ext>
                </a:extLst>
              </p:cNvPr>
              <p:cNvSpPr>
                <a:spLocks noChangeArrowheads="1"/>
              </p:cNvSpPr>
              <p:nvPr/>
            </p:nvSpPr>
            <p:spPr bwMode="auto">
              <a:xfrm>
                <a:off x="5158" y="905"/>
                <a:ext cx="6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5" name="Group 6">
              <a:extLst>
                <a:ext uri="{FF2B5EF4-FFF2-40B4-BE49-F238E27FC236}">
                  <a16:creationId xmlns:a16="http://schemas.microsoft.com/office/drawing/2014/main" id="{51A98CAD-F97A-8943-A055-2529CA1A56E3}"/>
                </a:ext>
              </a:extLst>
            </p:cNvPr>
            <p:cNvGrpSpPr>
              <a:grpSpLocks/>
            </p:cNvGrpSpPr>
            <p:nvPr/>
          </p:nvGrpSpPr>
          <p:grpSpPr bwMode="auto">
            <a:xfrm>
              <a:off x="4848" y="905"/>
              <a:ext cx="263" cy="103"/>
              <a:chOff x="4848" y="905"/>
              <a:chExt cx="263" cy="103"/>
            </a:xfrm>
          </p:grpSpPr>
          <p:sp>
            <p:nvSpPr>
              <p:cNvPr id="1047" name="Rectangle 7">
                <a:extLst>
                  <a:ext uri="{FF2B5EF4-FFF2-40B4-BE49-F238E27FC236}">
                    <a16:creationId xmlns:a16="http://schemas.microsoft.com/office/drawing/2014/main" id="{94D45677-E167-A04B-B7EA-536CDE7D0131}"/>
                  </a:ext>
                </a:extLst>
              </p:cNvPr>
              <p:cNvSpPr>
                <a:spLocks noChangeArrowheads="1"/>
              </p:cNvSpPr>
              <p:nvPr/>
            </p:nvSpPr>
            <p:spPr bwMode="auto">
              <a:xfrm>
                <a:off x="5018" y="905"/>
                <a:ext cx="95"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8" name="Rectangle 8">
                <a:extLst>
                  <a:ext uri="{FF2B5EF4-FFF2-40B4-BE49-F238E27FC236}">
                    <a16:creationId xmlns:a16="http://schemas.microsoft.com/office/drawing/2014/main" id="{192533B0-711D-324C-A02D-09AB43CBC060}"/>
                  </a:ext>
                </a:extLst>
              </p:cNvPr>
              <p:cNvSpPr>
                <a:spLocks noChangeArrowheads="1"/>
              </p:cNvSpPr>
              <p:nvPr/>
            </p:nvSpPr>
            <p:spPr bwMode="auto">
              <a:xfrm>
                <a:off x="4848" y="905"/>
                <a:ext cx="12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6" name="Group 9">
              <a:extLst>
                <a:ext uri="{FF2B5EF4-FFF2-40B4-BE49-F238E27FC236}">
                  <a16:creationId xmlns:a16="http://schemas.microsoft.com/office/drawing/2014/main" id="{2A1956D2-787D-4C42-8746-071E1B687CB5}"/>
                </a:ext>
              </a:extLst>
            </p:cNvPr>
            <p:cNvGrpSpPr>
              <a:grpSpLocks/>
            </p:cNvGrpSpPr>
            <p:nvPr/>
          </p:nvGrpSpPr>
          <p:grpSpPr bwMode="auto">
            <a:xfrm>
              <a:off x="4418" y="905"/>
              <a:ext cx="386" cy="103"/>
              <a:chOff x="4418" y="905"/>
              <a:chExt cx="386" cy="103"/>
            </a:xfrm>
          </p:grpSpPr>
          <p:sp>
            <p:nvSpPr>
              <p:cNvPr id="1045" name="Rectangle 10">
                <a:extLst>
                  <a:ext uri="{FF2B5EF4-FFF2-40B4-BE49-F238E27FC236}">
                    <a16:creationId xmlns:a16="http://schemas.microsoft.com/office/drawing/2014/main" id="{BE15E58A-2FD3-E447-8EE2-6C127DBF1A20}"/>
                  </a:ext>
                </a:extLst>
              </p:cNvPr>
              <p:cNvSpPr>
                <a:spLocks noChangeArrowheads="1"/>
              </p:cNvSpPr>
              <p:nvPr/>
            </p:nvSpPr>
            <p:spPr bwMode="auto">
              <a:xfrm>
                <a:off x="4650" y="905"/>
                <a:ext cx="154"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6" name="Rectangle 11">
                <a:extLst>
                  <a:ext uri="{FF2B5EF4-FFF2-40B4-BE49-F238E27FC236}">
                    <a16:creationId xmlns:a16="http://schemas.microsoft.com/office/drawing/2014/main" id="{CF283281-FE4D-DD49-B04E-9413E3009D27}"/>
                  </a:ext>
                </a:extLst>
              </p:cNvPr>
              <p:cNvSpPr>
                <a:spLocks noChangeArrowheads="1"/>
              </p:cNvSpPr>
              <p:nvPr/>
            </p:nvSpPr>
            <p:spPr bwMode="auto">
              <a:xfrm>
                <a:off x="4418" y="905"/>
                <a:ext cx="189"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7" name="Group 12">
              <a:extLst>
                <a:ext uri="{FF2B5EF4-FFF2-40B4-BE49-F238E27FC236}">
                  <a16:creationId xmlns:a16="http://schemas.microsoft.com/office/drawing/2014/main" id="{646E7CE3-1E48-3E4C-A16A-75739FD75886}"/>
                </a:ext>
              </a:extLst>
            </p:cNvPr>
            <p:cNvGrpSpPr>
              <a:grpSpLocks/>
            </p:cNvGrpSpPr>
            <p:nvPr/>
          </p:nvGrpSpPr>
          <p:grpSpPr bwMode="auto">
            <a:xfrm>
              <a:off x="3183" y="905"/>
              <a:ext cx="1191" cy="103"/>
              <a:chOff x="3183" y="905"/>
              <a:chExt cx="1191" cy="103"/>
            </a:xfrm>
          </p:grpSpPr>
          <p:sp>
            <p:nvSpPr>
              <p:cNvPr id="1041" name="Rectangle 13">
                <a:extLst>
                  <a:ext uri="{FF2B5EF4-FFF2-40B4-BE49-F238E27FC236}">
                    <a16:creationId xmlns:a16="http://schemas.microsoft.com/office/drawing/2014/main" id="{049A07BA-125C-294A-A3B4-D89BBC9F00CC}"/>
                  </a:ext>
                </a:extLst>
              </p:cNvPr>
              <p:cNvSpPr>
                <a:spLocks noChangeArrowheads="1"/>
              </p:cNvSpPr>
              <p:nvPr/>
            </p:nvSpPr>
            <p:spPr bwMode="auto">
              <a:xfrm>
                <a:off x="3558"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2" name="Rectangle 14">
                <a:extLst>
                  <a:ext uri="{FF2B5EF4-FFF2-40B4-BE49-F238E27FC236}">
                    <a16:creationId xmlns:a16="http://schemas.microsoft.com/office/drawing/2014/main" id="{0FD03B68-7F9D-4D45-AD4E-68D760BBDB38}"/>
                  </a:ext>
                </a:extLst>
              </p:cNvPr>
              <p:cNvSpPr>
                <a:spLocks noChangeArrowheads="1"/>
              </p:cNvSpPr>
              <p:nvPr/>
            </p:nvSpPr>
            <p:spPr bwMode="auto">
              <a:xfrm>
                <a:off x="4156" y="905"/>
                <a:ext cx="218"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3" name="Rectangle 15">
                <a:extLst>
                  <a:ext uri="{FF2B5EF4-FFF2-40B4-BE49-F238E27FC236}">
                    <a16:creationId xmlns:a16="http://schemas.microsoft.com/office/drawing/2014/main" id="{081F8C45-EB4F-0042-BF17-8C6ACAA57CCC}"/>
                  </a:ext>
                </a:extLst>
              </p:cNvPr>
              <p:cNvSpPr>
                <a:spLocks noChangeArrowheads="1"/>
              </p:cNvSpPr>
              <p:nvPr/>
            </p:nvSpPr>
            <p:spPr bwMode="auto">
              <a:xfrm>
                <a:off x="3864"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4" name="Rectangle 16">
                <a:extLst>
                  <a:ext uri="{FF2B5EF4-FFF2-40B4-BE49-F238E27FC236}">
                    <a16:creationId xmlns:a16="http://schemas.microsoft.com/office/drawing/2014/main" id="{21F7B391-9D2B-D74A-8DE2-F8562177B339}"/>
                  </a:ext>
                </a:extLst>
              </p:cNvPr>
              <p:cNvSpPr>
                <a:spLocks noChangeArrowheads="1"/>
              </p:cNvSpPr>
              <p:nvPr/>
            </p:nvSpPr>
            <p:spPr bwMode="auto">
              <a:xfrm>
                <a:off x="3183" y="905"/>
                <a:ext cx="314"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8" name="Group 17">
              <a:extLst>
                <a:ext uri="{FF2B5EF4-FFF2-40B4-BE49-F238E27FC236}">
                  <a16:creationId xmlns:a16="http://schemas.microsoft.com/office/drawing/2014/main" id="{2D7AF668-B334-A146-AA53-8DFA6CBF94F2}"/>
                </a:ext>
              </a:extLst>
            </p:cNvPr>
            <p:cNvGrpSpPr>
              <a:grpSpLocks/>
            </p:cNvGrpSpPr>
            <p:nvPr/>
          </p:nvGrpSpPr>
          <p:grpSpPr bwMode="auto">
            <a:xfrm>
              <a:off x="0" y="905"/>
              <a:ext cx="3143" cy="103"/>
              <a:chOff x="0" y="905"/>
              <a:chExt cx="3143" cy="103"/>
            </a:xfrm>
          </p:grpSpPr>
          <p:sp>
            <p:nvSpPr>
              <p:cNvPr id="1039" name="Rectangle 18">
                <a:extLst>
                  <a:ext uri="{FF2B5EF4-FFF2-40B4-BE49-F238E27FC236}">
                    <a16:creationId xmlns:a16="http://schemas.microsoft.com/office/drawing/2014/main" id="{712DCCE5-D50B-5F46-968A-138F0F148763}"/>
                  </a:ext>
                </a:extLst>
              </p:cNvPr>
              <p:cNvSpPr>
                <a:spLocks noChangeArrowheads="1"/>
              </p:cNvSpPr>
              <p:nvPr/>
            </p:nvSpPr>
            <p:spPr bwMode="auto">
              <a:xfrm>
                <a:off x="2798" y="905"/>
                <a:ext cx="345"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0" name="Rectangle 19">
                <a:extLst>
                  <a:ext uri="{FF2B5EF4-FFF2-40B4-BE49-F238E27FC236}">
                    <a16:creationId xmlns:a16="http://schemas.microsoft.com/office/drawing/2014/main" id="{E25710D3-F13F-6048-BEEC-03DCB0EBB0FA}"/>
                  </a:ext>
                </a:extLst>
              </p:cNvPr>
              <p:cNvSpPr>
                <a:spLocks noChangeArrowheads="1"/>
              </p:cNvSpPr>
              <p:nvPr/>
            </p:nvSpPr>
            <p:spPr bwMode="auto">
              <a:xfrm>
                <a:off x="0" y="905"/>
                <a:ext cx="275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sp>
        <p:nvSpPr>
          <p:cNvPr id="1027" name="Rectangle 20">
            <a:extLst>
              <a:ext uri="{FF2B5EF4-FFF2-40B4-BE49-F238E27FC236}">
                <a16:creationId xmlns:a16="http://schemas.microsoft.com/office/drawing/2014/main" id="{00BAB7E5-4DDE-6F4B-9664-E20F29B174F5}"/>
              </a:ext>
            </a:extLst>
          </p:cNvPr>
          <p:cNvSpPr>
            <a:spLocks noGrp="1" noChangeArrowheads="1"/>
          </p:cNvSpPr>
          <p:nvPr>
            <p:ph type="title"/>
          </p:nvPr>
        </p:nvSpPr>
        <p:spPr bwMode="auto">
          <a:xfrm>
            <a:off x="990600" y="57150"/>
            <a:ext cx="76962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21">
            <a:extLst>
              <a:ext uri="{FF2B5EF4-FFF2-40B4-BE49-F238E27FC236}">
                <a16:creationId xmlns:a16="http://schemas.microsoft.com/office/drawing/2014/main" id="{8F4F1CA7-1C7F-6F4A-81AC-D0443903995C}"/>
              </a:ext>
            </a:extLst>
          </p:cNvPr>
          <p:cNvSpPr>
            <a:spLocks noGrp="1" noChangeArrowheads="1"/>
          </p:cNvSpPr>
          <p:nvPr>
            <p:ph type="body" idx="1"/>
          </p:nvPr>
        </p:nvSpPr>
        <p:spPr bwMode="auto">
          <a:xfrm>
            <a:off x="228600" y="685800"/>
            <a:ext cx="8610600" cy="417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094" name="Rectangle 22">
            <a:extLst>
              <a:ext uri="{FF2B5EF4-FFF2-40B4-BE49-F238E27FC236}">
                <a16:creationId xmlns:a16="http://schemas.microsoft.com/office/drawing/2014/main" id="{562FC42B-43D6-4F4A-934D-67109AD4B0F3}"/>
              </a:ext>
            </a:extLst>
          </p:cNvPr>
          <p:cNvSpPr>
            <a:spLocks noGrp="1" noChangeArrowheads="1"/>
          </p:cNvSpPr>
          <p:nvPr>
            <p:ph type="dt" sz="half" idx="2"/>
          </p:nvPr>
        </p:nvSpPr>
        <p:spPr bwMode="auto">
          <a:xfrm>
            <a:off x="431800" y="4672013"/>
            <a:ext cx="1905000" cy="3429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spcBef>
                <a:spcPct val="50000"/>
              </a:spcBef>
              <a:defRPr sz="900">
                <a:solidFill>
                  <a:schemeClr val="bg2"/>
                </a:solidFill>
                <a:latin typeface="Tahoma" charset="0"/>
                <a:ea typeface="ＭＳ Ｐゴシック" charset="-128"/>
              </a:defRPr>
            </a:lvl1pPr>
          </a:lstStyle>
          <a:p>
            <a:pPr>
              <a:defRPr/>
            </a:pPr>
            <a:fld id="{92E8E100-ADEF-EB4E-AB02-A2AF1A2FC806}" type="datetime4">
              <a:rPr lang="en-US" altLang="en-US"/>
              <a:pPr>
                <a:defRPr/>
              </a:pPr>
              <a:t>January 24, 2021</a:t>
            </a:fld>
            <a:endParaRPr lang="en-US" altLang="en-US" sz="1050">
              <a:latin typeface="Comic Sans MS" charset="0"/>
            </a:endParaRPr>
          </a:p>
        </p:txBody>
      </p:sp>
      <p:sp>
        <p:nvSpPr>
          <p:cNvPr id="3095" name="Rectangle 23">
            <a:extLst>
              <a:ext uri="{FF2B5EF4-FFF2-40B4-BE49-F238E27FC236}">
                <a16:creationId xmlns:a16="http://schemas.microsoft.com/office/drawing/2014/main" id="{EB3FA688-6455-9D4A-961A-9B2118FFD62D}"/>
              </a:ext>
            </a:extLst>
          </p:cNvPr>
          <p:cNvSpPr>
            <a:spLocks noGrp="1" noChangeArrowheads="1"/>
          </p:cNvSpPr>
          <p:nvPr>
            <p:ph type="ftr" sz="quarter" idx="3"/>
          </p:nvPr>
        </p:nvSpPr>
        <p:spPr bwMode="auto">
          <a:xfrm>
            <a:off x="3124200" y="4672013"/>
            <a:ext cx="2895600" cy="3429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a:spcBef>
                <a:spcPct val="50000"/>
              </a:spcBef>
              <a:defRPr sz="900">
                <a:solidFill>
                  <a:schemeClr val="bg2"/>
                </a:solidFill>
                <a:latin typeface="Tahoma" charset="0"/>
                <a:ea typeface="ＭＳ Ｐゴシック" charset="-128"/>
              </a:defRPr>
            </a:lvl1pPr>
          </a:lstStyle>
          <a:p>
            <a:pPr>
              <a:defRPr/>
            </a:pPr>
            <a:r>
              <a:rPr lang="tr-TR" altLang="en-US"/>
              <a:t>PSYCH 4041 / 6014</a:t>
            </a:r>
            <a:endParaRPr lang="en-US" altLang="en-US" sz="1050">
              <a:latin typeface="Comic Sans MS" charset="0"/>
            </a:endParaRPr>
          </a:p>
        </p:txBody>
      </p:sp>
      <p:sp>
        <p:nvSpPr>
          <p:cNvPr id="3096" name="Rectangle 24">
            <a:extLst>
              <a:ext uri="{FF2B5EF4-FFF2-40B4-BE49-F238E27FC236}">
                <a16:creationId xmlns:a16="http://schemas.microsoft.com/office/drawing/2014/main" id="{CCC79CAA-D180-B549-B80B-93952BD15DD4}"/>
              </a:ext>
            </a:extLst>
          </p:cNvPr>
          <p:cNvSpPr>
            <a:spLocks noGrp="1" noChangeArrowheads="1"/>
          </p:cNvSpPr>
          <p:nvPr>
            <p:ph type="sldNum" sz="quarter" idx="4"/>
          </p:nvPr>
        </p:nvSpPr>
        <p:spPr bwMode="auto">
          <a:xfrm>
            <a:off x="6731000" y="4672013"/>
            <a:ext cx="1905000" cy="3429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spcBef>
                <a:spcPct val="50000"/>
              </a:spcBef>
              <a:defRPr sz="900">
                <a:solidFill>
                  <a:schemeClr val="bg2"/>
                </a:solidFill>
                <a:latin typeface="Tahoma" charset="0"/>
                <a:ea typeface="ＭＳ Ｐゴシック" charset="-128"/>
              </a:defRPr>
            </a:lvl1pPr>
          </a:lstStyle>
          <a:p>
            <a:pPr>
              <a:defRPr/>
            </a:pPr>
            <a:fld id="{EECB6731-2E5B-344F-BE2F-3B33DB3B9655}" type="slidenum">
              <a:rPr lang="en-US" altLang="en-US"/>
              <a:pPr>
                <a:defRPr/>
              </a:pPr>
              <a:t>‹#›</a:t>
            </a:fld>
            <a:endParaRPr lang="en-US" altLang="en-US">
              <a:latin typeface="Comic Sans MS" charset="0"/>
            </a:endParaRPr>
          </a:p>
        </p:txBody>
      </p:sp>
      <p:pic>
        <p:nvPicPr>
          <p:cNvPr id="1032" name="Picture 29">
            <a:extLst>
              <a:ext uri="{FF2B5EF4-FFF2-40B4-BE49-F238E27FC236}">
                <a16:creationId xmlns:a16="http://schemas.microsoft.com/office/drawing/2014/main" id="{83123BE1-9355-6245-9EF0-E4061A5C7814}"/>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l="10829" t="11624" r="16043" b="11624"/>
          <a:stretch>
            <a:fillRect/>
          </a:stretch>
        </p:blipFill>
        <p:spPr bwMode="auto">
          <a:xfrm>
            <a:off x="1" y="0"/>
            <a:ext cx="841375" cy="685800"/>
          </a:xfrm>
          <a:prstGeom prst="rect">
            <a:avLst/>
          </a:prstGeom>
          <a:noFill/>
          <a:ln>
            <a:noFill/>
          </a:ln>
          <a:extLst>
            <a:ext uri="{909E8E84-426E-40DD-AFC4-6F175D3DCCD1}">
              <a14:hiddenFill xmlns:a14="http://schemas.microsoft.com/office/drawing/2010/main">
                <a:solidFill>
                  <a:srgbClr val="FFFFFF">
                    <a:alpha val="9019"/>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3" name="Text Box 30">
            <a:extLst>
              <a:ext uri="{FF2B5EF4-FFF2-40B4-BE49-F238E27FC236}">
                <a16:creationId xmlns:a16="http://schemas.microsoft.com/office/drawing/2014/main" id="{8BF227DC-2A0E-614B-BEC2-33B81721D7E4}"/>
              </a:ext>
            </a:extLst>
          </p:cNvPr>
          <p:cNvSpPr txBox="1">
            <a:spLocks noChangeArrowheads="1"/>
          </p:cNvSpPr>
          <p:nvPr userDrawn="1"/>
        </p:nvSpPr>
        <p:spPr bwMode="auto">
          <a:xfrm>
            <a:off x="1355726" y="467439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Tree>
  </p:cSld>
  <p:clrMap bg1="lt1" tx1="dk1" bg2="lt2" tx2="dk2" accent1="accent1" accent2="accent2" accent3="accent3" accent4="accent4" accent5="accent5" accent6="accent6" hlink="hlink" folHlink="folHlink"/>
  <p:sldLayoutIdLst>
    <p:sldLayoutId id="2147483706"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hf sldNum="0" hdr="0"/>
  <p:txStyles>
    <p:titleStyle>
      <a:lvl1pPr algn="r" rtl="0" eaLnBrk="0" fontAlgn="base" hangingPunct="0">
        <a:spcBef>
          <a:spcPct val="0"/>
        </a:spcBef>
        <a:spcAft>
          <a:spcPct val="0"/>
        </a:spcAft>
        <a:defRPr kumimoji="1" sz="3000" b="1">
          <a:solidFill>
            <a:srgbClr val="666666"/>
          </a:solidFill>
          <a:latin typeface="+mj-lt"/>
          <a:ea typeface="ＭＳ Ｐゴシック" charset="-128"/>
          <a:cs typeface="+mj-cs"/>
        </a:defRPr>
      </a:lvl1pPr>
      <a:lvl2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2pPr>
      <a:lvl3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3pPr>
      <a:lvl4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4pPr>
      <a:lvl5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5pPr>
      <a:lvl6pPr marL="342900" algn="r" rtl="0" eaLnBrk="0" fontAlgn="base" hangingPunct="0">
        <a:spcBef>
          <a:spcPct val="0"/>
        </a:spcBef>
        <a:spcAft>
          <a:spcPct val="0"/>
        </a:spcAft>
        <a:defRPr kumimoji="1" sz="3000" b="1">
          <a:solidFill>
            <a:srgbClr val="666666"/>
          </a:solidFill>
          <a:latin typeface="Arial" pitchFamily="-110" charset="0"/>
        </a:defRPr>
      </a:lvl6pPr>
      <a:lvl7pPr marL="685800" algn="r" rtl="0" eaLnBrk="0" fontAlgn="base" hangingPunct="0">
        <a:spcBef>
          <a:spcPct val="0"/>
        </a:spcBef>
        <a:spcAft>
          <a:spcPct val="0"/>
        </a:spcAft>
        <a:defRPr kumimoji="1" sz="3000" b="1">
          <a:solidFill>
            <a:srgbClr val="666666"/>
          </a:solidFill>
          <a:latin typeface="Arial" pitchFamily="-110" charset="0"/>
        </a:defRPr>
      </a:lvl7pPr>
      <a:lvl8pPr marL="1028700" algn="r" rtl="0" eaLnBrk="0" fontAlgn="base" hangingPunct="0">
        <a:spcBef>
          <a:spcPct val="0"/>
        </a:spcBef>
        <a:spcAft>
          <a:spcPct val="0"/>
        </a:spcAft>
        <a:defRPr kumimoji="1" sz="3000" b="1">
          <a:solidFill>
            <a:srgbClr val="666666"/>
          </a:solidFill>
          <a:latin typeface="Arial" pitchFamily="-110" charset="0"/>
        </a:defRPr>
      </a:lvl8pPr>
      <a:lvl9pPr marL="1371600" algn="r" rtl="0" eaLnBrk="0" fontAlgn="base" hangingPunct="0">
        <a:spcBef>
          <a:spcPct val="0"/>
        </a:spcBef>
        <a:spcAft>
          <a:spcPct val="0"/>
        </a:spcAft>
        <a:defRPr kumimoji="1" sz="3000" b="1">
          <a:solidFill>
            <a:srgbClr val="666666"/>
          </a:solidFill>
          <a:latin typeface="Arial" pitchFamily="-110" charset="0"/>
        </a:defRPr>
      </a:lvl9pPr>
    </p:titleStyle>
    <p:bodyStyle>
      <a:lvl1pPr marL="257175" indent="-257175" algn="l" rtl="0" eaLnBrk="0" fontAlgn="base" hangingPunct="0">
        <a:spcBef>
          <a:spcPct val="20000"/>
        </a:spcBef>
        <a:spcAft>
          <a:spcPct val="0"/>
        </a:spcAft>
        <a:buClr>
          <a:srgbClr val="193399"/>
        </a:buClr>
        <a:buFont typeface="Wingdings" pitchFamily="2" charset="2"/>
        <a:buChar char="Ø"/>
        <a:defRPr kumimoji="1" sz="2400">
          <a:solidFill>
            <a:schemeClr val="tx1"/>
          </a:solidFill>
          <a:latin typeface="+mn-lt"/>
          <a:ea typeface="ＭＳ Ｐゴシック" charset="-128"/>
          <a:cs typeface="+mn-cs"/>
        </a:defRPr>
      </a:lvl1pPr>
      <a:lvl2pPr marL="557213" indent="-214313" algn="l" rtl="0" eaLnBrk="0" fontAlgn="base" hangingPunct="0">
        <a:spcBef>
          <a:spcPct val="20000"/>
        </a:spcBef>
        <a:spcAft>
          <a:spcPct val="0"/>
        </a:spcAft>
        <a:buClr>
          <a:srgbClr val="193399"/>
        </a:buClr>
        <a:buSzPct val="70000"/>
        <a:buFont typeface="Wingdings" pitchFamily="2" charset="2"/>
        <a:buChar char="v"/>
        <a:defRPr kumimoji="1" sz="2100">
          <a:solidFill>
            <a:schemeClr val="tx1"/>
          </a:solidFill>
          <a:latin typeface="+mn-lt"/>
          <a:ea typeface="ＭＳ Ｐゴシック" pitchFamily="-110" charset="-128"/>
        </a:defRPr>
      </a:lvl2pPr>
      <a:lvl3pPr marL="857250" indent="-171450" algn="l" rtl="0" eaLnBrk="0" fontAlgn="base" hangingPunct="0">
        <a:spcBef>
          <a:spcPct val="20000"/>
        </a:spcBef>
        <a:spcAft>
          <a:spcPct val="0"/>
        </a:spcAft>
        <a:buClr>
          <a:srgbClr val="193399"/>
        </a:buClr>
        <a:buFont typeface="Times" pitchFamily="2" charset="0"/>
        <a:buChar char="•"/>
        <a:defRPr kumimoji="1" sz="1800">
          <a:solidFill>
            <a:schemeClr val="tx1"/>
          </a:solidFill>
          <a:latin typeface="+mn-lt"/>
          <a:ea typeface="ＭＳ Ｐゴシック" pitchFamily="-110" charset="-128"/>
        </a:defRPr>
      </a:lvl3pPr>
      <a:lvl4pPr marL="12001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4pPr>
      <a:lvl5pPr marL="15430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5pPr>
      <a:lvl6pPr marL="18859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6pPr>
      <a:lvl7pPr marL="22288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7pPr>
      <a:lvl8pPr marL="25717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8pPr>
      <a:lvl9pPr marL="29146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2.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3.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4.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5.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6.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7.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8.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9.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B0EC7E1-70F5-B944-A6B9-9729D9C5766D}"/>
              </a:ext>
            </a:extLst>
          </p:cNvPr>
          <p:cNvSpPr>
            <a:spLocks noGrp="1" noChangeArrowheads="1"/>
          </p:cNvSpPr>
          <p:nvPr>
            <p:ph type="ctrTitle"/>
          </p:nvPr>
        </p:nvSpPr>
        <p:spPr/>
        <p:txBody>
          <a:bodyPr/>
          <a:lstStyle/>
          <a:p>
            <a:r>
              <a:rPr kumimoji="0" lang="en-US" altLang="en-US">
                <a:ea typeface="ＭＳ Ｐゴシック" panose="020B0600070205080204" pitchFamily="34" charset="-128"/>
              </a:rPr>
              <a:t>Physiology of Perception</a:t>
            </a:r>
          </a:p>
        </p:txBody>
      </p:sp>
      <p:sp>
        <p:nvSpPr>
          <p:cNvPr id="15362" name="Rectangle 3">
            <a:extLst>
              <a:ext uri="{FF2B5EF4-FFF2-40B4-BE49-F238E27FC236}">
                <a16:creationId xmlns:a16="http://schemas.microsoft.com/office/drawing/2014/main" id="{20FBDE40-A6DE-8D4F-B6AD-C5842F4DFA5E}"/>
              </a:ext>
            </a:extLst>
          </p:cNvPr>
          <p:cNvSpPr>
            <a:spLocks noGrp="1" noChangeArrowheads="1"/>
          </p:cNvSpPr>
          <p:nvPr>
            <p:ph type="subTitle" idx="1"/>
          </p:nvPr>
        </p:nvSpPr>
        <p:spPr/>
        <p:txBody>
          <a:bodyPr/>
          <a:lstStyle/>
          <a:p>
            <a:pPr>
              <a:buFont typeface="Wingdings" pitchFamily="2" charset="2"/>
              <a:buNone/>
            </a:pPr>
            <a:r>
              <a:rPr kumimoji="0" lang="en-US" altLang="en-US">
                <a:ea typeface="ＭＳ Ｐゴシック" panose="020B0600070205080204" pitchFamily="34" charset="-128"/>
              </a:rPr>
              <a:t>Fire in the brain</a:t>
            </a:r>
          </a:p>
        </p:txBody>
      </p:sp>
      <p:sp>
        <p:nvSpPr>
          <p:cNvPr id="2" name="Date Placeholder 1">
            <a:extLst>
              <a:ext uri="{FF2B5EF4-FFF2-40B4-BE49-F238E27FC236}">
                <a16:creationId xmlns:a16="http://schemas.microsoft.com/office/drawing/2014/main" id="{9723107C-33DB-3F40-BFA8-48DB5164EB7F}"/>
              </a:ext>
            </a:extLst>
          </p:cNvPr>
          <p:cNvSpPr>
            <a:spLocks noGrp="1"/>
          </p:cNvSpPr>
          <p:nvPr>
            <p:ph type="dt" sz="quarter" idx="10"/>
          </p:nvPr>
        </p:nvSpPr>
        <p:spPr/>
        <p:txBody>
          <a:bodyPr/>
          <a:lstStyle/>
          <a:p>
            <a:pPr>
              <a:defRPr/>
            </a:pPr>
            <a:fld id="{902962C5-4225-8049-BE34-7F57878BE24B}" type="datetime4">
              <a:rPr lang="en-US"/>
              <a:pPr>
                <a:defRPr/>
              </a:pPr>
              <a:t>January 24, 2021</a:t>
            </a:fld>
            <a:endParaRPr lang="en-US"/>
          </a:p>
        </p:txBody>
      </p:sp>
      <p:sp>
        <p:nvSpPr>
          <p:cNvPr id="3" name="Footer Placeholder 2">
            <a:extLst>
              <a:ext uri="{FF2B5EF4-FFF2-40B4-BE49-F238E27FC236}">
                <a16:creationId xmlns:a16="http://schemas.microsoft.com/office/drawing/2014/main" id="{445664FD-1ADA-174D-8A96-0EC32EF0A1E7}"/>
              </a:ext>
            </a:extLst>
          </p:cNvPr>
          <p:cNvSpPr>
            <a:spLocks noGrp="1"/>
          </p:cNvSpPr>
          <p:nvPr>
            <p:ph type="ftr" sz="quarter" idx="11"/>
          </p:nvPr>
        </p:nvSpPr>
        <p:spPr/>
        <p:txBody>
          <a:bodyPr/>
          <a:lstStyle/>
          <a:p>
            <a:pPr>
              <a:defRPr/>
            </a:pPr>
            <a:r>
              <a:rPr lang="tr-TR"/>
              <a:t>PSYCH 4041 / 6014</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A6A63-FDE1-1B42-99C6-A07A8B1817EB}"/>
              </a:ext>
            </a:extLst>
          </p:cNvPr>
          <p:cNvSpPr>
            <a:spLocks noGrp="1"/>
          </p:cNvSpPr>
          <p:nvPr>
            <p:ph type="title"/>
          </p:nvPr>
        </p:nvSpPr>
        <p:spPr/>
        <p:txBody>
          <a:bodyPr/>
          <a:lstStyle/>
          <a:p>
            <a:r>
              <a:rPr lang="en-US" dirty="0"/>
              <a:t>Reminder: Outline of Topics</a:t>
            </a:r>
          </a:p>
        </p:txBody>
      </p:sp>
      <p:sp>
        <p:nvSpPr>
          <p:cNvPr id="3" name="Content Placeholder 2">
            <a:extLst>
              <a:ext uri="{FF2B5EF4-FFF2-40B4-BE49-F238E27FC236}">
                <a16:creationId xmlns:a16="http://schemas.microsoft.com/office/drawing/2014/main" id="{8FCCD038-AE73-4547-816E-773CDEB735FC}"/>
              </a:ext>
            </a:extLst>
          </p:cNvPr>
          <p:cNvSpPr>
            <a:spLocks noGrp="1"/>
          </p:cNvSpPr>
          <p:nvPr>
            <p:ph idx="1"/>
          </p:nvPr>
        </p:nvSpPr>
        <p:spPr/>
        <p:txBody>
          <a:bodyPr/>
          <a:lstStyle/>
          <a:p>
            <a:pPr marL="0" indent="0">
              <a:buNone/>
            </a:pPr>
            <a:r>
              <a:rPr lang="en-US" sz="1600" dirty="0"/>
              <a:t>https://</a:t>
            </a:r>
            <a:r>
              <a:rPr lang="en-US" sz="1600" dirty="0" err="1"/>
              <a:t>gatech.instructure.com</a:t>
            </a:r>
            <a:r>
              <a:rPr lang="en-US" sz="1600" dirty="0"/>
              <a:t>/courses/181190/pages/schedule-of-lecture-topics-2021</a:t>
            </a:r>
          </a:p>
        </p:txBody>
      </p:sp>
      <p:sp>
        <p:nvSpPr>
          <p:cNvPr id="4" name="Date Placeholder 3">
            <a:extLst>
              <a:ext uri="{FF2B5EF4-FFF2-40B4-BE49-F238E27FC236}">
                <a16:creationId xmlns:a16="http://schemas.microsoft.com/office/drawing/2014/main" id="{59A11876-3039-DF49-BBBB-520DF66A311D}"/>
              </a:ext>
            </a:extLst>
          </p:cNvPr>
          <p:cNvSpPr>
            <a:spLocks noGrp="1"/>
          </p:cNvSpPr>
          <p:nvPr>
            <p:ph type="dt" sz="half" idx="10"/>
          </p:nvPr>
        </p:nvSpPr>
        <p:spPr/>
        <p:txBody>
          <a:bodyPr/>
          <a:lstStyle/>
          <a:p>
            <a:pPr>
              <a:defRPr/>
            </a:pPr>
            <a:r>
              <a:rPr lang="en-US"/>
              <a:t>Spring 2021</a:t>
            </a:r>
          </a:p>
        </p:txBody>
      </p:sp>
      <p:sp>
        <p:nvSpPr>
          <p:cNvPr id="5" name="Footer Placeholder 4">
            <a:extLst>
              <a:ext uri="{FF2B5EF4-FFF2-40B4-BE49-F238E27FC236}">
                <a16:creationId xmlns:a16="http://schemas.microsoft.com/office/drawing/2014/main" id="{EF36CFD3-57DD-1A4C-9BDA-B4204C4298AB}"/>
              </a:ext>
            </a:extLst>
          </p:cNvPr>
          <p:cNvSpPr>
            <a:spLocks noGrp="1"/>
          </p:cNvSpPr>
          <p:nvPr>
            <p:ph type="ftr" sz="quarter" idx="11"/>
          </p:nvPr>
        </p:nvSpPr>
        <p:spPr/>
        <p:txBody>
          <a:bodyPr/>
          <a:lstStyle/>
          <a:p>
            <a:pPr>
              <a:defRPr/>
            </a:pPr>
            <a:r>
              <a:rPr lang="tr-TR"/>
              <a:t>PSYCH 4041 / 6014</a:t>
            </a:r>
            <a:endParaRPr lang="en-US" sz="1050">
              <a:latin typeface="Comic Sans MS" charset="0"/>
            </a:endParaRPr>
          </a:p>
        </p:txBody>
      </p:sp>
      <p:graphicFrame>
        <p:nvGraphicFramePr>
          <p:cNvPr id="9" name="Table 8" descr="A schedule of lecture topics for 2021 is presented in a table format. The table has three columns: 'Wk Date', 'Topic', and 'Reading(s) *', with an additional 'Notes' column. The first row details the 'Introduction to Course' on January 15th, with links to the 'Syllabus', 'List of Extra Readings', and two citation guidelines. Subsequent rows list topics such as 'School Holiday--MLK Day--no classes' on January 18th, 'History &amp; Philosophy' on January 20th, 'Methods &amp; Techniques' on January 22nd, and 'Psychophysics; Signal Detection Theory' on January 25th. The week of January 27th includes 'Physiology of Perception' and 'Neuroimaging: Bottom-Up vs. Top-Down', followed by 'Cutaneous Senses' on February 1st and 'Pain' on February 3rd. Readings for these topics are listed, and a video thumbnail is present for the 'Pain' topic."/>
          <p:cNvGraphicFramePr>
            <a:graphicFrameLocks noGrp="1"/>
          </p:cNvGraphicFramePr>
          <p:nvPr/>
        </p:nvGraphicFramePr>
        <p:xfrm>
          <a:off x="1600200" y="1123016"/>
          <a:ext cx="6207239" cy="3887134"/>
        </p:xfrm>
        <a:graphic>
          <a:graphicData uri="http://schemas.openxmlformats.org/drawingml/2006/table">
            <a:tbl>
              <a:tblPr firstRow="1" bandRow="1">
                <a:tableStyleId>{5C22544A-7EE6-4342-B048-85BDC9FD1C3A}</a:tableStyleId>
              </a:tblPr>
              <a:tblGrid>
                <a:gridCol w="1551809"/>
                <a:gridCol w="1551809"/>
                <a:gridCol w="1551809"/>
                <a:gridCol w="1551812"/>
              </a:tblGrid>
              <a:tr h="259142">
                <a:tc>
                  <a:txBody>
                    <a:bodyPr/>
                    <a:lstStyle/>
                    <a:p>
                      <a:r>
                        <a:rPr sz="1000"/>
                        <a:t>Wk Date</a:t>
                      </a:r>
                    </a:p>
                  </a:txBody>
                  <a:tcPr/>
                </a:tc>
                <a:tc>
                  <a:txBody>
                    <a:bodyPr/>
                    <a:lstStyle/>
                    <a:p>
                      <a:r>
                        <a:rPr sz="1000"/>
                        <a:t>Topic</a:t>
                      </a:r>
                    </a:p>
                  </a:txBody>
                  <a:tcPr/>
                </a:tc>
                <a:tc>
                  <a:txBody>
                    <a:bodyPr/>
                    <a:lstStyle/>
                    <a:p>
                      <a:r>
                        <a:rPr sz="1000"/>
                        <a:t>Reading(s) *</a:t>
                      </a:r>
                    </a:p>
                  </a:txBody>
                  <a:tcPr/>
                </a:tc>
                <a:tc>
                  <a:txBody>
                    <a:bodyPr/>
                    <a:lstStyle/>
                    <a:p>
                      <a:r>
                        <a:rPr sz="1000"/>
                        <a:t>Notes</a:t>
                      </a:r>
                    </a:p>
                  </a:txBody>
                  <a:tcPr/>
                </a:tc>
              </a:tr>
              <a:tr h="259142">
                <a:tc>
                  <a:txBody>
                    <a:bodyPr/>
                    <a:lstStyle/>
                    <a:p>
                      <a:r>
                        <a:rPr sz="1000"/>
                        <a:t>01 1/15</a:t>
                      </a:r>
                    </a:p>
                  </a:txBody>
                  <a:tcPr/>
                </a:tc>
                <a:tc>
                  <a:txBody>
                    <a:bodyPr/>
                    <a:lstStyle/>
                    <a:p>
                      <a:r>
                        <a:rPr sz="1000"/>
                        <a:t>Introduction to Course</a:t>
                      </a:r>
                    </a:p>
                  </a:txBody>
                  <a:tcPr/>
                </a:tc>
                <a:tc>
                  <a:txBody>
                    <a:bodyPr/>
                    <a:lstStyle/>
                    <a:p>
                      <a:r>
                        <a:rPr sz="1000"/>
                        <a:t>Syllabus</a:t>
                      </a:r>
                    </a:p>
                  </a:txBody>
                  <a:tcPr/>
                </a:tc>
                <a:tc>
                  <a:txBody>
                    <a:bodyPr/>
                    <a:lstStyle/>
                    <a:p>
                      <a:r>
                        <a:rPr sz="1000"/>
                        <a:t>None</a:t>
                      </a:r>
                    </a:p>
                  </a:txBody>
                  <a:tcPr/>
                </a:tc>
              </a:tr>
              <a:tr h="259142">
                <a:tc>
                  <a:txBody>
                    <a:bodyPr/>
                    <a:lstStyle/>
                    <a:p>
                      <a:r>
                        <a:rPr sz="1000"/>
                        <a:t>None</a:t>
                      </a:r>
                    </a:p>
                  </a:txBody>
                  <a:tcPr/>
                </a:tc>
                <a:tc>
                  <a:txBody>
                    <a:bodyPr/>
                    <a:lstStyle/>
                    <a:p>
                      <a:r>
                        <a:rPr sz="1000"/>
                        <a:t>None</a:t>
                      </a:r>
                    </a:p>
                  </a:txBody>
                  <a:tcPr/>
                </a:tc>
                <a:tc>
                  <a:txBody>
                    <a:bodyPr/>
                    <a:lstStyle/>
                    <a:p>
                      <a:r>
                        <a:rPr sz="1000"/>
                        <a:t>List of Extra Readings</a:t>
                      </a:r>
                    </a:p>
                  </a:txBody>
                  <a:tcPr/>
                </a:tc>
                <a:tc>
                  <a:txBody>
                    <a:bodyPr/>
                    <a:lstStyle/>
                    <a:p>
                      <a:r>
                        <a:rPr sz="1000"/>
                        <a:t>None</a:t>
                      </a:r>
                    </a:p>
                  </a:txBody>
                  <a:tcPr/>
                </a:tc>
              </a:tr>
              <a:tr h="259142">
                <a:tc>
                  <a:txBody>
                    <a:bodyPr/>
                    <a:lstStyle/>
                    <a:p>
                      <a:r>
                        <a:rPr sz="1000"/>
                        <a:t>None</a:t>
                      </a:r>
                    </a:p>
                  </a:txBody>
                  <a:tcPr/>
                </a:tc>
                <a:tc>
                  <a:txBody>
                    <a:bodyPr/>
                    <a:lstStyle/>
                    <a:p>
                      <a:r>
                        <a:rPr sz="1000"/>
                        <a:t>None</a:t>
                      </a:r>
                    </a:p>
                  </a:txBody>
                  <a:tcPr/>
                </a:tc>
                <a:tc>
                  <a:txBody>
                    <a:bodyPr/>
                    <a:lstStyle/>
                    <a:p>
                      <a:r>
                        <a:rPr sz="1000"/>
                        <a:t>Lippstreu &amp; Griffin (2005) on&lt;/li&gt;</a:t>
                      </a:r>
                    </a:p>
                  </a:txBody>
                  <a:tcPr/>
                </a:tc>
                <a:tc>
                  <a:txBody>
                    <a:bodyPr/>
                    <a:lstStyle/>
                    <a:p>
                      <a:r>
                        <a:rPr sz="1000"/>
                        <a:t>None</a:t>
                      </a:r>
                    </a:p>
                  </a:txBody>
                  <a:tcPr/>
                </a:tc>
              </a:tr>
              <a:tr h="259142">
                <a:tc>
                  <a:txBody>
                    <a:bodyPr/>
                    <a:lstStyle/>
                    <a:p>
                      <a:r>
                        <a:rPr sz="1000"/>
                        <a:t>None</a:t>
                      </a:r>
                    </a:p>
                  </a:txBody>
                  <a:tcPr/>
                </a:tc>
                <a:tc>
                  <a:txBody>
                    <a:bodyPr/>
                    <a:lstStyle/>
                    <a:p>
                      <a:r>
                        <a:rPr sz="1000"/>
                        <a:t>None</a:t>
                      </a:r>
                    </a:p>
                  </a:txBody>
                  <a:tcPr/>
                </a:tc>
                <a:tc>
                  <a:txBody>
                    <a:bodyPr/>
                    <a:lstStyle/>
                    <a:p>
                      <a:r>
                        <a:rPr sz="1000"/>
                        <a:t>Waters (2007) on citations</a:t>
                      </a:r>
                    </a:p>
                  </a:txBody>
                  <a:tcPr/>
                </a:tc>
                <a:tc>
                  <a:txBody>
                    <a:bodyPr/>
                    <a:lstStyle/>
                    <a:p>
                      <a:r>
                        <a:rPr sz="1000"/>
                        <a:t>None</a:t>
                      </a:r>
                    </a:p>
                  </a:txBody>
                  <a:tcPr/>
                </a:tc>
              </a:tr>
              <a:tr h="259142">
                <a:tc>
                  <a:txBody>
                    <a:bodyPr/>
                    <a:lstStyle/>
                    <a:p>
                      <a:r>
                        <a:rPr sz="1000"/>
                        <a:t>02 1/18</a:t>
                      </a:r>
                    </a:p>
                  </a:txBody>
                  <a:tcPr/>
                </a:tc>
                <a:tc>
                  <a:txBody>
                    <a:bodyPr/>
                    <a:lstStyle/>
                    <a:p>
                      <a:r>
                        <a:rPr sz="1000"/>
                        <a:t>School Holiday--MLK Day--no classes</a:t>
                      </a:r>
                    </a:p>
                  </a:txBody>
                  <a:tcPr/>
                </a:tc>
                <a:tc>
                  <a:txBody>
                    <a:bodyPr/>
                    <a:lstStyle/>
                    <a:p>
                      <a:r>
                        <a:rPr sz="1000"/>
                        <a:t>None</a:t>
                      </a:r>
                    </a:p>
                  </a:txBody>
                  <a:tcPr/>
                </a:tc>
                <a:tc>
                  <a:txBody>
                    <a:bodyPr/>
                    <a:lstStyle/>
                    <a:p>
                      <a:r>
                        <a:rPr sz="1000"/>
                        <a:t>None</a:t>
                      </a:r>
                    </a:p>
                  </a:txBody>
                  <a:tcPr/>
                </a:tc>
              </a:tr>
              <a:tr h="259142">
                <a:tc>
                  <a:txBody>
                    <a:bodyPr/>
                    <a:lstStyle/>
                    <a:p>
                      <a:r>
                        <a:rPr sz="1000"/>
                        <a:t>02 1/20</a:t>
                      </a:r>
                    </a:p>
                  </a:txBody>
                  <a:tcPr/>
                </a:tc>
                <a:tc>
                  <a:txBody>
                    <a:bodyPr/>
                    <a:lstStyle/>
                    <a:p>
                      <a:r>
                        <a:rPr sz="1000"/>
                        <a:t>History &amp; Philosophy</a:t>
                      </a:r>
                    </a:p>
                  </a:txBody>
                  <a:tcPr/>
                </a:tc>
                <a:tc>
                  <a:txBody>
                    <a:bodyPr/>
                    <a:lstStyle/>
                    <a:p>
                      <a:r>
                        <a:rPr sz="1000"/>
                        <a:t>Bartoshuk (2019)</a:t>
                      </a:r>
                    </a:p>
                  </a:txBody>
                  <a:tcPr/>
                </a:tc>
                <a:tc>
                  <a:txBody>
                    <a:bodyPr/>
                    <a:lstStyle/>
                    <a:p>
                      <a:r>
                        <a:rPr sz="1000"/>
                        <a:t>None</a:t>
                      </a:r>
                    </a:p>
                  </a:txBody>
                  <a:tcPr/>
                </a:tc>
              </a:tr>
              <a:tr h="259142">
                <a:tc>
                  <a:txBody>
                    <a:bodyPr/>
                    <a:lstStyle/>
                    <a:p>
                      <a:r>
                        <a:rPr sz="1000"/>
                        <a:t>02 1/22</a:t>
                      </a:r>
                    </a:p>
                  </a:txBody>
                  <a:tcPr/>
                </a:tc>
                <a:tc>
                  <a:txBody>
                    <a:bodyPr/>
                    <a:lstStyle/>
                    <a:p>
                      <a:r>
                        <a:rPr sz="1000"/>
                        <a:t>Methods &amp; Techniques</a:t>
                      </a:r>
                    </a:p>
                  </a:txBody>
                  <a:tcPr/>
                </a:tc>
                <a:tc>
                  <a:txBody>
                    <a:bodyPr/>
                    <a:lstStyle/>
                    <a:p>
                      <a:r>
                        <a:rPr sz="1000"/>
                        <a:t>Goldstein CH1</a:t>
                      </a:r>
                    </a:p>
                  </a:txBody>
                  <a:tcPr/>
                </a:tc>
                <a:tc>
                  <a:txBody>
                    <a:bodyPr/>
                    <a:lstStyle/>
                    <a:p>
                      <a:r>
                        <a:rPr sz="1000"/>
                        <a:t>None</a:t>
                      </a:r>
                    </a:p>
                  </a:txBody>
                  <a:tcPr/>
                </a:tc>
              </a:tr>
              <a:tr h="259142">
                <a:tc>
                  <a:txBody>
                    <a:bodyPr/>
                    <a:lstStyle/>
                    <a:p>
                      <a:r>
                        <a:rPr sz="1000"/>
                        <a:t>03 1/25</a:t>
                      </a:r>
                    </a:p>
                  </a:txBody>
                  <a:tcPr/>
                </a:tc>
                <a:tc>
                  <a:txBody>
                    <a:bodyPr/>
                    <a:lstStyle/>
                    <a:p>
                      <a:r>
                        <a:rPr sz="1000"/>
                        <a:t>Psychophysics; Signal Detection Theory</a:t>
                      </a:r>
                    </a:p>
                  </a:txBody>
                  <a:tcPr/>
                </a:tc>
                <a:tc>
                  <a:txBody>
                    <a:bodyPr/>
                    <a:lstStyle/>
                    <a:p>
                      <a:r>
                        <a:rPr sz="1000"/>
                        <a:t>Goldstein Appendix A, B, C &amp; D</a:t>
                      </a:r>
                    </a:p>
                  </a:txBody>
                  <a:tcPr/>
                </a:tc>
                <a:tc>
                  <a:txBody>
                    <a:bodyPr/>
                    <a:lstStyle/>
                    <a:p>
                      <a:r>
                        <a:rPr sz="1000"/>
                        <a:t>None</a:t>
                      </a:r>
                    </a:p>
                  </a:txBody>
                  <a:tcPr/>
                </a:tc>
              </a:tr>
              <a:tr h="259142">
                <a:tc>
                  <a:txBody>
                    <a:bodyPr/>
                    <a:lstStyle/>
                    <a:p>
                      <a:r>
                        <a:rPr sz="1000"/>
                        <a:t>None</a:t>
                      </a:r>
                    </a:p>
                  </a:txBody>
                  <a:tcPr/>
                </a:tc>
                <a:tc>
                  <a:txBody>
                    <a:bodyPr/>
                    <a:lstStyle/>
                    <a:p>
                      <a:r>
                        <a:rPr sz="1000"/>
                        <a:t>None</a:t>
                      </a:r>
                    </a:p>
                  </a:txBody>
                  <a:tcPr/>
                </a:tc>
                <a:tc>
                  <a:txBody>
                    <a:bodyPr/>
                    <a:lstStyle/>
                    <a:p>
                      <a:r>
                        <a:rPr sz="1000"/>
                        <a:t>Stevens (1961)</a:t>
                      </a:r>
                    </a:p>
                  </a:txBody>
                  <a:tcPr/>
                </a:tc>
                <a:tc>
                  <a:txBody>
                    <a:bodyPr/>
                    <a:lstStyle/>
                    <a:p>
                      <a:r>
                        <a:rPr sz="1000"/>
                        <a:t>None</a:t>
                      </a:r>
                    </a:p>
                  </a:txBody>
                  <a:tcPr/>
                </a:tc>
              </a:tr>
              <a:tr h="259142">
                <a:tc>
                  <a:txBody>
                    <a:bodyPr/>
                    <a:lstStyle/>
                    <a:p>
                      <a:r>
                        <a:rPr sz="1000"/>
                        <a:t>03 1/27</a:t>
                      </a:r>
                    </a:p>
                  </a:txBody>
                  <a:tcPr/>
                </a:tc>
                <a:tc>
                  <a:txBody>
                    <a:bodyPr/>
                    <a:lstStyle/>
                    <a:p>
                      <a:r>
                        <a:rPr sz="1000"/>
                        <a:t>Physiology of Perception</a:t>
                      </a:r>
                    </a:p>
                  </a:txBody>
                  <a:tcPr/>
                </a:tc>
                <a:tc>
                  <a:txBody>
                    <a:bodyPr/>
                    <a:lstStyle/>
                    <a:p>
                      <a:r>
                        <a:rPr sz="1000"/>
                        <a:t>Goldstein CH2</a:t>
                      </a:r>
                    </a:p>
                  </a:txBody>
                  <a:tcPr/>
                </a:tc>
                <a:tc>
                  <a:txBody>
                    <a:bodyPr/>
                    <a:lstStyle/>
                    <a:p>
                      <a:r>
                        <a:rPr sz="1000"/>
                        <a:t>None</a:t>
                      </a:r>
                    </a:p>
                  </a:txBody>
                  <a:tcPr/>
                </a:tc>
              </a:tr>
              <a:tr h="259142">
                <a:tc>
                  <a:txBody>
                    <a:bodyPr/>
                    <a:lstStyle/>
                    <a:p>
                      <a:r>
                        <a:rPr sz="1000"/>
                        <a:t>03 1/29</a:t>
                      </a:r>
                    </a:p>
                  </a:txBody>
                  <a:tcPr/>
                </a:tc>
                <a:tc>
                  <a:txBody>
                    <a:bodyPr/>
                    <a:lstStyle/>
                    <a:p>
                      <a:r>
                        <a:rPr sz="1000"/>
                        <a:t>Neuroimaging; Bottom-Up vs. Top-Down</a:t>
                      </a:r>
                    </a:p>
                  </a:txBody>
                  <a:tcPr/>
                </a:tc>
                <a:tc>
                  <a:txBody>
                    <a:bodyPr/>
                    <a:lstStyle/>
                    <a:p>
                      <a:r>
                        <a:rPr sz="1000"/>
                        <a:t>None</a:t>
                      </a:r>
                    </a:p>
                  </a:txBody>
                  <a:tcPr/>
                </a:tc>
                <a:tc>
                  <a:txBody>
                    <a:bodyPr/>
                    <a:lstStyle/>
                    <a:p>
                      <a:r>
                        <a:rPr sz="1000"/>
                        <a:t>None</a:t>
                      </a:r>
                    </a:p>
                  </a:txBody>
                  <a:tcPr/>
                </a:tc>
              </a:tr>
              <a:tr h="259142">
                <a:tc>
                  <a:txBody>
                    <a:bodyPr/>
                    <a:lstStyle/>
                    <a:p>
                      <a:r>
                        <a:rPr sz="1000"/>
                        <a:t>04 2/01</a:t>
                      </a:r>
                    </a:p>
                  </a:txBody>
                  <a:tcPr/>
                </a:tc>
                <a:tc>
                  <a:txBody>
                    <a:bodyPr/>
                    <a:lstStyle/>
                    <a:p>
                      <a:r>
                        <a:rPr sz="1000"/>
                        <a:t>Cutaneous Senses</a:t>
                      </a:r>
                    </a:p>
                  </a:txBody>
                  <a:tcPr/>
                </a:tc>
                <a:tc>
                  <a:txBody>
                    <a:bodyPr/>
                    <a:lstStyle/>
                    <a:p>
                      <a:r>
                        <a:rPr sz="1000"/>
                        <a:t>Goldstein CH14</a:t>
                      </a:r>
                    </a:p>
                  </a:txBody>
                  <a:tcPr/>
                </a:tc>
                <a:tc>
                  <a:txBody>
                    <a:bodyPr/>
                    <a:lstStyle/>
                    <a:p>
                      <a:r>
                        <a:rPr sz="1000"/>
                        <a:t>None</a:t>
                      </a:r>
                    </a:p>
                  </a:txBody>
                  <a:tcPr/>
                </a:tc>
              </a:tr>
              <a:tr h="259142">
                <a:tc>
                  <a:txBody>
                    <a:bodyPr/>
                    <a:lstStyle/>
                    <a:p>
                      <a:r>
                        <a:rPr sz="1000"/>
                        <a:t>04 2/03</a:t>
                      </a:r>
                    </a:p>
                  </a:txBody>
                  <a:tcPr/>
                </a:tc>
                <a:tc>
                  <a:txBody>
                    <a:bodyPr/>
                    <a:lstStyle/>
                    <a:p>
                      <a:r>
                        <a:rPr sz="1000"/>
                        <a:t>Pain</a:t>
                      </a:r>
                    </a:p>
                  </a:txBody>
                  <a:tcPr/>
                </a:tc>
                <a:tc>
                  <a:txBody>
                    <a:bodyPr/>
                    <a:lstStyle/>
                    <a:p>
                      <a:r>
                        <a:rPr sz="1000"/>
                        <a:t>Goldstein CH14;</a:t>
                      </a:r>
                    </a:p>
                  </a:txBody>
                  <a:tcPr/>
                </a:tc>
                <a:tc>
                  <a:txBody>
                    <a:bodyPr/>
                    <a:lstStyle/>
                    <a:p>
                      <a:r>
                        <a:rPr sz="1000"/>
                        <a:t>None</a:t>
                      </a:r>
                    </a:p>
                  </a:txBody>
                  <a:tcPr/>
                </a:tc>
              </a:tr>
              <a:tr h="259146">
                <a:tc>
                  <a:txBody>
                    <a:bodyPr/>
                    <a:lstStyle/>
                    <a:p>
                      <a:r>
                        <a:rPr sz="1000"/>
                        <a:t>None</a:t>
                      </a:r>
                    </a:p>
                  </a:txBody>
                  <a:tcPr/>
                </a:tc>
                <a:tc>
                  <a:txBody>
                    <a:bodyPr/>
                    <a:lstStyle/>
                    <a:p>
                      <a:r>
                        <a:rPr sz="1000"/>
                        <a:t>None</a:t>
                      </a:r>
                    </a:p>
                  </a:txBody>
                  <a:tcPr/>
                </a:tc>
                <a:tc>
                  <a:txBody>
                    <a:bodyPr/>
                    <a:lstStyle/>
                    <a:p>
                      <a:r>
                        <a:rPr sz="1000"/>
                        <a:t>No Pain video</a:t>
                      </a:r>
                    </a:p>
                  </a:txBody>
                  <a:tcPr/>
                </a:tc>
                <a:tc>
                  <a:txBody>
                    <a:bodyPr/>
                    <a:lstStyle/>
                    <a:p>
                      <a:r>
                        <a:rPr sz="1000"/>
                        <a:t>None</a:t>
                      </a:r>
                    </a:p>
                  </a:txBody>
                  <a:tcPr/>
                </a:tc>
              </a:tr>
            </a:tbl>
          </a:graphicData>
        </a:graphic>
      </p:graphicFrame>
      <p:pic>
        <p:nvPicPr>
          <p:cNvPr id="8" name="Picture 7" descr="A screen capture from a learning management system shows a schedule of lecture topics for a course in 2021. The top of the page has the title &quot;Schedule of Lecture Topics (2021)&quot; in large, gray text. Below that, in black text, is &quot;Schedule of Classes.&quot; The schedule is organized into columns: &quot;Wk Date,&quot; &quot;Topic,&quot; &quot;Reading(s) *,&quot; and &quot;Notes.&quot; The dates range from January 15th to February 3rd. Topics include &quot;Introduction to Course,&quot; &quot;School Holiday--MLK Day--no classes,&quot; &quot;History &amp; Philosophy,&quot; &quot;Methods &amp; Techniques,&quot; &quot;Psychophysics; Signal Detection Theory,&quot; &quot;Physiology of Perception,&quot; &quot;Neuroimaging: Bottom-Up vs. Top-Down,&quot; &quot;Cutaneous Senses,&quot; and &quot;Pain.&quot; Under &quot;Reading(s),&quot; links to a syllabus, extra readings, and specific texts are listed, such as &quot;Lippstreu &amp; Griffin (2005) on plagiarism&quot; and &quot;Goldstein CH1.&quot; The &quot;Notes&quot; column contains additional reading references and a link to a video titled &quot;No Pain video.&quot; At the bottom right of the screen capture is a thumbnail of a video featuring a woman with dark, curly hair and glasses, with a play button in the center, suggesting it's a lecture or supplementary material.">
            <a:extLst>
              <a:ext uri="{FF2B5EF4-FFF2-40B4-BE49-F238E27FC236}">
                <a16:creationId xmlns:a16="http://schemas.microsoft.com/office/drawing/2014/main" id="{84D41207-A92B-6C4E-8A65-B666869A9333}"/>
              </a:ext>
            </a:extLst>
          </p:cNvPr>
          <p:cNvPicPr>
            <a:picLocks noChangeAspect="1"/>
          </p:cNvPicPr>
          <p:nvPr/>
        </p:nvPicPr>
        <p:blipFill rotWithShape="1">
          <a:blip r:embed="rId2"/>
          <a:srcRect t="13526"/>
          <a:stretch/>
        </p:blipFill>
        <p:spPr>
          <a:xfrm>
            <a:off x="1600200" y="1123016"/>
            <a:ext cx="6207239" cy="3887134"/>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6" name="Donut 5">
            <a:extLst>
              <a:ext uri="{FF2B5EF4-FFF2-40B4-BE49-F238E27FC236}">
                <a16:creationId xmlns:a16="http://schemas.microsoft.com/office/drawing/2014/main" id="{A33A7FE9-7467-414A-A855-1B2EB14EC9A5}"/>
              </a:ext>
            </a:extLst>
          </p:cNvPr>
          <p:cNvSpPr/>
          <p:nvPr/>
        </p:nvSpPr>
        <p:spPr bwMode="auto">
          <a:xfrm>
            <a:off x="990600" y="2800350"/>
            <a:ext cx="6435839" cy="1219200"/>
          </a:xfrm>
          <a:prstGeom prst="donut">
            <a:avLst/>
          </a:prstGeom>
          <a:solidFill>
            <a:srgbClr val="FFFF00">
              <a:alpha val="50000"/>
            </a:srgbClr>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0000"/>
              </a:solidFill>
              <a:effectLst/>
              <a:latin typeface="Times" charset="0"/>
              <a:ea typeface="ＭＳ Ｐゴシック" charset="0"/>
            </a:endParaRPr>
          </a:p>
        </p:txBody>
      </p:sp>
    </p:spTree>
    <p:extLst>
      <p:ext uri="{BB962C8B-B14F-4D97-AF65-F5344CB8AC3E}">
        <p14:creationId xmlns:p14="http://schemas.microsoft.com/office/powerpoint/2010/main" val="562905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Date Placeholder 3">
            <a:extLst>
              <a:ext uri="{FF2B5EF4-FFF2-40B4-BE49-F238E27FC236}">
                <a16:creationId xmlns:a16="http://schemas.microsoft.com/office/drawing/2014/main" id="{B74CCB0F-2B8C-DA48-B9B6-5D5DC8FE1CD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470441A8-5C41-BD4D-9B61-FF018AA5E2C5}"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17410" name="Footer Placeholder 4">
            <a:extLst>
              <a:ext uri="{FF2B5EF4-FFF2-40B4-BE49-F238E27FC236}">
                <a16:creationId xmlns:a16="http://schemas.microsoft.com/office/drawing/2014/main" id="{D09DAB0C-30EB-E242-85E6-0F46531077A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17411" name="Rectangle 2">
            <a:extLst>
              <a:ext uri="{FF2B5EF4-FFF2-40B4-BE49-F238E27FC236}">
                <a16:creationId xmlns:a16="http://schemas.microsoft.com/office/drawing/2014/main" id="{6C6D466D-6675-C747-854A-F701DCEA0C14}"/>
              </a:ext>
            </a:extLst>
          </p:cNvPr>
          <p:cNvSpPr>
            <a:spLocks noGrp="1" noChangeArrowheads="1"/>
          </p:cNvSpPr>
          <p:nvPr>
            <p:ph type="title"/>
          </p:nvPr>
        </p:nvSpPr>
        <p:spPr/>
        <p:txBody>
          <a:bodyPr/>
          <a:lstStyle/>
          <a:p>
            <a:r>
              <a:rPr lang="en-US" altLang="en-US">
                <a:ea typeface="ＭＳ Ｐゴシック" panose="020B0600070205080204" pitchFamily="34" charset="-128"/>
              </a:rPr>
              <a:t>Overview</a:t>
            </a:r>
          </a:p>
        </p:txBody>
      </p:sp>
      <p:sp>
        <p:nvSpPr>
          <p:cNvPr id="17412" name="Rectangle 3">
            <a:extLst>
              <a:ext uri="{FF2B5EF4-FFF2-40B4-BE49-F238E27FC236}">
                <a16:creationId xmlns:a16="http://schemas.microsoft.com/office/drawing/2014/main" id="{2C52D3D0-74DF-FF4B-8816-1AC2324BD10A}"/>
              </a:ext>
            </a:extLst>
          </p:cNvPr>
          <p:cNvSpPr>
            <a:spLocks noGrp="1" noChangeArrowheads="1"/>
          </p:cNvSpPr>
          <p:nvPr>
            <p:ph type="body" idx="1"/>
          </p:nvPr>
        </p:nvSpPr>
        <p:spPr>
          <a:xfrm>
            <a:off x="838200" y="685800"/>
            <a:ext cx="8001000" cy="4171950"/>
          </a:xfrm>
        </p:spPr>
        <p:txBody>
          <a:bodyPr/>
          <a:lstStyle/>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Brain as center of perception</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Brain Structure</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Transduction &amp; Transmission</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Neural Signals</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Coding</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Upcoming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Date Placeholder 3">
            <a:extLst>
              <a:ext uri="{FF2B5EF4-FFF2-40B4-BE49-F238E27FC236}">
                <a16:creationId xmlns:a16="http://schemas.microsoft.com/office/drawing/2014/main" id="{6AD73A8B-38CB-2B4B-AE3D-22BE07F653D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D976380-119C-3F48-A59C-E46077F21BE3}"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19458" name="Footer Placeholder 4">
            <a:extLst>
              <a:ext uri="{FF2B5EF4-FFF2-40B4-BE49-F238E27FC236}">
                <a16:creationId xmlns:a16="http://schemas.microsoft.com/office/drawing/2014/main" id="{1754684D-BE54-724D-A2D8-0667E8A537A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19459" name="Rectangle 2">
            <a:extLst>
              <a:ext uri="{FF2B5EF4-FFF2-40B4-BE49-F238E27FC236}">
                <a16:creationId xmlns:a16="http://schemas.microsoft.com/office/drawing/2014/main" id="{01C17CEB-3A9B-3148-A9AD-54A0BD4AB9A9}"/>
              </a:ext>
            </a:extLst>
          </p:cNvPr>
          <p:cNvSpPr>
            <a:spLocks noGrp="1" noChangeArrowheads="1"/>
          </p:cNvSpPr>
          <p:nvPr>
            <p:ph type="title"/>
          </p:nvPr>
        </p:nvSpPr>
        <p:spPr/>
        <p:txBody>
          <a:bodyPr/>
          <a:lstStyle/>
          <a:p>
            <a:r>
              <a:rPr lang="en-US" altLang="en-US">
                <a:ea typeface="ＭＳ Ｐゴシック" panose="020B0600070205080204" pitchFamily="34" charset="-128"/>
              </a:rPr>
              <a:t>Brain as Center of Perception</a:t>
            </a:r>
          </a:p>
        </p:txBody>
      </p:sp>
      <p:sp>
        <p:nvSpPr>
          <p:cNvPr id="19460" name="Rectangle 3">
            <a:extLst>
              <a:ext uri="{FF2B5EF4-FFF2-40B4-BE49-F238E27FC236}">
                <a16:creationId xmlns:a16="http://schemas.microsoft.com/office/drawing/2014/main" id="{B93E2BB2-C3D4-F84E-906F-7CC29E13E327}"/>
              </a:ext>
            </a:extLst>
          </p:cNvPr>
          <p:cNvSpPr>
            <a:spLocks noGrp="1" noChangeArrowheads="1"/>
          </p:cNvSpPr>
          <p:nvPr>
            <p:ph type="body" idx="1"/>
          </p:nvPr>
        </p:nvSpPr>
        <p:spPr>
          <a:xfrm>
            <a:off x="838200" y="762000"/>
            <a:ext cx="5486400" cy="4171950"/>
          </a:xfrm>
        </p:spPr>
        <p:txBody>
          <a:bodyPr/>
          <a:lstStyle/>
          <a:p>
            <a:pPr>
              <a:lnSpc>
                <a:spcPct val="90000"/>
              </a:lnSpc>
            </a:pPr>
            <a:r>
              <a:rPr lang="en-US" altLang="en-US" sz="2000" dirty="0">
                <a:ea typeface="ＭＳ Ｐゴシック" panose="020B0600070205080204" pitchFamily="34" charset="-128"/>
              </a:rPr>
              <a:t>Study of the human as a perceiving “machine” led to the conclusion that the brain was center of thought and perception</a:t>
            </a:r>
          </a:p>
          <a:p>
            <a:pPr>
              <a:lnSpc>
                <a:spcPct val="90000"/>
              </a:lnSpc>
            </a:pPr>
            <a:endParaRPr lang="en-US" altLang="en-US" sz="2000" dirty="0">
              <a:ea typeface="ＭＳ Ｐゴシック" panose="020B0600070205080204" pitchFamily="34" charset="-128"/>
            </a:endParaRPr>
          </a:p>
          <a:p>
            <a:pPr>
              <a:lnSpc>
                <a:spcPct val="90000"/>
              </a:lnSpc>
            </a:pPr>
            <a:r>
              <a:rPr lang="en-US" altLang="en-US" sz="2000" dirty="0">
                <a:ea typeface="ＭＳ Ｐゴシック" panose="020B0600070205080204" pitchFamily="34" charset="-128"/>
              </a:rPr>
              <a:t>Early anatomists tried dissection to determine (1) structure, then (2) function</a:t>
            </a:r>
          </a:p>
          <a:p>
            <a:pPr>
              <a:lnSpc>
                <a:spcPct val="90000"/>
              </a:lnSpc>
            </a:pPr>
            <a:endParaRPr lang="en-US" altLang="en-US" sz="2000" dirty="0">
              <a:ea typeface="ＭＳ Ｐゴシック" panose="020B0600070205080204" pitchFamily="34" charset="-128"/>
            </a:endParaRPr>
          </a:p>
          <a:p>
            <a:pPr>
              <a:lnSpc>
                <a:spcPct val="90000"/>
              </a:lnSpc>
            </a:pPr>
            <a:r>
              <a:rPr lang="en-US" altLang="en-US" sz="2000" dirty="0">
                <a:ea typeface="ＭＳ Ｐゴシック" panose="020B0600070205080204" pitchFamily="34" charset="-128"/>
              </a:rPr>
              <a:t>Modern efforts much more effective !</a:t>
            </a:r>
          </a:p>
        </p:txBody>
      </p:sp>
      <p:pic>
        <p:nvPicPr>
          <p:cNvPr id="19461" name="Picture 4" descr="The image displays two views of a human brain against a black background. The top portion shows the superior view of a brain that has been surgically or naturally divided down the midline into two hemispheres. The characteristic gyri (folds) and sulci (grooves) of the cerebral cortex are clearly visible, with a rich network of dark blue blood vessels snaking through the lighter brown, wrinkled tissue. The bottom portion of the image presents a similar view of a whole brain, also emphasizing the intricate pattern of the cerebral cortex and its vascularization. The overall texture is moist and detailed, highlighting the complex structure of the brain. The context, &quot;Brain as Center of Perception,&quot; suggests this image is intended to illustrate the physical organ responsible for sensory processing and consciousness.">
            <a:extLst>
              <a:ext uri="{FF2B5EF4-FFF2-40B4-BE49-F238E27FC236}">
                <a16:creationId xmlns:a16="http://schemas.microsoft.com/office/drawing/2014/main" id="{8363DA79-3720-1F41-8661-DA78AEDDA2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742950"/>
            <a:ext cx="2396067" cy="3620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Date Placeholder 3">
            <a:extLst>
              <a:ext uri="{FF2B5EF4-FFF2-40B4-BE49-F238E27FC236}">
                <a16:creationId xmlns:a16="http://schemas.microsoft.com/office/drawing/2014/main" id="{D497DFB1-0648-0F41-85C5-7831C637BCB8}"/>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85F0751-AA33-8041-A0B1-3573A6CC8921}"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21506" name="Footer Placeholder 4">
            <a:extLst>
              <a:ext uri="{FF2B5EF4-FFF2-40B4-BE49-F238E27FC236}">
                <a16:creationId xmlns:a16="http://schemas.microsoft.com/office/drawing/2014/main" id="{464259C6-498D-BE49-A278-D6ED9302585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21507" name="Rectangle 2">
            <a:extLst>
              <a:ext uri="{FF2B5EF4-FFF2-40B4-BE49-F238E27FC236}">
                <a16:creationId xmlns:a16="http://schemas.microsoft.com/office/drawing/2014/main" id="{4A649948-3311-754F-BAFA-B2BA18EFBB85}"/>
              </a:ext>
            </a:extLst>
          </p:cNvPr>
          <p:cNvSpPr>
            <a:spLocks noGrp="1" noChangeArrowheads="1"/>
          </p:cNvSpPr>
          <p:nvPr>
            <p:ph type="title"/>
          </p:nvPr>
        </p:nvSpPr>
        <p:spPr/>
        <p:txBody>
          <a:bodyPr/>
          <a:lstStyle/>
          <a:p>
            <a:r>
              <a:rPr lang="en-US" altLang="en-US">
                <a:ea typeface="ＭＳ Ｐゴシック" panose="020B0600070205080204" pitchFamily="34" charset="-128"/>
              </a:rPr>
              <a:t>Made Up of Neurons…</a:t>
            </a:r>
          </a:p>
        </p:txBody>
      </p:sp>
      <p:sp>
        <p:nvSpPr>
          <p:cNvPr id="21508" name="Rectangle 3">
            <a:extLst>
              <a:ext uri="{FF2B5EF4-FFF2-40B4-BE49-F238E27FC236}">
                <a16:creationId xmlns:a16="http://schemas.microsoft.com/office/drawing/2014/main" id="{0FA59155-5373-5A40-A771-48C3313E5410}"/>
              </a:ext>
            </a:extLst>
          </p:cNvPr>
          <p:cNvSpPr>
            <a:spLocks noGrp="1" noChangeArrowheads="1"/>
          </p:cNvSpPr>
          <p:nvPr>
            <p:ph type="body" idx="1"/>
          </p:nvPr>
        </p:nvSpPr>
        <p:spPr>
          <a:xfrm>
            <a:off x="838200" y="762000"/>
            <a:ext cx="5486400" cy="4171950"/>
          </a:xfrm>
        </p:spPr>
        <p:txBody>
          <a:bodyPr/>
          <a:lstStyle/>
          <a:p>
            <a:pPr>
              <a:lnSpc>
                <a:spcPct val="90000"/>
              </a:lnSpc>
            </a:pPr>
            <a:r>
              <a:rPr lang="en-US" altLang="en-US" sz="2200" dirty="0">
                <a:ea typeface="ＭＳ Ｐゴシック" panose="020B0600070205080204" pitchFamily="34" charset="-128"/>
              </a:rPr>
              <a:t>The Neuron Doctrine</a:t>
            </a:r>
          </a:p>
          <a:p>
            <a:pPr lvl="1">
              <a:lnSpc>
                <a:spcPct val="90000"/>
              </a:lnSpc>
            </a:pPr>
            <a:r>
              <a:rPr lang="en-US" altLang="en-US" sz="2200" dirty="0">
                <a:ea typeface="ＭＳ Ｐゴシック" panose="020B0600070205080204" pitchFamily="34" charset="-128"/>
              </a:rPr>
              <a:t>Neurons &amp; their synapses are the fundamental entities in brain functions, including the mind and consciousness</a:t>
            </a:r>
          </a:p>
          <a:p>
            <a:pPr lvl="1">
              <a:lnSpc>
                <a:spcPct val="90000"/>
              </a:lnSpc>
            </a:pPr>
            <a:r>
              <a:rPr lang="en-US" altLang="en-US" sz="2200" dirty="0">
                <a:ea typeface="ＭＳ Ｐゴシック" panose="020B0600070205080204" pitchFamily="34" charset="-128"/>
              </a:rPr>
              <a:t>All the functions of the brain must ultimately be understood in terms of neurons and their interactions</a:t>
            </a:r>
          </a:p>
          <a:p>
            <a:pPr lvl="1">
              <a:lnSpc>
                <a:spcPct val="90000"/>
              </a:lnSpc>
            </a:pPr>
            <a:r>
              <a:rPr lang="en-US" altLang="en-US" sz="2200" dirty="0">
                <a:ea typeface="ＭＳ Ｐゴシック" panose="020B0600070205080204" pitchFamily="34" charset="-128"/>
              </a:rPr>
              <a:t>Note: Neurons are electric</a:t>
            </a:r>
          </a:p>
        </p:txBody>
      </p:sp>
      <p:pic>
        <p:nvPicPr>
          <p:cNvPr id="21509" name="Picture 5" descr="A microscopic image depicts a network of neurons stained a deep red against an orange, hazy background. The neurons are pyramidal in shape, with prominent cell bodies from which numerous branching dendrites extend, creating a complex, tree-like structure. The image is a close-up, highlighting the intricate details of the neuronal connections, suggesting a study of brain anatomy or function. The title &quot;Made Up of Neurons&quot; and the course number &quot;PSYCH 4041 / 6014&quot; indicate this is likely an educational illustration related to neuroscience or psychology.">
            <a:extLst>
              <a:ext uri="{FF2B5EF4-FFF2-40B4-BE49-F238E27FC236}">
                <a16:creationId xmlns:a16="http://schemas.microsoft.com/office/drawing/2014/main" id="{6B7C7D7C-FCFE-814F-A42C-1E07937956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4391" y="819150"/>
            <a:ext cx="2132409"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7DEA07D7-B863-D74C-853E-B17B753A0463}"/>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Basic Brain Structure</a:t>
            </a:r>
          </a:p>
        </p:txBody>
      </p:sp>
      <p:sp>
        <p:nvSpPr>
          <p:cNvPr id="23554" name="Rectangle 3">
            <a:extLst>
              <a:ext uri="{FF2B5EF4-FFF2-40B4-BE49-F238E27FC236}">
                <a16:creationId xmlns:a16="http://schemas.microsoft.com/office/drawing/2014/main" id="{D8C615DF-A988-584B-959D-8AA00A71291F}"/>
              </a:ext>
            </a:extLst>
          </p:cNvPr>
          <p:cNvSpPr>
            <a:spLocks noGrp="1" noChangeArrowheads="1"/>
          </p:cNvSpPr>
          <p:nvPr>
            <p:ph type="body" idx="1"/>
          </p:nvPr>
        </p:nvSpPr>
        <p:spPr>
          <a:xfrm>
            <a:off x="838200" y="857250"/>
            <a:ext cx="6648450" cy="365760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The brain has modular organization</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The sensory modalities have primary receiving areas</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Audition - temporal lobe</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Tactile senses - parietal lobe</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Vision - occipital lobe</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Etc.</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Frontal lobe coordinates information received from two or more senses</a:t>
            </a:r>
          </a:p>
        </p:txBody>
      </p:sp>
      <p:sp>
        <p:nvSpPr>
          <p:cNvPr id="23555" name="Date Placeholder 1">
            <a:extLst>
              <a:ext uri="{FF2B5EF4-FFF2-40B4-BE49-F238E27FC236}">
                <a16:creationId xmlns:a16="http://schemas.microsoft.com/office/drawing/2014/main" id="{2F967521-A193-1843-B9FF-883539FCD86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1DA6B711-F320-CA47-8965-BE2A034C453B}"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23556" name="Footer Placeholder 2">
            <a:extLst>
              <a:ext uri="{FF2B5EF4-FFF2-40B4-BE49-F238E27FC236}">
                <a16:creationId xmlns:a16="http://schemas.microsoft.com/office/drawing/2014/main" id="{DA381CA7-7BFC-F844-8009-72C9FF712F0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7FD46BCF-354D-C84D-9640-D842959E13C7}"/>
              </a:ext>
            </a:extLst>
          </p:cNvPr>
          <p:cNvSpPr>
            <a:spLocks noGrp="1" noChangeArrowheads="1"/>
          </p:cNvSpPr>
          <p:nvPr>
            <p:ph type="body" idx="1"/>
          </p:nvPr>
        </p:nvSpPr>
        <p:spPr>
          <a:xfrm>
            <a:off x="2019300" y="3943350"/>
            <a:ext cx="6057900" cy="1028700"/>
          </a:xfrm>
          <a:solidFill>
            <a:schemeClr val="bg1"/>
          </a:solidFill>
        </p:spPr>
        <p:txBody>
          <a:bodyPr anchor="b"/>
          <a:lstStyle/>
          <a:p>
            <a:pPr marL="0" indent="0">
              <a:lnSpc>
                <a:spcPct val="80000"/>
              </a:lnSpc>
              <a:buNone/>
            </a:pPr>
            <a:r>
              <a:rPr lang="en-US" altLang="en-US" sz="975" dirty="0">
                <a:latin typeface="Arial" panose="020B0604020202020204" pitchFamily="34" charset="0"/>
                <a:ea typeface="ＭＳ Ｐゴシック" panose="020B0600070205080204" pitchFamily="34" charset="-128"/>
              </a:rPr>
              <a:t>Figure 2.3 The human brain, showing the locations of the primary receiving areas for the senses in the temporal, occipital, and parietal lobes, and the frontal lobe, which is involved with integrating sensory functions.</a:t>
            </a:r>
          </a:p>
        </p:txBody>
      </p:sp>
      <p:pic>
        <p:nvPicPr>
          <p:cNvPr id="25602" name="Picture 4" descr="The diagram shows a lateral view of the human brain, with different lobes labeled. The largest part of the brain, the cerebrum, is depicted with its characteristic folds and grooves. Labels point to the frontal lobe, parietal lobe (indicating skin senses), temporal lobe (indicating hearing), and occipital lobe (indicating vision). A portion of the cerebellum is visible at the base of the brain, underneath the cerebrum. The image's context states that it illustrates the locations of primary receiving areas for senses and the frontal lobe's role in integrating sensory functions.">
            <a:extLst>
              <a:ext uri="{FF2B5EF4-FFF2-40B4-BE49-F238E27FC236}">
                <a16:creationId xmlns:a16="http://schemas.microsoft.com/office/drawing/2014/main" id="{84859B0F-B8DC-1F44-A0AB-0A0877E81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04807"/>
            <a:ext cx="6477000" cy="4448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3" name="Date Placeholder 1">
            <a:extLst>
              <a:ext uri="{FF2B5EF4-FFF2-40B4-BE49-F238E27FC236}">
                <a16:creationId xmlns:a16="http://schemas.microsoft.com/office/drawing/2014/main" id="{7BEF6A66-4D97-474A-8328-B4B3B64BFBE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9A86305-13EB-E149-8B7F-A8AC79AE81A2}"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268F3162-86D0-9E4B-A4A1-EDE1465DF482}"/>
              </a:ext>
            </a:extLst>
          </p:cNvPr>
          <p:cNvSpPr>
            <a:spLocks noGrp="1" noChangeArrowheads="1"/>
          </p:cNvSpPr>
          <p:nvPr>
            <p:ph type="title"/>
          </p:nvPr>
        </p:nvSpPr>
        <p:spPr>
          <a:xfrm>
            <a:off x="1143000" y="0"/>
            <a:ext cx="7543800" cy="628650"/>
          </a:xfrm>
        </p:spPr>
        <p:txBody>
          <a:bodyPr/>
          <a:lstStyle/>
          <a:p>
            <a:r>
              <a:rPr lang="en-US" altLang="en-US" sz="2700" dirty="0">
                <a:ea typeface="ＭＳ Ｐゴシック" panose="020B0600070205080204" pitchFamily="34" charset="-128"/>
              </a:rPr>
              <a:t>Neurons: Transduction &amp; Transmission</a:t>
            </a:r>
          </a:p>
        </p:txBody>
      </p:sp>
      <p:sp>
        <p:nvSpPr>
          <p:cNvPr id="27650" name="Rectangle 3">
            <a:extLst>
              <a:ext uri="{FF2B5EF4-FFF2-40B4-BE49-F238E27FC236}">
                <a16:creationId xmlns:a16="http://schemas.microsoft.com/office/drawing/2014/main" id="{E04CE557-18BC-2B4E-97EC-E93FCA4EB628}"/>
              </a:ext>
            </a:extLst>
          </p:cNvPr>
          <p:cNvSpPr>
            <a:spLocks noGrp="1" noChangeArrowheads="1"/>
          </p:cNvSpPr>
          <p:nvPr>
            <p:ph type="body" idx="1"/>
          </p:nvPr>
        </p:nvSpPr>
        <p:spPr>
          <a:xfrm>
            <a:off x="838200" y="685800"/>
            <a:ext cx="6648450" cy="3829050"/>
          </a:xfrm>
        </p:spPr>
        <p:txBody>
          <a:bodyPr/>
          <a:lstStyle/>
          <a:p>
            <a:pPr>
              <a:spcBef>
                <a:spcPct val="30000"/>
              </a:spcBef>
            </a:pPr>
            <a:r>
              <a:rPr lang="en-US" altLang="en-US" sz="2100" dirty="0">
                <a:latin typeface="Arial" panose="020B0604020202020204" pitchFamily="34" charset="0"/>
                <a:ea typeface="ＭＳ Ｐゴシック" panose="020B0600070205080204" pitchFamily="34" charset="-128"/>
              </a:rPr>
              <a:t>Receptors - specialized neurons that respond to specific kinds of energy</a:t>
            </a:r>
            <a:endParaRPr lang="en-US" altLang="en-US" dirty="0">
              <a:latin typeface="Arial" panose="020B0604020202020204" pitchFamily="34" charset="0"/>
              <a:ea typeface="ＭＳ Ｐゴシック" panose="020B0600070205080204" pitchFamily="34" charset="-128"/>
            </a:endParaRPr>
          </a:p>
        </p:txBody>
      </p:sp>
      <p:pic>
        <p:nvPicPr>
          <p:cNvPr id="27651" name="Picture 4" descr="The diagram displays five distinct types of receptor neurons, labeled (a) Vision, (b) Hearing, (c) Touch, (d) Smell, and (e) Taste. Each receptor is presented in a stylized, illustrative format, against a light blue background.&#10;&#10;Panel (a) shows a rod-shaped neuron with stacked internal segments and a synaptic terminal. This is labeled as a &quot;Vision&quot; receptor.&#10;&#10;Panel (b) depicts a neuron with a central nucleus and outer hair-like structures, situated within a supportive cell, designated for &quot;Hearing.&quot;&#10;&#10;Panel (c) presents a bulbous structure filled with folded tissue, resembling a cluster of cells or a receptive surface, identified as a &quot;Touch&quot; receptor.&#10;&#10;Panel (d) illustrates a cross-section of epithelial tissue containing two types of neurons, one red and one green, both with nuclei and branching dendrites extending towards the surface, representing &quot;Smell&quot; receptors.&#10;&#10;Panel (e) shows a teardrop-shaped neuron with a prominent nucleus and a hair-like projection at its apex, and a nerve fiber extending from its base, labeled as a &quot;Taste&quot; receptor.&#10;&#10;Each illustration includes an asterisk (*) above or beside the primary receptor structure, potentially indicating a key feature or location relevant to its function within the broader context of &quot;Neurons: Transduction &amp; Transmission.&quot; The labels below each panel clearly associate the visual representation with a specific sensory modality.">
            <a:extLst>
              <a:ext uri="{FF2B5EF4-FFF2-40B4-BE49-F238E27FC236}">
                <a16:creationId xmlns:a16="http://schemas.microsoft.com/office/drawing/2014/main" id="{EDC8230E-1E0A-5844-B2FC-597149D206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785" y="1581150"/>
            <a:ext cx="8327615" cy="2947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2" name="Date Placeholder 1">
            <a:extLst>
              <a:ext uri="{FF2B5EF4-FFF2-40B4-BE49-F238E27FC236}">
                <a16:creationId xmlns:a16="http://schemas.microsoft.com/office/drawing/2014/main" id="{416B7D9C-3591-114C-835B-7A772AB9DF1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39373439-8050-094F-AA91-928198248D79}"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27653" name="Footer Placeholder 2">
            <a:extLst>
              <a:ext uri="{FF2B5EF4-FFF2-40B4-BE49-F238E27FC236}">
                <a16:creationId xmlns:a16="http://schemas.microsoft.com/office/drawing/2014/main" id="{5853A928-1411-5447-A2C9-A417A56972A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3E241A2D-2707-D549-8D5F-DBB2AAD12487}"/>
              </a:ext>
            </a:extLst>
          </p:cNvPr>
          <p:cNvSpPr>
            <a:spLocks noGrp="1" noChangeArrowheads="1"/>
          </p:cNvSpPr>
          <p:nvPr>
            <p:ph type="title"/>
          </p:nvPr>
        </p:nvSpPr>
        <p:spPr>
          <a:xfrm>
            <a:off x="1143000" y="0"/>
            <a:ext cx="7543800" cy="628650"/>
          </a:xfrm>
        </p:spPr>
        <p:txBody>
          <a:bodyPr/>
          <a:lstStyle/>
          <a:p>
            <a:r>
              <a:rPr lang="en-US" altLang="en-US" sz="2700" dirty="0">
                <a:ea typeface="ＭＳ Ｐゴシック" panose="020B0600070205080204" pitchFamily="34" charset="-128"/>
              </a:rPr>
              <a:t>Neurons: Transduction &amp; Transmission</a:t>
            </a:r>
          </a:p>
        </p:txBody>
      </p:sp>
      <p:sp>
        <p:nvSpPr>
          <p:cNvPr id="29698" name="Rectangle 3">
            <a:extLst>
              <a:ext uri="{FF2B5EF4-FFF2-40B4-BE49-F238E27FC236}">
                <a16:creationId xmlns:a16="http://schemas.microsoft.com/office/drawing/2014/main" id="{FFFB08A7-53EC-254D-AC7E-F67645324D6B}"/>
              </a:ext>
            </a:extLst>
          </p:cNvPr>
          <p:cNvSpPr>
            <a:spLocks noGrp="1" noChangeArrowheads="1"/>
          </p:cNvSpPr>
          <p:nvPr>
            <p:ph type="body" idx="1"/>
          </p:nvPr>
        </p:nvSpPr>
        <p:spPr>
          <a:xfrm>
            <a:off x="838200" y="685800"/>
            <a:ext cx="6648450" cy="382905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Key components of neurons: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Cell body</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Dendrites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Axon or nerve fiber</a:t>
            </a:r>
          </a:p>
        </p:txBody>
      </p:sp>
      <p:pic>
        <p:nvPicPr>
          <p:cNvPr id="29699" name="Picture 4" descr="The diagram illustrates the process of nerve signal transduction and transmission. On the left, a circular structure labeled &quot;Touch receptor&quot; is depicted receiving a &quot;Stimulus from environment,&quot; indicated by a red arrow. This stimulus is then converted into an &quot;Electrical signal,&quot; shown as a red arrow moving along a structure labeled &quot;Nerve fiber.&quot; This nerve fiber leads to a synapse, which connects to a neuron. The neuron itself is composed of a central &quot;Cell body,&quot; from which numerous branched &quot;Dendrites&quot; extend. An &quot;Axon or nerve fiber&quot; originates from the cell body and transmits the electrical signal further, as indicated by another red arrow showing the signal's propagation along the axon. The right end of the axon branches out into terminal extensions. The diagram visually represents how a sensory input is received, transduced into an electrical signal, and transmitted along a neuron to communicate with other cells.">
            <a:extLst>
              <a:ext uri="{FF2B5EF4-FFF2-40B4-BE49-F238E27FC236}">
                <a16:creationId xmlns:a16="http://schemas.microsoft.com/office/drawing/2014/main" id="{69ACFB55-B8E3-314B-B581-5E5B86F79B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395495"/>
            <a:ext cx="8067897" cy="2081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0" name="Rectangle 2">
            <a:extLst>
              <a:ext uri="{FF2B5EF4-FFF2-40B4-BE49-F238E27FC236}">
                <a16:creationId xmlns:a16="http://schemas.microsoft.com/office/drawing/2014/main" id="{94A4D5F1-EEFA-7F42-973D-7198A94416D0}"/>
              </a:ext>
            </a:extLst>
          </p:cNvPr>
          <p:cNvSpPr txBox="1">
            <a:spLocks noChangeArrowheads="1"/>
          </p:cNvSpPr>
          <p:nvPr/>
        </p:nvSpPr>
        <p:spPr bwMode="auto">
          <a:xfrm>
            <a:off x="2247900" y="4476750"/>
            <a:ext cx="6057900" cy="471488"/>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975" dirty="0">
                <a:latin typeface="Arial" panose="020B0604020202020204" pitchFamily="34" charset="0"/>
              </a:rPr>
              <a:t>Figure 2.4 The neuron on the right consists of a cell body, dendrites, and an axon, or nerve fiber.  The neuron on the left that receives stimuli from the environment has a receptor in place of the cell body.</a:t>
            </a:r>
          </a:p>
        </p:txBody>
      </p:sp>
      <p:sp>
        <p:nvSpPr>
          <p:cNvPr id="29701" name="Date Placeholder 1">
            <a:extLst>
              <a:ext uri="{FF2B5EF4-FFF2-40B4-BE49-F238E27FC236}">
                <a16:creationId xmlns:a16="http://schemas.microsoft.com/office/drawing/2014/main" id="{0FB608D1-8E1B-E149-906C-1951EDFEB1EF}"/>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B63C21AA-C9E3-5D42-B571-1B128C2FCBB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242D317F-DF76-8043-AD69-87BC5CB5EA6E}"/>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Neural Signals</a:t>
            </a:r>
          </a:p>
        </p:txBody>
      </p:sp>
      <p:sp>
        <p:nvSpPr>
          <p:cNvPr id="31746" name="Rectangle 3">
            <a:extLst>
              <a:ext uri="{FF2B5EF4-FFF2-40B4-BE49-F238E27FC236}">
                <a16:creationId xmlns:a16="http://schemas.microsoft.com/office/drawing/2014/main" id="{5A1FAB20-FBA6-9842-ADB3-431636B93808}"/>
              </a:ext>
            </a:extLst>
          </p:cNvPr>
          <p:cNvSpPr>
            <a:spLocks noGrp="1" noChangeArrowheads="1"/>
          </p:cNvSpPr>
          <p:nvPr>
            <p:ph type="body" idx="1"/>
          </p:nvPr>
        </p:nvSpPr>
        <p:spPr>
          <a:xfrm>
            <a:off x="866775" y="792956"/>
            <a:ext cx="4514850" cy="3714750"/>
          </a:xfrm>
        </p:spPr>
        <p:txBody>
          <a:bodyPr/>
          <a:lstStyle/>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Electrical signals or action potentials</a:t>
            </a:r>
            <a:br>
              <a:rPr lang="en-US" altLang="en-US" sz="2000" dirty="0">
                <a:latin typeface="Tahoma" panose="020B0604030504040204" pitchFamily="34" charset="0"/>
                <a:ea typeface="Tahoma" panose="020B0604030504040204" pitchFamily="34" charset="0"/>
                <a:cs typeface="Tahoma" panose="020B0604030504040204" pitchFamily="34" charset="0"/>
              </a:rPr>
            </a:br>
            <a:r>
              <a:rPr lang="en-US" altLang="en-US" sz="2000" dirty="0">
                <a:latin typeface="Tahoma" panose="020B0604030504040204" pitchFamily="34" charset="0"/>
                <a:ea typeface="Tahoma" panose="020B0604030504040204" pitchFamily="34" charset="0"/>
                <a:cs typeface="Tahoma" panose="020B0604030504040204" pitchFamily="34" charset="0"/>
              </a:rPr>
              <a:t> occur when:</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permeability of the membrane changes</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Na+ flows into the fiber making </a:t>
            </a:r>
            <a:br>
              <a:rPr lang="en-US" altLang="en-US" sz="2000" dirty="0">
                <a:latin typeface="Tahoma" panose="020B0604030504040204" pitchFamily="34" charset="0"/>
                <a:ea typeface="Tahoma" panose="020B0604030504040204" pitchFamily="34" charset="0"/>
                <a:cs typeface="Tahoma" panose="020B0604030504040204" pitchFamily="34" charset="0"/>
              </a:rPr>
            </a:br>
            <a:r>
              <a:rPr lang="en-US" altLang="en-US" sz="2000" dirty="0">
                <a:latin typeface="Tahoma" panose="020B0604030504040204" pitchFamily="34" charset="0"/>
                <a:ea typeface="Tahoma" panose="020B0604030504040204" pitchFamily="34" charset="0"/>
                <a:cs typeface="Tahoma" panose="020B0604030504040204" pitchFamily="34" charset="0"/>
              </a:rPr>
              <a:t>the neuron more positive </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K+ flows out of the fiber making </a:t>
            </a:r>
            <a:br>
              <a:rPr lang="en-US" altLang="en-US" sz="2000" dirty="0">
                <a:latin typeface="Tahoma" panose="020B0604030504040204" pitchFamily="34" charset="0"/>
                <a:ea typeface="Tahoma" panose="020B0604030504040204" pitchFamily="34" charset="0"/>
                <a:cs typeface="Tahoma" panose="020B0604030504040204" pitchFamily="34" charset="0"/>
              </a:rPr>
            </a:br>
            <a:r>
              <a:rPr lang="en-US" altLang="en-US" sz="2000" dirty="0">
                <a:latin typeface="Tahoma" panose="020B0604030504040204" pitchFamily="34" charset="0"/>
                <a:ea typeface="Tahoma" panose="020B0604030504040204" pitchFamily="34" charset="0"/>
                <a:cs typeface="Tahoma" panose="020B0604030504040204" pitchFamily="34" charset="0"/>
              </a:rPr>
              <a:t>the neuron more negative</a:t>
            </a:r>
          </a:p>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This process travels down the axon in a propagated response</a:t>
            </a:r>
          </a:p>
          <a:p>
            <a:pPr lvl="1">
              <a:lnSpc>
                <a:spcPct val="90000"/>
              </a:lnSpc>
              <a:spcBef>
                <a:spcPct val="30000"/>
              </a:spcBef>
            </a:pPr>
            <a:endParaRPr lang="en-US" altLang="en-US" sz="2000" dirty="0">
              <a:latin typeface="Tahoma" panose="020B0604030504040204" pitchFamily="34" charset="0"/>
              <a:ea typeface="Tahoma" panose="020B0604030504040204" pitchFamily="34" charset="0"/>
              <a:cs typeface="Tahoma" panose="020B0604030504040204" pitchFamily="34" charset="0"/>
            </a:endParaRPr>
          </a:p>
        </p:txBody>
      </p:sp>
      <p:pic>
        <p:nvPicPr>
          <p:cNvPr id="31747" name="Picture 4" descr="1. The main trend shown in the graphs is the change in electrical charge inside a nerve fiber over time as a nerve impulse passes. Initially, the fiber is at a resting potential, then the charge rapidly increases and then decreases back to the resting potential.&#10;2. The vertical axis represents the electrical charge inside the nerve fiber relative to the outside, measured in millivolts (mV). The horizontal axis in the top graph represents time.&#10;3. The graphs illustrate a rapid depolarization of the nerve fiber followed by repolarization, returning to the resting membrane potential. This process is depicted as a transient wave of electrical activity.">
            <a:extLst>
              <a:ext uri="{FF2B5EF4-FFF2-40B4-BE49-F238E27FC236}">
                <a16:creationId xmlns:a16="http://schemas.microsoft.com/office/drawing/2014/main" id="{2B2EA2DA-F5F3-D241-8C7D-A0EA4FF038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6166" y="800100"/>
            <a:ext cx="3170634" cy="3500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8" name="Date Placeholder 1">
            <a:extLst>
              <a:ext uri="{FF2B5EF4-FFF2-40B4-BE49-F238E27FC236}">
                <a16:creationId xmlns:a16="http://schemas.microsoft.com/office/drawing/2014/main" id="{6CC403BE-2CF1-634E-99A5-930E7B60E07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A56E3F5E-46BE-0C4A-9B48-7A0757E0168F}"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1749" name="Footer Placeholder 2">
            <a:extLst>
              <a:ext uri="{FF2B5EF4-FFF2-40B4-BE49-F238E27FC236}">
                <a16:creationId xmlns:a16="http://schemas.microsoft.com/office/drawing/2014/main" id="{E7BD3A59-C96D-0342-8BA4-E2CFE59413E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0D084AA8-0E46-0B41-BA15-3867FDBF548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Properties of Action Potentials</a:t>
            </a:r>
          </a:p>
        </p:txBody>
      </p:sp>
      <p:sp>
        <p:nvSpPr>
          <p:cNvPr id="33794" name="Rectangle 3">
            <a:extLst>
              <a:ext uri="{FF2B5EF4-FFF2-40B4-BE49-F238E27FC236}">
                <a16:creationId xmlns:a16="http://schemas.microsoft.com/office/drawing/2014/main" id="{D26D8A89-1DF6-6641-BB7E-B3F5CF742404}"/>
              </a:ext>
            </a:extLst>
          </p:cNvPr>
          <p:cNvSpPr>
            <a:spLocks noGrp="1" noChangeArrowheads="1"/>
          </p:cNvSpPr>
          <p:nvPr>
            <p:ph type="body" idx="1"/>
          </p:nvPr>
        </p:nvSpPr>
        <p:spPr>
          <a:xfrm>
            <a:off x="838200" y="800100"/>
            <a:ext cx="7162800" cy="371475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Action potentials: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show propagated response.</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remain the same size regardless of stimulus intensity.</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increase in </a:t>
            </a:r>
            <a:r>
              <a:rPr lang="en-US" altLang="en-US" sz="2000" b="1" dirty="0">
                <a:latin typeface="Tahoma" panose="020B0604030504040204" pitchFamily="34" charset="0"/>
                <a:ea typeface="Tahoma" panose="020B0604030504040204" pitchFamily="34" charset="0"/>
                <a:cs typeface="Tahoma" panose="020B0604030504040204" pitchFamily="34" charset="0"/>
              </a:rPr>
              <a:t>rate </a:t>
            </a:r>
            <a:r>
              <a:rPr lang="en-US" altLang="en-US" sz="2000" dirty="0">
                <a:latin typeface="Tahoma" panose="020B0604030504040204" pitchFamily="34" charset="0"/>
                <a:ea typeface="Tahoma" panose="020B0604030504040204" pitchFamily="34" charset="0"/>
                <a:cs typeface="Tahoma" panose="020B0604030504040204" pitchFamily="34" charset="0"/>
              </a:rPr>
              <a:t>to increase in stimulus intensity.</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have a refractory period of 1 </a:t>
            </a:r>
            <a:r>
              <a:rPr lang="en-US" altLang="en-US" sz="2000" dirty="0" err="1">
                <a:latin typeface="Tahoma" panose="020B0604030504040204" pitchFamily="34" charset="0"/>
                <a:ea typeface="Tahoma" panose="020B0604030504040204" pitchFamily="34" charset="0"/>
                <a:cs typeface="Tahoma" panose="020B0604030504040204" pitchFamily="34" charset="0"/>
              </a:rPr>
              <a:t>ms</a:t>
            </a:r>
            <a:r>
              <a:rPr lang="en-US" altLang="en-US" sz="2000" dirty="0">
                <a:latin typeface="Tahoma" panose="020B0604030504040204" pitchFamily="34" charset="0"/>
                <a:ea typeface="Tahoma" panose="020B0604030504040204" pitchFamily="34" charset="0"/>
                <a:cs typeface="Tahoma" panose="020B0604030504040204" pitchFamily="34" charset="0"/>
              </a:rPr>
              <a:t> - </a:t>
            </a:r>
            <a:r>
              <a:rPr lang="en-US" altLang="en-US" sz="2000" b="1" dirty="0">
                <a:latin typeface="Tahoma" panose="020B0604030504040204" pitchFamily="34" charset="0"/>
                <a:ea typeface="Tahoma" panose="020B0604030504040204" pitchFamily="34" charset="0"/>
                <a:cs typeface="Tahoma" panose="020B0604030504040204" pitchFamily="34" charset="0"/>
              </a:rPr>
              <a:t>upper firing rate </a:t>
            </a:r>
            <a:r>
              <a:rPr lang="en-US" altLang="en-US" sz="2000" dirty="0">
                <a:latin typeface="Tahoma" panose="020B0604030504040204" pitchFamily="34" charset="0"/>
                <a:ea typeface="Tahoma" panose="020B0604030504040204" pitchFamily="34" charset="0"/>
                <a:cs typeface="Tahoma" panose="020B0604030504040204" pitchFamily="34" charset="0"/>
              </a:rPr>
              <a:t>is 500 to 800 impulses per second.</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show spontaneous activity that occurs without stimulation (neuronal noise).</a:t>
            </a:r>
          </a:p>
        </p:txBody>
      </p:sp>
      <p:sp>
        <p:nvSpPr>
          <p:cNvPr id="33795" name="Date Placeholder 1">
            <a:extLst>
              <a:ext uri="{FF2B5EF4-FFF2-40B4-BE49-F238E27FC236}">
                <a16:creationId xmlns:a16="http://schemas.microsoft.com/office/drawing/2014/main" id="{EE05B481-9AF4-F94C-B6FF-1FDCCFEBD9E3}"/>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7D9888F8-8F4A-144E-B4DC-BCCEBEB728F9}"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3796" name="Footer Placeholder 2">
            <a:extLst>
              <a:ext uri="{FF2B5EF4-FFF2-40B4-BE49-F238E27FC236}">
                <a16:creationId xmlns:a16="http://schemas.microsoft.com/office/drawing/2014/main" id="{90590B3B-5A73-3C45-A8FF-88E166A2C45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0B5D2456-7F45-814E-BEA2-67251C9F7F88}"/>
              </a:ext>
            </a:extLst>
          </p:cNvPr>
          <p:cNvSpPr>
            <a:spLocks noGrp="1" noChangeArrowheads="1"/>
          </p:cNvSpPr>
          <p:nvPr>
            <p:ph type="body" idx="1"/>
          </p:nvPr>
        </p:nvSpPr>
        <p:spPr>
          <a:xfrm>
            <a:off x="1543050" y="3886200"/>
            <a:ext cx="6057900" cy="1028700"/>
          </a:xfrm>
        </p:spPr>
        <p:txBody>
          <a:bodyPr anchor="b"/>
          <a:lstStyle/>
          <a:p>
            <a:pPr marL="0" indent="0">
              <a:lnSpc>
                <a:spcPct val="80000"/>
              </a:lnSpc>
              <a:buNone/>
            </a:pPr>
            <a:r>
              <a:rPr lang="en-US" altLang="en-US" sz="975" dirty="0">
                <a:latin typeface="Arial" panose="020B0604020202020204" pitchFamily="34" charset="0"/>
                <a:ea typeface="ＭＳ Ｐゴシック" panose="020B0600070205080204" pitchFamily="34" charset="-128"/>
              </a:rPr>
              <a:t>Figure 2.10 Response of a nerve fiber to (a) soft, (b) medium, and (c) strong stimulation. Increasing the stimulus strength increases both the rate and the regularity of nerve firing in this fiber.</a:t>
            </a:r>
          </a:p>
        </p:txBody>
      </p:sp>
      <p:pic>
        <p:nvPicPr>
          <p:cNvPr id="35842" name="Picture 4" descr="1. The main trend shows that as stimulus intensity increases, the rate and regularity of nerve firing increases.&#10;2. The horizontal axis represents time. The vertical axis represents the firing of a nerve impulse, indicated by vertical lines. There are three rows of data, labeled (a), (b), and (c), representing increasing stimulus intensities. Arrows indicate when the stimulus (pressure) is applied and removed.&#10;3. N/A&#10;4. This diagram illustrates how different levels of stimulation affect the electrical activity of a nerve fiber. Row (a) shows a low-intensity stimulus resulting in infrequent nerve firings. Row (b) shows a medium-intensity stimulus causing more frequent and slightly more regular firings. Row (c) shows a strong-intensity stimulus leading to the most frequent and regular pattern of nerve firings, particularly during the period when the stimulus is applied. The period from &quot;Pressure on&quot; to &quot;Pressure off&quot; indicates the duration of stimulation.">
            <a:extLst>
              <a:ext uri="{FF2B5EF4-FFF2-40B4-BE49-F238E27FC236}">
                <a16:creationId xmlns:a16="http://schemas.microsoft.com/office/drawing/2014/main" id="{2F5D69F8-E115-DF42-8F8C-889AC5310B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3100" y="742950"/>
            <a:ext cx="5257800" cy="352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3" name="Rectangle 2">
            <a:extLst>
              <a:ext uri="{FF2B5EF4-FFF2-40B4-BE49-F238E27FC236}">
                <a16:creationId xmlns:a16="http://schemas.microsoft.com/office/drawing/2014/main" id="{CDB2805F-6060-B840-BA6B-688A2A823E6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Stimulus Intensity &amp; Firing Rate</a:t>
            </a:r>
          </a:p>
        </p:txBody>
      </p:sp>
      <p:sp>
        <p:nvSpPr>
          <p:cNvPr id="35844" name="Date Placeholder 1">
            <a:extLst>
              <a:ext uri="{FF2B5EF4-FFF2-40B4-BE49-F238E27FC236}">
                <a16:creationId xmlns:a16="http://schemas.microsoft.com/office/drawing/2014/main" id="{4CA4627A-B8F5-0E4F-8B43-924A60A46B1F}"/>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39AC1371-0779-BB4C-A035-9E911F29B3A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5846" name="TextBox 1">
            <a:extLst>
              <a:ext uri="{FF2B5EF4-FFF2-40B4-BE49-F238E27FC236}">
                <a16:creationId xmlns:a16="http://schemas.microsoft.com/office/drawing/2014/main" id="{03E9264F-A3F5-6F47-80E2-F661537094A4}"/>
              </a:ext>
            </a:extLst>
          </p:cNvPr>
          <p:cNvSpPr txBox="1">
            <a:spLocks noChangeArrowheads="1"/>
          </p:cNvSpPr>
          <p:nvPr/>
        </p:nvSpPr>
        <p:spPr bwMode="auto">
          <a:xfrm>
            <a:off x="1314450" y="971551"/>
            <a:ext cx="9715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r>
              <a:rPr lang="en-US" altLang="en-US" sz="1800"/>
              <a:t>Soft pressure</a:t>
            </a:r>
          </a:p>
        </p:txBody>
      </p:sp>
      <p:sp>
        <p:nvSpPr>
          <p:cNvPr id="35847" name="TextBox 7">
            <a:extLst>
              <a:ext uri="{FF2B5EF4-FFF2-40B4-BE49-F238E27FC236}">
                <a16:creationId xmlns:a16="http://schemas.microsoft.com/office/drawing/2014/main" id="{050A81E7-E8C5-CC46-B259-77B662C198B9}"/>
              </a:ext>
            </a:extLst>
          </p:cNvPr>
          <p:cNvSpPr txBox="1">
            <a:spLocks noChangeArrowheads="1"/>
          </p:cNvSpPr>
          <p:nvPr/>
        </p:nvSpPr>
        <p:spPr bwMode="auto">
          <a:xfrm>
            <a:off x="1275160" y="1947863"/>
            <a:ext cx="9715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r>
              <a:rPr lang="en-US" altLang="en-US" sz="1800"/>
              <a:t>Medium pressure</a:t>
            </a:r>
          </a:p>
        </p:txBody>
      </p:sp>
      <p:sp>
        <p:nvSpPr>
          <p:cNvPr id="35848" name="TextBox 8">
            <a:extLst>
              <a:ext uri="{FF2B5EF4-FFF2-40B4-BE49-F238E27FC236}">
                <a16:creationId xmlns:a16="http://schemas.microsoft.com/office/drawing/2014/main" id="{D3CF4D5A-592D-464E-AC35-7656D17F328E}"/>
              </a:ext>
            </a:extLst>
          </p:cNvPr>
          <p:cNvSpPr txBox="1">
            <a:spLocks noChangeArrowheads="1"/>
          </p:cNvSpPr>
          <p:nvPr/>
        </p:nvSpPr>
        <p:spPr bwMode="auto">
          <a:xfrm>
            <a:off x="1328738" y="3063479"/>
            <a:ext cx="9715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r>
              <a:rPr lang="en-US" altLang="en-US" sz="1800"/>
              <a:t>Strong pressure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89" name="Picture 4" descr="The diagram illustrates synaptic transmission of nerve impulses in three panels (a, b, and c). Panel (a) shows a stimulus activating a receptor, leading to a nerve impulse traveling along an axon towards a receiving neuron, depicted with a cell body and dendrites. Panel (b) provides a magnified view of the synapse, the junction between the axon of a sending neuron and the receiving neuron. It shows synaptic vesicles within the axon terminal containing neurotransmitter molecules, which are released into the synaptic cleft. Panel (c) is a further magnification, detailing the interaction between neurotransmitter molecules and receptor sites on the membrane of the receiving neuron. The red spherical neurotransmitter molecules are shown binding to specific receptor sites on the postsynaptic membrane, analogous to a key fitting into a lock. The context describes neurotransmitters as being released from vesicles by the presynaptic neuron, received by specific receptor sites on the postsynaptic neuron, and acting as triggers for voltage changes.">
            <a:extLst>
              <a:ext uri="{FF2B5EF4-FFF2-40B4-BE49-F238E27FC236}">
                <a16:creationId xmlns:a16="http://schemas.microsoft.com/office/drawing/2014/main" id="{BA59CB00-07A8-A54E-81D3-225A2084DF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62650" y="685800"/>
            <a:ext cx="2419350" cy="433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0" name="Rectangle 2">
            <a:extLst>
              <a:ext uri="{FF2B5EF4-FFF2-40B4-BE49-F238E27FC236}">
                <a16:creationId xmlns:a16="http://schemas.microsoft.com/office/drawing/2014/main" id="{C3D6827B-86A0-D54A-8598-57D6E402C09E}"/>
              </a:ext>
            </a:extLst>
          </p:cNvPr>
          <p:cNvSpPr>
            <a:spLocks noGrp="1" noChangeArrowheads="1"/>
          </p:cNvSpPr>
          <p:nvPr>
            <p:ph type="title"/>
          </p:nvPr>
        </p:nvSpPr>
        <p:spPr>
          <a:xfrm>
            <a:off x="1143000" y="0"/>
            <a:ext cx="7543800" cy="628650"/>
          </a:xfrm>
        </p:spPr>
        <p:txBody>
          <a:bodyPr/>
          <a:lstStyle/>
          <a:p>
            <a:r>
              <a:rPr lang="en-US" altLang="en-US" dirty="0">
                <a:ea typeface="ＭＳ Ｐゴシック" panose="020B0600070205080204" pitchFamily="34" charset="-128"/>
              </a:rPr>
              <a:t>Synaptic Transmission of Impulses </a:t>
            </a:r>
          </a:p>
        </p:txBody>
      </p:sp>
      <p:sp>
        <p:nvSpPr>
          <p:cNvPr id="37891" name="Rectangle 3">
            <a:extLst>
              <a:ext uri="{FF2B5EF4-FFF2-40B4-BE49-F238E27FC236}">
                <a16:creationId xmlns:a16="http://schemas.microsoft.com/office/drawing/2014/main" id="{8DB2E0CE-6C0C-4D4C-9A99-A72D9976CA4E}"/>
              </a:ext>
            </a:extLst>
          </p:cNvPr>
          <p:cNvSpPr>
            <a:spLocks noGrp="1" noChangeArrowheads="1"/>
          </p:cNvSpPr>
          <p:nvPr>
            <p:ph type="body" idx="1"/>
          </p:nvPr>
        </p:nvSpPr>
        <p:spPr>
          <a:xfrm>
            <a:off x="838200" y="800100"/>
            <a:ext cx="4933950" cy="371475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Neurotransmitters are:</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released by the presynaptic neuron from vesicles.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received by the postsynaptic neuron on receptor sites.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matched like a key to a lock into specific receptor sites.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used as triggers for voltage change in the postsynaptic neuron. </a:t>
            </a:r>
          </a:p>
        </p:txBody>
      </p:sp>
      <p:sp>
        <p:nvSpPr>
          <p:cNvPr id="37892" name="Date Placeholder 1">
            <a:extLst>
              <a:ext uri="{FF2B5EF4-FFF2-40B4-BE49-F238E27FC236}">
                <a16:creationId xmlns:a16="http://schemas.microsoft.com/office/drawing/2014/main" id="{1A67EFEC-74DE-7943-8D65-9A3A7E7BC430}"/>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BAA026FD-8174-A943-8DC8-503C1A0776A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7893" name="Footer Placeholder 2">
            <a:extLst>
              <a:ext uri="{FF2B5EF4-FFF2-40B4-BE49-F238E27FC236}">
                <a16:creationId xmlns:a16="http://schemas.microsoft.com/office/drawing/2014/main" id="{846D9E54-4F23-D64D-BC34-4290BAFE5B7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7" name="Picture 5" descr="The image is a graphic illustration with the words &quot;Synaptic Transmission&quot; written in yellow cursive font across the center. Behind the text, abstract, bulbous, pinkish-brown structures are intertwined, suggesting biological or neural connections. To the right, a stylized representation of a neuron is visible, with a glowing orange cell body branching into dendrites, and a thin axon extending downwards, culminating in a bright white point of light. The background is black, making the colorful elements stand out. This visual composition strongly relates to the title and context, depicting the concept of nerve signal transmission.">
            <a:extLst>
              <a:ext uri="{FF2B5EF4-FFF2-40B4-BE49-F238E27FC236}">
                <a16:creationId xmlns:a16="http://schemas.microsoft.com/office/drawing/2014/main" id="{1DE6042D-1442-B946-9E36-76566AB57E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0838" y="1323975"/>
            <a:ext cx="3362325" cy="2494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38" name="Rectangle 2">
            <a:extLst>
              <a:ext uri="{FF2B5EF4-FFF2-40B4-BE49-F238E27FC236}">
                <a16:creationId xmlns:a16="http://schemas.microsoft.com/office/drawing/2014/main" id="{243AF993-D135-BF4A-A470-8F98CC1B5A78}"/>
              </a:ext>
            </a:extLst>
          </p:cNvPr>
          <p:cNvSpPr>
            <a:spLocks noGrp="1" noChangeArrowheads="1"/>
          </p:cNvSpPr>
          <p:nvPr>
            <p:ph type="title"/>
          </p:nvPr>
        </p:nvSpPr>
        <p:spPr>
          <a:xfrm>
            <a:off x="1143000" y="0"/>
            <a:ext cx="7543800" cy="628650"/>
          </a:xfrm>
        </p:spPr>
        <p:txBody>
          <a:bodyPr/>
          <a:lstStyle/>
          <a:p>
            <a:r>
              <a:rPr lang="en-US" altLang="en-US" dirty="0">
                <a:ea typeface="ＭＳ Ｐゴシック" panose="020B0600070205080204" pitchFamily="34" charset="-128"/>
              </a:rPr>
              <a:t>Video: Synaptic Transmission</a:t>
            </a:r>
          </a:p>
        </p:txBody>
      </p:sp>
      <p:sp>
        <p:nvSpPr>
          <p:cNvPr id="39939" name="Date Placeholder 1">
            <a:extLst>
              <a:ext uri="{FF2B5EF4-FFF2-40B4-BE49-F238E27FC236}">
                <a16:creationId xmlns:a16="http://schemas.microsoft.com/office/drawing/2014/main" id="{0E06D05A-9384-A44A-820F-185B0499EACA}"/>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A276D481-585E-C044-BF9C-683D2527731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9940" name="Footer Placeholder 2">
            <a:extLst>
              <a:ext uri="{FF2B5EF4-FFF2-40B4-BE49-F238E27FC236}">
                <a16:creationId xmlns:a16="http://schemas.microsoft.com/office/drawing/2014/main" id="{21B925D6-0888-864C-BF30-D9A58E43C6F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B541A588-BDDC-8D40-AC6C-42FBB1101FE8}"/>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Types of Neurotransmitters</a:t>
            </a:r>
          </a:p>
        </p:txBody>
      </p:sp>
      <p:sp>
        <p:nvSpPr>
          <p:cNvPr id="41986" name="Rectangle 3">
            <a:extLst>
              <a:ext uri="{FF2B5EF4-FFF2-40B4-BE49-F238E27FC236}">
                <a16:creationId xmlns:a16="http://schemas.microsoft.com/office/drawing/2014/main" id="{A38AEB4D-F70C-1943-B6C1-490BB67F288E}"/>
              </a:ext>
            </a:extLst>
          </p:cNvPr>
          <p:cNvSpPr>
            <a:spLocks noGrp="1" noChangeArrowheads="1"/>
          </p:cNvSpPr>
          <p:nvPr>
            <p:ph type="body" idx="1"/>
          </p:nvPr>
        </p:nvSpPr>
        <p:spPr>
          <a:xfrm>
            <a:off x="838200" y="800100"/>
            <a:ext cx="4476750" cy="3714750"/>
          </a:xfrm>
        </p:spPr>
        <p:txBody>
          <a:bodyPr/>
          <a:lstStyle/>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Excitatory transmitters - cause depolarization</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Neuron becomes more positive</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Increases the likelihood of an action potential</a:t>
            </a:r>
          </a:p>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Inhibitory transmitters - cause hyperpolarization</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Neuron becomes more negative</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Decreases the likelihood of an action potential</a:t>
            </a:r>
          </a:p>
        </p:txBody>
      </p:sp>
      <p:pic>
        <p:nvPicPr>
          <p:cNvPr id="41988" name="Picture 4" descr="1. **Main Trend:** The graphs illustrate how excitatory and inhibitory neurotransmitters affect the electrical charge inside a neuron. Excitatory neurotransmitters cause the charge to become more positive, increasing the likelihood of an action potential, while inhibitory neurotransmitters cause the charge to become more negative, decreasing this likelihood.&#10;&#10;2. **Axes Description:** The vertical axis represents the &quot;Charge inside fiber,&quot; indicating the electrical potential within the neuron, measured in arbitrary units (with -70 and 0 shown as reference points). The horizontal axis represents the progression of &quot;Depolarization (Excitatory)&quot; in the top graph and &quot;Hyperpolarization (Inhibitory)&quot; in the bottom graph over time or through the neuron.&#10;&#10;3. **Individual Points:** Not applicable, as per instructions.&#10;&#10;4. **Literal Label Interpretation:** The label &quot;Level of depolarization needed to trigger an action potential&quot; refers to a critical threshold of electrical charge inside the neuron. If the internal charge reaches or exceeds this threshold, an electrical signal (action potential) is generated. The dashed line visually represents this threshold. The values -70 and 0 on the vertical axis represent specific levels of electrical charge within the neuron, likely resting potential and a more positive potential respectively.">
            <a:extLst>
              <a:ext uri="{FF2B5EF4-FFF2-40B4-BE49-F238E27FC236}">
                <a16:creationId xmlns:a16="http://schemas.microsoft.com/office/drawing/2014/main" id="{2A4870DD-9E4C-2949-B837-14A1B98BA0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2087" y="742950"/>
            <a:ext cx="2968886"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9" name="Date Placeholder 1">
            <a:extLst>
              <a:ext uri="{FF2B5EF4-FFF2-40B4-BE49-F238E27FC236}">
                <a16:creationId xmlns:a16="http://schemas.microsoft.com/office/drawing/2014/main" id="{A9CC91C4-FFD9-C94D-972B-9F653DE2C69D}"/>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88661226-C6A5-3C48-B740-EDFE3FC5402F}"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1990" name="Footer Placeholder 2">
            <a:extLst>
              <a:ext uri="{FF2B5EF4-FFF2-40B4-BE49-F238E27FC236}">
                <a16:creationId xmlns:a16="http://schemas.microsoft.com/office/drawing/2014/main" id="{8A7C94E4-4EFF-1B42-9929-3CC056F01CB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41987" name="Rectangle 2">
            <a:extLst>
              <a:ext uri="{FF2B5EF4-FFF2-40B4-BE49-F238E27FC236}">
                <a16:creationId xmlns:a16="http://schemas.microsoft.com/office/drawing/2014/main" id="{98AE3C26-6566-7442-8CE7-1478B61147AF}"/>
              </a:ext>
            </a:extLst>
          </p:cNvPr>
          <p:cNvSpPr txBox="1">
            <a:spLocks noChangeArrowheads="1"/>
          </p:cNvSpPr>
          <p:nvPr/>
        </p:nvSpPr>
        <p:spPr bwMode="auto">
          <a:xfrm>
            <a:off x="3086100" y="4552950"/>
            <a:ext cx="6057900" cy="51435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975" dirty="0">
                <a:latin typeface="Arial" panose="020B0604020202020204" pitchFamily="34" charset="0"/>
              </a:rPr>
              <a:t>Figure 2.12 (a) Excitatory transmitters cause depolarization, an increased positive charge inside the neuron. (b) Inhibitory transmitters cause </a:t>
            </a:r>
            <a:r>
              <a:rPr lang="en-US" altLang="en-US" sz="975" dirty="0" err="1">
                <a:latin typeface="Arial" panose="020B0604020202020204" pitchFamily="34" charset="0"/>
              </a:rPr>
              <a:t>hyperpolization</a:t>
            </a:r>
            <a:r>
              <a:rPr lang="en-US" altLang="en-US" sz="975" dirty="0">
                <a:latin typeface="Arial" panose="020B0604020202020204" pitchFamily="34" charset="0"/>
              </a:rPr>
              <a:t>, an increased negative charge inside the axon. The charge inside the axon must reach the dashed line to trigger an action potential.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459BB17C-9678-4D44-87CF-CA7550244BF5}"/>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Neural Circuits</a:t>
            </a:r>
          </a:p>
        </p:txBody>
      </p:sp>
      <p:sp>
        <p:nvSpPr>
          <p:cNvPr id="44034" name="Rectangle 3">
            <a:extLst>
              <a:ext uri="{FF2B5EF4-FFF2-40B4-BE49-F238E27FC236}">
                <a16:creationId xmlns:a16="http://schemas.microsoft.com/office/drawing/2014/main" id="{B13179A6-3E42-6048-BA00-22A9D9723CDC}"/>
              </a:ext>
            </a:extLst>
          </p:cNvPr>
          <p:cNvSpPr>
            <a:spLocks noGrp="1" noChangeArrowheads="1"/>
          </p:cNvSpPr>
          <p:nvPr>
            <p:ph type="body" idx="1"/>
          </p:nvPr>
        </p:nvSpPr>
        <p:spPr>
          <a:xfrm>
            <a:off x="838200" y="742950"/>
            <a:ext cx="7543800" cy="3314700"/>
          </a:xfrm>
        </p:spPr>
        <p:txBody>
          <a:bodyPr/>
          <a:lstStyle/>
          <a:p>
            <a:r>
              <a:rPr lang="en-US" altLang="en-US" sz="2200" dirty="0">
                <a:latin typeface="Tahoma" panose="020B0604030504040204" pitchFamily="34" charset="0"/>
                <a:ea typeface="Tahoma" panose="020B0604030504040204" pitchFamily="34" charset="0"/>
                <a:cs typeface="Tahoma" panose="020B0604030504040204" pitchFamily="34" charset="0"/>
              </a:rPr>
              <a:t>Groups of neurons connected by excitatory and inhibitory synapses</a:t>
            </a:r>
          </a:p>
          <a:p>
            <a:r>
              <a:rPr lang="en-US" altLang="en-US" sz="2200" dirty="0">
                <a:latin typeface="Tahoma" panose="020B0604030504040204" pitchFamily="34" charset="0"/>
                <a:ea typeface="Tahoma" panose="020B0604030504040204" pitchFamily="34" charset="0"/>
                <a:cs typeface="Tahoma" panose="020B0604030504040204" pitchFamily="34" charset="0"/>
              </a:rPr>
              <a:t>A simple circuit has no convergence and only excitatory inputs.</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Input into each receptor has no effect on the output of neighboring circuits.</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Each circuit can only indicate single spot of stimulation. </a:t>
            </a:r>
          </a:p>
          <a:p>
            <a:pPr>
              <a:spcBef>
                <a:spcPct val="30000"/>
              </a:spcBef>
            </a:pPr>
            <a:endParaRPr lang="en-US" altLang="en-US" sz="2200" dirty="0">
              <a:latin typeface="Tahoma" panose="020B0604030504040204" pitchFamily="34" charset="0"/>
              <a:ea typeface="Tahoma" panose="020B0604030504040204" pitchFamily="34" charset="0"/>
              <a:cs typeface="Tahoma" panose="020B0604030504040204" pitchFamily="34" charset="0"/>
            </a:endParaRPr>
          </a:p>
        </p:txBody>
      </p:sp>
      <p:sp>
        <p:nvSpPr>
          <p:cNvPr id="44035" name="Date Placeholder 1">
            <a:extLst>
              <a:ext uri="{FF2B5EF4-FFF2-40B4-BE49-F238E27FC236}">
                <a16:creationId xmlns:a16="http://schemas.microsoft.com/office/drawing/2014/main" id="{EC46ED55-ADE4-E445-B9D9-67CB104E62D2}"/>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D8623FCF-D56F-F940-94FE-25FED5B8C843}"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4036" name="Footer Placeholder 2">
            <a:extLst>
              <a:ext uri="{FF2B5EF4-FFF2-40B4-BE49-F238E27FC236}">
                <a16:creationId xmlns:a16="http://schemas.microsoft.com/office/drawing/2014/main" id="{B1A50123-1258-FB45-BA11-529557439C6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4" descr="The graph shows that the firing rate of neuron &quot;B&quot; remains constant at 1 unit when different combinations of receptors are stimulated. The horizontal axis represents the receptors stimulated, with categories such as &quot;4&quot;, &quot;3-5&quot;, &quot;2-6&quot;, and &quot;1-7&quot;. The vertical axis represents the firing rate of neuron &quot;B&quot;, ranging from 0 to 7 units.">
            <a:extLst>
              <a:ext uri="{FF2B5EF4-FFF2-40B4-BE49-F238E27FC236}">
                <a16:creationId xmlns:a16="http://schemas.microsoft.com/office/drawing/2014/main" id="{C70ED361-EFB2-2F41-9530-9E97A0EBCC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9675" y="927498"/>
            <a:ext cx="6724650" cy="3288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3" name="Rectangle 2">
            <a:extLst>
              <a:ext uri="{FF2B5EF4-FFF2-40B4-BE49-F238E27FC236}">
                <a16:creationId xmlns:a16="http://schemas.microsoft.com/office/drawing/2014/main" id="{287FE222-E070-EC4B-8845-46E14C8282B7}"/>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Simple Circuit</a:t>
            </a:r>
          </a:p>
        </p:txBody>
      </p:sp>
      <p:sp>
        <p:nvSpPr>
          <p:cNvPr id="46084" name="Date Placeholder 1">
            <a:extLst>
              <a:ext uri="{FF2B5EF4-FFF2-40B4-BE49-F238E27FC236}">
                <a16:creationId xmlns:a16="http://schemas.microsoft.com/office/drawing/2014/main" id="{7ECAD3A6-2397-B342-9809-8AFFDDF27B07}"/>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84DF197-13D8-814D-B686-7C57BD2C838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6085" name="Footer Placeholder 2">
            <a:extLst>
              <a:ext uri="{FF2B5EF4-FFF2-40B4-BE49-F238E27FC236}">
                <a16:creationId xmlns:a16="http://schemas.microsoft.com/office/drawing/2014/main" id="{6480D1FE-63CC-144E-A32C-3E997D24B1C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46081" name="Rectangle 2">
            <a:extLst>
              <a:ext uri="{FF2B5EF4-FFF2-40B4-BE49-F238E27FC236}">
                <a16:creationId xmlns:a16="http://schemas.microsoft.com/office/drawing/2014/main" id="{1937F5B3-15AF-F14A-9C16-E91A37DA7548}"/>
              </a:ext>
            </a:extLst>
          </p:cNvPr>
          <p:cNvSpPr>
            <a:spLocks noGrp="1" noChangeArrowheads="1"/>
          </p:cNvSpPr>
          <p:nvPr>
            <p:ph type="body" idx="1"/>
          </p:nvPr>
        </p:nvSpPr>
        <p:spPr>
          <a:xfrm>
            <a:off x="1752600" y="3929659"/>
            <a:ext cx="6057900" cy="1028700"/>
          </a:xfrm>
          <a:solidFill>
            <a:schemeClr val="bg1"/>
          </a:solidFill>
        </p:spPr>
        <p:txBody>
          <a:bodyPr anchor="b"/>
          <a:lstStyle/>
          <a:p>
            <a:pPr marL="0" indent="0">
              <a:lnSpc>
                <a:spcPct val="80000"/>
              </a:lnSpc>
              <a:buNone/>
            </a:pPr>
            <a:r>
              <a:rPr lang="en-US" altLang="en-US" sz="1100" dirty="0">
                <a:latin typeface="Arial" panose="020B0604020202020204" pitchFamily="34" charset="0"/>
                <a:ea typeface="ＭＳ Ｐゴシック" panose="020B0600070205080204" pitchFamily="34" charset="-128"/>
              </a:rPr>
              <a:t>Figure 2.14  Left: A circuit with no convergence. Right: Response of neuron B as we increase the number of receptors stimulated. </a:t>
            </a:r>
          </a:p>
          <a:p>
            <a:pPr marL="0" indent="0">
              <a:lnSpc>
                <a:spcPct val="80000"/>
              </a:lnSpc>
              <a:buNone/>
            </a:pPr>
            <a:endParaRPr lang="en-US" altLang="en-US" sz="1100" dirty="0">
              <a:latin typeface="Arial" panose="020B0604020202020204" pitchFamily="34" charset="0"/>
              <a:ea typeface="ＭＳ Ｐゴシック" panose="020B0600070205080204" pitchFamily="34" charset="-128"/>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852728C6-1D04-884C-BC1E-29229FC72568}"/>
              </a:ext>
            </a:extLst>
          </p:cNvPr>
          <p:cNvSpPr>
            <a:spLocks noGrp="1" noChangeArrowheads="1"/>
          </p:cNvSpPr>
          <p:nvPr>
            <p:ph type="title"/>
          </p:nvPr>
        </p:nvSpPr>
        <p:spPr>
          <a:xfrm>
            <a:off x="2819400" y="0"/>
            <a:ext cx="5829300" cy="628650"/>
          </a:xfrm>
        </p:spPr>
        <p:txBody>
          <a:bodyPr/>
          <a:lstStyle/>
          <a:p>
            <a:r>
              <a:rPr lang="en-US" altLang="en-US" dirty="0">
                <a:ea typeface="ＭＳ Ｐゴシック" panose="020B0600070205080204" pitchFamily="34" charset="-128"/>
              </a:rPr>
              <a:t>Neural Circuits - continued</a:t>
            </a:r>
          </a:p>
        </p:txBody>
      </p:sp>
      <p:sp>
        <p:nvSpPr>
          <p:cNvPr id="48130" name="Rectangle 3">
            <a:extLst>
              <a:ext uri="{FF2B5EF4-FFF2-40B4-BE49-F238E27FC236}">
                <a16:creationId xmlns:a16="http://schemas.microsoft.com/office/drawing/2014/main" id="{2BEBEFA9-968C-ED41-A622-D6A6B2FDEFCB}"/>
              </a:ext>
            </a:extLst>
          </p:cNvPr>
          <p:cNvSpPr>
            <a:spLocks noGrp="1" noChangeArrowheads="1"/>
          </p:cNvSpPr>
          <p:nvPr>
            <p:ph type="body" idx="1"/>
          </p:nvPr>
        </p:nvSpPr>
        <p:spPr>
          <a:xfrm>
            <a:off x="838200" y="800100"/>
            <a:ext cx="7162800" cy="3714750"/>
          </a:xfrm>
        </p:spPr>
        <p:txBody>
          <a:bodyPr/>
          <a:lstStyle/>
          <a:p>
            <a:pPr>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Convergent circuit with only excitatory connections</a:t>
            </a:r>
          </a:p>
          <a:p>
            <a:pPr lvl="1">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Input from each receptor summates into the next neuron in the circuit.</a:t>
            </a:r>
          </a:p>
          <a:p>
            <a:pPr lvl="1">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Output from convergent system varies based on input. </a:t>
            </a:r>
          </a:p>
          <a:p>
            <a:pPr lvl="1">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Output of circuit can indicate single input and increases output as length of stimulus increases.</a:t>
            </a:r>
          </a:p>
          <a:p>
            <a:pPr>
              <a:lnSpc>
                <a:spcPct val="90000"/>
              </a:lnSpc>
              <a:spcBef>
                <a:spcPct val="30000"/>
              </a:spcBef>
            </a:pPr>
            <a:endParaRPr lang="en-US" altLang="en-US" sz="2200" dirty="0">
              <a:latin typeface="Tahoma" panose="020B0604030504040204" pitchFamily="34" charset="0"/>
              <a:ea typeface="Tahoma" panose="020B0604030504040204" pitchFamily="34" charset="0"/>
              <a:cs typeface="Tahoma" panose="020B0604030504040204" pitchFamily="34" charset="0"/>
            </a:endParaRPr>
          </a:p>
        </p:txBody>
      </p:sp>
      <p:sp>
        <p:nvSpPr>
          <p:cNvPr id="48131" name="Date Placeholder 1">
            <a:extLst>
              <a:ext uri="{FF2B5EF4-FFF2-40B4-BE49-F238E27FC236}">
                <a16:creationId xmlns:a16="http://schemas.microsoft.com/office/drawing/2014/main" id="{4F713B7E-6B3C-F740-8791-73360FAAD4E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26E8EA8A-C5ED-3D42-835A-8DDD24CC3EF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8132" name="Footer Placeholder 2">
            <a:extLst>
              <a:ext uri="{FF2B5EF4-FFF2-40B4-BE49-F238E27FC236}">
                <a16:creationId xmlns:a16="http://schemas.microsoft.com/office/drawing/2014/main" id="{249F881E-B95F-904C-BCBC-0DD5F95CC7B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4" descr="The graph shows a **positive linear trend**: as the number of stimulated receptors increases, the firing rate of neuron &quot;B&quot; increases proportionally.&#10;&#10;The **horizontal axis** represents the number of receptors stimulated, grouped into ranges (e.g., 4 receptors, 3-5 receptors, etc.).&#10;&#10;The **vertical axis** represents the firing rate of neuron &quot;B,&quot; measured in an unspecified unit.">
            <a:extLst>
              <a:ext uri="{FF2B5EF4-FFF2-40B4-BE49-F238E27FC236}">
                <a16:creationId xmlns:a16="http://schemas.microsoft.com/office/drawing/2014/main" id="{FB714A6D-0A97-914F-A674-D4C6885F3D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9675" y="964406"/>
            <a:ext cx="6724650" cy="321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79" name="Rectangle 2">
            <a:extLst>
              <a:ext uri="{FF2B5EF4-FFF2-40B4-BE49-F238E27FC236}">
                <a16:creationId xmlns:a16="http://schemas.microsoft.com/office/drawing/2014/main" id="{F7F0ECFB-379D-8B47-BA76-1D7331E42C39}"/>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Convergent Circuits (+ only)</a:t>
            </a:r>
          </a:p>
        </p:txBody>
      </p:sp>
      <p:sp>
        <p:nvSpPr>
          <p:cNvPr id="50180" name="Date Placeholder 1">
            <a:extLst>
              <a:ext uri="{FF2B5EF4-FFF2-40B4-BE49-F238E27FC236}">
                <a16:creationId xmlns:a16="http://schemas.microsoft.com/office/drawing/2014/main" id="{6D3BA7C0-4043-2E4C-AA4F-9FC663244EF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853A7F3-7BBF-C84B-B546-6681C34CB9D4}"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0181" name="Footer Placeholder 2">
            <a:extLst>
              <a:ext uri="{FF2B5EF4-FFF2-40B4-BE49-F238E27FC236}">
                <a16:creationId xmlns:a16="http://schemas.microsoft.com/office/drawing/2014/main" id="{2CA4D844-FEED-C64A-9202-6742A47DB37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dirty="0">
                <a:solidFill>
                  <a:schemeClr val="bg2"/>
                </a:solidFill>
              </a:rPr>
              <a:t>PSYCH 4041 / 6014</a:t>
            </a:r>
            <a:endParaRPr kumimoji="0" lang="en-US" altLang="en-US" sz="1050" dirty="0">
              <a:solidFill>
                <a:schemeClr val="bg2"/>
              </a:solidFill>
              <a:latin typeface="Comic Sans MS" panose="030F0902030302020204" pitchFamily="66" charset="0"/>
            </a:endParaRPr>
          </a:p>
        </p:txBody>
      </p:sp>
      <p:sp>
        <p:nvSpPr>
          <p:cNvPr id="50177" name="Rectangle 2">
            <a:extLst>
              <a:ext uri="{FF2B5EF4-FFF2-40B4-BE49-F238E27FC236}">
                <a16:creationId xmlns:a16="http://schemas.microsoft.com/office/drawing/2014/main" id="{BA750772-B1FC-1D42-83F8-5C8A2A66EEF4}"/>
              </a:ext>
            </a:extLst>
          </p:cNvPr>
          <p:cNvSpPr>
            <a:spLocks noGrp="1" noChangeArrowheads="1"/>
          </p:cNvSpPr>
          <p:nvPr>
            <p:ph type="body" idx="1"/>
          </p:nvPr>
        </p:nvSpPr>
        <p:spPr>
          <a:xfrm>
            <a:off x="1543050" y="3981450"/>
            <a:ext cx="6057900" cy="1028700"/>
          </a:xfrm>
          <a:solidFill>
            <a:schemeClr val="bg1"/>
          </a:solidFill>
        </p:spPr>
        <p:txBody>
          <a:bodyPr anchor="b"/>
          <a:lstStyle/>
          <a:p>
            <a:pPr marL="0" indent="0">
              <a:lnSpc>
                <a:spcPct val="80000"/>
              </a:lnSpc>
              <a:buNone/>
            </a:pPr>
            <a:r>
              <a:rPr lang="en-US" altLang="en-US" sz="1050" dirty="0">
                <a:latin typeface="Arial" panose="020B0604020202020204" pitchFamily="34" charset="0"/>
                <a:ea typeface="ＭＳ Ｐゴシック" panose="020B0600070205080204" pitchFamily="34" charset="-128"/>
              </a:rPr>
              <a:t>Figure 2.15 Circuit with convergence added.  Neuron B now receives inputs form all of the receptors, so increasing the size of the stimulus increases the size of neuron B’s response. </a:t>
            </a:r>
          </a:p>
          <a:p>
            <a:pPr marL="0" indent="0">
              <a:lnSpc>
                <a:spcPct val="80000"/>
              </a:lnSpc>
              <a:buNone/>
            </a:pPr>
            <a:endParaRPr lang="en-US" altLang="en-US" sz="1050" dirty="0">
              <a:latin typeface="Arial" panose="020B0604020202020204" pitchFamily="34" charset="0"/>
              <a:ea typeface="ＭＳ Ｐゴシック" panose="020B0600070205080204" pitchFamily="34" charset="-128"/>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2EF97950-B022-5641-8CCB-2A33BB852E8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Neural Circuits - continued</a:t>
            </a:r>
          </a:p>
        </p:txBody>
      </p:sp>
      <p:sp>
        <p:nvSpPr>
          <p:cNvPr id="52226" name="Rectangle 3">
            <a:extLst>
              <a:ext uri="{FF2B5EF4-FFF2-40B4-BE49-F238E27FC236}">
                <a16:creationId xmlns:a16="http://schemas.microsoft.com/office/drawing/2014/main" id="{A3842CE8-0A07-C843-9F27-78BDDA32D80E}"/>
              </a:ext>
            </a:extLst>
          </p:cNvPr>
          <p:cNvSpPr>
            <a:spLocks noGrp="1" noChangeArrowheads="1"/>
          </p:cNvSpPr>
          <p:nvPr>
            <p:ph type="body" idx="1"/>
          </p:nvPr>
        </p:nvSpPr>
        <p:spPr>
          <a:xfrm>
            <a:off x="838200" y="857250"/>
            <a:ext cx="7315200" cy="3657600"/>
          </a:xfrm>
        </p:spPr>
        <p:txBody>
          <a:bodyPr/>
          <a:lstStyle/>
          <a:p>
            <a:r>
              <a:rPr lang="en-US" altLang="en-US" sz="2200" dirty="0">
                <a:latin typeface="Tahoma" panose="020B0604030504040204" pitchFamily="34" charset="0"/>
                <a:ea typeface="Tahoma" panose="020B0604030504040204" pitchFamily="34" charset="0"/>
                <a:cs typeface="Tahoma" panose="020B0604030504040204" pitchFamily="34" charset="0"/>
              </a:rPr>
              <a:t>Convergent circuit with excitatory and inhibitory connections</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Inputs from receptors summate to determine output of circuit.</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Summation of inputs result in:</a:t>
            </a:r>
          </a:p>
          <a:p>
            <a:pPr lvl="2"/>
            <a:r>
              <a:rPr lang="en-US" altLang="en-US" sz="2200" dirty="0">
                <a:latin typeface="Tahoma" panose="020B0604030504040204" pitchFamily="34" charset="0"/>
                <a:ea typeface="Tahoma" panose="020B0604030504040204" pitchFamily="34" charset="0"/>
                <a:cs typeface="Tahoma" panose="020B0604030504040204" pitchFamily="34" charset="0"/>
              </a:rPr>
              <a:t>weak response for single inputs and long stimuli.</a:t>
            </a:r>
          </a:p>
          <a:p>
            <a:pPr lvl="2"/>
            <a:r>
              <a:rPr lang="en-US" altLang="en-US" sz="2200" dirty="0">
                <a:latin typeface="Tahoma" panose="020B0604030504040204" pitchFamily="34" charset="0"/>
                <a:ea typeface="Tahoma" panose="020B0604030504040204" pitchFamily="34" charset="0"/>
                <a:cs typeface="Tahoma" panose="020B0604030504040204" pitchFamily="34" charset="0"/>
              </a:rPr>
              <a:t>maximum firing rate for medium length stimulus.</a:t>
            </a:r>
          </a:p>
        </p:txBody>
      </p:sp>
      <p:sp>
        <p:nvSpPr>
          <p:cNvPr id="52227" name="Date Placeholder 1">
            <a:extLst>
              <a:ext uri="{FF2B5EF4-FFF2-40B4-BE49-F238E27FC236}">
                <a16:creationId xmlns:a16="http://schemas.microsoft.com/office/drawing/2014/main" id="{E92AF40F-F759-7143-B9AA-BE62D5E47AB3}"/>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787D3394-5D47-E347-AB22-B4D673BB959C}"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2228" name="Footer Placeholder 2">
            <a:extLst>
              <a:ext uri="{FF2B5EF4-FFF2-40B4-BE49-F238E27FC236}">
                <a16:creationId xmlns:a16="http://schemas.microsoft.com/office/drawing/2014/main" id="{CC9CF3DC-8D34-7444-B61C-BBD59BF6E59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4" descr="The graph shows the firing rate of a neuron labeled &quot;B&quot;. The x-axis represents the combination of receptors stimulated, and the y-axis represents the firing rate of neuron &quot;B&quot;. The main trend is that the firing rate of neuron &quot;B&quot; is highest when receptors 3 through 5 are stimulated, and it decreases as stimulation moves towards either end of the receptor range (receptors 1-7).">
            <a:extLst>
              <a:ext uri="{FF2B5EF4-FFF2-40B4-BE49-F238E27FC236}">
                <a16:creationId xmlns:a16="http://schemas.microsoft.com/office/drawing/2014/main" id="{714F309C-8D1D-EA4E-867C-CDD00459E8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9675" y="967979"/>
            <a:ext cx="6724650" cy="3207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5" name="Rectangle 2">
            <a:extLst>
              <a:ext uri="{FF2B5EF4-FFF2-40B4-BE49-F238E27FC236}">
                <a16:creationId xmlns:a16="http://schemas.microsoft.com/office/drawing/2014/main" id="{A180A7FD-9A3A-BB4A-9740-9339A34B46DE}"/>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Convergent Circuits (+ and -)</a:t>
            </a:r>
          </a:p>
        </p:txBody>
      </p:sp>
      <p:sp>
        <p:nvSpPr>
          <p:cNvPr id="54276" name="Date Placeholder 1">
            <a:extLst>
              <a:ext uri="{FF2B5EF4-FFF2-40B4-BE49-F238E27FC236}">
                <a16:creationId xmlns:a16="http://schemas.microsoft.com/office/drawing/2014/main" id="{8C065D47-ACB1-A24C-8CDC-BC72394E4B9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FAE63AC-C0BB-F840-8EA9-02B6CDB2AEFA}"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4277" name="Footer Placeholder 2">
            <a:extLst>
              <a:ext uri="{FF2B5EF4-FFF2-40B4-BE49-F238E27FC236}">
                <a16:creationId xmlns:a16="http://schemas.microsoft.com/office/drawing/2014/main" id="{90D03CF9-D342-E64E-AB7D-C062862EEE9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dirty="0">
                <a:solidFill>
                  <a:schemeClr val="bg2"/>
                </a:solidFill>
              </a:rPr>
              <a:t>PSYCH 4041 / 6014</a:t>
            </a:r>
            <a:endParaRPr kumimoji="0" lang="en-US" altLang="en-US" sz="1050" dirty="0">
              <a:solidFill>
                <a:schemeClr val="bg2"/>
              </a:solidFill>
              <a:latin typeface="Comic Sans MS" panose="030F0902030302020204" pitchFamily="66" charset="0"/>
            </a:endParaRPr>
          </a:p>
        </p:txBody>
      </p:sp>
      <p:sp>
        <p:nvSpPr>
          <p:cNvPr id="54273" name="Rectangle 2">
            <a:extLst>
              <a:ext uri="{FF2B5EF4-FFF2-40B4-BE49-F238E27FC236}">
                <a16:creationId xmlns:a16="http://schemas.microsoft.com/office/drawing/2014/main" id="{42B53E02-15EA-2744-8B4C-569F94091F3E}"/>
              </a:ext>
            </a:extLst>
          </p:cNvPr>
          <p:cNvSpPr>
            <a:spLocks noGrp="1" noChangeArrowheads="1"/>
          </p:cNvSpPr>
          <p:nvPr>
            <p:ph type="body" idx="1"/>
          </p:nvPr>
        </p:nvSpPr>
        <p:spPr>
          <a:xfrm>
            <a:off x="1562100" y="3981450"/>
            <a:ext cx="6057900" cy="1028700"/>
          </a:xfrm>
          <a:solidFill>
            <a:schemeClr val="bg1"/>
          </a:solidFill>
        </p:spPr>
        <p:txBody>
          <a:bodyPr anchor="b"/>
          <a:lstStyle/>
          <a:p>
            <a:pPr marL="0" indent="0">
              <a:lnSpc>
                <a:spcPct val="80000"/>
              </a:lnSpc>
              <a:buNone/>
            </a:pPr>
            <a:r>
              <a:rPr lang="en-US" altLang="en-US" sz="1050" dirty="0">
                <a:latin typeface="Arial" panose="020B0604020202020204" pitchFamily="34" charset="0"/>
                <a:ea typeface="ＭＳ Ｐゴシック" panose="020B0600070205080204" pitchFamily="34" charset="-128"/>
              </a:rPr>
              <a:t>Figure 2.16 Circuit with convergence and inhibition.  Because stimulation of the receptors on the side (1, 2, 6, and 7) sends inhibition to neuron B, neuron B responds best when just the center (3 - 5) are stimulated.</a:t>
            </a:r>
          </a:p>
          <a:p>
            <a:pPr marL="0" indent="0">
              <a:lnSpc>
                <a:spcPct val="80000"/>
              </a:lnSpc>
              <a:buNone/>
            </a:pPr>
            <a:endParaRPr lang="en-US" altLang="en-US" sz="1050" dirty="0">
              <a:latin typeface="Arial" panose="020B0604020202020204" pitchFamily="34" charset="0"/>
              <a:ea typeface="ＭＳ Ｐゴシック" panose="020B0600070205080204" pitchFamily="34" charset="-128"/>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88937661-DA07-5A44-BFE1-A8D7B8E0FB7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Receptive Fields</a:t>
            </a:r>
          </a:p>
        </p:txBody>
      </p:sp>
      <p:sp>
        <p:nvSpPr>
          <p:cNvPr id="56322" name="Rectangle 3">
            <a:extLst>
              <a:ext uri="{FF2B5EF4-FFF2-40B4-BE49-F238E27FC236}">
                <a16:creationId xmlns:a16="http://schemas.microsoft.com/office/drawing/2014/main" id="{8DF77118-826D-634D-89C5-4281FBB2C9CE}"/>
              </a:ext>
            </a:extLst>
          </p:cNvPr>
          <p:cNvSpPr>
            <a:spLocks noGrp="1" noChangeArrowheads="1"/>
          </p:cNvSpPr>
          <p:nvPr>
            <p:ph type="body" idx="1"/>
          </p:nvPr>
        </p:nvSpPr>
        <p:spPr>
          <a:xfrm>
            <a:off x="838200" y="857250"/>
            <a:ext cx="6648450" cy="3657600"/>
          </a:xfrm>
        </p:spPr>
        <p:txBody>
          <a:bodyPr/>
          <a:lstStyle/>
          <a:p>
            <a:r>
              <a:rPr lang="en-US" altLang="en-US" sz="2200" dirty="0">
                <a:latin typeface="Tahoma" panose="020B0604030504040204" pitchFamily="34" charset="0"/>
                <a:ea typeface="Tahoma" panose="020B0604030504040204" pitchFamily="34" charset="0"/>
                <a:cs typeface="Tahoma" panose="020B0604030504040204" pitchFamily="34" charset="0"/>
              </a:rPr>
              <a:t>Area of receptors that affects firing rate of a given neuron in the circuit</a:t>
            </a:r>
          </a:p>
          <a:p>
            <a:r>
              <a:rPr lang="en-US" altLang="en-US" sz="2200" dirty="0">
                <a:latin typeface="Tahoma" panose="020B0604030504040204" pitchFamily="34" charset="0"/>
                <a:ea typeface="Tahoma" panose="020B0604030504040204" pitchFamily="34" charset="0"/>
                <a:cs typeface="Tahoma" panose="020B0604030504040204" pitchFamily="34" charset="0"/>
              </a:rPr>
              <a:t>Receptive fields are determined by monitoring single cell responses.</a:t>
            </a:r>
          </a:p>
          <a:p>
            <a:r>
              <a:rPr lang="en-US" altLang="en-US" sz="2200" dirty="0">
                <a:latin typeface="Tahoma" panose="020B0604030504040204" pitchFamily="34" charset="0"/>
                <a:ea typeface="Tahoma" panose="020B0604030504040204" pitchFamily="34" charset="0"/>
                <a:cs typeface="Tahoma" panose="020B0604030504040204" pitchFamily="34" charset="0"/>
              </a:rPr>
              <a:t>Research example for vision</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Stimulus is presented to retina and response of cell is measured by an electrode.</a:t>
            </a:r>
          </a:p>
          <a:p>
            <a:pPr>
              <a:spcBef>
                <a:spcPct val="30000"/>
              </a:spcBef>
            </a:pPr>
            <a:endParaRPr lang="en-US" altLang="en-US" sz="2200" dirty="0">
              <a:latin typeface="Tahoma" panose="020B0604030504040204" pitchFamily="34" charset="0"/>
              <a:ea typeface="Tahoma" panose="020B0604030504040204" pitchFamily="34" charset="0"/>
              <a:cs typeface="Tahoma" panose="020B0604030504040204" pitchFamily="34" charset="0"/>
            </a:endParaRPr>
          </a:p>
        </p:txBody>
      </p:sp>
      <p:sp>
        <p:nvSpPr>
          <p:cNvPr id="56323" name="Date Placeholder 1">
            <a:extLst>
              <a:ext uri="{FF2B5EF4-FFF2-40B4-BE49-F238E27FC236}">
                <a16:creationId xmlns:a16="http://schemas.microsoft.com/office/drawing/2014/main" id="{956906F3-2F83-E646-9BE8-D15A32EF22C8}"/>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663A2362-48F3-BD45-92E8-E73CA65DEB0C}"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6324" name="Footer Placeholder 2">
            <a:extLst>
              <a:ext uri="{FF2B5EF4-FFF2-40B4-BE49-F238E27FC236}">
                <a16:creationId xmlns:a16="http://schemas.microsoft.com/office/drawing/2014/main" id="{B50FD2F6-6045-2B4A-B8DD-2C384CC28BE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a:extLst>
              <a:ext uri="{FF2B5EF4-FFF2-40B4-BE49-F238E27FC236}">
                <a16:creationId xmlns:a16="http://schemas.microsoft.com/office/drawing/2014/main" id="{E805CBD8-F62E-4A47-A08D-28F696590563}"/>
              </a:ext>
            </a:extLst>
          </p:cNvPr>
          <p:cNvSpPr>
            <a:spLocks noGrp="1" noChangeArrowheads="1"/>
          </p:cNvSpPr>
          <p:nvPr>
            <p:ph type="title"/>
          </p:nvPr>
        </p:nvSpPr>
        <p:spPr>
          <a:xfrm>
            <a:off x="1143000" y="0"/>
            <a:ext cx="7543800" cy="628650"/>
          </a:xfrm>
        </p:spPr>
        <p:txBody>
          <a:bodyPr/>
          <a:lstStyle/>
          <a:p>
            <a:r>
              <a:rPr lang="en-US" altLang="en-US" dirty="0">
                <a:ea typeface="ＭＳ Ｐゴシック" panose="020B0600070205080204" pitchFamily="34" charset="-128"/>
              </a:rPr>
              <a:t>Center-Surround Receptive Fields</a:t>
            </a:r>
          </a:p>
        </p:txBody>
      </p:sp>
      <p:sp>
        <p:nvSpPr>
          <p:cNvPr id="58370" name="Rectangle 3">
            <a:extLst>
              <a:ext uri="{FF2B5EF4-FFF2-40B4-BE49-F238E27FC236}">
                <a16:creationId xmlns:a16="http://schemas.microsoft.com/office/drawing/2014/main" id="{A100A91A-EA16-0A4D-9252-905E8921CAC9}"/>
              </a:ext>
            </a:extLst>
          </p:cNvPr>
          <p:cNvSpPr>
            <a:spLocks noGrp="1" noChangeArrowheads="1"/>
          </p:cNvSpPr>
          <p:nvPr>
            <p:ph type="body" idx="1"/>
          </p:nvPr>
        </p:nvSpPr>
        <p:spPr>
          <a:xfrm>
            <a:off x="838200" y="800100"/>
            <a:ext cx="4305300" cy="3714750"/>
          </a:xfrm>
        </p:spPr>
        <p:txBody>
          <a:bodyPr/>
          <a:lstStyle/>
          <a:p>
            <a:r>
              <a:rPr lang="en-US" altLang="en-US" sz="1800" dirty="0">
                <a:latin typeface="Arial" panose="020B0604020202020204" pitchFamily="34" charset="0"/>
                <a:ea typeface="ＭＳ Ｐゴシック" panose="020B0600070205080204" pitchFamily="34" charset="-128"/>
              </a:rPr>
              <a:t>Excitatory and inhibitory effects are found in receptive fields.</a:t>
            </a:r>
          </a:p>
          <a:p>
            <a:r>
              <a:rPr lang="en-US" altLang="en-US" sz="1800" dirty="0">
                <a:latin typeface="Arial" panose="020B0604020202020204" pitchFamily="34" charset="0"/>
                <a:ea typeface="ＭＳ Ｐゴシック" panose="020B0600070205080204" pitchFamily="34" charset="-128"/>
              </a:rPr>
              <a:t>Center and surround areas of receptive fields result in:</a:t>
            </a:r>
          </a:p>
          <a:p>
            <a:pPr lvl="1"/>
            <a:r>
              <a:rPr lang="en-US" altLang="en-US" sz="1800" dirty="0">
                <a:latin typeface="Arial" panose="020B0604020202020204" pitchFamily="34" charset="0"/>
                <a:ea typeface="ＭＳ Ｐゴシック" panose="020B0600070205080204" pitchFamily="34" charset="-128"/>
              </a:rPr>
              <a:t>Excitatory-center-inhibitory surround</a:t>
            </a:r>
          </a:p>
          <a:p>
            <a:pPr lvl="1"/>
            <a:r>
              <a:rPr lang="en-US" altLang="en-US" sz="1800" dirty="0">
                <a:latin typeface="Arial" panose="020B0604020202020204" pitchFamily="34" charset="0"/>
                <a:ea typeface="ＭＳ Ｐゴシック" panose="020B0600070205080204" pitchFamily="34" charset="-128"/>
              </a:rPr>
              <a:t>Inhibitory-center-excitatory surround</a:t>
            </a:r>
          </a:p>
          <a:p>
            <a:pPr>
              <a:spcBef>
                <a:spcPct val="30000"/>
              </a:spcBef>
            </a:pPr>
            <a:endParaRPr lang="en-US" altLang="en-US" sz="1800" dirty="0">
              <a:latin typeface="Arial" panose="020B0604020202020204" pitchFamily="34" charset="0"/>
              <a:ea typeface="ＭＳ Ｐゴシック" panose="020B0600070205080204" pitchFamily="34" charset="-128"/>
            </a:endParaRPr>
          </a:p>
        </p:txBody>
      </p:sp>
      <p:pic>
        <p:nvPicPr>
          <p:cNvPr id="58372" name="Picture 4" descr="The diagram illustrates center-surround receptive fields, composed of an excitatory center and an inhibitory surround. Part (a) shows a surface with concentric circles labeled B and C, representing the center and surround regions of a receptive field, respectively. Outside this receptive field is a larger blue area labeled A. To the right of this surface are three graphs labeled A, B, and C, depicting neuronal activity over time. Graph A shows sporadic spikes, while Graph B shows a burst of activity coinciding with an &quot;On&quot; stimulus. Graph C shows an initial burst of activity followed by a period of inhibition and then another burst of activity corresponding to an &quot;Off&quot; stimulus. Part (b) is a simplified representation of a receptive field, showing a central area with green plus signs, indicating excitation, surrounded by a ring with red minus signs, indicating inhibition. This visual representation directly supports the concept that the center and surround of a receptive field have opposite effects on neuronal firing.">
            <a:extLst>
              <a:ext uri="{FF2B5EF4-FFF2-40B4-BE49-F238E27FC236}">
                <a16:creationId xmlns:a16="http://schemas.microsoft.com/office/drawing/2014/main" id="{37F877B3-1280-AF4E-AAB5-48F08D3083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3501" y="800100"/>
            <a:ext cx="2755106" cy="29968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3" name="Date Placeholder 1">
            <a:extLst>
              <a:ext uri="{FF2B5EF4-FFF2-40B4-BE49-F238E27FC236}">
                <a16:creationId xmlns:a16="http://schemas.microsoft.com/office/drawing/2014/main" id="{30FE83BA-2906-7045-BA97-3586B89444FA}"/>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CBF63094-845F-214C-B38E-564E2883750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8374" name="Footer Placeholder 2">
            <a:extLst>
              <a:ext uri="{FF2B5EF4-FFF2-40B4-BE49-F238E27FC236}">
                <a16:creationId xmlns:a16="http://schemas.microsoft.com/office/drawing/2014/main" id="{373BE9A4-F0C0-1942-ACA3-AFC5A516162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58371" name="Rectangle 2">
            <a:extLst>
              <a:ext uri="{FF2B5EF4-FFF2-40B4-BE49-F238E27FC236}">
                <a16:creationId xmlns:a16="http://schemas.microsoft.com/office/drawing/2014/main" id="{710E4F6F-FCFA-C541-8DE6-1D6A95EAD5DE}"/>
              </a:ext>
            </a:extLst>
          </p:cNvPr>
          <p:cNvSpPr txBox="1">
            <a:spLocks noChangeArrowheads="1"/>
          </p:cNvSpPr>
          <p:nvPr/>
        </p:nvSpPr>
        <p:spPr bwMode="auto">
          <a:xfrm>
            <a:off x="2781300" y="4069555"/>
            <a:ext cx="6057900" cy="945357"/>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1050" dirty="0">
                <a:latin typeface="Arial" panose="020B0604020202020204" pitchFamily="34" charset="0"/>
              </a:rPr>
              <a:t>Figure 2.18  (a) Response of a ganglion cell in the cat’s retina to stimulation: outside the cell’s receptive field (area A on the screen); inside the excitatory area of the cell’s receptive field (area B); and inside the inhibitory area of the cell’s receptive field (area C).  (b) The receptive field is shown without the screen.</a:t>
            </a:r>
          </a:p>
          <a:p>
            <a:pPr>
              <a:lnSpc>
                <a:spcPct val="80000"/>
              </a:lnSpc>
              <a:buFontTx/>
              <a:buNone/>
            </a:pPr>
            <a:endParaRPr lang="en-US" altLang="en-US" sz="1050" dirty="0">
              <a:latin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a:extLst>
              <a:ext uri="{FF2B5EF4-FFF2-40B4-BE49-F238E27FC236}">
                <a16:creationId xmlns:a16="http://schemas.microsoft.com/office/drawing/2014/main" id="{250E0A04-7880-1949-95A0-19350CFDB1FF}"/>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Center-Surround Antagonism</a:t>
            </a:r>
          </a:p>
        </p:txBody>
      </p:sp>
      <p:sp>
        <p:nvSpPr>
          <p:cNvPr id="60418" name="Rectangle 3">
            <a:extLst>
              <a:ext uri="{FF2B5EF4-FFF2-40B4-BE49-F238E27FC236}">
                <a16:creationId xmlns:a16="http://schemas.microsoft.com/office/drawing/2014/main" id="{0C0529C7-2EF1-0E49-A11E-2E2F54953DB4}"/>
              </a:ext>
            </a:extLst>
          </p:cNvPr>
          <p:cNvSpPr>
            <a:spLocks noGrp="1" noChangeArrowheads="1"/>
          </p:cNvSpPr>
          <p:nvPr>
            <p:ph type="body" idx="1"/>
          </p:nvPr>
        </p:nvSpPr>
        <p:spPr>
          <a:xfrm>
            <a:off x="838200" y="742950"/>
            <a:ext cx="7162800" cy="3657600"/>
          </a:xfrm>
        </p:spPr>
        <p:txBody>
          <a:bodyPr/>
          <a:lstStyle/>
          <a:p>
            <a:r>
              <a:rPr lang="en-US" altLang="en-US" sz="2100" dirty="0">
                <a:latin typeface="Arial" panose="020B0604020202020204" pitchFamily="34" charset="0"/>
                <a:ea typeface="ＭＳ Ｐゴシック" panose="020B0600070205080204" pitchFamily="34" charset="-128"/>
              </a:rPr>
              <a:t>Output of center-surround receptive fields changes depending on area stimulated:</a:t>
            </a:r>
          </a:p>
          <a:p>
            <a:pPr lvl="1"/>
            <a:r>
              <a:rPr lang="en-US" altLang="en-US" sz="1800" dirty="0">
                <a:latin typeface="Arial" panose="020B0604020202020204" pitchFamily="34" charset="0"/>
                <a:ea typeface="ＭＳ Ｐゴシック" panose="020B0600070205080204" pitchFamily="34" charset="-128"/>
              </a:rPr>
              <a:t>Highest response when only the excitatory area is stimulated </a:t>
            </a:r>
          </a:p>
          <a:p>
            <a:pPr lvl="1"/>
            <a:r>
              <a:rPr lang="en-US" altLang="en-US" sz="1800" dirty="0">
                <a:latin typeface="Arial" panose="020B0604020202020204" pitchFamily="34" charset="0"/>
                <a:ea typeface="ＭＳ Ｐゴシック" panose="020B0600070205080204" pitchFamily="34" charset="-128"/>
              </a:rPr>
              <a:t>Lowest response when only the inhibitory area is stimulated</a:t>
            </a:r>
          </a:p>
          <a:p>
            <a:pPr lvl="1"/>
            <a:r>
              <a:rPr lang="en-US" altLang="en-US" sz="1800" dirty="0">
                <a:latin typeface="Arial" panose="020B0604020202020204" pitchFamily="34" charset="0"/>
                <a:ea typeface="ＭＳ Ｐゴシック" panose="020B0600070205080204" pitchFamily="34" charset="-128"/>
              </a:rPr>
              <a:t>Intermediate responses when both areas are stimulated</a:t>
            </a:r>
            <a:r>
              <a:rPr lang="en-US" altLang="en-US" sz="1800" dirty="0">
                <a:ea typeface="ＭＳ Ｐゴシック" panose="020B0600070205080204" pitchFamily="34" charset="-128"/>
              </a:rPr>
              <a:t> </a:t>
            </a:r>
          </a:p>
          <a:p>
            <a:pPr>
              <a:spcBef>
                <a:spcPct val="30000"/>
              </a:spcBef>
            </a:pPr>
            <a:endParaRPr lang="en-US" altLang="en-US" sz="2100" dirty="0">
              <a:latin typeface="Arial" panose="020B0604020202020204" pitchFamily="34" charset="0"/>
              <a:ea typeface="ＭＳ Ｐゴシック" panose="020B0600070205080204" pitchFamily="34" charset="-128"/>
            </a:endParaRPr>
          </a:p>
        </p:txBody>
      </p:sp>
      <p:pic>
        <p:nvPicPr>
          <p:cNvPr id="60420" name="Picture 4" descr="1. Main Trend: The output of a receptive field changes based on which part of the field is stimulated, with the highest output occurring when only the central excitatory region is stimulated, and the lowest when only the surrounding inhibitory region is stimulated. Intermediate outputs are observed when both regions are stimulated.&#10;&#10;2. Axes: The horizontal axis represents time, indicated by the progression from left to right after an &quot;On&quot; stimulus. The vertical axis represents the neural response, visualized as the frequency or number of output spikes over time.&#10;&#10;3. Individual Points: Not applicable.&#10;&#10;4. Literal Labels:&#10;- The diagrams at the top show different stimulation patterns. The innermost circle represents an excitatory region, indicated by &quot;+&quot; signs. The surrounding ring represents an inhibitory region, indicated by &quot;-&quot; signs. The dashed circle indicates the boundary of the receptive field.&#10;- The bar graphs at the bottom represent the neural response over time. The height and density of the bars indicate the magnitude of the neural output.&#10;- The label &quot;On&quot; at the bottom of each graph signifies the point in time when the stimulus is applied.">
            <a:extLst>
              <a:ext uri="{FF2B5EF4-FFF2-40B4-BE49-F238E27FC236}">
                <a16:creationId xmlns:a16="http://schemas.microsoft.com/office/drawing/2014/main" id="{F1FFBC5B-DBB9-5B4C-A158-741842E37B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2488073"/>
            <a:ext cx="4495800" cy="1969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1" name="Date Placeholder 1">
            <a:extLst>
              <a:ext uri="{FF2B5EF4-FFF2-40B4-BE49-F238E27FC236}">
                <a16:creationId xmlns:a16="http://schemas.microsoft.com/office/drawing/2014/main" id="{E5C61688-2CFC-9149-BFAC-42F4DD271F96}"/>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E7C537CA-840A-2542-9048-3F7167C6FE70}"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0422" name="Footer Placeholder 2">
            <a:extLst>
              <a:ext uri="{FF2B5EF4-FFF2-40B4-BE49-F238E27FC236}">
                <a16:creationId xmlns:a16="http://schemas.microsoft.com/office/drawing/2014/main" id="{27F08951-E2EE-5444-AF8D-877C780E32A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0419" name="Rectangle 2">
            <a:extLst>
              <a:ext uri="{FF2B5EF4-FFF2-40B4-BE49-F238E27FC236}">
                <a16:creationId xmlns:a16="http://schemas.microsoft.com/office/drawing/2014/main" id="{31221572-0423-B94C-AAE5-546C2798D218}"/>
              </a:ext>
            </a:extLst>
          </p:cNvPr>
          <p:cNvSpPr txBox="1">
            <a:spLocks noChangeArrowheads="1"/>
          </p:cNvSpPr>
          <p:nvPr/>
        </p:nvSpPr>
        <p:spPr bwMode="auto">
          <a:xfrm>
            <a:off x="1676400" y="4343400"/>
            <a:ext cx="6057900" cy="80010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975" dirty="0">
                <a:latin typeface="Arial" panose="020B0604020202020204" pitchFamily="34" charset="0"/>
              </a:rPr>
              <a:t>Figure 2.19  Response of an excitatory-center-inhibitory-surround receptive field as stimulus size is increased. Shading indicates the area stimulated with light. The response to the stimulus is indicated below each receptive field. The largest response occurs when the entire excitatory area is illuminated, as in (b).  Increasing stimulus size further causes a decrease in firing due to center-surround antagonism. </a:t>
            </a:r>
            <a:r>
              <a:rPr lang="en-US" altLang="en-US" sz="975" i="1" dirty="0">
                <a:latin typeface="Arial" panose="020B0604020202020204" pitchFamily="34" charset="0"/>
              </a:rPr>
              <a:t>(Adapted from Hubel and Wiesel, 1961.)</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a:extLst>
              <a:ext uri="{FF2B5EF4-FFF2-40B4-BE49-F238E27FC236}">
                <a16:creationId xmlns:a16="http://schemas.microsoft.com/office/drawing/2014/main" id="{3C3B9707-35E6-654B-878B-1F40216E5360}"/>
              </a:ext>
            </a:extLst>
          </p:cNvPr>
          <p:cNvSpPr>
            <a:spLocks noGrp="1" noChangeArrowheads="1"/>
          </p:cNvSpPr>
          <p:nvPr>
            <p:ph type="title"/>
          </p:nvPr>
        </p:nvSpPr>
        <p:spPr>
          <a:xfrm>
            <a:off x="1143000" y="0"/>
            <a:ext cx="7543800" cy="628650"/>
          </a:xfrm>
        </p:spPr>
        <p:txBody>
          <a:bodyPr/>
          <a:lstStyle/>
          <a:p>
            <a:r>
              <a:rPr lang="en-US" altLang="en-US" sz="2850" dirty="0">
                <a:ea typeface="ＭＳ Ｐゴシック" panose="020B0600070205080204" pitchFamily="34" charset="-128"/>
              </a:rPr>
              <a:t>Sensory Code: Specificity Encoding</a:t>
            </a:r>
          </a:p>
        </p:txBody>
      </p:sp>
      <p:sp>
        <p:nvSpPr>
          <p:cNvPr id="62466" name="Rectangle 3">
            <a:extLst>
              <a:ext uri="{FF2B5EF4-FFF2-40B4-BE49-F238E27FC236}">
                <a16:creationId xmlns:a16="http://schemas.microsoft.com/office/drawing/2014/main" id="{6077F66F-2E9A-8D42-BA91-E68903C0DDA5}"/>
              </a:ext>
            </a:extLst>
          </p:cNvPr>
          <p:cNvSpPr>
            <a:spLocks noGrp="1" noChangeArrowheads="1"/>
          </p:cNvSpPr>
          <p:nvPr>
            <p:ph type="body" idx="1"/>
          </p:nvPr>
        </p:nvSpPr>
        <p:spPr>
          <a:xfrm>
            <a:off x="838200" y="742950"/>
            <a:ext cx="5791200" cy="3771900"/>
          </a:xfrm>
        </p:spPr>
        <p:txBody>
          <a:bodyPr/>
          <a:lstStyle/>
          <a:p>
            <a:pPr>
              <a:spcBef>
                <a:spcPct val="30000"/>
              </a:spcBef>
            </a:pPr>
            <a:r>
              <a:rPr lang="en-US" altLang="en-US" b="1" dirty="0">
                <a:latin typeface="Arial" panose="020B0604020202020204" pitchFamily="34" charset="0"/>
                <a:ea typeface="ＭＳ Ｐゴシック" panose="020B0600070205080204" pitchFamily="34" charset="-128"/>
              </a:rPr>
              <a:t>Specificity coding </a:t>
            </a:r>
            <a:r>
              <a:rPr lang="en-US" altLang="en-US" dirty="0">
                <a:latin typeface="Arial" panose="020B0604020202020204" pitchFamily="34" charset="0"/>
                <a:ea typeface="ＭＳ Ｐゴシック" panose="020B0600070205080204" pitchFamily="34" charset="-128"/>
              </a:rPr>
              <a:t>- specific </a:t>
            </a:r>
            <a:br>
              <a:rPr lang="en-US" altLang="en-US" dirty="0">
                <a:latin typeface="Arial" panose="020B0604020202020204" pitchFamily="34" charset="0"/>
                <a:ea typeface="ＭＳ Ｐゴシック" panose="020B0600070205080204" pitchFamily="34" charset="-128"/>
              </a:rPr>
            </a:br>
            <a:r>
              <a:rPr lang="en-US" altLang="en-US" dirty="0">
                <a:latin typeface="Arial" panose="020B0604020202020204" pitchFamily="34" charset="0"/>
                <a:ea typeface="ＭＳ Ｐゴシック" panose="020B0600070205080204" pitchFamily="34" charset="-128"/>
              </a:rPr>
              <a:t>neurons responding to specific</a:t>
            </a:r>
            <a:br>
              <a:rPr lang="en-US" altLang="en-US" dirty="0">
                <a:latin typeface="Arial" panose="020B0604020202020204" pitchFamily="34" charset="0"/>
                <a:ea typeface="ＭＳ Ｐゴシック" panose="020B0600070205080204" pitchFamily="34" charset="-128"/>
              </a:rPr>
            </a:br>
            <a:r>
              <a:rPr lang="en-US" altLang="en-US" dirty="0">
                <a:latin typeface="Arial" panose="020B0604020202020204" pitchFamily="34" charset="0"/>
                <a:ea typeface="ＭＳ Ｐゴシック" panose="020B0600070205080204" pitchFamily="34" charset="-128"/>
              </a:rPr>
              <a:t>stimuli</a:t>
            </a:r>
          </a:p>
          <a:p>
            <a:pPr lvl="1">
              <a:spcBef>
                <a:spcPct val="30000"/>
              </a:spcBef>
            </a:pPr>
            <a:r>
              <a:rPr lang="en-US" altLang="en-US" sz="1500" dirty="0">
                <a:latin typeface="Arial" panose="020B0604020202020204" pitchFamily="34" charset="0"/>
                <a:ea typeface="ＭＳ Ｐゴシック" panose="020B0600070205080204" pitchFamily="34" charset="-128"/>
              </a:rPr>
              <a:t>Leads to the “grandmother cell” hypothesis</a:t>
            </a:r>
          </a:p>
          <a:p>
            <a:pPr lvl="1">
              <a:spcBef>
                <a:spcPct val="30000"/>
              </a:spcBef>
            </a:pPr>
            <a:r>
              <a:rPr lang="en-US" altLang="en-US" sz="1500" dirty="0">
                <a:latin typeface="Arial" panose="020B0604020202020204" pitchFamily="34" charset="0"/>
                <a:ea typeface="ＭＳ Ｐゴシック" panose="020B0600070205080204" pitchFamily="34" charset="-128"/>
              </a:rPr>
              <a:t>Cells in the hippocampus that respond to </a:t>
            </a:r>
            <a:br>
              <a:rPr lang="en-US" altLang="en-US" sz="1500" dirty="0">
                <a:latin typeface="Arial" panose="020B0604020202020204" pitchFamily="34" charset="0"/>
                <a:ea typeface="ＭＳ Ｐゴシック" panose="020B0600070205080204" pitchFamily="34" charset="-128"/>
              </a:rPr>
            </a:br>
            <a:r>
              <a:rPr lang="en-US" altLang="en-US" sz="1500" dirty="0">
                <a:latin typeface="Arial" panose="020B0604020202020204" pitchFamily="34" charset="0"/>
                <a:ea typeface="ＭＳ Ｐゴシック" panose="020B0600070205080204" pitchFamily="34" charset="-128"/>
              </a:rPr>
              <a:t>concepts such as Halle Berry.</a:t>
            </a:r>
          </a:p>
          <a:p>
            <a:pPr lvl="1">
              <a:spcBef>
                <a:spcPct val="30000"/>
              </a:spcBef>
            </a:pPr>
            <a:endParaRPr lang="en-US" altLang="en-US" sz="1500" dirty="0">
              <a:latin typeface="Arial" panose="020B0604020202020204" pitchFamily="34" charset="0"/>
              <a:ea typeface="ＭＳ Ｐゴシック" panose="020B0600070205080204" pitchFamily="34" charset="-128"/>
            </a:endParaRPr>
          </a:p>
          <a:p>
            <a:pPr>
              <a:spcBef>
                <a:spcPct val="30000"/>
              </a:spcBef>
            </a:pPr>
            <a:r>
              <a:rPr lang="en-US" altLang="en-US" dirty="0">
                <a:latin typeface="Arial" panose="020B0604020202020204" pitchFamily="34" charset="0"/>
                <a:ea typeface="ＭＳ Ｐゴシック" panose="020B0600070205080204" pitchFamily="34" charset="-128"/>
              </a:rPr>
              <a:t>Problems with specificity coding:</a:t>
            </a:r>
          </a:p>
          <a:p>
            <a:pPr lvl="1">
              <a:spcBef>
                <a:spcPct val="30000"/>
              </a:spcBef>
            </a:pPr>
            <a:r>
              <a:rPr lang="en-US" altLang="en-US" sz="1500" dirty="0">
                <a:latin typeface="Arial" panose="020B0604020202020204" pitchFamily="34" charset="0"/>
                <a:ea typeface="ＭＳ Ｐゴシック" panose="020B0600070205080204" pitchFamily="34" charset="-128"/>
              </a:rPr>
              <a:t>Too many different stimuli to assign specific neurons</a:t>
            </a:r>
          </a:p>
          <a:p>
            <a:pPr lvl="1">
              <a:spcBef>
                <a:spcPct val="30000"/>
              </a:spcBef>
            </a:pPr>
            <a:r>
              <a:rPr lang="en-US" altLang="en-US" sz="1500" dirty="0">
                <a:latin typeface="Arial" panose="020B0604020202020204" pitchFamily="34" charset="0"/>
                <a:ea typeface="ＭＳ Ｐゴシック" panose="020B0600070205080204" pitchFamily="34" charset="-128"/>
              </a:rPr>
              <a:t>Most neurons respond to a number of different stimuli.</a:t>
            </a:r>
          </a:p>
        </p:txBody>
      </p:sp>
      <p:pic>
        <p:nvPicPr>
          <p:cNvPr id="62468" name="Picture 4" descr="The image displays a visual representation of the specificity coding hypothesis in neuroscience. The left column shows portraits of three individuals labeled (a) Bill, (b) Mary, and (c) Raphael. Each individual serves as a visual stimulus. The right side of the diagram is divided into three rows, each corresponding to a specific neuron: Neuron 1, Neuron 2, and Neuron 3. Each row contains a horizontal line representing time, with vertical bars indicating neural firing activity.&#10;&#10;The diagram illustrates that when Bill is the stimulus, Neuron 1 shows a burst of activity, while Neuron 2 and Neuron 3 remain inactive. When Mary is the stimulus, Neuron 2 exhibits a burst of activity, with Neuron 1 and Neuron 3 showing no response. Similarly, when Raphael is the stimulus, Neuron 3 is activated, and the other two neurons are silent. This selective activation of different neurons for different stimuli is the core concept of specificity coding, suggesting that each stimulus is represented by a unique set of active neurons. The context provided by the title &quot;Sensory Code: Specificity Encoding&quot; and the accompanying text reinforces this interpretation, explaining that specificity coding posits that specific neurons respond to specific stimuli and leads to the &quot;grandmother cell&quot; hypothesis.">
            <a:extLst>
              <a:ext uri="{FF2B5EF4-FFF2-40B4-BE49-F238E27FC236}">
                <a16:creationId xmlns:a16="http://schemas.microsoft.com/office/drawing/2014/main" id="{7FB89131-5184-ED4D-9052-86DA64B90D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6950" y="742950"/>
            <a:ext cx="2686050" cy="2567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9" name="Date Placeholder 1">
            <a:extLst>
              <a:ext uri="{FF2B5EF4-FFF2-40B4-BE49-F238E27FC236}">
                <a16:creationId xmlns:a16="http://schemas.microsoft.com/office/drawing/2014/main" id="{D8B5F911-D511-714A-8763-50AF0F6920A9}"/>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079E9236-5184-CA4C-AEA4-0E73484E3320}"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2470" name="Footer Placeholder 2">
            <a:extLst>
              <a:ext uri="{FF2B5EF4-FFF2-40B4-BE49-F238E27FC236}">
                <a16:creationId xmlns:a16="http://schemas.microsoft.com/office/drawing/2014/main" id="{609A1AA8-8DB0-2D46-9777-3F6333270E8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2467" name="Rectangle 2">
            <a:extLst>
              <a:ext uri="{FF2B5EF4-FFF2-40B4-BE49-F238E27FC236}">
                <a16:creationId xmlns:a16="http://schemas.microsoft.com/office/drawing/2014/main" id="{79366FD2-89E8-8345-85CC-52310112EFB3}"/>
              </a:ext>
            </a:extLst>
          </p:cNvPr>
          <p:cNvSpPr txBox="1">
            <a:spLocks noChangeArrowheads="1"/>
          </p:cNvSpPr>
          <p:nvPr/>
        </p:nvSpPr>
        <p:spPr bwMode="auto">
          <a:xfrm>
            <a:off x="2857500" y="4495800"/>
            <a:ext cx="6057900" cy="51435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1050" dirty="0">
                <a:latin typeface="Arial" panose="020B0604020202020204" pitchFamily="34" charset="0"/>
              </a:rPr>
              <a:t>Figure 2.21 How faces could be coded by specificity coding. Each face causes one specialized neuron to respond.</a:t>
            </a:r>
          </a:p>
          <a:p>
            <a:pPr>
              <a:lnSpc>
                <a:spcPct val="80000"/>
              </a:lnSpc>
              <a:buFontTx/>
              <a:buNone/>
            </a:pPr>
            <a:endParaRPr lang="en-US" altLang="en-US" sz="1050" dirty="0">
              <a:latin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C97D915E-8B6E-F74C-84B9-898BAF951299}"/>
              </a:ext>
            </a:extLst>
          </p:cNvPr>
          <p:cNvSpPr>
            <a:spLocks noGrp="1" noChangeArrowheads="1"/>
          </p:cNvSpPr>
          <p:nvPr>
            <p:ph type="title"/>
          </p:nvPr>
        </p:nvSpPr>
        <p:spPr>
          <a:xfrm>
            <a:off x="1143000" y="0"/>
            <a:ext cx="7543800" cy="628650"/>
          </a:xfrm>
        </p:spPr>
        <p:txBody>
          <a:bodyPr/>
          <a:lstStyle/>
          <a:p>
            <a:r>
              <a:rPr lang="en-US" altLang="en-US" sz="2850" dirty="0">
                <a:ea typeface="ＭＳ Ｐゴシック" panose="020B0600070205080204" pitchFamily="34" charset="-128"/>
              </a:rPr>
              <a:t>Sensory Code: Distributed Encoding</a:t>
            </a:r>
          </a:p>
        </p:txBody>
      </p:sp>
      <p:sp>
        <p:nvSpPr>
          <p:cNvPr id="64514" name="Rectangle 3">
            <a:extLst>
              <a:ext uri="{FF2B5EF4-FFF2-40B4-BE49-F238E27FC236}">
                <a16:creationId xmlns:a16="http://schemas.microsoft.com/office/drawing/2014/main" id="{5BA3B80B-CC71-F245-B5EC-185BB5844F69}"/>
              </a:ext>
            </a:extLst>
          </p:cNvPr>
          <p:cNvSpPr>
            <a:spLocks noGrp="1" noChangeArrowheads="1"/>
          </p:cNvSpPr>
          <p:nvPr>
            <p:ph type="body" idx="1"/>
          </p:nvPr>
        </p:nvSpPr>
        <p:spPr>
          <a:xfrm>
            <a:off x="838200" y="742950"/>
            <a:ext cx="5391150" cy="3771900"/>
          </a:xfrm>
        </p:spPr>
        <p:txBody>
          <a:bodyPr/>
          <a:lstStyle/>
          <a:p>
            <a:pPr>
              <a:spcBef>
                <a:spcPct val="30000"/>
              </a:spcBef>
            </a:pPr>
            <a:r>
              <a:rPr lang="en-US" altLang="en-US" sz="2100" b="1" dirty="0">
                <a:latin typeface="Arial" panose="020B0604020202020204" pitchFamily="34" charset="0"/>
                <a:ea typeface="ＭＳ Ｐゴシック" panose="020B0600070205080204" pitchFamily="34" charset="-128"/>
              </a:rPr>
              <a:t>Distributed coding </a:t>
            </a:r>
            <a:r>
              <a:rPr lang="en-US" altLang="en-US" sz="2100" dirty="0">
                <a:latin typeface="Arial" panose="020B0604020202020204" pitchFamily="34" charset="0"/>
                <a:ea typeface="ＭＳ Ｐゴシック" panose="020B0600070205080204" pitchFamily="34" charset="-128"/>
              </a:rPr>
              <a:t>- pattern of firing across many neurons codes specific objects</a:t>
            </a:r>
          </a:p>
          <a:p>
            <a:pPr lvl="1">
              <a:spcBef>
                <a:spcPct val="30000"/>
              </a:spcBef>
            </a:pPr>
            <a:r>
              <a:rPr lang="en-US" altLang="en-US" dirty="0">
                <a:latin typeface="Arial" panose="020B0604020202020204" pitchFamily="34" charset="0"/>
                <a:ea typeface="ＭＳ Ｐゴシック" panose="020B0600070205080204" pitchFamily="34" charset="-128"/>
              </a:rPr>
              <a:t>Large number of stimuli can be coded by a few neurons.</a:t>
            </a:r>
            <a:endParaRPr lang="en-US" altLang="en-US" sz="2400" dirty="0">
              <a:latin typeface="Arial" panose="020B0604020202020204" pitchFamily="34" charset="0"/>
              <a:ea typeface="ＭＳ Ｐゴシック" panose="020B0600070205080204" pitchFamily="34" charset="-128"/>
            </a:endParaRPr>
          </a:p>
        </p:txBody>
      </p:sp>
      <p:pic>
        <p:nvPicPr>
          <p:cNvPr id="64516" name="Picture 4" descr="1.  The main trend illustrated is how different stimuli (represented by images of people) activate specific patterns of neural firing across multiple neurons. Each stimulus evokes a unique combination of bursts of activity in Neuron 1, Neuron 2, and Neuron 3.&#10;2.  The vertical axis represents neuronal activity, indicated by vertical lines (spikes) that signify a neuron firing. The horizontal axis represents time, showing the sequence of these neural firings. The rows are organized by different stimuli (people identified as Bill, Mary, Raphael, and Roger), and the columns represent the activity of Neuron 1, Neuron 2, and Neuron 3.&#10;3.  N/A&#10;4.  The image demonstrates the concept of &quot;distributed coding,&quot; where the identity of a stimulus is represented by a pattern of neural activity distributed across a population of neurons, rather than by a single neuron. For example, the stimulus &quot;Bill&quot; elicits a dense burst of activity in Neuron 1, with sparser activity in Neurons 2 and 3. In contrast, &quot;Mary&quot; shows sparser activity in Neuron 1, a dense burst in Neuron 2, and moderate activity in Neuron 3. This pattern of activation across multiple neurons allows for the representation of a large number of stimuli.">
            <a:extLst>
              <a:ext uri="{FF2B5EF4-FFF2-40B4-BE49-F238E27FC236}">
                <a16:creationId xmlns:a16="http://schemas.microsoft.com/office/drawing/2014/main" id="{607B50F4-BEC9-0048-A7C5-DDBE3CBBFB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846137"/>
            <a:ext cx="2743200" cy="340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7" name="Date Placeholder 1">
            <a:extLst>
              <a:ext uri="{FF2B5EF4-FFF2-40B4-BE49-F238E27FC236}">
                <a16:creationId xmlns:a16="http://schemas.microsoft.com/office/drawing/2014/main" id="{05719AE2-C87A-894B-9616-EBABFCB222C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B959C51-B313-E149-BF84-930006D54CF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4518" name="Footer Placeholder 2">
            <a:extLst>
              <a:ext uri="{FF2B5EF4-FFF2-40B4-BE49-F238E27FC236}">
                <a16:creationId xmlns:a16="http://schemas.microsoft.com/office/drawing/2014/main" id="{9FCB42F5-D118-5C4E-AA1F-4CCC6763623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4515" name="Rectangle 2">
            <a:extLst>
              <a:ext uri="{FF2B5EF4-FFF2-40B4-BE49-F238E27FC236}">
                <a16:creationId xmlns:a16="http://schemas.microsoft.com/office/drawing/2014/main" id="{38FC451D-1F6A-0B4A-B747-1A638D4138F9}"/>
              </a:ext>
            </a:extLst>
          </p:cNvPr>
          <p:cNvSpPr txBox="1">
            <a:spLocks noChangeArrowheads="1"/>
          </p:cNvSpPr>
          <p:nvPr/>
        </p:nvSpPr>
        <p:spPr bwMode="auto">
          <a:xfrm>
            <a:off x="2641895" y="4572000"/>
            <a:ext cx="6057900" cy="51435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1050" dirty="0">
                <a:latin typeface="Arial" panose="020B0604020202020204" pitchFamily="34" charset="0"/>
              </a:rPr>
              <a:t>Figure 2.23 How faces could be coded by distributed coding. Each face causes all the neurons to fire, but the pattern of firing is different for each face.  One advantage of this method of coding is that many faces could be represented by the firing of the three neurons.</a:t>
            </a:r>
          </a:p>
          <a:p>
            <a:pPr>
              <a:lnSpc>
                <a:spcPct val="80000"/>
              </a:lnSpc>
              <a:buFontTx/>
              <a:buNone/>
            </a:pPr>
            <a:endParaRPr lang="en-US" altLang="en-US" sz="1050" dirty="0">
              <a:latin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Date Placeholder 3">
            <a:extLst>
              <a:ext uri="{FF2B5EF4-FFF2-40B4-BE49-F238E27FC236}">
                <a16:creationId xmlns:a16="http://schemas.microsoft.com/office/drawing/2014/main" id="{D2F0672F-AB6B-404A-80BB-928A1AF57C91}"/>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88F77D5-90D3-0F4B-A09D-99FD626BD4CF}"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6562" name="Footer Placeholder 4">
            <a:extLst>
              <a:ext uri="{FF2B5EF4-FFF2-40B4-BE49-F238E27FC236}">
                <a16:creationId xmlns:a16="http://schemas.microsoft.com/office/drawing/2014/main" id="{EBF249F9-01DA-AF4E-8285-ABA44C3D28A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6563" name="Rectangle 2">
            <a:extLst>
              <a:ext uri="{FF2B5EF4-FFF2-40B4-BE49-F238E27FC236}">
                <a16:creationId xmlns:a16="http://schemas.microsoft.com/office/drawing/2014/main" id="{CAE3E9D9-27AC-0A42-A9EB-8E0BD44D64A0}"/>
              </a:ext>
            </a:extLst>
          </p:cNvPr>
          <p:cNvSpPr>
            <a:spLocks noGrp="1" noChangeArrowheads="1"/>
          </p:cNvSpPr>
          <p:nvPr>
            <p:ph type="title"/>
          </p:nvPr>
        </p:nvSpPr>
        <p:spPr/>
        <p:txBody>
          <a:bodyPr/>
          <a:lstStyle/>
          <a:p>
            <a:r>
              <a:rPr lang="en-US" altLang="en-US">
                <a:ea typeface="ＭＳ Ｐゴシック" panose="020B0600070205080204" pitchFamily="34" charset="-128"/>
              </a:rPr>
              <a:t>Upcoming</a:t>
            </a:r>
          </a:p>
        </p:txBody>
      </p:sp>
      <p:sp>
        <p:nvSpPr>
          <p:cNvPr id="66564" name="Rectangle 3">
            <a:extLst>
              <a:ext uri="{FF2B5EF4-FFF2-40B4-BE49-F238E27FC236}">
                <a16:creationId xmlns:a16="http://schemas.microsoft.com/office/drawing/2014/main" id="{593F7533-4B1D-7149-83E7-9B72C20ACC1E}"/>
              </a:ext>
            </a:extLst>
          </p:cNvPr>
          <p:cNvSpPr>
            <a:spLocks noGrp="1" noChangeArrowheads="1"/>
          </p:cNvSpPr>
          <p:nvPr>
            <p:ph type="body" idx="1"/>
          </p:nvPr>
        </p:nvSpPr>
        <p:spPr>
          <a:xfrm>
            <a:off x="838200" y="685800"/>
            <a:ext cx="8001000" cy="4171950"/>
          </a:xfrm>
        </p:spPr>
        <p:txBody>
          <a:bodyPr/>
          <a:lstStyle/>
          <a:p>
            <a:r>
              <a:rPr lang="en-US" altLang="en-US" dirty="0">
                <a:ea typeface="ＭＳ Ｐゴシック" panose="020B0600070205080204" pitchFamily="34" charset="-128"/>
              </a:rPr>
              <a:t>Neuroimaging</a:t>
            </a:r>
          </a:p>
          <a:p>
            <a:r>
              <a:rPr lang="en-US" altLang="en-US" dirty="0">
                <a:ea typeface="ＭＳ Ｐゴシック" panose="020B0600070205080204" pitchFamily="34" charset="-128"/>
              </a:rPr>
              <a:t>Bottom-up vs. Top-down Processing</a:t>
            </a: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Extra Readings</a:t>
            </a:r>
          </a:p>
          <a:p>
            <a:pPr lvl="1"/>
            <a:r>
              <a:rPr lang="en-US" altLang="en-US" dirty="0">
                <a:ea typeface="ＭＳ Ｐゴシック" panose="020B0600070205080204" pitchFamily="34" charset="-128"/>
              </a:rPr>
              <a:t>Download from Web site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a:extLst>
              <a:ext uri="{FF2B5EF4-FFF2-40B4-BE49-F238E27FC236}">
                <a16:creationId xmlns:a16="http://schemas.microsoft.com/office/drawing/2014/main" id="{8A11D940-1180-984D-A7AF-5F76851C2D9E}"/>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Basics of Neural Signals</a:t>
            </a:r>
          </a:p>
        </p:txBody>
      </p:sp>
      <p:sp>
        <p:nvSpPr>
          <p:cNvPr id="68610" name="Rectangle 3">
            <a:extLst>
              <a:ext uri="{FF2B5EF4-FFF2-40B4-BE49-F238E27FC236}">
                <a16:creationId xmlns:a16="http://schemas.microsoft.com/office/drawing/2014/main" id="{48267FC9-2229-9A4C-93EE-650A4BA91DE6}"/>
              </a:ext>
            </a:extLst>
          </p:cNvPr>
          <p:cNvSpPr>
            <a:spLocks noGrp="1" noChangeArrowheads="1"/>
          </p:cNvSpPr>
          <p:nvPr>
            <p:ph type="body" idx="1"/>
          </p:nvPr>
        </p:nvSpPr>
        <p:spPr>
          <a:xfrm>
            <a:off x="838200" y="800100"/>
            <a:ext cx="6648450" cy="3714750"/>
          </a:xfrm>
        </p:spPr>
        <p:txBody>
          <a:bodyPr/>
          <a:lstStyle/>
          <a:p>
            <a:pPr>
              <a:lnSpc>
                <a:spcPct val="90000"/>
              </a:lnSpc>
              <a:spcBef>
                <a:spcPct val="30000"/>
              </a:spcBef>
            </a:pPr>
            <a:r>
              <a:rPr lang="en-US" altLang="en-US" sz="2100" dirty="0">
                <a:latin typeface="Arial" panose="020B0604020202020204" pitchFamily="34" charset="0"/>
                <a:ea typeface="ＭＳ Ｐゴシック" panose="020B0600070205080204" pitchFamily="34" charset="-128"/>
              </a:rPr>
              <a:t>Neurons are surrounded by a solution containing ions.</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Ions carry an electrical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Sodium ions (Na</a:t>
            </a:r>
            <a:r>
              <a:rPr lang="en-US" altLang="en-US" baseline="30000" dirty="0">
                <a:latin typeface="Arial" panose="020B0604020202020204" pitchFamily="34" charset="0"/>
                <a:ea typeface="ＭＳ Ｐゴシック" panose="020B0600070205080204" pitchFamily="34" charset="-128"/>
              </a:rPr>
              <a:t>+</a:t>
            </a:r>
            <a:r>
              <a:rPr lang="en-US" altLang="en-US" dirty="0">
                <a:latin typeface="Arial" panose="020B0604020202020204" pitchFamily="34" charset="0"/>
                <a:ea typeface="ＭＳ Ｐゴシック" panose="020B0600070205080204" pitchFamily="34" charset="-128"/>
              </a:rPr>
              <a:t>) - positive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Chlorine ions (Cl</a:t>
            </a:r>
            <a:r>
              <a:rPr lang="en-US" altLang="en-US" baseline="30000" dirty="0">
                <a:latin typeface="Arial" panose="020B0604020202020204" pitchFamily="34" charset="0"/>
                <a:ea typeface="ＭＳ Ｐゴシック" panose="020B0600070205080204" pitchFamily="34" charset="-128"/>
              </a:rPr>
              <a:t>-</a:t>
            </a:r>
            <a:r>
              <a:rPr lang="en-US" altLang="en-US" dirty="0">
                <a:latin typeface="Arial" panose="020B0604020202020204" pitchFamily="34" charset="0"/>
                <a:ea typeface="ＭＳ Ｐゴシック" panose="020B0600070205080204" pitchFamily="34" charset="-128"/>
              </a:rPr>
              <a:t>) - negative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Potassium ions (K</a:t>
            </a:r>
            <a:r>
              <a:rPr lang="en-US" altLang="en-US" baseline="30000" dirty="0">
                <a:latin typeface="Arial" panose="020B0604020202020204" pitchFamily="34" charset="0"/>
                <a:ea typeface="ＭＳ Ｐゴシック" panose="020B0600070205080204" pitchFamily="34" charset="-128"/>
              </a:rPr>
              <a:t>+</a:t>
            </a:r>
            <a:r>
              <a:rPr lang="en-US" altLang="en-US" dirty="0">
                <a:latin typeface="Arial" panose="020B0604020202020204" pitchFamily="34" charset="0"/>
                <a:ea typeface="ＭＳ Ｐゴシック" panose="020B0600070205080204" pitchFamily="34" charset="-128"/>
              </a:rPr>
              <a:t>) - positive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Electrical signals are generated when such ions cross the membranes of neurons.</a:t>
            </a:r>
          </a:p>
          <a:p>
            <a:pPr>
              <a:lnSpc>
                <a:spcPct val="90000"/>
              </a:lnSpc>
              <a:spcBef>
                <a:spcPct val="30000"/>
              </a:spcBef>
            </a:pPr>
            <a:r>
              <a:rPr lang="en-US" altLang="en-US" sz="2100" dirty="0">
                <a:latin typeface="Arial" panose="020B0604020202020204" pitchFamily="34" charset="0"/>
                <a:ea typeface="ＭＳ Ｐゴシック" panose="020B0600070205080204" pitchFamily="34" charset="-128"/>
              </a:rPr>
              <a:t>Membranes have selective permeability. </a:t>
            </a:r>
          </a:p>
        </p:txBody>
      </p:sp>
      <p:sp>
        <p:nvSpPr>
          <p:cNvPr id="68611" name="Date Placeholder 1">
            <a:extLst>
              <a:ext uri="{FF2B5EF4-FFF2-40B4-BE49-F238E27FC236}">
                <a16:creationId xmlns:a16="http://schemas.microsoft.com/office/drawing/2014/main" id="{0CF841D2-514E-524B-A64A-B4B7484FCE8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319DF38F-5532-6442-94AE-33CEAF1922FB}"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8612" name="Footer Placeholder 2">
            <a:extLst>
              <a:ext uri="{FF2B5EF4-FFF2-40B4-BE49-F238E27FC236}">
                <a16:creationId xmlns:a16="http://schemas.microsoft.com/office/drawing/2014/main" id="{B0427ED6-163E-BA48-AF21-C8A9EFBAED1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7" name="Picture 4" descr="The diagram depicts a cross-section of a nerve fiber, shown as a yellow tube with an orange interior. The image visually represents the concentration of ions across the nerve fiber membrane, a key concept in neuroscience. Scattered outside the nerve fiber are several blue spheres labeled &quot;Na+&quot;, indicating sodium ions. Inside the nerve fiber, within the orange interior, are red spheres labeled &quot;K+&quot;, representing potassium ions. The distribution shows a higher concentration of sodium ions outside the fiber and a higher concentration of potassium ions inside the fiber. This visual representation directly relates to the provided text, which states the nerve fiber's high concentration of sodium outside and potassium inside.">
            <a:extLst>
              <a:ext uri="{FF2B5EF4-FFF2-40B4-BE49-F238E27FC236}">
                <a16:creationId xmlns:a16="http://schemas.microsoft.com/office/drawing/2014/main" id="{41B8919D-8B06-C742-91C9-DCC2CAC866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7862" y="1013223"/>
            <a:ext cx="5195888" cy="3107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58" name="Rectangle 2">
            <a:extLst>
              <a:ext uri="{FF2B5EF4-FFF2-40B4-BE49-F238E27FC236}">
                <a16:creationId xmlns:a16="http://schemas.microsoft.com/office/drawing/2014/main" id="{ADF337A6-DA9D-A04A-9C0D-8EC0007C4AF2}"/>
              </a:ext>
            </a:extLst>
          </p:cNvPr>
          <p:cNvSpPr>
            <a:spLocks noGrp="1" noChangeArrowheads="1"/>
          </p:cNvSpPr>
          <p:nvPr>
            <p:ph type="body" idx="1"/>
          </p:nvPr>
        </p:nvSpPr>
        <p:spPr>
          <a:xfrm>
            <a:off x="1543050" y="3886200"/>
            <a:ext cx="6057900" cy="1028700"/>
          </a:xfrm>
        </p:spPr>
        <p:txBody>
          <a:bodyPr anchor="b"/>
          <a:lstStyle/>
          <a:p>
            <a:pPr marL="0" indent="0">
              <a:lnSpc>
                <a:spcPct val="80000"/>
              </a:lnSpc>
              <a:buNone/>
            </a:pPr>
            <a:r>
              <a:rPr lang="en-US" altLang="en-US" sz="975">
                <a:latin typeface="Arial" panose="020B0604020202020204" pitchFamily="34" charset="0"/>
                <a:ea typeface="ＭＳ Ｐゴシック" panose="020B0600070205080204" pitchFamily="34" charset="-128"/>
              </a:rPr>
              <a:t>Figure 2.8 A nerve fiber, showing the high concentration of sodium outside the fiber and potassium inside the fiber.  Other ions, such as negatively charged chlorine, are not shown.</a:t>
            </a:r>
          </a:p>
        </p:txBody>
      </p:sp>
      <p:sp>
        <p:nvSpPr>
          <p:cNvPr id="70659" name="Date Placeholder 1">
            <a:extLst>
              <a:ext uri="{FF2B5EF4-FFF2-40B4-BE49-F238E27FC236}">
                <a16:creationId xmlns:a16="http://schemas.microsoft.com/office/drawing/2014/main" id="{904DD699-08DA-8D4F-AF76-BBB7E3A9A02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0021D0A5-06AD-4745-95DC-214FE699ED17}"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70660" name="Footer Placeholder 2">
            <a:extLst>
              <a:ext uri="{FF2B5EF4-FFF2-40B4-BE49-F238E27FC236}">
                <a16:creationId xmlns:a16="http://schemas.microsoft.com/office/drawing/2014/main" id="{CF8DC108-FD50-DD4F-B81C-629F0111284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theme/theme1.xml><?xml version="1.0" encoding="utf-8"?>
<a:theme xmlns:a="http://schemas.openxmlformats.org/drawingml/2006/main" name="35-audio">
  <a:themeElements>
    <a:clrScheme name="">
      <a:dk1>
        <a:srgbClr val="000000"/>
      </a:dk1>
      <a:lt1>
        <a:srgbClr val="FFFFFF"/>
      </a:lt1>
      <a:dk2>
        <a:srgbClr val="000000"/>
      </a:dk2>
      <a:lt2>
        <a:srgbClr val="5E574E"/>
      </a:lt2>
      <a:accent1>
        <a:srgbClr val="0080FF"/>
      </a:accent1>
      <a:accent2>
        <a:srgbClr val="FFCC00"/>
      </a:accent2>
      <a:accent3>
        <a:srgbClr val="FFFFFF"/>
      </a:accent3>
      <a:accent4>
        <a:srgbClr val="000000"/>
      </a:accent4>
      <a:accent5>
        <a:srgbClr val="AAC0FF"/>
      </a:accent5>
      <a:accent6>
        <a:srgbClr val="E7B900"/>
      </a:accent6>
      <a:hlink>
        <a:srgbClr val="3366CC"/>
      </a:hlink>
      <a:folHlink>
        <a:srgbClr val="808000"/>
      </a:folHlink>
    </a:clrScheme>
    <a:fontScheme name="35-audio">
      <a:majorFont>
        <a:latin typeface="Arial"/>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pitchFamily="-110"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pitchFamily="-110" charset="0"/>
          </a:defRPr>
        </a:defPPr>
      </a:lstStyle>
    </a:lnDef>
  </a:objectDefaults>
  <a:extraClrSchemeLst>
    <a:extraClrScheme>
      <a:clrScheme name="35-audio 1">
        <a:dk1>
          <a:srgbClr val="5E574E"/>
        </a:dk1>
        <a:lt1>
          <a:srgbClr val="FFFFCC"/>
        </a:lt1>
        <a:dk2>
          <a:srgbClr val="000000"/>
        </a:dk2>
        <a:lt2>
          <a:srgbClr val="FFCC00"/>
        </a:lt2>
        <a:accent1>
          <a:srgbClr val="CC9900"/>
        </a:accent1>
        <a:accent2>
          <a:srgbClr val="FF6600"/>
        </a:accent2>
        <a:accent3>
          <a:srgbClr val="AA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35-audio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clrMap bg1="lt1" tx1="dk1" bg2="lt2" tx2="dk2" accent1="accent1" accent2="accent2" accent3="accent3" accent4="accent4" accent5="accent5" accent6="accent6" hlink="hlink" folHlink="folHlink"/>
    </a:extraClrScheme>
    <a:extraClrScheme>
      <a:clrScheme name="35-audio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5-audio 4">
        <a:dk1>
          <a:srgbClr val="000000"/>
        </a:dk1>
        <a:lt1>
          <a:srgbClr val="FFFFFF"/>
        </a:lt1>
        <a:dk2>
          <a:srgbClr val="8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FF0000"/>
        </a:hlink>
        <a:folHlink>
          <a:srgbClr val="FFFFCC"/>
        </a:folHlink>
      </a:clrScheme>
      <a:clrMap bg1="lt1" tx1="dk1" bg2="lt2" tx2="dk2" accent1="accent1" accent2="accent2" accent3="accent3" accent4="accent4" accent5="accent5" accent6="accent6" hlink="hlink" folHlink="folHlink"/>
    </a:extraClrScheme>
    <a:extraClrScheme>
      <a:clrScheme name="35-audio 5">
        <a:dk1>
          <a:srgbClr val="000066"/>
        </a:dk1>
        <a:lt1>
          <a:srgbClr val="FFFFFF"/>
        </a:lt1>
        <a:dk2>
          <a:srgbClr val="0000FF"/>
        </a:dk2>
        <a:lt2>
          <a:srgbClr val="000000"/>
        </a:lt2>
        <a:accent1>
          <a:srgbClr val="0066FF"/>
        </a:accent1>
        <a:accent2>
          <a:srgbClr val="33CCCC"/>
        </a:accent2>
        <a:accent3>
          <a:srgbClr val="FFFFFF"/>
        </a:accent3>
        <a:accent4>
          <a:srgbClr val="000056"/>
        </a:accent4>
        <a:accent5>
          <a:srgbClr val="AAB8FF"/>
        </a:accent5>
        <a:accent6>
          <a:srgbClr val="2DB9B9"/>
        </a:accent6>
        <a:hlink>
          <a:srgbClr val="FF00FF"/>
        </a:hlink>
        <a:folHlink>
          <a:srgbClr val="9933FF"/>
        </a:folHlink>
      </a:clrScheme>
      <a:clrMap bg1="lt1" tx1="dk1" bg2="lt2" tx2="dk2" accent1="accent1" accent2="accent2" accent3="accent3" accent4="accent4" accent5="accent5" accent6="accent6" hlink="hlink" folHlink="folHlink"/>
    </a:extraClrScheme>
    <a:extraClrScheme>
      <a:clrScheme name="35-audio 6">
        <a:dk1>
          <a:srgbClr val="000000"/>
        </a:dk1>
        <a:lt1>
          <a:srgbClr val="FFFFFF"/>
        </a:lt1>
        <a:dk2>
          <a:srgbClr val="000066"/>
        </a:dk2>
        <a:lt2>
          <a:srgbClr val="FFCC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
      <a:clrScheme name="35-audio 7">
        <a:dk1>
          <a:srgbClr val="5E574E"/>
        </a:dk1>
        <a:lt1>
          <a:srgbClr val="FFFFCC"/>
        </a:lt1>
        <a:dk2>
          <a:srgbClr val="800000"/>
        </a:dk2>
        <a:lt2>
          <a:srgbClr val="FFCC00"/>
        </a:lt2>
        <a:accent1>
          <a:srgbClr val="CC9900"/>
        </a:accent1>
        <a:accent2>
          <a:srgbClr val="FF6600"/>
        </a:accent2>
        <a:accent3>
          <a:srgbClr val="C0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35-audio 8">
        <a:dk1>
          <a:srgbClr val="000000"/>
        </a:dk1>
        <a:lt1>
          <a:srgbClr val="FFFFFF"/>
        </a:lt1>
        <a:dk2>
          <a:srgbClr val="000066"/>
        </a:dk2>
        <a:lt2>
          <a:srgbClr val="FFFF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WalkerB HD:Users:walkerb:Bruce:Classes:6750-HCI:PPT Slides:35-audio.ppt</Template>
  <TotalTime>7158</TotalTime>
  <Words>1573</Words>
  <Application>Microsoft Macintosh PowerPoint</Application>
  <PresentationFormat>On-screen Show (16:9)</PresentationFormat>
  <Paragraphs>223</Paragraphs>
  <Slides>29</Slides>
  <Notes>28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Comic Sans MS</vt:lpstr>
      <vt:lpstr>Tahoma</vt:lpstr>
      <vt:lpstr>Times</vt:lpstr>
      <vt:lpstr>Wingdings</vt:lpstr>
      <vt:lpstr>35-audio</vt:lpstr>
      <vt:lpstr>Physiology of Perception</vt:lpstr>
      <vt:lpstr>Reminder: Outline of Topics</vt:lpstr>
      <vt:lpstr>Overview</vt:lpstr>
      <vt:lpstr>Brain as Center of Perception</vt:lpstr>
      <vt:lpstr>Made Up of Neurons…</vt:lpstr>
      <vt:lpstr>Basic Brain Structure</vt:lpstr>
      <vt:lpstr>PowerPoint Presentation</vt:lpstr>
      <vt:lpstr>Neurons: Transduction &amp; Transmission</vt:lpstr>
      <vt:lpstr>Neurons: Transduction &amp; Transmission</vt:lpstr>
      <vt:lpstr>Neural Signals</vt:lpstr>
      <vt:lpstr>Properties of Action Potentials</vt:lpstr>
      <vt:lpstr>Stimulus Intensity &amp; Firing Rate</vt:lpstr>
      <vt:lpstr>Synaptic Transmission of Impulses </vt:lpstr>
      <vt:lpstr>Video: Synaptic Transmission</vt:lpstr>
      <vt:lpstr>Types of Neurotransmitters</vt:lpstr>
      <vt:lpstr>Neural Circuits</vt:lpstr>
      <vt:lpstr>Simple Circuit</vt:lpstr>
      <vt:lpstr>Neural Circuits - continued</vt:lpstr>
      <vt:lpstr>Convergent Circuits (+ only)</vt:lpstr>
      <vt:lpstr>Neural Circuits - continued</vt:lpstr>
      <vt:lpstr>Convergent Circuits (+ and -)</vt:lpstr>
      <vt:lpstr>Receptive Fields</vt:lpstr>
      <vt:lpstr>Center-Surround Receptive Fields</vt:lpstr>
      <vt:lpstr>Center-Surround Antagonism</vt:lpstr>
      <vt:lpstr>Sensory Code: Specificity Encoding</vt:lpstr>
      <vt:lpstr>Sensory Code: Distributed Encoding</vt:lpstr>
      <vt:lpstr>Upcoming</vt:lpstr>
      <vt:lpstr>Basics of Neural Signals</vt:lpstr>
      <vt:lpstr>PowerPoint Presentation</vt:lpstr>
    </vt:vector>
  </TitlesOfParts>
  <Company>Georgia Tech Psychology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Sensation &amp; Perception</dc:title>
  <dc:creator>Bruce Walker</dc:creator>
  <cp:lastModifiedBy>Walker, Bruce N</cp:lastModifiedBy>
  <cp:revision>51</cp:revision>
  <cp:lastPrinted>2002-12-30T22:33:12Z</cp:lastPrinted>
  <dcterms:created xsi:type="dcterms:W3CDTF">2012-01-20T02:14:24Z</dcterms:created>
  <dcterms:modified xsi:type="dcterms:W3CDTF">2021-01-24T21:07:41Z</dcterms:modified>
</cp:coreProperties>
</file>